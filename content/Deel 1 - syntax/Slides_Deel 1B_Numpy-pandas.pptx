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78"/>
  </p:notesMasterIdLst>
  <p:sldIdLst>
    <p:sldId id="269" r:id="rId3"/>
    <p:sldId id="270" r:id="rId4"/>
    <p:sldId id="273" r:id="rId5"/>
    <p:sldId id="274" r:id="rId6"/>
    <p:sldId id="303" r:id="rId7"/>
    <p:sldId id="304" r:id="rId8"/>
    <p:sldId id="305" r:id="rId9"/>
    <p:sldId id="339" r:id="rId10"/>
    <p:sldId id="336" r:id="rId11"/>
    <p:sldId id="341" r:id="rId12"/>
    <p:sldId id="342" r:id="rId13"/>
    <p:sldId id="343" r:id="rId14"/>
    <p:sldId id="391" r:id="rId15"/>
    <p:sldId id="335" r:id="rId16"/>
    <p:sldId id="340" r:id="rId17"/>
    <p:sldId id="306" r:id="rId18"/>
    <p:sldId id="307" r:id="rId19"/>
    <p:sldId id="337" r:id="rId20"/>
    <p:sldId id="392" r:id="rId21"/>
    <p:sldId id="312" r:id="rId22"/>
    <p:sldId id="351" r:id="rId23"/>
    <p:sldId id="404" r:id="rId24"/>
    <p:sldId id="405" r:id="rId25"/>
    <p:sldId id="313" r:id="rId26"/>
    <p:sldId id="310" r:id="rId27"/>
    <p:sldId id="311" r:id="rId28"/>
    <p:sldId id="344" r:id="rId29"/>
    <p:sldId id="406" r:id="rId30"/>
    <p:sldId id="393" r:id="rId31"/>
    <p:sldId id="338" r:id="rId32"/>
    <p:sldId id="407" r:id="rId33"/>
    <p:sldId id="345" r:id="rId34"/>
    <p:sldId id="346" r:id="rId35"/>
    <p:sldId id="408" r:id="rId36"/>
    <p:sldId id="394" r:id="rId37"/>
    <p:sldId id="308" r:id="rId38"/>
    <p:sldId id="309" r:id="rId39"/>
    <p:sldId id="314" r:id="rId40"/>
    <p:sldId id="315" r:id="rId41"/>
    <p:sldId id="316" r:id="rId42"/>
    <p:sldId id="317" r:id="rId43"/>
    <p:sldId id="318" r:id="rId44"/>
    <p:sldId id="413" r:id="rId45"/>
    <p:sldId id="395" r:id="rId46"/>
    <p:sldId id="319" r:id="rId47"/>
    <p:sldId id="321" r:id="rId48"/>
    <p:sldId id="322" r:id="rId49"/>
    <p:sldId id="323" r:id="rId50"/>
    <p:sldId id="396" r:id="rId51"/>
    <p:sldId id="324" r:id="rId52"/>
    <p:sldId id="325" r:id="rId53"/>
    <p:sldId id="326" r:id="rId54"/>
    <p:sldId id="327" r:id="rId55"/>
    <p:sldId id="331" r:id="rId56"/>
    <p:sldId id="409" r:id="rId57"/>
    <p:sldId id="397" r:id="rId58"/>
    <p:sldId id="328" r:id="rId59"/>
    <p:sldId id="329" r:id="rId60"/>
    <p:sldId id="332" r:id="rId61"/>
    <p:sldId id="333" r:id="rId62"/>
    <p:sldId id="334" r:id="rId63"/>
    <p:sldId id="349" r:id="rId64"/>
    <p:sldId id="348" r:id="rId65"/>
    <p:sldId id="350" r:id="rId66"/>
    <p:sldId id="352" r:id="rId67"/>
    <p:sldId id="372" r:id="rId68"/>
    <p:sldId id="373" r:id="rId69"/>
    <p:sldId id="374" r:id="rId70"/>
    <p:sldId id="353" r:id="rId71"/>
    <p:sldId id="398" r:id="rId72"/>
    <p:sldId id="354" r:id="rId73"/>
    <p:sldId id="355" r:id="rId74"/>
    <p:sldId id="356" r:id="rId75"/>
    <p:sldId id="357" r:id="rId76"/>
    <p:sldId id="390" r:id="rId7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B84436-DC58-435B-A3A7-70EC43D03AAA}" v="22" dt="2026-10-13T08:19:06.76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50"/>
    <p:restoredTop sz="96351"/>
  </p:normalViewPr>
  <p:slideViewPr>
    <p:cSldViewPr snapToGrid="0" snapToObjects="1">
      <p:cViewPr varScale="1">
        <p:scale>
          <a:sx n="103" d="100"/>
          <a:sy n="103" d="100"/>
        </p:scale>
        <p:origin x="677" y="77"/>
      </p:cViewPr>
      <p:guideLst/>
    </p:cSldViewPr>
  </p:slideViewPr>
  <p:outlineViewPr>
    <p:cViewPr>
      <p:scale>
        <a:sx n="33" d="100"/>
        <a:sy n="33" d="100"/>
      </p:scale>
      <p:origin x="0" y="-1031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microsoft.com/office/2015/10/relationships/revisionInfo" Target="revisionInfo.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annes De Smedt" userId="e13460af-634e-4231-9e97-a5e3038c16cf" providerId="ADAL" clId="{067A3BAA-D5DB-5F7B-B693-F6FD3279B148}"/>
    <pc:docChg chg="undo custSel addSld modSld">
      <pc:chgData name="Johannes De Smedt" userId="e13460af-634e-4231-9e97-a5e3038c16cf" providerId="ADAL" clId="{067A3BAA-D5DB-5F7B-B693-F6FD3279B148}" dt="2026-10-09T10:23:48.085" v="1124" actId="20577"/>
      <pc:docMkLst>
        <pc:docMk/>
      </pc:docMkLst>
      <pc:sldChg chg="addSp delSp modSp mod modClrScheme chgLayout">
        <pc:chgData name="Johannes De Smedt" userId="e13460af-634e-4231-9e97-a5e3038c16cf" providerId="ADAL" clId="{067A3BAA-D5DB-5F7B-B693-F6FD3279B148}" dt="2026-10-09T07:17:14.133" v="0" actId="700"/>
        <pc:sldMkLst>
          <pc:docMk/>
          <pc:sldMk cId="2220433404" sldId="269"/>
        </pc:sldMkLst>
        <pc:spChg chg="add mod ord">
          <ac:chgData name="Johannes De Smedt" userId="e13460af-634e-4231-9e97-a5e3038c16cf" providerId="ADAL" clId="{067A3BAA-D5DB-5F7B-B693-F6FD3279B148}" dt="2026-10-09T07:17:14.133" v="0" actId="700"/>
          <ac:spMkLst>
            <pc:docMk/>
            <pc:sldMk cId="2220433404" sldId="269"/>
            <ac:spMk id="2" creationId="{D2E8BF41-84C9-CD7C-7584-1AE3391A2D14}"/>
          </ac:spMkLst>
        </pc:spChg>
        <pc:spChg chg="add mod ord">
          <ac:chgData name="Johannes De Smedt" userId="e13460af-634e-4231-9e97-a5e3038c16cf" providerId="ADAL" clId="{067A3BAA-D5DB-5F7B-B693-F6FD3279B148}" dt="2026-10-09T07:17:14.133" v="0" actId="700"/>
          <ac:spMkLst>
            <pc:docMk/>
            <pc:sldMk cId="2220433404" sldId="269"/>
            <ac:spMk id="3" creationId="{19FE3FDA-13F5-350E-3080-549ADC7D984D}"/>
          </ac:spMkLst>
        </pc:spChg>
        <pc:spChg chg="mod ord">
          <ac:chgData name="Johannes De Smedt" userId="e13460af-634e-4231-9e97-a5e3038c16cf" providerId="ADAL" clId="{067A3BAA-D5DB-5F7B-B693-F6FD3279B148}" dt="2026-10-09T07:17:14.133" v="0" actId="700"/>
          <ac:spMkLst>
            <pc:docMk/>
            <pc:sldMk cId="2220433404" sldId="269"/>
            <ac:spMk id="4" creationId="{DC0DDB50-4F7D-C846-B331-5EDF14C94BF5}"/>
          </ac:spMkLst>
        </pc:spChg>
        <pc:spChg chg="mod ord">
          <ac:chgData name="Johannes De Smedt" userId="e13460af-634e-4231-9e97-a5e3038c16cf" providerId="ADAL" clId="{067A3BAA-D5DB-5F7B-B693-F6FD3279B148}" dt="2026-10-09T07:17:14.133" v="0" actId="700"/>
          <ac:spMkLst>
            <pc:docMk/>
            <pc:sldMk cId="2220433404" sldId="269"/>
            <ac:spMk id="6" creationId="{26EC8D9E-3BB6-6245-BCD5-2197C4D626E4}"/>
          </ac:spMkLst>
        </pc:spChg>
      </pc:sldChg>
      <pc:sldChg chg="addSp delSp modSp mod modClrScheme chgLayout">
        <pc:chgData name="Johannes De Smedt" userId="e13460af-634e-4231-9e97-a5e3038c16cf" providerId="ADAL" clId="{067A3BAA-D5DB-5F7B-B693-F6FD3279B148}" dt="2026-10-09T07:17:33.645" v="2" actId="700"/>
        <pc:sldMkLst>
          <pc:docMk/>
          <pc:sldMk cId="3848941627" sldId="273"/>
        </pc:sldMkLst>
        <pc:spChg chg="mod ord">
          <ac:chgData name="Johannes De Smedt" userId="e13460af-634e-4231-9e97-a5e3038c16cf" providerId="ADAL" clId="{067A3BAA-D5DB-5F7B-B693-F6FD3279B148}" dt="2026-10-09T07:17:33.645" v="2" actId="700"/>
          <ac:spMkLst>
            <pc:docMk/>
            <pc:sldMk cId="3848941627" sldId="273"/>
            <ac:spMk id="4" creationId="{D2A6B954-E82D-3B4F-BAAA-8D8BFBC30E1C}"/>
          </ac:spMkLst>
        </pc:spChg>
        <pc:spChg chg="mod ord">
          <ac:chgData name="Johannes De Smedt" userId="e13460af-634e-4231-9e97-a5e3038c16cf" providerId="ADAL" clId="{067A3BAA-D5DB-5F7B-B693-F6FD3279B148}" dt="2026-10-09T07:17:33.645" v="2" actId="700"/>
          <ac:spMkLst>
            <pc:docMk/>
            <pc:sldMk cId="3848941627" sldId="273"/>
            <ac:spMk id="7" creationId="{907C18E4-69B3-7745-A57B-10E4766BDC98}"/>
          </ac:spMkLst>
        </pc:spChg>
        <pc:spChg chg="mod ord">
          <ac:chgData name="Johannes De Smedt" userId="e13460af-634e-4231-9e97-a5e3038c16cf" providerId="ADAL" clId="{067A3BAA-D5DB-5F7B-B693-F6FD3279B148}" dt="2026-10-09T07:17:33.645" v="2" actId="700"/>
          <ac:spMkLst>
            <pc:docMk/>
            <pc:sldMk cId="3848941627" sldId="273"/>
            <ac:spMk id="8" creationId="{B53618F0-C113-3E4E-98C4-0FC2DCCCA6E0}"/>
          </ac:spMkLst>
        </pc:spChg>
      </pc:sldChg>
      <pc:sldChg chg="modSp mod">
        <pc:chgData name="Johannes De Smedt" userId="e13460af-634e-4231-9e97-a5e3038c16cf" providerId="ADAL" clId="{067A3BAA-D5DB-5F7B-B693-F6FD3279B148}" dt="2026-10-09T07:33:46.867" v="26" actId="20577"/>
        <pc:sldMkLst>
          <pc:docMk/>
          <pc:sldMk cId="2415581184" sldId="303"/>
        </pc:sldMkLst>
        <pc:spChg chg="mod">
          <ac:chgData name="Johannes De Smedt" userId="e13460af-634e-4231-9e97-a5e3038c16cf" providerId="ADAL" clId="{067A3BAA-D5DB-5F7B-B693-F6FD3279B148}" dt="2026-10-09T07:33:46.867" v="26" actId="20577"/>
          <ac:spMkLst>
            <pc:docMk/>
            <pc:sldMk cId="2415581184" sldId="303"/>
            <ac:spMk id="3" creationId="{D31CA2F2-8990-1F4B-A37F-A576F9580084}"/>
          </ac:spMkLst>
        </pc:spChg>
      </pc:sldChg>
      <pc:sldChg chg="modSp mod">
        <pc:chgData name="Johannes De Smedt" userId="e13460af-634e-4231-9e97-a5e3038c16cf" providerId="ADAL" clId="{067A3BAA-D5DB-5F7B-B693-F6FD3279B148}" dt="2026-10-09T07:34:12.285" v="43" actId="20577"/>
        <pc:sldMkLst>
          <pc:docMk/>
          <pc:sldMk cId="929030374" sldId="304"/>
        </pc:sldMkLst>
        <pc:spChg chg="mod">
          <ac:chgData name="Johannes De Smedt" userId="e13460af-634e-4231-9e97-a5e3038c16cf" providerId="ADAL" clId="{067A3BAA-D5DB-5F7B-B693-F6FD3279B148}" dt="2026-10-09T07:34:12.285" v="43" actId="20577"/>
          <ac:spMkLst>
            <pc:docMk/>
            <pc:sldMk cId="929030374" sldId="304"/>
            <ac:spMk id="2" creationId="{1DB6116F-14A7-B144-83E2-017D531A4E64}"/>
          </ac:spMkLst>
        </pc:spChg>
        <pc:spChg chg="mod">
          <ac:chgData name="Johannes De Smedt" userId="e13460af-634e-4231-9e97-a5e3038c16cf" providerId="ADAL" clId="{067A3BAA-D5DB-5F7B-B693-F6FD3279B148}" dt="2026-10-09T07:34:03.002" v="30" actId="20577"/>
          <ac:spMkLst>
            <pc:docMk/>
            <pc:sldMk cId="929030374" sldId="304"/>
            <ac:spMk id="3" creationId="{C5544E71-028B-9B41-BE59-D55AA1092080}"/>
          </ac:spMkLst>
        </pc:spChg>
      </pc:sldChg>
      <pc:sldChg chg="modSp mod">
        <pc:chgData name="Johannes De Smedt" userId="e13460af-634e-4231-9e97-a5e3038c16cf" providerId="ADAL" clId="{067A3BAA-D5DB-5F7B-B693-F6FD3279B148}" dt="2026-10-09T07:34:45.348" v="46" actId="20577"/>
        <pc:sldMkLst>
          <pc:docMk/>
          <pc:sldMk cId="3313251021" sldId="305"/>
        </pc:sldMkLst>
        <pc:spChg chg="mod">
          <ac:chgData name="Johannes De Smedt" userId="e13460af-634e-4231-9e97-a5e3038c16cf" providerId="ADAL" clId="{067A3BAA-D5DB-5F7B-B693-F6FD3279B148}" dt="2026-10-09T07:34:45.348" v="46" actId="20577"/>
          <ac:spMkLst>
            <pc:docMk/>
            <pc:sldMk cId="3313251021" sldId="305"/>
            <ac:spMk id="10" creationId="{A74BDD3F-8D6D-51FB-24C3-3B26097C54F2}"/>
          </ac:spMkLst>
        </pc:spChg>
      </pc:sldChg>
      <pc:sldChg chg="modSp mod">
        <pc:chgData name="Johannes De Smedt" userId="e13460af-634e-4231-9e97-a5e3038c16cf" providerId="ADAL" clId="{067A3BAA-D5DB-5F7B-B693-F6FD3279B148}" dt="2026-10-09T08:42:25.733" v="918" actId="20577"/>
        <pc:sldMkLst>
          <pc:docMk/>
          <pc:sldMk cId="2501473410" sldId="307"/>
        </pc:sldMkLst>
        <pc:spChg chg="mod">
          <ac:chgData name="Johannes De Smedt" userId="e13460af-634e-4231-9e97-a5e3038c16cf" providerId="ADAL" clId="{067A3BAA-D5DB-5F7B-B693-F6FD3279B148}" dt="2026-10-09T08:42:25.733" v="918" actId="20577"/>
          <ac:spMkLst>
            <pc:docMk/>
            <pc:sldMk cId="2501473410" sldId="307"/>
            <ac:spMk id="10" creationId="{537FA0B9-31EE-9141-8586-E43D5EBEF93E}"/>
          </ac:spMkLst>
        </pc:spChg>
      </pc:sldChg>
      <pc:sldChg chg="modSp mod">
        <pc:chgData name="Johannes De Smedt" userId="e13460af-634e-4231-9e97-a5e3038c16cf" providerId="ADAL" clId="{067A3BAA-D5DB-5F7B-B693-F6FD3279B148}" dt="2026-10-09T08:30:28.206" v="823" actId="20577"/>
        <pc:sldMkLst>
          <pc:docMk/>
          <pc:sldMk cId="199005618" sldId="309"/>
        </pc:sldMkLst>
        <pc:spChg chg="mod">
          <ac:chgData name="Johannes De Smedt" userId="e13460af-634e-4231-9e97-a5e3038c16cf" providerId="ADAL" clId="{067A3BAA-D5DB-5F7B-B693-F6FD3279B148}" dt="2026-10-09T08:30:28.206" v="823" actId="20577"/>
          <ac:spMkLst>
            <pc:docMk/>
            <pc:sldMk cId="199005618" sldId="309"/>
            <ac:spMk id="8" creationId="{B53618F0-C113-3E4E-98C4-0FC2DCCCA6E0}"/>
          </ac:spMkLst>
        </pc:spChg>
      </pc:sldChg>
      <pc:sldChg chg="modSp mod">
        <pc:chgData name="Johannes De Smedt" userId="e13460af-634e-4231-9e97-a5e3038c16cf" providerId="ADAL" clId="{067A3BAA-D5DB-5F7B-B693-F6FD3279B148}" dt="2026-10-09T07:51:21.259" v="88" actId="20577"/>
        <pc:sldMkLst>
          <pc:docMk/>
          <pc:sldMk cId="2361652811" sldId="310"/>
        </pc:sldMkLst>
        <pc:spChg chg="mod">
          <ac:chgData name="Johannes De Smedt" userId="e13460af-634e-4231-9e97-a5e3038c16cf" providerId="ADAL" clId="{067A3BAA-D5DB-5F7B-B693-F6FD3279B148}" dt="2026-10-09T07:51:21.259" v="88" actId="20577"/>
          <ac:spMkLst>
            <pc:docMk/>
            <pc:sldMk cId="2361652811" sldId="310"/>
            <ac:spMk id="5" creationId="{F544482C-B321-734A-835B-C499EF6BFBFD}"/>
          </ac:spMkLst>
        </pc:spChg>
      </pc:sldChg>
      <pc:sldChg chg="modSp mod">
        <pc:chgData name="Johannes De Smedt" userId="e13460af-634e-4231-9e97-a5e3038c16cf" providerId="ADAL" clId="{067A3BAA-D5DB-5F7B-B693-F6FD3279B148}" dt="2026-10-09T07:54:13.938" v="108" actId="20577"/>
        <pc:sldMkLst>
          <pc:docMk/>
          <pc:sldMk cId="3322319002" sldId="311"/>
        </pc:sldMkLst>
        <pc:spChg chg="mod">
          <ac:chgData name="Johannes De Smedt" userId="e13460af-634e-4231-9e97-a5e3038c16cf" providerId="ADAL" clId="{067A3BAA-D5DB-5F7B-B693-F6FD3279B148}" dt="2026-10-09T07:54:08.086" v="98" actId="20577"/>
          <ac:spMkLst>
            <pc:docMk/>
            <pc:sldMk cId="3322319002" sldId="311"/>
            <ac:spMk id="3" creationId="{3F4FF9F5-41CC-4B4C-A4FC-328F8ACC5A87}"/>
          </ac:spMkLst>
        </pc:spChg>
        <pc:spChg chg="mod">
          <ac:chgData name="Johannes De Smedt" userId="e13460af-634e-4231-9e97-a5e3038c16cf" providerId="ADAL" clId="{067A3BAA-D5DB-5F7B-B693-F6FD3279B148}" dt="2026-10-09T07:54:13.938" v="108" actId="20577"/>
          <ac:spMkLst>
            <pc:docMk/>
            <pc:sldMk cId="3322319002" sldId="311"/>
            <ac:spMk id="11" creationId="{283CB6FF-1230-7941-BED0-5D7FC657A5AD}"/>
          </ac:spMkLst>
        </pc:spChg>
      </pc:sldChg>
      <pc:sldChg chg="modSp mod">
        <pc:chgData name="Johannes De Smedt" userId="e13460af-634e-4231-9e97-a5e3038c16cf" providerId="ADAL" clId="{067A3BAA-D5DB-5F7B-B693-F6FD3279B148}" dt="2026-10-09T07:42:59.876" v="72" actId="20577"/>
        <pc:sldMkLst>
          <pc:docMk/>
          <pc:sldMk cId="1738228192" sldId="312"/>
        </pc:sldMkLst>
        <pc:spChg chg="mod">
          <ac:chgData name="Johannes De Smedt" userId="e13460af-634e-4231-9e97-a5e3038c16cf" providerId="ADAL" clId="{067A3BAA-D5DB-5F7B-B693-F6FD3279B148}" dt="2026-10-09T07:42:45.309" v="58" actId="20577"/>
          <ac:spMkLst>
            <pc:docMk/>
            <pc:sldMk cId="1738228192" sldId="312"/>
            <ac:spMk id="5" creationId="{5034A983-F5C9-8544-96CE-0E9D2E9C3906}"/>
          </ac:spMkLst>
        </pc:spChg>
        <pc:spChg chg="mod">
          <ac:chgData name="Johannes De Smedt" userId="e13460af-634e-4231-9e97-a5e3038c16cf" providerId="ADAL" clId="{067A3BAA-D5DB-5F7B-B693-F6FD3279B148}" dt="2026-10-09T07:42:59.876" v="72" actId="20577"/>
          <ac:spMkLst>
            <pc:docMk/>
            <pc:sldMk cId="1738228192" sldId="312"/>
            <ac:spMk id="6" creationId="{F355BB7A-D124-BF48-8D34-B4A49E1AB62E}"/>
          </ac:spMkLst>
        </pc:spChg>
      </pc:sldChg>
      <pc:sldChg chg="modSp mod">
        <pc:chgData name="Johannes De Smedt" userId="e13460af-634e-4231-9e97-a5e3038c16cf" providerId="ADAL" clId="{067A3BAA-D5DB-5F7B-B693-F6FD3279B148}" dt="2026-10-09T08:16:22.181" v="675" actId="20577"/>
        <pc:sldMkLst>
          <pc:docMk/>
          <pc:sldMk cId="1903713714" sldId="314"/>
        </pc:sldMkLst>
        <pc:spChg chg="mod">
          <ac:chgData name="Johannes De Smedt" userId="e13460af-634e-4231-9e97-a5e3038c16cf" providerId="ADAL" clId="{067A3BAA-D5DB-5F7B-B693-F6FD3279B148}" dt="2026-10-09T08:16:22.181" v="675" actId="20577"/>
          <ac:spMkLst>
            <pc:docMk/>
            <pc:sldMk cId="1903713714" sldId="314"/>
            <ac:spMk id="3" creationId="{1BBA06EE-7286-524B-BF3C-ACA2C0D376B6}"/>
          </ac:spMkLst>
        </pc:spChg>
      </pc:sldChg>
      <pc:sldChg chg="modSp mod">
        <pc:chgData name="Johannes De Smedt" userId="e13460af-634e-4231-9e97-a5e3038c16cf" providerId="ADAL" clId="{067A3BAA-D5DB-5F7B-B693-F6FD3279B148}" dt="2026-10-09T08:17:02.311" v="676" actId="207"/>
        <pc:sldMkLst>
          <pc:docMk/>
          <pc:sldMk cId="2234740047" sldId="315"/>
        </pc:sldMkLst>
        <pc:spChg chg="mod">
          <ac:chgData name="Johannes De Smedt" userId="e13460af-634e-4231-9e97-a5e3038c16cf" providerId="ADAL" clId="{067A3BAA-D5DB-5F7B-B693-F6FD3279B148}" dt="2026-10-09T08:17:02.311" v="676" actId="207"/>
          <ac:spMkLst>
            <pc:docMk/>
            <pc:sldMk cId="2234740047" sldId="315"/>
            <ac:spMk id="3" creationId="{867B3DB2-D4F8-7A4E-AF37-39787CD0E399}"/>
          </ac:spMkLst>
        </pc:spChg>
      </pc:sldChg>
      <pc:sldChg chg="modSp mod">
        <pc:chgData name="Johannes De Smedt" userId="e13460af-634e-4231-9e97-a5e3038c16cf" providerId="ADAL" clId="{067A3BAA-D5DB-5F7B-B693-F6FD3279B148}" dt="2026-10-09T08:17:58.500" v="731" actId="207"/>
        <pc:sldMkLst>
          <pc:docMk/>
          <pc:sldMk cId="765746627" sldId="316"/>
        </pc:sldMkLst>
        <pc:spChg chg="mod">
          <ac:chgData name="Johannes De Smedt" userId="e13460af-634e-4231-9e97-a5e3038c16cf" providerId="ADAL" clId="{067A3BAA-D5DB-5F7B-B693-F6FD3279B148}" dt="2026-10-09T08:17:16.911" v="689" actId="20577"/>
          <ac:spMkLst>
            <pc:docMk/>
            <pc:sldMk cId="765746627" sldId="316"/>
            <ac:spMk id="3" creationId="{A61DEBC9-299A-C545-81C7-69F023F1937A}"/>
          </ac:spMkLst>
        </pc:spChg>
        <pc:spChg chg="mod">
          <ac:chgData name="Johannes De Smedt" userId="e13460af-634e-4231-9e97-a5e3038c16cf" providerId="ADAL" clId="{067A3BAA-D5DB-5F7B-B693-F6FD3279B148}" dt="2026-10-09T08:17:58.500" v="731" actId="207"/>
          <ac:spMkLst>
            <pc:docMk/>
            <pc:sldMk cId="765746627" sldId="316"/>
            <ac:spMk id="16" creationId="{56BF62CA-31A8-A34F-BE0A-CC005416A2A5}"/>
          </ac:spMkLst>
        </pc:spChg>
      </pc:sldChg>
      <pc:sldChg chg="modSp mod">
        <pc:chgData name="Johannes De Smedt" userId="e13460af-634e-4231-9e97-a5e3038c16cf" providerId="ADAL" clId="{067A3BAA-D5DB-5F7B-B693-F6FD3279B148}" dt="2026-10-09T08:38:58.343" v="842" actId="20577"/>
        <pc:sldMkLst>
          <pc:docMk/>
          <pc:sldMk cId="3757958535" sldId="317"/>
        </pc:sldMkLst>
        <pc:spChg chg="mod">
          <ac:chgData name="Johannes De Smedt" userId="e13460af-634e-4231-9e97-a5e3038c16cf" providerId="ADAL" clId="{067A3BAA-D5DB-5F7B-B693-F6FD3279B148}" dt="2026-10-09T08:38:55.204" v="838" actId="20577"/>
          <ac:spMkLst>
            <pc:docMk/>
            <pc:sldMk cId="3757958535" sldId="317"/>
            <ac:spMk id="6" creationId="{135909E7-FD2B-3A44-9F74-30D0597D363F}"/>
          </ac:spMkLst>
        </pc:spChg>
        <pc:spChg chg="mod">
          <ac:chgData name="Johannes De Smedt" userId="e13460af-634e-4231-9e97-a5e3038c16cf" providerId="ADAL" clId="{067A3BAA-D5DB-5F7B-B693-F6FD3279B148}" dt="2026-10-09T08:38:58.343" v="842" actId="20577"/>
          <ac:spMkLst>
            <pc:docMk/>
            <pc:sldMk cId="3757958535" sldId="317"/>
            <ac:spMk id="14" creationId="{8CD2EF21-44A0-8B48-A594-66D35F39B020}"/>
          </ac:spMkLst>
        </pc:spChg>
      </pc:sldChg>
      <pc:sldChg chg="modSp mod">
        <pc:chgData name="Johannes De Smedt" userId="e13460af-634e-4231-9e97-a5e3038c16cf" providerId="ADAL" clId="{067A3BAA-D5DB-5F7B-B693-F6FD3279B148}" dt="2026-10-09T08:25:43.874" v="778" actId="207"/>
        <pc:sldMkLst>
          <pc:docMk/>
          <pc:sldMk cId="118102704" sldId="323"/>
        </pc:sldMkLst>
        <pc:spChg chg="mod">
          <ac:chgData name="Johannes De Smedt" userId="e13460af-634e-4231-9e97-a5e3038c16cf" providerId="ADAL" clId="{067A3BAA-D5DB-5F7B-B693-F6FD3279B148}" dt="2026-10-09T08:25:43.874" v="778" actId="207"/>
          <ac:spMkLst>
            <pc:docMk/>
            <pc:sldMk cId="118102704" sldId="323"/>
            <ac:spMk id="10" creationId="{27DB50BD-2692-15EF-C74F-A3F02198FA42}"/>
          </ac:spMkLst>
        </pc:spChg>
        <pc:spChg chg="mod">
          <ac:chgData name="Johannes De Smedt" userId="e13460af-634e-4231-9e97-a5e3038c16cf" providerId="ADAL" clId="{067A3BAA-D5DB-5F7B-B693-F6FD3279B148}" dt="2026-10-09T08:25:11.986" v="777" actId="2711"/>
          <ac:spMkLst>
            <pc:docMk/>
            <pc:sldMk cId="118102704" sldId="323"/>
            <ac:spMk id="11" creationId="{AE634656-B627-C641-9698-002253F9DECA}"/>
          </ac:spMkLst>
        </pc:spChg>
        <pc:cxnChg chg="mod">
          <ac:chgData name="Johannes De Smedt" userId="e13460af-634e-4231-9e97-a5e3038c16cf" providerId="ADAL" clId="{067A3BAA-D5DB-5F7B-B693-F6FD3279B148}" dt="2026-10-09T08:25:11.986" v="777" actId="2711"/>
          <ac:cxnSpMkLst>
            <pc:docMk/>
            <pc:sldMk cId="118102704" sldId="323"/>
            <ac:cxnSpMk id="7" creationId="{49FF4CC2-20DA-1349-9451-A50E017B98AC}"/>
          </ac:cxnSpMkLst>
        </pc:cxnChg>
      </pc:sldChg>
      <pc:sldChg chg="modSp mod">
        <pc:chgData name="Johannes De Smedt" userId="e13460af-634e-4231-9e97-a5e3038c16cf" providerId="ADAL" clId="{067A3BAA-D5DB-5F7B-B693-F6FD3279B148}" dt="2026-10-09T08:27:04.431" v="806" actId="207"/>
        <pc:sldMkLst>
          <pc:docMk/>
          <pc:sldMk cId="1533409325" sldId="324"/>
        </pc:sldMkLst>
        <pc:spChg chg="mod">
          <ac:chgData name="Johannes De Smedt" userId="e13460af-634e-4231-9e97-a5e3038c16cf" providerId="ADAL" clId="{067A3BAA-D5DB-5F7B-B693-F6FD3279B148}" dt="2026-10-09T08:27:04.431" v="806" actId="207"/>
          <ac:spMkLst>
            <pc:docMk/>
            <pc:sldMk cId="1533409325" sldId="324"/>
            <ac:spMk id="3" creationId="{7DA061B3-26B3-4C46-8B40-9707A6E4E235}"/>
          </ac:spMkLst>
        </pc:spChg>
      </pc:sldChg>
      <pc:sldChg chg="modSp mod">
        <pc:chgData name="Johannes De Smedt" userId="e13460af-634e-4231-9e97-a5e3038c16cf" providerId="ADAL" clId="{067A3BAA-D5DB-5F7B-B693-F6FD3279B148}" dt="2026-10-09T08:39:58.096" v="845" actId="2711"/>
        <pc:sldMkLst>
          <pc:docMk/>
          <pc:sldMk cId="3063659635" sldId="328"/>
        </pc:sldMkLst>
        <pc:spChg chg="mod">
          <ac:chgData name="Johannes De Smedt" userId="e13460af-634e-4231-9e97-a5e3038c16cf" providerId="ADAL" clId="{067A3BAA-D5DB-5F7B-B693-F6FD3279B148}" dt="2026-10-09T08:39:58.096" v="845" actId="2711"/>
          <ac:spMkLst>
            <pc:docMk/>
            <pc:sldMk cId="3063659635" sldId="328"/>
            <ac:spMk id="3" creationId="{EEA8E769-D2FA-1842-BD14-71F488C54D21}"/>
          </ac:spMkLst>
        </pc:spChg>
      </pc:sldChg>
      <pc:sldChg chg="delSp modSp mod">
        <pc:chgData name="Johannes De Smedt" userId="e13460af-634e-4231-9e97-a5e3038c16cf" providerId="ADAL" clId="{067A3BAA-D5DB-5F7B-B693-F6FD3279B148}" dt="2026-10-09T08:41:24.811" v="911" actId="313"/>
        <pc:sldMkLst>
          <pc:docMk/>
          <pc:sldMk cId="341226438" sldId="329"/>
        </pc:sldMkLst>
        <pc:spChg chg="mod">
          <ac:chgData name="Johannes De Smedt" userId="e13460af-634e-4231-9e97-a5e3038c16cf" providerId="ADAL" clId="{067A3BAA-D5DB-5F7B-B693-F6FD3279B148}" dt="2026-10-09T08:40:11.969" v="852" actId="2711"/>
          <ac:spMkLst>
            <pc:docMk/>
            <pc:sldMk cId="341226438" sldId="329"/>
            <ac:spMk id="3" creationId="{078045B9-051E-2640-AC4E-4782C479B4E6}"/>
          </ac:spMkLst>
        </pc:spChg>
        <pc:spChg chg="mod">
          <ac:chgData name="Johannes De Smedt" userId="e13460af-634e-4231-9e97-a5e3038c16cf" providerId="ADAL" clId="{067A3BAA-D5DB-5F7B-B693-F6FD3279B148}" dt="2026-10-09T08:41:15.550" v="887" actId="313"/>
          <ac:spMkLst>
            <pc:docMk/>
            <pc:sldMk cId="341226438" sldId="329"/>
            <ac:spMk id="8" creationId="{345AA868-97B0-6D49-A27D-6A236632DEEB}"/>
          </ac:spMkLst>
        </pc:spChg>
        <pc:spChg chg="mod">
          <ac:chgData name="Johannes De Smedt" userId="e13460af-634e-4231-9e97-a5e3038c16cf" providerId="ADAL" clId="{067A3BAA-D5DB-5F7B-B693-F6FD3279B148}" dt="2026-10-09T08:40:39.494" v="864" actId="14100"/>
          <ac:spMkLst>
            <pc:docMk/>
            <pc:sldMk cId="341226438" sldId="329"/>
            <ac:spMk id="16" creationId="{F621103A-BE49-FE44-9D99-B74A13F86163}"/>
          </ac:spMkLst>
        </pc:spChg>
        <pc:spChg chg="mod">
          <ac:chgData name="Johannes De Smedt" userId="e13460af-634e-4231-9e97-a5e3038c16cf" providerId="ADAL" clId="{067A3BAA-D5DB-5F7B-B693-F6FD3279B148}" dt="2026-10-09T08:41:24.811" v="911" actId="313"/>
          <ac:spMkLst>
            <pc:docMk/>
            <pc:sldMk cId="341226438" sldId="329"/>
            <ac:spMk id="18" creationId="{C9F107ED-6AC7-504F-BA13-CA38375D2AEE}"/>
          </ac:spMkLst>
        </pc:spChg>
      </pc:sldChg>
      <pc:sldChg chg="addSp delSp modSp mod">
        <pc:chgData name="Johannes De Smedt" userId="e13460af-634e-4231-9e97-a5e3038c16cf" providerId="ADAL" clId="{067A3BAA-D5DB-5F7B-B693-F6FD3279B148}" dt="2026-10-09T09:01:50.559" v="1071" actId="14100"/>
        <pc:sldMkLst>
          <pc:docMk/>
          <pc:sldMk cId="787854040" sldId="332"/>
        </pc:sldMkLst>
        <pc:spChg chg="mod">
          <ac:chgData name="Johannes De Smedt" userId="e13460af-634e-4231-9e97-a5e3038c16cf" providerId="ADAL" clId="{067A3BAA-D5DB-5F7B-B693-F6FD3279B148}" dt="2026-10-09T09:01:11.607" v="1061" actId="1076"/>
          <ac:spMkLst>
            <pc:docMk/>
            <pc:sldMk cId="787854040" sldId="332"/>
            <ac:spMk id="7" creationId="{49877389-2746-1C46-8A3D-41D9F9DA3C6B}"/>
          </ac:spMkLst>
        </pc:spChg>
        <pc:spChg chg="mod">
          <ac:chgData name="Johannes De Smedt" userId="e13460af-634e-4231-9e97-a5e3038c16cf" providerId="ADAL" clId="{067A3BAA-D5DB-5F7B-B693-F6FD3279B148}" dt="2026-10-09T09:01:11.607" v="1061" actId="1076"/>
          <ac:spMkLst>
            <pc:docMk/>
            <pc:sldMk cId="787854040" sldId="332"/>
            <ac:spMk id="8" creationId="{9EBA4F1D-2A86-D646-A421-C5FD0D45ACC0}"/>
          </ac:spMkLst>
        </pc:spChg>
        <pc:spChg chg="mod">
          <ac:chgData name="Johannes De Smedt" userId="e13460af-634e-4231-9e97-a5e3038c16cf" providerId="ADAL" clId="{067A3BAA-D5DB-5F7B-B693-F6FD3279B148}" dt="2026-10-09T09:00:54.142" v="1054" actId="1076"/>
          <ac:spMkLst>
            <pc:docMk/>
            <pc:sldMk cId="787854040" sldId="332"/>
            <ac:spMk id="9" creationId="{30AD7C80-ABD5-C547-811C-2B92D50BCEC1}"/>
          </ac:spMkLst>
        </pc:spChg>
        <pc:spChg chg="mod">
          <ac:chgData name="Johannes De Smedt" userId="e13460af-634e-4231-9e97-a5e3038c16cf" providerId="ADAL" clId="{067A3BAA-D5DB-5F7B-B693-F6FD3279B148}" dt="2026-10-09T09:01:34.977" v="1066" actId="1076"/>
          <ac:spMkLst>
            <pc:docMk/>
            <pc:sldMk cId="787854040" sldId="332"/>
            <ac:spMk id="11" creationId="{C4FB1EA1-F5F8-0542-9351-FFD4A24C3CBB}"/>
          </ac:spMkLst>
        </pc:spChg>
        <pc:spChg chg="mod">
          <ac:chgData name="Johannes De Smedt" userId="e13460af-634e-4231-9e97-a5e3038c16cf" providerId="ADAL" clId="{067A3BAA-D5DB-5F7B-B693-F6FD3279B148}" dt="2026-10-09T09:01:50.559" v="1071" actId="14100"/>
          <ac:spMkLst>
            <pc:docMk/>
            <pc:sldMk cId="787854040" sldId="332"/>
            <ac:spMk id="15" creationId="{E546C6FB-8A4D-6844-962A-236305BDB8FA}"/>
          </ac:spMkLst>
        </pc:spChg>
        <pc:spChg chg="add mod">
          <ac:chgData name="Johannes De Smedt" userId="e13460af-634e-4231-9e97-a5e3038c16cf" providerId="ADAL" clId="{067A3BAA-D5DB-5F7B-B693-F6FD3279B148}" dt="2026-10-09T09:01:29.841" v="1063" actId="167"/>
          <ac:spMkLst>
            <pc:docMk/>
            <pc:sldMk cId="787854040" sldId="332"/>
            <ac:spMk id="18" creationId="{8415CCBD-ACD4-3C86-A1BB-FEE726999C76}"/>
          </ac:spMkLst>
        </pc:spChg>
        <pc:cxnChg chg="mod">
          <ac:chgData name="Johannes De Smedt" userId="e13460af-634e-4231-9e97-a5e3038c16cf" providerId="ADAL" clId="{067A3BAA-D5DB-5F7B-B693-F6FD3279B148}" dt="2026-10-09T09:01:32.988" v="1065" actId="14100"/>
          <ac:cxnSpMkLst>
            <pc:docMk/>
            <pc:sldMk cId="787854040" sldId="332"/>
            <ac:cxnSpMk id="10" creationId="{EE943DFB-EC03-484F-A1FD-E60F9EB73A2E}"/>
          </ac:cxnSpMkLst>
        </pc:cxnChg>
        <pc:cxnChg chg="mod">
          <ac:chgData name="Johannes De Smedt" userId="e13460af-634e-4231-9e97-a5e3038c16cf" providerId="ADAL" clId="{067A3BAA-D5DB-5F7B-B693-F6FD3279B148}" dt="2026-10-09T09:01:45.156" v="1068" actId="14100"/>
          <ac:cxnSpMkLst>
            <pc:docMk/>
            <pc:sldMk cId="787854040" sldId="332"/>
            <ac:cxnSpMk id="13" creationId="{25D74570-E1D4-3B49-9913-EB16B99A90C9}"/>
          </ac:cxnSpMkLst>
        </pc:cxnChg>
      </pc:sldChg>
      <pc:sldChg chg="modSp mod">
        <pc:chgData name="Johannes De Smedt" userId="e13460af-634e-4231-9e97-a5e3038c16cf" providerId="ADAL" clId="{067A3BAA-D5DB-5F7B-B693-F6FD3279B148}" dt="2026-10-09T10:13:53.860" v="1121" actId="20577"/>
        <pc:sldMkLst>
          <pc:docMk/>
          <pc:sldMk cId="4221614494" sldId="336"/>
        </pc:sldMkLst>
        <pc:spChg chg="mod">
          <ac:chgData name="Johannes De Smedt" userId="e13460af-634e-4231-9e97-a5e3038c16cf" providerId="ADAL" clId="{067A3BAA-D5DB-5F7B-B693-F6FD3279B148}" dt="2026-10-09T10:13:53.860" v="1121" actId="20577"/>
          <ac:spMkLst>
            <pc:docMk/>
            <pc:sldMk cId="4221614494" sldId="336"/>
            <ac:spMk id="2" creationId="{3AA036A6-A2DD-EDB2-5D55-E9F93450DEF7}"/>
          </ac:spMkLst>
        </pc:spChg>
      </pc:sldChg>
      <pc:sldChg chg="modSp mod">
        <pc:chgData name="Johannes De Smedt" userId="e13460af-634e-4231-9e97-a5e3038c16cf" providerId="ADAL" clId="{067A3BAA-D5DB-5F7B-B693-F6FD3279B148}" dt="2026-10-09T10:23:48.085" v="1124" actId="20577"/>
        <pc:sldMkLst>
          <pc:docMk/>
          <pc:sldMk cId="1325260571" sldId="338"/>
        </pc:sldMkLst>
        <pc:spChg chg="mod">
          <ac:chgData name="Johannes De Smedt" userId="e13460af-634e-4231-9e97-a5e3038c16cf" providerId="ADAL" clId="{067A3BAA-D5DB-5F7B-B693-F6FD3279B148}" dt="2026-10-09T10:23:48.085" v="1124" actId="20577"/>
          <ac:spMkLst>
            <pc:docMk/>
            <pc:sldMk cId="1325260571" sldId="338"/>
            <ac:spMk id="2" creationId="{0F0CB71F-6144-40C2-59E0-4A2EADCC7A96}"/>
          </ac:spMkLst>
        </pc:spChg>
      </pc:sldChg>
      <pc:sldChg chg="modSp mod">
        <pc:chgData name="Johannes De Smedt" userId="e13460af-634e-4231-9e97-a5e3038c16cf" providerId="ADAL" clId="{067A3BAA-D5DB-5F7B-B693-F6FD3279B148}" dt="2026-10-09T07:40:49.686" v="56" actId="20577"/>
        <pc:sldMkLst>
          <pc:docMk/>
          <pc:sldMk cId="2737207280" sldId="343"/>
        </pc:sldMkLst>
        <pc:spChg chg="mod">
          <ac:chgData name="Johannes De Smedt" userId="e13460af-634e-4231-9e97-a5e3038c16cf" providerId="ADAL" clId="{067A3BAA-D5DB-5F7B-B693-F6FD3279B148}" dt="2026-10-09T07:40:49.686" v="56" actId="20577"/>
          <ac:spMkLst>
            <pc:docMk/>
            <pc:sldMk cId="2737207280" sldId="343"/>
            <ac:spMk id="8" creationId="{38677094-1E8F-3B20-93FD-BB978DF0324D}"/>
          </ac:spMkLst>
        </pc:spChg>
      </pc:sldChg>
      <pc:sldChg chg="modSp mod">
        <pc:chgData name="Johannes De Smedt" userId="e13460af-634e-4231-9e97-a5e3038c16cf" providerId="ADAL" clId="{067A3BAA-D5DB-5F7B-B693-F6FD3279B148}" dt="2026-10-09T07:55:21.389" v="125" actId="20577"/>
        <pc:sldMkLst>
          <pc:docMk/>
          <pc:sldMk cId="3617487288" sldId="344"/>
        </pc:sldMkLst>
        <pc:spChg chg="mod">
          <ac:chgData name="Johannes De Smedt" userId="e13460af-634e-4231-9e97-a5e3038c16cf" providerId="ADAL" clId="{067A3BAA-D5DB-5F7B-B693-F6FD3279B148}" dt="2026-10-09T07:55:21.389" v="125" actId="20577"/>
          <ac:spMkLst>
            <pc:docMk/>
            <pc:sldMk cId="3617487288" sldId="344"/>
            <ac:spMk id="6" creationId="{98FDB48E-7A74-8111-DF85-17C85ABE617B}"/>
          </ac:spMkLst>
        </pc:spChg>
        <pc:spChg chg="mod">
          <ac:chgData name="Johannes De Smedt" userId="e13460af-634e-4231-9e97-a5e3038c16cf" providerId="ADAL" clId="{067A3BAA-D5DB-5F7B-B693-F6FD3279B148}" dt="2026-10-09T07:55:06.720" v="109" actId="1076"/>
          <ac:spMkLst>
            <pc:docMk/>
            <pc:sldMk cId="3617487288" sldId="344"/>
            <ac:spMk id="9" creationId="{21432962-476F-C688-BFCF-A2F72984EDD1}"/>
          </ac:spMkLst>
        </pc:spChg>
      </pc:sldChg>
      <pc:sldChg chg="modSp mod">
        <pc:chgData name="Johannes De Smedt" userId="e13460af-634e-4231-9e97-a5e3038c16cf" providerId="ADAL" clId="{067A3BAA-D5DB-5F7B-B693-F6FD3279B148}" dt="2026-10-09T09:05:27.364" v="1074" actId="14100"/>
        <pc:sldMkLst>
          <pc:docMk/>
          <pc:sldMk cId="880949950" sldId="348"/>
        </pc:sldMkLst>
        <pc:spChg chg="mod">
          <ac:chgData name="Johannes De Smedt" userId="e13460af-634e-4231-9e97-a5e3038c16cf" providerId="ADAL" clId="{067A3BAA-D5DB-5F7B-B693-F6FD3279B148}" dt="2026-10-09T09:05:25.689" v="1073" actId="14100"/>
          <ac:spMkLst>
            <pc:docMk/>
            <pc:sldMk cId="880949950" sldId="348"/>
            <ac:spMk id="2" creationId="{A0E7EBE8-B181-8492-6343-A7A8B46CC3CF}"/>
          </ac:spMkLst>
        </pc:spChg>
        <pc:graphicFrameChg chg="mod modGraphic">
          <ac:chgData name="Johannes De Smedt" userId="e13460af-634e-4231-9e97-a5e3038c16cf" providerId="ADAL" clId="{067A3BAA-D5DB-5F7B-B693-F6FD3279B148}" dt="2026-10-09T09:05:27.364" v="1074" actId="14100"/>
          <ac:graphicFrameMkLst>
            <pc:docMk/>
            <pc:sldMk cId="880949950" sldId="348"/>
            <ac:graphicFrameMk id="3" creationId="{DFB1C206-08A9-AD6B-E52B-BD70D603D99B}"/>
          </ac:graphicFrameMkLst>
        </pc:graphicFrameChg>
      </pc:sldChg>
      <pc:sldChg chg="modSp mod">
        <pc:chgData name="Johannes De Smedt" userId="e13460af-634e-4231-9e97-a5e3038c16cf" providerId="ADAL" clId="{067A3BAA-D5DB-5F7B-B693-F6FD3279B148}" dt="2026-10-09T08:37:40.580" v="834" actId="20577"/>
        <pc:sldMkLst>
          <pc:docMk/>
          <pc:sldMk cId="354162167" sldId="351"/>
        </pc:sldMkLst>
        <pc:spChg chg="mod">
          <ac:chgData name="Johannes De Smedt" userId="e13460af-634e-4231-9e97-a5e3038c16cf" providerId="ADAL" clId="{067A3BAA-D5DB-5F7B-B693-F6FD3279B148}" dt="2026-10-09T08:37:40.580" v="834" actId="20577"/>
          <ac:spMkLst>
            <pc:docMk/>
            <pc:sldMk cId="354162167" sldId="351"/>
            <ac:spMk id="2" creationId="{0A6225C6-2727-91E4-1100-69B5133339FE}"/>
          </ac:spMkLst>
        </pc:spChg>
      </pc:sldChg>
      <pc:sldChg chg="modSp mod">
        <pc:chgData name="Johannes De Smedt" userId="e13460af-634e-4231-9e97-a5e3038c16cf" providerId="ADAL" clId="{067A3BAA-D5DB-5F7B-B693-F6FD3279B148}" dt="2026-10-09T09:08:02.086" v="1093" actId="20577"/>
        <pc:sldMkLst>
          <pc:docMk/>
          <pc:sldMk cId="2304791472" sldId="352"/>
        </pc:sldMkLst>
        <pc:spChg chg="mod">
          <ac:chgData name="Johannes De Smedt" userId="e13460af-634e-4231-9e97-a5e3038c16cf" providerId="ADAL" clId="{067A3BAA-D5DB-5F7B-B693-F6FD3279B148}" dt="2026-10-09T09:08:02.086" v="1093" actId="20577"/>
          <ac:spMkLst>
            <pc:docMk/>
            <pc:sldMk cId="2304791472" sldId="352"/>
            <ac:spMk id="2" creationId="{53D6461D-E5DD-D9EA-B63C-B0F16A706444}"/>
          </ac:spMkLst>
        </pc:spChg>
      </pc:sldChg>
      <pc:sldChg chg="modSp mod">
        <pc:chgData name="Johannes De Smedt" userId="e13460af-634e-4231-9e97-a5e3038c16cf" providerId="ADAL" clId="{067A3BAA-D5DB-5F7B-B693-F6FD3279B148}" dt="2026-10-09T09:10:17.492" v="1113" actId="108"/>
        <pc:sldMkLst>
          <pc:docMk/>
          <pc:sldMk cId="3818404303" sldId="374"/>
        </pc:sldMkLst>
        <pc:spChg chg="mod">
          <ac:chgData name="Johannes De Smedt" userId="e13460af-634e-4231-9e97-a5e3038c16cf" providerId="ADAL" clId="{067A3BAA-D5DB-5F7B-B693-F6FD3279B148}" dt="2026-10-09T09:09:45.074" v="1106" actId="1076"/>
          <ac:spMkLst>
            <pc:docMk/>
            <pc:sldMk cId="3818404303" sldId="374"/>
            <ac:spMk id="9" creationId="{6FA78182-B11F-5D47-4911-1B60E9D44BED}"/>
          </ac:spMkLst>
        </pc:spChg>
        <pc:graphicFrameChg chg="mod modGraphic">
          <ac:chgData name="Johannes De Smedt" userId="e13460af-634e-4231-9e97-a5e3038c16cf" providerId="ADAL" clId="{067A3BAA-D5DB-5F7B-B693-F6FD3279B148}" dt="2026-10-09T09:10:17.492" v="1113" actId="108"/>
          <ac:graphicFrameMkLst>
            <pc:docMk/>
            <pc:sldMk cId="3818404303" sldId="374"/>
            <ac:graphicFrameMk id="7" creationId="{37FF2868-D6E2-9334-DCF1-751238F499E5}"/>
          </ac:graphicFrameMkLst>
        </pc:graphicFrameChg>
      </pc:sldChg>
      <pc:sldChg chg="modSp">
        <pc:chgData name="Johannes De Smedt" userId="e13460af-634e-4231-9e97-a5e3038c16cf" providerId="ADAL" clId="{067A3BAA-D5DB-5F7B-B693-F6FD3279B148}" dt="2026-10-09T07:45:08.190" v="87"/>
        <pc:sldMkLst>
          <pc:docMk/>
          <pc:sldMk cId="2090695823" sldId="404"/>
        </pc:sldMkLst>
        <pc:spChg chg="mod">
          <ac:chgData name="Johannes De Smedt" userId="e13460af-634e-4231-9e97-a5e3038c16cf" providerId="ADAL" clId="{067A3BAA-D5DB-5F7B-B693-F6FD3279B148}" dt="2026-10-09T07:45:08.190" v="87"/>
          <ac:spMkLst>
            <pc:docMk/>
            <pc:sldMk cId="2090695823" sldId="404"/>
            <ac:spMk id="33" creationId="{00000000-0000-0000-0000-000000000000}"/>
          </ac:spMkLst>
        </pc:spChg>
      </pc:sldChg>
      <pc:sldChg chg="addSp delSp modSp new mod">
        <pc:chgData name="Johannes De Smedt" userId="e13460af-634e-4231-9e97-a5e3038c16cf" providerId="ADAL" clId="{067A3BAA-D5DB-5F7B-B693-F6FD3279B148}" dt="2026-10-09T07:59:42.114" v="282" actId="1076"/>
        <pc:sldMkLst>
          <pc:docMk/>
          <pc:sldMk cId="3162696298" sldId="406"/>
        </pc:sldMkLst>
        <pc:spChg chg="add del mod">
          <ac:chgData name="Johannes De Smedt" userId="e13460af-634e-4231-9e97-a5e3038c16cf" providerId="ADAL" clId="{067A3BAA-D5DB-5F7B-B693-F6FD3279B148}" dt="2026-10-09T07:59:32.688" v="280" actId="20577"/>
          <ac:spMkLst>
            <pc:docMk/>
            <pc:sldMk cId="3162696298" sldId="406"/>
            <ac:spMk id="2" creationId="{D9D50FBF-B60E-C545-E61B-CE6FA4EAF2DD}"/>
          </ac:spMkLst>
        </pc:spChg>
        <pc:spChg chg="mod">
          <ac:chgData name="Johannes De Smedt" userId="e13460af-634e-4231-9e97-a5e3038c16cf" providerId="ADAL" clId="{067A3BAA-D5DB-5F7B-B693-F6FD3279B148}" dt="2026-10-09T07:57:58.327" v="165" actId="20577"/>
          <ac:spMkLst>
            <pc:docMk/>
            <pc:sldMk cId="3162696298" sldId="406"/>
            <ac:spMk id="4" creationId="{38FED1F1-78E6-9C16-6CDE-CB38095045C6}"/>
          </ac:spMkLst>
        </pc:spChg>
        <pc:spChg chg="add mod">
          <ac:chgData name="Johannes De Smedt" userId="e13460af-634e-4231-9e97-a5e3038c16cf" providerId="ADAL" clId="{067A3BAA-D5DB-5F7B-B693-F6FD3279B148}" dt="2026-10-09T07:58:22.927" v="176" actId="208"/>
          <ac:spMkLst>
            <pc:docMk/>
            <pc:sldMk cId="3162696298" sldId="406"/>
            <ac:spMk id="6" creationId="{CC3561E1-73C3-685D-B484-F5F33EB50185}"/>
          </ac:spMkLst>
        </pc:spChg>
        <pc:spChg chg="add mod">
          <ac:chgData name="Johannes De Smedt" userId="e13460af-634e-4231-9e97-a5e3038c16cf" providerId="ADAL" clId="{067A3BAA-D5DB-5F7B-B693-F6FD3279B148}" dt="2026-10-09T07:59:11.134" v="202" actId="1076"/>
          <ac:spMkLst>
            <pc:docMk/>
            <pc:sldMk cId="3162696298" sldId="406"/>
            <ac:spMk id="10" creationId="{A740AFD3-DA63-60BB-0CB0-2597F6686CF9}"/>
          </ac:spMkLst>
        </pc:spChg>
        <pc:spChg chg="add mod">
          <ac:chgData name="Johannes De Smedt" userId="e13460af-634e-4231-9e97-a5e3038c16cf" providerId="ADAL" clId="{067A3BAA-D5DB-5F7B-B693-F6FD3279B148}" dt="2026-10-09T07:59:42.114" v="282" actId="1076"/>
          <ac:spMkLst>
            <pc:docMk/>
            <pc:sldMk cId="3162696298" sldId="406"/>
            <ac:spMk id="11" creationId="{94B93DAE-B901-4869-3EB4-E8B424051010}"/>
          </ac:spMkLst>
        </pc:spChg>
        <pc:spChg chg="add mod">
          <ac:chgData name="Johannes De Smedt" userId="e13460af-634e-4231-9e97-a5e3038c16cf" providerId="ADAL" clId="{067A3BAA-D5DB-5F7B-B693-F6FD3279B148}" dt="2026-10-09T07:59:38.892" v="281"/>
          <ac:spMkLst>
            <pc:docMk/>
            <pc:sldMk cId="3162696298" sldId="406"/>
            <ac:spMk id="12" creationId="{839DF371-909F-F934-245F-EE67E47BB78D}"/>
          </ac:spMkLst>
        </pc:spChg>
      </pc:sldChg>
      <pc:sldChg chg="addSp delSp modSp new mod">
        <pc:chgData name="Johannes De Smedt" userId="e13460af-634e-4231-9e97-a5e3038c16cf" providerId="ADAL" clId="{067A3BAA-D5DB-5F7B-B693-F6FD3279B148}" dt="2026-10-09T08:05:50.486" v="553" actId="1076"/>
        <pc:sldMkLst>
          <pc:docMk/>
          <pc:sldMk cId="1075053280" sldId="407"/>
        </pc:sldMkLst>
        <pc:spChg chg="mod">
          <ac:chgData name="Johannes De Smedt" userId="e13460af-634e-4231-9e97-a5e3038c16cf" providerId="ADAL" clId="{067A3BAA-D5DB-5F7B-B693-F6FD3279B148}" dt="2026-10-09T08:02:07.431" v="486" actId="20577"/>
          <ac:spMkLst>
            <pc:docMk/>
            <pc:sldMk cId="1075053280" sldId="407"/>
            <ac:spMk id="4" creationId="{5A738AE0-4D76-CD02-79D8-A3DC02F247E2}"/>
          </ac:spMkLst>
        </pc:spChg>
        <pc:spChg chg="add mod">
          <ac:chgData name="Johannes De Smedt" userId="e13460af-634e-4231-9e97-a5e3038c16cf" providerId="ADAL" clId="{067A3BAA-D5DB-5F7B-B693-F6FD3279B148}" dt="2026-10-09T08:05:20.867" v="550" actId="20577"/>
          <ac:spMkLst>
            <pc:docMk/>
            <pc:sldMk cId="1075053280" sldId="407"/>
            <ac:spMk id="6" creationId="{0F63EF8C-AB3E-163F-BD2B-396EAFCC771D}"/>
          </ac:spMkLst>
        </pc:spChg>
        <pc:spChg chg="add mod">
          <ac:chgData name="Johannes De Smedt" userId="e13460af-634e-4231-9e97-a5e3038c16cf" providerId="ADAL" clId="{067A3BAA-D5DB-5F7B-B693-F6FD3279B148}" dt="2026-10-09T08:04:36.267" v="544" actId="207"/>
          <ac:spMkLst>
            <pc:docMk/>
            <pc:sldMk cId="1075053280" sldId="407"/>
            <ac:spMk id="8" creationId="{8BC91170-7903-3F84-3FC4-57E8F523DBCB}"/>
          </ac:spMkLst>
        </pc:spChg>
        <pc:spChg chg="add mod">
          <ac:chgData name="Johannes De Smedt" userId="e13460af-634e-4231-9e97-a5e3038c16cf" providerId="ADAL" clId="{067A3BAA-D5DB-5F7B-B693-F6FD3279B148}" dt="2026-10-09T08:04:56.118" v="545" actId="1076"/>
          <ac:spMkLst>
            <pc:docMk/>
            <pc:sldMk cId="1075053280" sldId="407"/>
            <ac:spMk id="14" creationId="{03D2E5B8-B0B3-47BC-2A83-0BF7B00B8505}"/>
          </ac:spMkLst>
        </pc:spChg>
        <pc:spChg chg="add mod">
          <ac:chgData name="Johannes De Smedt" userId="e13460af-634e-4231-9e97-a5e3038c16cf" providerId="ADAL" clId="{067A3BAA-D5DB-5F7B-B693-F6FD3279B148}" dt="2026-10-09T08:05:50.486" v="553" actId="1076"/>
          <ac:spMkLst>
            <pc:docMk/>
            <pc:sldMk cId="1075053280" sldId="407"/>
            <ac:spMk id="15" creationId="{4BF65197-2F97-69AB-A493-0DFB5EB41811}"/>
          </ac:spMkLst>
        </pc:spChg>
        <pc:spChg chg="add mod">
          <ac:chgData name="Johannes De Smedt" userId="e13460af-634e-4231-9e97-a5e3038c16cf" providerId="ADAL" clId="{067A3BAA-D5DB-5F7B-B693-F6FD3279B148}" dt="2026-10-09T08:05:46.575" v="552" actId="1076"/>
          <ac:spMkLst>
            <pc:docMk/>
            <pc:sldMk cId="1075053280" sldId="407"/>
            <ac:spMk id="16" creationId="{EB7EF2E8-AF8E-6EBE-B612-447489667FF1}"/>
          </ac:spMkLst>
        </pc:spChg>
      </pc:sldChg>
      <pc:sldChg chg="addSp delSp modSp new mod">
        <pc:chgData name="Johannes De Smedt" userId="e13460af-634e-4231-9e97-a5e3038c16cf" providerId="ADAL" clId="{067A3BAA-D5DB-5F7B-B693-F6FD3279B148}" dt="2026-10-09T08:10:07.580" v="674" actId="14100"/>
        <pc:sldMkLst>
          <pc:docMk/>
          <pc:sldMk cId="3962590523" sldId="408"/>
        </pc:sldMkLst>
        <pc:spChg chg="mod">
          <ac:chgData name="Johannes De Smedt" userId="e13460af-634e-4231-9e97-a5e3038c16cf" providerId="ADAL" clId="{067A3BAA-D5DB-5F7B-B693-F6FD3279B148}" dt="2026-10-09T08:09:33.070" v="669" actId="20577"/>
          <ac:spMkLst>
            <pc:docMk/>
            <pc:sldMk cId="3962590523" sldId="408"/>
            <ac:spMk id="2" creationId="{1F086827-2D3C-BFF7-58DF-1DDCEC5E6EFF}"/>
          </ac:spMkLst>
        </pc:spChg>
        <pc:spChg chg="mod">
          <ac:chgData name="Johannes De Smedt" userId="e13460af-634e-4231-9e97-a5e3038c16cf" providerId="ADAL" clId="{067A3BAA-D5DB-5F7B-B693-F6FD3279B148}" dt="2026-10-09T08:07:49.385" v="566" actId="20577"/>
          <ac:spMkLst>
            <pc:docMk/>
            <pc:sldMk cId="3962590523" sldId="408"/>
            <ac:spMk id="4" creationId="{6819F82B-0954-9080-39B6-D4D88F497C3C}"/>
          </ac:spMkLst>
        </pc:spChg>
        <pc:spChg chg="add mod">
          <ac:chgData name="Johannes De Smedt" userId="e13460af-634e-4231-9e97-a5e3038c16cf" providerId="ADAL" clId="{067A3BAA-D5DB-5F7B-B693-F6FD3279B148}" dt="2026-10-09T08:10:03.470" v="673" actId="14100"/>
          <ac:spMkLst>
            <pc:docMk/>
            <pc:sldMk cId="3962590523" sldId="408"/>
            <ac:spMk id="8" creationId="{FAE6CBBA-17FA-4F4F-D82D-2FE8EC6E5E15}"/>
          </ac:spMkLst>
        </pc:spChg>
        <pc:spChg chg="add mod">
          <ac:chgData name="Johannes De Smedt" userId="e13460af-634e-4231-9e97-a5e3038c16cf" providerId="ADAL" clId="{067A3BAA-D5DB-5F7B-B693-F6FD3279B148}" dt="2026-10-09T08:10:07.580" v="674" actId="14100"/>
          <ac:spMkLst>
            <pc:docMk/>
            <pc:sldMk cId="3962590523" sldId="408"/>
            <ac:spMk id="12" creationId="{933F10A3-44DF-83C1-5B53-D782C70A0523}"/>
          </ac:spMkLst>
        </pc:spChg>
      </pc:sldChg>
      <pc:sldChg chg="addSp delSp modSp new mod">
        <pc:chgData name="Johannes De Smedt" userId="e13460af-634e-4231-9e97-a5e3038c16cf" providerId="ADAL" clId="{067A3BAA-D5DB-5F7B-B693-F6FD3279B148}" dt="2026-10-09T08:48:58.773" v="1002" actId="14734"/>
        <pc:sldMkLst>
          <pc:docMk/>
          <pc:sldMk cId="1070325303" sldId="409"/>
        </pc:sldMkLst>
        <pc:spChg chg="mod">
          <ac:chgData name="Johannes De Smedt" userId="e13460af-634e-4231-9e97-a5e3038c16cf" providerId="ADAL" clId="{067A3BAA-D5DB-5F7B-B693-F6FD3279B148}" dt="2026-10-09T08:44:48.289" v="956" actId="20577"/>
          <ac:spMkLst>
            <pc:docMk/>
            <pc:sldMk cId="1070325303" sldId="409"/>
            <ac:spMk id="4" creationId="{F11BB85B-E7F0-1F4B-0169-685A31481515}"/>
          </ac:spMkLst>
        </pc:spChg>
        <pc:spChg chg="add mod">
          <ac:chgData name="Johannes De Smedt" userId="e13460af-634e-4231-9e97-a5e3038c16cf" providerId="ADAL" clId="{067A3BAA-D5DB-5F7B-B693-F6FD3279B148}" dt="2026-10-09T08:48:40.497" v="993" actId="1076"/>
          <ac:spMkLst>
            <pc:docMk/>
            <pc:sldMk cId="1070325303" sldId="409"/>
            <ac:spMk id="6" creationId="{23EB12DA-55A0-B7D1-2DA8-D6984C581C74}"/>
          </ac:spMkLst>
        </pc:spChg>
        <pc:spChg chg="add mod">
          <ac:chgData name="Johannes De Smedt" userId="e13460af-634e-4231-9e97-a5e3038c16cf" providerId="ADAL" clId="{067A3BAA-D5DB-5F7B-B693-F6FD3279B148}" dt="2026-10-09T08:48:42.638" v="994" actId="14100"/>
          <ac:spMkLst>
            <pc:docMk/>
            <pc:sldMk cId="1070325303" sldId="409"/>
            <ac:spMk id="8" creationId="{70D8B5C2-EEF0-E16B-75AA-04B32244B507}"/>
          </ac:spMkLst>
        </pc:spChg>
        <pc:graphicFrameChg chg="add mod modGraphic">
          <ac:chgData name="Johannes De Smedt" userId="e13460af-634e-4231-9e97-a5e3038c16cf" providerId="ADAL" clId="{067A3BAA-D5DB-5F7B-B693-F6FD3279B148}" dt="2026-10-09T08:46:16.685" v="982" actId="1076"/>
          <ac:graphicFrameMkLst>
            <pc:docMk/>
            <pc:sldMk cId="1070325303" sldId="409"/>
            <ac:graphicFrameMk id="11" creationId="{1FDE1192-322F-E531-83A6-59107E1CF465}"/>
          </ac:graphicFrameMkLst>
        </pc:graphicFrameChg>
        <pc:graphicFrameChg chg="add mod modGraphic">
          <ac:chgData name="Johannes De Smedt" userId="e13460af-634e-4231-9e97-a5e3038c16cf" providerId="ADAL" clId="{067A3BAA-D5DB-5F7B-B693-F6FD3279B148}" dt="2026-10-09T08:48:58.773" v="1002" actId="14734"/>
          <ac:graphicFrameMkLst>
            <pc:docMk/>
            <pc:sldMk cId="1070325303" sldId="409"/>
            <ac:graphicFrameMk id="12" creationId="{6FA75289-4ED7-4E3F-87FF-EE764F991A8E}"/>
          </ac:graphicFrameMkLst>
        </pc:graphicFrameChg>
      </pc:sldChg>
    </pc:docChg>
  </pc:docChgLst>
  <pc:docChgLst>
    <pc:chgData name="Johannes De Smedt" userId="e13460af-634e-4231-9e97-a5e3038c16cf" providerId="ADAL" clId="{0D1066A5-738B-4C5A-8D8D-B22799BBCD97}"/>
    <pc:docChg chg="undo custSel addSld delSld modSld sldOrd">
      <pc:chgData name="Johannes De Smedt" userId="e13460af-634e-4231-9e97-a5e3038c16cf" providerId="ADAL" clId="{0D1066A5-738B-4C5A-8D8D-B22799BBCD97}" dt="2026-10-13T08:32:21.910" v="1112" actId="207"/>
      <pc:docMkLst>
        <pc:docMk/>
      </pc:docMkLst>
      <pc:sldChg chg="modSp mod">
        <pc:chgData name="Johannes De Smedt" userId="e13460af-634e-4231-9e97-a5e3038c16cf" providerId="ADAL" clId="{0D1066A5-738B-4C5A-8D8D-B22799BBCD97}" dt="2026-10-06T10:07:59.513" v="39" actId="113"/>
        <pc:sldMkLst>
          <pc:docMk/>
          <pc:sldMk cId="702176945" sldId="270"/>
        </pc:sldMkLst>
        <pc:spChg chg="mod">
          <ac:chgData name="Johannes De Smedt" userId="e13460af-634e-4231-9e97-a5e3038c16cf" providerId="ADAL" clId="{0D1066A5-738B-4C5A-8D8D-B22799BBCD97}" dt="2026-10-06T10:07:59.513" v="39" actId="113"/>
          <ac:spMkLst>
            <pc:docMk/>
            <pc:sldMk cId="702176945" sldId="270"/>
            <ac:spMk id="3" creationId="{40FA5D96-148A-3D4A-A2AC-78BF764EC596}"/>
          </ac:spMkLst>
        </pc:spChg>
      </pc:sldChg>
      <pc:sldChg chg="modSp mod">
        <pc:chgData name="Johannes De Smedt" userId="e13460af-634e-4231-9e97-a5e3038c16cf" providerId="ADAL" clId="{0D1066A5-738B-4C5A-8D8D-B22799BBCD97}" dt="2026-10-12T08:29:18.127" v="83" actId="20577"/>
        <pc:sldMkLst>
          <pc:docMk/>
          <pc:sldMk cId="2415581184" sldId="303"/>
        </pc:sldMkLst>
        <pc:spChg chg="mod">
          <ac:chgData name="Johannes De Smedt" userId="e13460af-634e-4231-9e97-a5e3038c16cf" providerId="ADAL" clId="{0D1066A5-738B-4C5A-8D8D-B22799BBCD97}" dt="2026-10-12T08:29:18.127" v="83" actId="20577"/>
          <ac:spMkLst>
            <pc:docMk/>
            <pc:sldMk cId="2415581184" sldId="303"/>
            <ac:spMk id="3" creationId="{D31CA2F2-8990-1F4B-A37F-A576F9580084}"/>
          </ac:spMkLst>
        </pc:spChg>
      </pc:sldChg>
      <pc:sldChg chg="modSp mod">
        <pc:chgData name="Johannes De Smedt" userId="e13460af-634e-4231-9e97-a5e3038c16cf" providerId="ADAL" clId="{0D1066A5-738B-4C5A-8D8D-B22799BBCD97}" dt="2026-10-12T08:32:09.057" v="114" actId="20577"/>
        <pc:sldMkLst>
          <pc:docMk/>
          <pc:sldMk cId="929030374" sldId="304"/>
        </pc:sldMkLst>
        <pc:spChg chg="mod">
          <ac:chgData name="Johannes De Smedt" userId="e13460af-634e-4231-9e97-a5e3038c16cf" providerId="ADAL" clId="{0D1066A5-738B-4C5A-8D8D-B22799BBCD97}" dt="2026-10-12T08:32:09.057" v="114" actId="20577"/>
          <ac:spMkLst>
            <pc:docMk/>
            <pc:sldMk cId="929030374" sldId="304"/>
            <ac:spMk id="13" creationId="{44FA4AB0-38F1-76DD-0C52-AAE9EE83C5DE}"/>
          </ac:spMkLst>
        </pc:spChg>
      </pc:sldChg>
      <pc:sldChg chg="modSp mod">
        <pc:chgData name="Johannes De Smedt" userId="e13460af-634e-4231-9e97-a5e3038c16cf" providerId="ADAL" clId="{0D1066A5-738B-4C5A-8D8D-B22799BBCD97}" dt="2026-10-12T12:57:11.307" v="882" actId="14100"/>
        <pc:sldMkLst>
          <pc:docMk/>
          <pc:sldMk cId="1903713714" sldId="314"/>
        </pc:sldMkLst>
        <pc:spChg chg="mod">
          <ac:chgData name="Johannes De Smedt" userId="e13460af-634e-4231-9e97-a5e3038c16cf" providerId="ADAL" clId="{0D1066A5-738B-4C5A-8D8D-B22799BBCD97}" dt="2026-10-12T12:57:11.307" v="882" actId="14100"/>
          <ac:spMkLst>
            <pc:docMk/>
            <pc:sldMk cId="1903713714" sldId="314"/>
            <ac:spMk id="5" creationId="{1DF3793E-A771-015B-A187-A0ABD496EEA8}"/>
          </ac:spMkLst>
        </pc:spChg>
      </pc:sldChg>
      <pc:sldChg chg="modSp mod">
        <pc:chgData name="Johannes De Smedt" userId="e13460af-634e-4231-9e97-a5e3038c16cf" providerId="ADAL" clId="{0D1066A5-738B-4C5A-8D8D-B22799BBCD97}" dt="2026-10-12T09:20:17.534" v="192" actId="207"/>
        <pc:sldMkLst>
          <pc:docMk/>
          <pc:sldMk cId="2234740047" sldId="315"/>
        </pc:sldMkLst>
        <pc:spChg chg="mod">
          <ac:chgData name="Johannes De Smedt" userId="e13460af-634e-4231-9e97-a5e3038c16cf" providerId="ADAL" clId="{0D1066A5-738B-4C5A-8D8D-B22799BBCD97}" dt="2026-10-12T09:20:17.534" v="192" actId="207"/>
          <ac:spMkLst>
            <pc:docMk/>
            <pc:sldMk cId="2234740047" sldId="315"/>
            <ac:spMk id="3" creationId="{867B3DB2-D4F8-7A4E-AF37-39787CD0E399}"/>
          </ac:spMkLst>
        </pc:spChg>
      </pc:sldChg>
      <pc:sldChg chg="modSp mod">
        <pc:chgData name="Johannes De Smedt" userId="e13460af-634e-4231-9e97-a5e3038c16cf" providerId="ADAL" clId="{0D1066A5-738B-4C5A-8D8D-B22799BBCD97}" dt="2026-10-12T12:58:21.258" v="883" actId="207"/>
        <pc:sldMkLst>
          <pc:docMk/>
          <pc:sldMk cId="765746627" sldId="316"/>
        </pc:sldMkLst>
        <pc:spChg chg="mod">
          <ac:chgData name="Johannes De Smedt" userId="e13460af-634e-4231-9e97-a5e3038c16cf" providerId="ADAL" clId="{0D1066A5-738B-4C5A-8D8D-B22799BBCD97}" dt="2026-10-12T12:58:21.258" v="883" actId="207"/>
          <ac:spMkLst>
            <pc:docMk/>
            <pc:sldMk cId="765746627" sldId="316"/>
            <ac:spMk id="7" creationId="{C3B3FE50-5592-074F-A27C-3B9480C47D2B}"/>
          </ac:spMkLst>
        </pc:spChg>
      </pc:sldChg>
      <pc:sldChg chg="modSp mod">
        <pc:chgData name="Johannes De Smedt" userId="e13460af-634e-4231-9e97-a5e3038c16cf" providerId="ADAL" clId="{0D1066A5-738B-4C5A-8D8D-B22799BBCD97}" dt="2026-10-12T12:58:44.517" v="887" actId="20577"/>
        <pc:sldMkLst>
          <pc:docMk/>
          <pc:sldMk cId="3757958535" sldId="317"/>
        </pc:sldMkLst>
        <pc:spChg chg="mod">
          <ac:chgData name="Johannes De Smedt" userId="e13460af-634e-4231-9e97-a5e3038c16cf" providerId="ADAL" clId="{0D1066A5-738B-4C5A-8D8D-B22799BBCD97}" dt="2026-10-12T09:23:08.821" v="193" actId="20577"/>
          <ac:spMkLst>
            <pc:docMk/>
            <pc:sldMk cId="3757958535" sldId="317"/>
            <ac:spMk id="14" creationId="{8CD2EF21-44A0-8B48-A594-66D35F39B020}"/>
          </ac:spMkLst>
        </pc:spChg>
        <pc:spChg chg="mod">
          <ac:chgData name="Johannes De Smedt" userId="e13460af-634e-4231-9e97-a5e3038c16cf" providerId="ADAL" clId="{0D1066A5-738B-4C5A-8D8D-B22799BBCD97}" dt="2026-10-12T12:58:44.517" v="887" actId="20577"/>
          <ac:spMkLst>
            <pc:docMk/>
            <pc:sldMk cId="3757958535" sldId="317"/>
            <ac:spMk id="17" creationId="{5F5CBBA7-7BAE-354A-947A-45591CE754F8}"/>
          </ac:spMkLst>
        </pc:spChg>
      </pc:sldChg>
      <pc:sldChg chg="modSp mod">
        <pc:chgData name="Johannes De Smedt" userId="e13460af-634e-4231-9e97-a5e3038c16cf" providerId="ADAL" clId="{0D1066A5-738B-4C5A-8D8D-B22799BBCD97}" dt="2026-10-12T10:05:37.935" v="222" actId="20577"/>
        <pc:sldMkLst>
          <pc:docMk/>
          <pc:sldMk cId="1778178507" sldId="318"/>
        </pc:sldMkLst>
        <pc:spChg chg="mod">
          <ac:chgData name="Johannes De Smedt" userId="e13460af-634e-4231-9e97-a5e3038c16cf" providerId="ADAL" clId="{0D1066A5-738B-4C5A-8D8D-B22799BBCD97}" dt="2026-10-12T10:05:37.935" v="222" actId="20577"/>
          <ac:spMkLst>
            <pc:docMk/>
            <pc:sldMk cId="1778178507" sldId="318"/>
            <ac:spMk id="16" creationId="{E113D854-0091-F748-83C4-6DF5D1F9DA29}"/>
          </ac:spMkLst>
        </pc:spChg>
      </pc:sldChg>
      <pc:sldChg chg="modSp mod">
        <pc:chgData name="Johannes De Smedt" userId="e13460af-634e-4231-9e97-a5e3038c16cf" providerId="ADAL" clId="{0D1066A5-738B-4C5A-8D8D-B22799BBCD97}" dt="2026-10-12T10:13:02.464" v="260" actId="2711"/>
        <pc:sldMkLst>
          <pc:docMk/>
          <pc:sldMk cId="118102704" sldId="323"/>
        </pc:sldMkLst>
        <pc:spChg chg="mod">
          <ac:chgData name="Johannes De Smedt" userId="e13460af-634e-4231-9e97-a5e3038c16cf" providerId="ADAL" clId="{0D1066A5-738B-4C5A-8D8D-B22799BBCD97}" dt="2026-10-12T10:13:02.464" v="260" actId="2711"/>
          <ac:spMkLst>
            <pc:docMk/>
            <pc:sldMk cId="118102704" sldId="323"/>
            <ac:spMk id="11" creationId="{AE634656-B627-C641-9698-002253F9DECA}"/>
          </ac:spMkLst>
        </pc:spChg>
        <pc:cxnChg chg="mod">
          <ac:chgData name="Johannes De Smedt" userId="e13460af-634e-4231-9e97-a5e3038c16cf" providerId="ADAL" clId="{0D1066A5-738B-4C5A-8D8D-B22799BBCD97}" dt="2026-10-12T10:12:46.773" v="235" actId="20577"/>
          <ac:cxnSpMkLst>
            <pc:docMk/>
            <pc:sldMk cId="118102704" sldId="323"/>
            <ac:cxnSpMk id="7" creationId="{49FF4CC2-20DA-1349-9451-A50E017B98AC}"/>
          </ac:cxnSpMkLst>
        </pc:cxnChg>
      </pc:sldChg>
      <pc:sldChg chg="modSp mod">
        <pc:chgData name="Johannes De Smedt" userId="e13460af-634e-4231-9e97-a5e3038c16cf" providerId="ADAL" clId="{0D1066A5-738B-4C5A-8D8D-B22799BBCD97}" dt="2026-10-12T10:16:21.137" v="267" actId="20577"/>
        <pc:sldMkLst>
          <pc:docMk/>
          <pc:sldMk cId="1533409325" sldId="324"/>
        </pc:sldMkLst>
        <pc:spChg chg="mod">
          <ac:chgData name="Johannes De Smedt" userId="e13460af-634e-4231-9e97-a5e3038c16cf" providerId="ADAL" clId="{0D1066A5-738B-4C5A-8D8D-B22799BBCD97}" dt="2026-10-12T10:16:21.137" v="267" actId="20577"/>
          <ac:spMkLst>
            <pc:docMk/>
            <pc:sldMk cId="1533409325" sldId="324"/>
            <ac:spMk id="3" creationId="{7DA061B3-26B3-4C46-8B40-9707A6E4E235}"/>
          </ac:spMkLst>
        </pc:spChg>
      </pc:sldChg>
      <pc:sldChg chg="modSp mod">
        <pc:chgData name="Johannes De Smedt" userId="e13460af-634e-4231-9e97-a5e3038c16cf" providerId="ADAL" clId="{0D1066A5-738B-4C5A-8D8D-B22799BBCD97}" dt="2026-10-13T08:32:21.910" v="1112" actId="207"/>
        <pc:sldMkLst>
          <pc:docMk/>
          <pc:sldMk cId="522087771" sldId="325"/>
        </pc:sldMkLst>
        <pc:spChg chg="mod">
          <ac:chgData name="Johannes De Smedt" userId="e13460af-634e-4231-9e97-a5e3038c16cf" providerId="ADAL" clId="{0D1066A5-738B-4C5A-8D8D-B22799BBCD97}" dt="2026-10-13T08:32:21.910" v="1112" actId="207"/>
          <ac:spMkLst>
            <pc:docMk/>
            <pc:sldMk cId="522087771" sldId="325"/>
            <ac:spMk id="5" creationId="{8D4D0864-7747-BF4C-82BC-D729F2C98E8E}"/>
          </ac:spMkLst>
        </pc:spChg>
        <pc:spChg chg="mod">
          <ac:chgData name="Johannes De Smedt" userId="e13460af-634e-4231-9e97-a5e3038c16cf" providerId="ADAL" clId="{0D1066A5-738B-4C5A-8D8D-B22799BBCD97}" dt="2026-10-13T08:32:10.142" v="1108" actId="207"/>
          <ac:spMkLst>
            <pc:docMk/>
            <pc:sldMk cId="522087771" sldId="325"/>
            <ac:spMk id="11" creationId="{76BA4BFA-A89D-8147-A79A-59BD21D2C953}"/>
          </ac:spMkLst>
        </pc:spChg>
      </pc:sldChg>
      <pc:sldChg chg="modSp mod">
        <pc:chgData name="Johannes De Smedt" userId="e13460af-634e-4231-9e97-a5e3038c16cf" providerId="ADAL" clId="{0D1066A5-738B-4C5A-8D8D-B22799BBCD97}" dt="2026-10-12T10:22:52.277" v="344" actId="14100"/>
        <pc:sldMkLst>
          <pc:docMk/>
          <pc:sldMk cId="667821844" sldId="327"/>
        </pc:sldMkLst>
        <pc:spChg chg="mod">
          <ac:chgData name="Johannes De Smedt" userId="e13460af-634e-4231-9e97-a5e3038c16cf" providerId="ADAL" clId="{0D1066A5-738B-4C5A-8D8D-B22799BBCD97}" dt="2026-10-12T10:22:52.277" v="344" actId="14100"/>
          <ac:spMkLst>
            <pc:docMk/>
            <pc:sldMk cId="667821844" sldId="327"/>
            <ac:spMk id="12" creationId="{9D4A6E29-A300-FE40-4677-1F196A2D84FE}"/>
          </ac:spMkLst>
        </pc:spChg>
      </pc:sldChg>
      <pc:sldChg chg="modSp mod">
        <pc:chgData name="Johannes De Smedt" userId="e13460af-634e-4231-9e97-a5e3038c16cf" providerId="ADAL" clId="{0D1066A5-738B-4C5A-8D8D-B22799BBCD97}" dt="2026-10-06T10:28:57.933" v="42" actId="20577"/>
        <pc:sldMkLst>
          <pc:docMk/>
          <pc:sldMk cId="2941469867" sldId="335"/>
        </pc:sldMkLst>
        <pc:spChg chg="mod">
          <ac:chgData name="Johannes De Smedt" userId="e13460af-634e-4231-9e97-a5e3038c16cf" providerId="ADAL" clId="{0D1066A5-738B-4C5A-8D8D-B22799BBCD97}" dt="2026-10-06T10:28:57.933" v="42" actId="20577"/>
          <ac:spMkLst>
            <pc:docMk/>
            <pc:sldMk cId="2941469867" sldId="335"/>
            <ac:spMk id="3" creationId="{D31CA2F2-8990-1F4B-A37F-A576F9580084}"/>
          </ac:spMkLst>
        </pc:spChg>
      </pc:sldChg>
      <pc:sldChg chg="modSp mod">
        <pc:chgData name="Johannes De Smedt" userId="e13460af-634e-4231-9e97-a5e3038c16cf" providerId="ADAL" clId="{0D1066A5-738B-4C5A-8D8D-B22799BBCD97}" dt="2026-10-12T09:01:59.706" v="128" actId="20577"/>
        <pc:sldMkLst>
          <pc:docMk/>
          <pc:sldMk cId="1325260571" sldId="338"/>
        </pc:sldMkLst>
        <pc:spChg chg="mod">
          <ac:chgData name="Johannes De Smedt" userId="e13460af-634e-4231-9e97-a5e3038c16cf" providerId="ADAL" clId="{0D1066A5-738B-4C5A-8D8D-B22799BBCD97}" dt="2026-10-12T09:01:59.706" v="128" actId="20577"/>
          <ac:spMkLst>
            <pc:docMk/>
            <pc:sldMk cId="1325260571" sldId="338"/>
            <ac:spMk id="2" creationId="{0F0CB71F-6144-40C2-59E0-4A2EADCC7A96}"/>
          </ac:spMkLst>
        </pc:spChg>
      </pc:sldChg>
      <pc:sldChg chg="modSp mod">
        <pc:chgData name="Johannes De Smedt" userId="e13460af-634e-4231-9e97-a5e3038c16cf" providerId="ADAL" clId="{0D1066A5-738B-4C5A-8D8D-B22799BBCD97}" dt="2026-10-12T08:33:01.841" v="115" actId="113"/>
        <pc:sldMkLst>
          <pc:docMk/>
          <pc:sldMk cId="2429825636" sldId="339"/>
        </pc:sldMkLst>
        <pc:spChg chg="mod">
          <ac:chgData name="Johannes De Smedt" userId="e13460af-634e-4231-9e97-a5e3038c16cf" providerId="ADAL" clId="{0D1066A5-738B-4C5A-8D8D-B22799BBCD97}" dt="2026-10-12T08:33:01.841" v="115" actId="113"/>
          <ac:spMkLst>
            <pc:docMk/>
            <pc:sldMk cId="2429825636" sldId="339"/>
            <ac:spMk id="2" creationId="{6C006318-6CEF-3AC4-20B2-693CFDE14812}"/>
          </ac:spMkLst>
        </pc:spChg>
      </pc:sldChg>
      <pc:sldChg chg="modSp mod">
        <pc:chgData name="Johannes De Smedt" userId="e13460af-634e-4231-9e97-a5e3038c16cf" providerId="ADAL" clId="{0D1066A5-738B-4C5A-8D8D-B22799BBCD97}" dt="2026-10-12T09:05:31.016" v="130" actId="27636"/>
        <pc:sldMkLst>
          <pc:docMk/>
          <pc:sldMk cId="354162167" sldId="351"/>
        </pc:sldMkLst>
        <pc:spChg chg="mod">
          <ac:chgData name="Johannes De Smedt" userId="e13460af-634e-4231-9e97-a5e3038c16cf" providerId="ADAL" clId="{0D1066A5-738B-4C5A-8D8D-B22799BBCD97}" dt="2026-10-12T09:05:31.016" v="130" actId="27636"/>
          <ac:spMkLst>
            <pc:docMk/>
            <pc:sldMk cId="354162167" sldId="351"/>
            <ac:spMk id="2" creationId="{0A6225C6-2727-91E4-1100-69B5133339FE}"/>
          </ac:spMkLst>
        </pc:spChg>
      </pc:sldChg>
      <pc:sldChg chg="modSp mod">
        <pc:chgData name="Johannes De Smedt" userId="e13460af-634e-4231-9e97-a5e3038c16cf" providerId="ADAL" clId="{0D1066A5-738B-4C5A-8D8D-B22799BBCD97}" dt="2026-10-13T08:14:01.060" v="935" actId="27636"/>
        <pc:sldMkLst>
          <pc:docMk/>
          <pc:sldMk cId="0" sldId="393"/>
        </pc:sldMkLst>
        <pc:spChg chg="mod">
          <ac:chgData name="Johannes De Smedt" userId="e13460af-634e-4231-9e97-a5e3038c16cf" providerId="ADAL" clId="{0D1066A5-738B-4C5A-8D8D-B22799BBCD97}" dt="2026-10-13T08:14:01.060" v="935" actId="27636"/>
          <ac:spMkLst>
            <pc:docMk/>
            <pc:sldMk cId="0" sldId="393"/>
            <ac:spMk id="2" creationId="{00000000-0000-0000-0000-000000000000}"/>
          </ac:spMkLst>
        </pc:spChg>
      </pc:sldChg>
      <pc:sldChg chg="modSp mod">
        <pc:chgData name="Johannes De Smedt" userId="e13460af-634e-4231-9e97-a5e3038c16cf" providerId="ADAL" clId="{0D1066A5-738B-4C5A-8D8D-B22799BBCD97}" dt="2026-10-06T10:47:58.160" v="44" actId="27636"/>
        <pc:sldMkLst>
          <pc:docMk/>
          <pc:sldMk cId="0" sldId="396"/>
        </pc:sldMkLst>
        <pc:spChg chg="mod">
          <ac:chgData name="Johannes De Smedt" userId="e13460af-634e-4231-9e97-a5e3038c16cf" providerId="ADAL" clId="{0D1066A5-738B-4C5A-8D8D-B22799BBCD97}" dt="2026-10-06T10:47:58.160" v="44" actId="27636"/>
          <ac:spMkLst>
            <pc:docMk/>
            <pc:sldMk cId="0" sldId="396"/>
            <ac:spMk id="2" creationId="{00000000-0000-0000-0000-000000000000}"/>
          </ac:spMkLst>
        </pc:spChg>
      </pc:sldChg>
      <pc:sldChg chg="modSp add mod">
        <pc:chgData name="Johannes De Smedt" userId="e13460af-634e-4231-9e97-a5e3038c16cf" providerId="ADAL" clId="{0D1066A5-738B-4C5A-8D8D-B22799BBCD97}" dt="2026-10-12T08:49:35.299" v="117" actId="20577"/>
        <pc:sldMkLst>
          <pc:docMk/>
          <pc:sldMk cId="2090695823" sldId="404"/>
        </pc:sldMkLst>
        <pc:spChg chg="mod">
          <ac:chgData name="Johannes De Smedt" userId="e13460af-634e-4231-9e97-a5e3038c16cf" providerId="ADAL" clId="{0D1066A5-738B-4C5A-8D8D-B22799BBCD97}" dt="2026-10-12T08:49:35.299" v="117" actId="20577"/>
          <ac:spMkLst>
            <pc:docMk/>
            <pc:sldMk cId="2090695823" sldId="404"/>
            <ac:spMk id="31" creationId="{00000000-0000-0000-0000-000000000000}"/>
          </ac:spMkLst>
        </pc:spChg>
      </pc:sldChg>
      <pc:sldChg chg="modSp add mod">
        <pc:chgData name="Johannes De Smedt" userId="e13460af-634e-4231-9e97-a5e3038c16cf" providerId="ADAL" clId="{0D1066A5-738B-4C5A-8D8D-B22799BBCD97}" dt="2026-10-12T08:49:55.241" v="118" actId="20577"/>
        <pc:sldMkLst>
          <pc:docMk/>
          <pc:sldMk cId="133842805" sldId="405"/>
        </pc:sldMkLst>
        <pc:spChg chg="mod">
          <ac:chgData name="Johannes De Smedt" userId="e13460af-634e-4231-9e97-a5e3038c16cf" providerId="ADAL" clId="{0D1066A5-738B-4C5A-8D8D-B22799BBCD97}" dt="2026-10-12T08:49:55.241" v="118" actId="20577"/>
          <ac:spMkLst>
            <pc:docMk/>
            <pc:sldMk cId="133842805" sldId="405"/>
            <ac:spMk id="31" creationId="{00000000-0000-0000-0000-000000000000}"/>
          </ac:spMkLst>
        </pc:spChg>
      </pc:sldChg>
      <pc:sldChg chg="modSp mod">
        <pc:chgData name="Johannes De Smedt" userId="e13460af-634e-4231-9e97-a5e3038c16cf" providerId="ADAL" clId="{0D1066A5-738B-4C5A-8D8D-B22799BBCD97}" dt="2026-10-12T09:01:29.784" v="122" actId="1076"/>
        <pc:sldMkLst>
          <pc:docMk/>
          <pc:sldMk cId="3162696298" sldId="406"/>
        </pc:sldMkLst>
        <pc:spChg chg="mod">
          <ac:chgData name="Johannes De Smedt" userId="e13460af-634e-4231-9e97-a5e3038c16cf" providerId="ADAL" clId="{0D1066A5-738B-4C5A-8D8D-B22799BBCD97}" dt="2026-10-12T09:01:25.983" v="121" actId="1076"/>
          <ac:spMkLst>
            <pc:docMk/>
            <pc:sldMk cId="3162696298" sldId="406"/>
            <ac:spMk id="6" creationId="{CC3561E1-73C3-685D-B484-F5F33EB50185}"/>
          </ac:spMkLst>
        </pc:spChg>
        <pc:spChg chg="mod">
          <ac:chgData name="Johannes De Smedt" userId="e13460af-634e-4231-9e97-a5e3038c16cf" providerId="ADAL" clId="{0D1066A5-738B-4C5A-8D8D-B22799BBCD97}" dt="2026-10-12T09:01:29.784" v="122" actId="1076"/>
          <ac:spMkLst>
            <pc:docMk/>
            <pc:sldMk cId="3162696298" sldId="406"/>
            <ac:spMk id="12" creationId="{839DF371-909F-F934-245F-EE67E47BB78D}"/>
          </ac:spMkLst>
        </pc:spChg>
      </pc:sldChg>
      <pc:sldChg chg="addSp modSp mod">
        <pc:chgData name="Johannes De Smedt" userId="e13460af-634e-4231-9e97-a5e3038c16cf" providerId="ADAL" clId="{0D1066A5-738B-4C5A-8D8D-B22799BBCD97}" dt="2026-10-13T08:20:02.330" v="1105" actId="20577"/>
        <pc:sldMkLst>
          <pc:docMk/>
          <pc:sldMk cId="1075053280" sldId="407"/>
        </pc:sldMkLst>
        <pc:spChg chg="add mod">
          <ac:chgData name="Johannes De Smedt" userId="e13460af-634e-4231-9e97-a5e3038c16cf" providerId="ADAL" clId="{0D1066A5-738B-4C5A-8D8D-B22799BBCD97}" dt="2026-10-13T08:19:31.789" v="1049" actId="1035"/>
          <ac:spMkLst>
            <pc:docMk/>
            <pc:sldMk cId="1075053280" sldId="407"/>
            <ac:spMk id="2" creationId="{4D5B06AA-BDA8-DB7E-864E-AF81A4E55C1D}"/>
          </ac:spMkLst>
        </pc:spChg>
        <pc:spChg chg="add mod">
          <ac:chgData name="Johannes De Smedt" userId="e13460af-634e-4231-9e97-a5e3038c16cf" providerId="ADAL" clId="{0D1066A5-738B-4C5A-8D8D-B22799BBCD97}" dt="2026-10-13T08:20:02.330" v="1105" actId="20577"/>
          <ac:spMkLst>
            <pc:docMk/>
            <pc:sldMk cId="1075053280" sldId="407"/>
            <ac:spMk id="5" creationId="{1AB5B449-4412-4C98-F52E-3B4B1DC42F74}"/>
          </ac:spMkLst>
        </pc:spChg>
        <pc:spChg chg="mod">
          <ac:chgData name="Johannes De Smedt" userId="e13460af-634e-4231-9e97-a5e3038c16cf" providerId="ADAL" clId="{0D1066A5-738B-4C5A-8D8D-B22799BBCD97}" dt="2026-10-13T08:19:31.789" v="1049" actId="1035"/>
          <ac:spMkLst>
            <pc:docMk/>
            <pc:sldMk cId="1075053280" sldId="407"/>
            <ac:spMk id="6" creationId="{0F63EF8C-AB3E-163F-BD2B-396EAFCC771D}"/>
          </ac:spMkLst>
        </pc:spChg>
        <pc:spChg chg="mod">
          <ac:chgData name="Johannes De Smedt" userId="e13460af-634e-4231-9e97-a5e3038c16cf" providerId="ADAL" clId="{0D1066A5-738B-4C5A-8D8D-B22799BBCD97}" dt="2026-10-13T08:19:31.789" v="1049" actId="1035"/>
          <ac:spMkLst>
            <pc:docMk/>
            <pc:sldMk cId="1075053280" sldId="407"/>
            <ac:spMk id="8" creationId="{8BC91170-7903-3F84-3FC4-57E8F523DBCB}"/>
          </ac:spMkLst>
        </pc:spChg>
        <pc:spChg chg="mod">
          <ac:chgData name="Johannes De Smedt" userId="e13460af-634e-4231-9e97-a5e3038c16cf" providerId="ADAL" clId="{0D1066A5-738B-4C5A-8D8D-B22799BBCD97}" dt="2026-10-13T08:19:31.789" v="1049" actId="1035"/>
          <ac:spMkLst>
            <pc:docMk/>
            <pc:sldMk cId="1075053280" sldId="407"/>
            <ac:spMk id="14" creationId="{03D2E5B8-B0B3-47BC-2A83-0BF7B00B8505}"/>
          </ac:spMkLst>
        </pc:spChg>
        <pc:spChg chg="mod">
          <ac:chgData name="Johannes De Smedt" userId="e13460af-634e-4231-9e97-a5e3038c16cf" providerId="ADAL" clId="{0D1066A5-738B-4C5A-8D8D-B22799BBCD97}" dt="2026-10-13T08:19:31.789" v="1049" actId="1035"/>
          <ac:spMkLst>
            <pc:docMk/>
            <pc:sldMk cId="1075053280" sldId="407"/>
            <ac:spMk id="15" creationId="{4BF65197-2F97-69AB-A493-0DFB5EB41811}"/>
          </ac:spMkLst>
        </pc:spChg>
        <pc:spChg chg="mod">
          <ac:chgData name="Johannes De Smedt" userId="e13460af-634e-4231-9e97-a5e3038c16cf" providerId="ADAL" clId="{0D1066A5-738B-4C5A-8D8D-B22799BBCD97}" dt="2026-10-13T08:19:31.789" v="1049" actId="1035"/>
          <ac:spMkLst>
            <pc:docMk/>
            <pc:sldMk cId="1075053280" sldId="407"/>
            <ac:spMk id="16" creationId="{EB7EF2E8-AF8E-6EBE-B612-447489667FF1}"/>
          </ac:spMkLst>
        </pc:spChg>
        <pc:cxnChg chg="add mod">
          <ac:chgData name="Johannes De Smedt" userId="e13460af-634e-4231-9e97-a5e3038c16cf" providerId="ADAL" clId="{0D1066A5-738B-4C5A-8D8D-B22799BBCD97}" dt="2026-10-13T08:19:31.789" v="1049" actId="1035"/>
          <ac:cxnSpMkLst>
            <pc:docMk/>
            <pc:sldMk cId="1075053280" sldId="407"/>
            <ac:cxnSpMk id="7" creationId="{1CDF9F94-32B7-C869-8A99-D7DB08135D44}"/>
          </ac:cxnSpMkLst>
        </pc:cxnChg>
      </pc:sldChg>
      <pc:sldChg chg="modSp mod">
        <pc:chgData name="Johannes De Smedt" userId="e13460af-634e-4231-9e97-a5e3038c16cf" providerId="ADAL" clId="{0D1066A5-738B-4C5A-8D8D-B22799BBCD97}" dt="2026-10-13T08:21:48.647" v="1107" actId="14100"/>
        <pc:sldMkLst>
          <pc:docMk/>
          <pc:sldMk cId="3962590523" sldId="408"/>
        </pc:sldMkLst>
        <pc:spChg chg="mod">
          <ac:chgData name="Johannes De Smedt" userId="e13460af-634e-4231-9e97-a5e3038c16cf" providerId="ADAL" clId="{0D1066A5-738B-4C5A-8D8D-B22799BBCD97}" dt="2026-10-13T08:21:46.937" v="1106" actId="14100"/>
          <ac:spMkLst>
            <pc:docMk/>
            <pc:sldMk cId="3962590523" sldId="408"/>
            <ac:spMk id="8" creationId="{FAE6CBBA-17FA-4F4F-D82D-2FE8EC6E5E15}"/>
          </ac:spMkLst>
        </pc:spChg>
        <pc:spChg chg="mod">
          <ac:chgData name="Johannes De Smedt" userId="e13460af-634e-4231-9e97-a5e3038c16cf" providerId="ADAL" clId="{0D1066A5-738B-4C5A-8D8D-B22799BBCD97}" dt="2026-10-13T08:21:48.647" v="1107" actId="14100"/>
          <ac:spMkLst>
            <pc:docMk/>
            <pc:sldMk cId="3962590523" sldId="408"/>
            <ac:spMk id="12" creationId="{933F10A3-44DF-83C1-5B53-D782C70A0523}"/>
          </ac:spMkLst>
        </pc:spChg>
      </pc:sldChg>
      <pc:sldChg chg="addSp modSp mod modClrScheme chgLayout">
        <pc:chgData name="Johannes De Smedt" userId="e13460af-634e-4231-9e97-a5e3038c16cf" providerId="ADAL" clId="{0D1066A5-738B-4C5A-8D8D-B22799BBCD97}" dt="2026-10-12T13:16:31.435" v="933" actId="207"/>
        <pc:sldMkLst>
          <pc:docMk/>
          <pc:sldMk cId="1070325303" sldId="409"/>
        </pc:sldMkLst>
        <pc:spChg chg="add mod ord">
          <ac:chgData name="Johannes De Smedt" userId="e13460af-634e-4231-9e97-a5e3038c16cf" providerId="ADAL" clId="{0D1066A5-738B-4C5A-8D8D-B22799BBCD97}" dt="2026-10-12T13:15:56.998" v="895" actId="113"/>
          <ac:spMkLst>
            <pc:docMk/>
            <pc:sldMk cId="1070325303" sldId="409"/>
            <ac:spMk id="2" creationId="{53A086FE-9BB2-C730-64A4-1D2947DA4266}"/>
          </ac:spMkLst>
        </pc:spChg>
        <pc:spChg chg="mod ord">
          <ac:chgData name="Johannes De Smedt" userId="e13460af-634e-4231-9e97-a5e3038c16cf" providerId="ADAL" clId="{0D1066A5-738B-4C5A-8D8D-B22799BBCD97}" dt="2026-10-12T10:42:51.284" v="593" actId="700"/>
          <ac:spMkLst>
            <pc:docMk/>
            <pc:sldMk cId="1070325303" sldId="409"/>
            <ac:spMk id="3" creationId="{032C1E9B-5230-9E5D-ECCC-1461A86E951F}"/>
          </ac:spMkLst>
        </pc:spChg>
        <pc:spChg chg="mod ord">
          <ac:chgData name="Johannes De Smedt" userId="e13460af-634e-4231-9e97-a5e3038c16cf" providerId="ADAL" clId="{0D1066A5-738B-4C5A-8D8D-B22799BBCD97}" dt="2026-10-12T10:42:51.284" v="593" actId="700"/>
          <ac:spMkLst>
            <pc:docMk/>
            <pc:sldMk cId="1070325303" sldId="409"/>
            <ac:spMk id="4" creationId="{F11BB85B-E7F0-1F4B-0169-685A31481515}"/>
          </ac:spMkLst>
        </pc:spChg>
        <pc:spChg chg="add mod ord">
          <ac:chgData name="Johannes De Smedt" userId="e13460af-634e-4231-9e97-a5e3038c16cf" providerId="ADAL" clId="{0D1066A5-738B-4C5A-8D8D-B22799BBCD97}" dt="2026-10-12T13:15:55.849" v="894" actId="113"/>
          <ac:spMkLst>
            <pc:docMk/>
            <pc:sldMk cId="1070325303" sldId="409"/>
            <ac:spMk id="5" creationId="{E7C8FCC1-068C-AAAC-C88D-BF99BAEC86F1}"/>
          </ac:spMkLst>
        </pc:spChg>
        <pc:spChg chg="mod">
          <ac:chgData name="Johannes De Smedt" userId="e13460af-634e-4231-9e97-a5e3038c16cf" providerId="ADAL" clId="{0D1066A5-738B-4C5A-8D8D-B22799BBCD97}" dt="2026-10-12T10:45:41.245" v="826" actId="208"/>
          <ac:spMkLst>
            <pc:docMk/>
            <pc:sldMk cId="1070325303" sldId="409"/>
            <ac:spMk id="6" creationId="{23EB12DA-55A0-B7D1-2DA8-D6984C581C74}"/>
          </ac:spMkLst>
        </pc:spChg>
        <pc:spChg chg="add mod ord">
          <ac:chgData name="Johannes De Smedt" userId="e13460af-634e-4231-9e97-a5e3038c16cf" providerId="ADAL" clId="{0D1066A5-738B-4C5A-8D8D-B22799BBCD97}" dt="2026-10-12T10:44:49.801" v="766" actId="20577"/>
          <ac:spMkLst>
            <pc:docMk/>
            <pc:sldMk cId="1070325303" sldId="409"/>
            <ac:spMk id="7" creationId="{51FA2956-E727-7D8C-13F7-E572D184C9AE}"/>
          </ac:spMkLst>
        </pc:spChg>
        <pc:spChg chg="mod">
          <ac:chgData name="Johannes De Smedt" userId="e13460af-634e-4231-9e97-a5e3038c16cf" providerId="ADAL" clId="{0D1066A5-738B-4C5A-8D8D-B22799BBCD97}" dt="2026-10-12T10:45:39.206" v="825" actId="208"/>
          <ac:spMkLst>
            <pc:docMk/>
            <pc:sldMk cId="1070325303" sldId="409"/>
            <ac:spMk id="8" creationId="{70D8B5C2-EEF0-E16B-75AA-04B32244B507}"/>
          </ac:spMkLst>
        </pc:spChg>
        <pc:spChg chg="add mod">
          <ac:chgData name="Johannes De Smedt" userId="e13460af-634e-4231-9e97-a5e3038c16cf" providerId="ADAL" clId="{0D1066A5-738B-4C5A-8D8D-B22799BBCD97}" dt="2026-10-12T10:45:30.266" v="822" actId="404"/>
          <ac:spMkLst>
            <pc:docMk/>
            <pc:sldMk cId="1070325303" sldId="409"/>
            <ac:spMk id="9" creationId="{49DE4B24-1E95-1491-4C3C-3B18E4E74030}"/>
          </ac:spMkLst>
        </pc:spChg>
        <pc:spChg chg="add mod">
          <ac:chgData name="Johannes De Smedt" userId="e13460af-634e-4231-9e97-a5e3038c16cf" providerId="ADAL" clId="{0D1066A5-738B-4C5A-8D8D-B22799BBCD97}" dt="2026-10-12T13:16:17.487" v="896" actId="1076"/>
          <ac:spMkLst>
            <pc:docMk/>
            <pc:sldMk cId="1070325303" sldId="409"/>
            <ac:spMk id="10" creationId="{E2D0F7E8-879F-EF6A-B6A5-37DACB227E81}"/>
          </ac:spMkLst>
        </pc:spChg>
        <pc:spChg chg="add mod">
          <ac:chgData name="Johannes De Smedt" userId="e13460af-634e-4231-9e97-a5e3038c16cf" providerId="ADAL" clId="{0D1066A5-738B-4C5A-8D8D-B22799BBCD97}" dt="2026-10-12T13:16:31.435" v="933" actId="207"/>
          <ac:spMkLst>
            <pc:docMk/>
            <pc:sldMk cId="1070325303" sldId="409"/>
            <ac:spMk id="14" creationId="{8F6C27D8-26F2-6FCF-1F0F-D8DA56110F14}"/>
          </ac:spMkLst>
        </pc:spChg>
        <pc:graphicFrameChg chg="mod ord modGraphic">
          <ac:chgData name="Johannes De Smedt" userId="e13460af-634e-4231-9e97-a5e3038c16cf" providerId="ADAL" clId="{0D1066A5-738B-4C5A-8D8D-B22799BBCD97}" dt="2026-10-12T10:44:36.208" v="760" actId="1076"/>
          <ac:graphicFrameMkLst>
            <pc:docMk/>
            <pc:sldMk cId="1070325303" sldId="409"/>
            <ac:graphicFrameMk id="11" creationId="{1FDE1192-322F-E531-83A6-59107E1CF465}"/>
          </ac:graphicFrameMkLst>
        </pc:graphicFrameChg>
        <pc:graphicFrameChg chg="mod modGraphic">
          <ac:chgData name="Johannes De Smedt" userId="e13460af-634e-4231-9e97-a5e3038c16cf" providerId="ADAL" clId="{0D1066A5-738B-4C5A-8D8D-B22799BBCD97}" dt="2026-10-12T10:46:14.684" v="829" actId="207"/>
          <ac:graphicFrameMkLst>
            <pc:docMk/>
            <pc:sldMk cId="1070325303" sldId="409"/>
            <ac:graphicFrameMk id="12" creationId="{6FA75289-4ED7-4E3F-87FF-EE764F991A8E}"/>
          </ac:graphicFrameMkLst>
        </pc:graphicFrameChg>
      </pc:sldChg>
      <pc:sldChg chg="addSp delSp modSp new del mod modClrScheme chgLayout">
        <pc:chgData name="Johannes De Smedt" userId="e13460af-634e-4231-9e97-a5e3038c16cf" providerId="ADAL" clId="{0D1066A5-738B-4C5A-8D8D-B22799BBCD97}" dt="2026-10-12T10:24:45.334" v="386"/>
        <pc:sldMkLst>
          <pc:docMk/>
          <pc:sldMk cId="2932903617" sldId="410"/>
        </pc:sldMkLst>
        <pc:spChg chg="del mod ord">
          <ac:chgData name="Johannes De Smedt" userId="e13460af-634e-4231-9e97-a5e3038c16cf" providerId="ADAL" clId="{0D1066A5-738B-4C5A-8D8D-B22799BBCD97}" dt="2026-10-12T10:18:38.557" v="292" actId="700"/>
          <ac:spMkLst>
            <pc:docMk/>
            <pc:sldMk cId="2932903617" sldId="410"/>
            <ac:spMk id="2" creationId="{49DF03BA-BEB2-6B0F-105F-64519B7EB72B}"/>
          </ac:spMkLst>
        </pc:spChg>
        <pc:spChg chg="mod ord">
          <ac:chgData name="Johannes De Smedt" userId="e13460af-634e-4231-9e97-a5e3038c16cf" providerId="ADAL" clId="{0D1066A5-738B-4C5A-8D8D-B22799BBCD97}" dt="2026-10-12T10:18:48.234" v="295" actId="700"/>
          <ac:spMkLst>
            <pc:docMk/>
            <pc:sldMk cId="2932903617" sldId="410"/>
            <ac:spMk id="3" creationId="{85268083-D30E-002E-E2A7-DD1886EEB07B}"/>
          </ac:spMkLst>
        </pc:spChg>
        <pc:spChg chg="mod ord">
          <ac:chgData name="Johannes De Smedt" userId="e13460af-634e-4231-9e97-a5e3038c16cf" providerId="ADAL" clId="{0D1066A5-738B-4C5A-8D8D-B22799BBCD97}" dt="2026-10-12T10:18:48.234" v="295" actId="700"/>
          <ac:spMkLst>
            <pc:docMk/>
            <pc:sldMk cId="2932903617" sldId="410"/>
            <ac:spMk id="4" creationId="{308512F7-8F3E-3AA2-722D-1ECBF67B1BCC}"/>
          </ac:spMkLst>
        </pc:spChg>
        <pc:spChg chg="add del mod ord">
          <ac:chgData name="Johannes De Smedt" userId="e13460af-634e-4231-9e97-a5e3038c16cf" providerId="ADAL" clId="{0D1066A5-738B-4C5A-8D8D-B22799BBCD97}" dt="2026-10-12T10:18:48.234" v="295" actId="700"/>
          <ac:spMkLst>
            <pc:docMk/>
            <pc:sldMk cId="2932903617" sldId="410"/>
            <ac:spMk id="5" creationId="{FEAFF6E3-13F3-39C2-9A93-9250F92A400C}"/>
          </ac:spMkLst>
        </pc:spChg>
        <pc:spChg chg="add del mod ord">
          <ac:chgData name="Johannes De Smedt" userId="e13460af-634e-4231-9e97-a5e3038c16cf" providerId="ADAL" clId="{0D1066A5-738B-4C5A-8D8D-B22799BBCD97}" dt="2026-10-12T10:18:48.234" v="295" actId="700"/>
          <ac:spMkLst>
            <pc:docMk/>
            <pc:sldMk cId="2932903617" sldId="410"/>
            <ac:spMk id="6" creationId="{7124DEDF-ACF0-5B37-EE88-B002C0890528}"/>
          </ac:spMkLst>
        </pc:spChg>
        <pc:spChg chg="add del mod">
          <ac:chgData name="Johannes De Smedt" userId="e13460af-634e-4231-9e97-a5e3038c16cf" providerId="ADAL" clId="{0D1066A5-738B-4C5A-8D8D-B22799BBCD97}" dt="2026-10-12T10:18:45.371" v="294" actId="6264"/>
          <ac:spMkLst>
            <pc:docMk/>
            <pc:sldMk cId="2932903617" sldId="410"/>
            <ac:spMk id="7" creationId="{67D18483-C4C4-1CC7-E9E3-F13CC32F9D25}"/>
          </ac:spMkLst>
        </pc:spChg>
        <pc:spChg chg="add del mod">
          <ac:chgData name="Johannes De Smedt" userId="e13460af-634e-4231-9e97-a5e3038c16cf" providerId="ADAL" clId="{0D1066A5-738B-4C5A-8D8D-B22799BBCD97}" dt="2026-10-12T10:18:45.371" v="294" actId="6264"/>
          <ac:spMkLst>
            <pc:docMk/>
            <pc:sldMk cId="2932903617" sldId="410"/>
            <ac:spMk id="8" creationId="{F8F4886E-21EA-EE97-8663-C046E1BD7D73}"/>
          </ac:spMkLst>
        </pc:spChg>
        <pc:spChg chg="add del mod ord">
          <ac:chgData name="Johannes De Smedt" userId="e13460af-634e-4231-9e97-a5e3038c16cf" providerId="ADAL" clId="{0D1066A5-738B-4C5A-8D8D-B22799BBCD97}" dt="2026-10-12T10:18:45.371" v="294" actId="6264"/>
          <ac:spMkLst>
            <pc:docMk/>
            <pc:sldMk cId="2932903617" sldId="410"/>
            <ac:spMk id="9" creationId="{E6630F1E-06B8-5A44-7A99-649B1D3B9813}"/>
          </ac:spMkLst>
        </pc:spChg>
        <pc:spChg chg="add del mod ord">
          <ac:chgData name="Johannes De Smedt" userId="e13460af-634e-4231-9e97-a5e3038c16cf" providerId="ADAL" clId="{0D1066A5-738B-4C5A-8D8D-B22799BBCD97}" dt="2026-10-12T10:18:45.371" v="294" actId="6264"/>
          <ac:spMkLst>
            <pc:docMk/>
            <pc:sldMk cId="2932903617" sldId="410"/>
            <ac:spMk id="10" creationId="{826D78CA-D55B-A589-F40D-3353B852DF02}"/>
          </ac:spMkLst>
        </pc:spChg>
        <pc:spChg chg="add mod ord">
          <ac:chgData name="Johannes De Smedt" userId="e13460af-634e-4231-9e97-a5e3038c16cf" providerId="ADAL" clId="{0D1066A5-738B-4C5A-8D8D-B22799BBCD97}" dt="2026-10-12T10:18:51.877" v="296"/>
          <ac:spMkLst>
            <pc:docMk/>
            <pc:sldMk cId="2932903617" sldId="410"/>
            <ac:spMk id="11" creationId="{C719E7D1-9469-A893-DC2A-9C24897C3719}"/>
          </ac:spMkLst>
        </pc:spChg>
        <pc:spChg chg="add mod ord">
          <ac:chgData name="Johannes De Smedt" userId="e13460af-634e-4231-9e97-a5e3038c16cf" providerId="ADAL" clId="{0D1066A5-738B-4C5A-8D8D-B22799BBCD97}" dt="2026-10-12T10:24:07.179" v="384" actId="20577"/>
          <ac:spMkLst>
            <pc:docMk/>
            <pc:sldMk cId="2932903617" sldId="410"/>
            <ac:spMk id="12" creationId="{F834DBE9-9CF4-4685-C26B-A3AC49A3BA6C}"/>
          </ac:spMkLst>
        </pc:spChg>
        <pc:spChg chg="add mod ord">
          <ac:chgData name="Johannes De Smedt" userId="e13460af-634e-4231-9e97-a5e3038c16cf" providerId="ADAL" clId="{0D1066A5-738B-4C5A-8D8D-B22799BBCD97}" dt="2026-10-12T10:18:54.819" v="297"/>
          <ac:spMkLst>
            <pc:docMk/>
            <pc:sldMk cId="2932903617" sldId="410"/>
            <ac:spMk id="13" creationId="{A3C82375-BA11-CE26-DEAD-564B5E006AC2}"/>
          </ac:spMkLst>
        </pc:spChg>
        <pc:spChg chg="add mod ord">
          <ac:chgData name="Johannes De Smedt" userId="e13460af-634e-4231-9e97-a5e3038c16cf" providerId="ADAL" clId="{0D1066A5-738B-4C5A-8D8D-B22799BBCD97}" dt="2026-10-12T10:23:59.389" v="361" actId="20577"/>
          <ac:spMkLst>
            <pc:docMk/>
            <pc:sldMk cId="2932903617" sldId="410"/>
            <ac:spMk id="14" creationId="{B4717113-94E3-EB74-0605-225DD44DB740}"/>
          </ac:spMkLst>
        </pc:spChg>
      </pc:sldChg>
      <pc:sldChg chg="add del">
        <pc:chgData name="Johannes De Smedt" userId="e13460af-634e-4231-9e97-a5e3038c16cf" providerId="ADAL" clId="{0D1066A5-738B-4C5A-8D8D-B22799BBCD97}" dt="2026-10-12T10:25:08.653" v="388"/>
        <pc:sldMkLst>
          <pc:docMk/>
          <pc:sldMk cId="3543937070" sldId="411"/>
        </pc:sldMkLst>
      </pc:sldChg>
      <pc:sldChg chg="add del">
        <pc:chgData name="Johannes De Smedt" userId="e13460af-634e-4231-9e97-a5e3038c16cf" providerId="ADAL" clId="{0D1066A5-738B-4C5A-8D8D-B22799BBCD97}" dt="2026-10-12T10:25:55.846" v="390"/>
        <pc:sldMkLst>
          <pc:docMk/>
          <pc:sldMk cId="4172013659" sldId="412"/>
        </pc:sldMkLst>
      </pc:sldChg>
      <pc:sldChg chg="addSp delSp modSp add mod">
        <pc:chgData name="Johannes De Smedt" userId="e13460af-634e-4231-9e97-a5e3038c16cf" providerId="ADAL" clId="{0D1066A5-738B-4C5A-8D8D-B22799BBCD97}" dt="2026-10-12T13:01:51.411" v="891" actId="404"/>
        <pc:sldMkLst>
          <pc:docMk/>
          <pc:sldMk cId="1788853942" sldId="413"/>
        </pc:sldMkLst>
        <pc:spChg chg="add mod">
          <ac:chgData name="Johannes De Smedt" userId="e13460af-634e-4231-9e97-a5e3038c16cf" providerId="ADAL" clId="{0D1066A5-738B-4C5A-8D8D-B22799BBCD97}" dt="2026-10-12T10:31:43.415" v="467" actId="1076"/>
          <ac:spMkLst>
            <pc:docMk/>
            <pc:sldMk cId="1788853942" sldId="413"/>
            <ac:spMk id="5" creationId="{05A2C072-91AF-3F00-D412-32874BE8FBF6}"/>
          </ac:spMkLst>
        </pc:spChg>
        <pc:spChg chg="add mod">
          <ac:chgData name="Johannes De Smedt" userId="e13460af-634e-4231-9e97-a5e3038c16cf" providerId="ADAL" clId="{0D1066A5-738B-4C5A-8D8D-B22799BBCD97}" dt="2026-10-12T10:31:33.752" v="460" actId="1076"/>
          <ac:spMkLst>
            <pc:docMk/>
            <pc:sldMk cId="1788853942" sldId="413"/>
            <ac:spMk id="7" creationId="{C4FF17F5-D317-ADC1-1FA5-54B1BA67C434}"/>
          </ac:spMkLst>
        </pc:spChg>
        <pc:spChg chg="add del">
          <ac:chgData name="Johannes De Smedt" userId="e13460af-634e-4231-9e97-a5e3038c16cf" providerId="ADAL" clId="{0D1066A5-738B-4C5A-8D8D-B22799BBCD97}" dt="2026-10-12T10:29:49.633" v="414" actId="22"/>
          <ac:spMkLst>
            <pc:docMk/>
            <pc:sldMk cId="1788853942" sldId="413"/>
            <ac:spMk id="9" creationId="{DB887BA9-99CA-2E5C-E85F-BBC4FCBDFBA1}"/>
          </ac:spMkLst>
        </pc:spChg>
        <pc:spChg chg="mod">
          <ac:chgData name="Johannes De Smedt" userId="e13460af-634e-4231-9e97-a5e3038c16cf" providerId="ADAL" clId="{0D1066A5-738B-4C5A-8D8D-B22799BBCD97}" dt="2026-10-12T13:01:46.097" v="889" actId="404"/>
          <ac:spMkLst>
            <pc:docMk/>
            <pc:sldMk cId="1788853942" sldId="413"/>
            <ac:spMk id="12" creationId="{F834DBE9-9CF4-4685-C26B-A3AC49A3BA6C}"/>
          </ac:spMkLst>
        </pc:spChg>
        <pc:spChg chg="mod">
          <ac:chgData name="Johannes De Smedt" userId="e13460af-634e-4231-9e97-a5e3038c16cf" providerId="ADAL" clId="{0D1066A5-738B-4C5A-8D8D-B22799BBCD97}" dt="2026-10-12T13:01:51.411" v="891" actId="404"/>
          <ac:spMkLst>
            <pc:docMk/>
            <pc:sldMk cId="1788853942" sldId="413"/>
            <ac:spMk id="14" creationId="{B4717113-94E3-EB74-0605-225DD44DB740}"/>
          </ac:spMkLst>
        </pc:spChg>
        <pc:spChg chg="add del">
          <ac:chgData name="Johannes De Smedt" userId="e13460af-634e-4231-9e97-a5e3038c16cf" providerId="ADAL" clId="{0D1066A5-738B-4C5A-8D8D-B22799BBCD97}" dt="2026-10-12T10:29:52.958" v="416" actId="22"/>
          <ac:spMkLst>
            <pc:docMk/>
            <pc:sldMk cId="1788853942" sldId="413"/>
            <ac:spMk id="15" creationId="{DEF2F22E-5EB2-B727-BE52-2A07686C8A25}"/>
          </ac:spMkLst>
        </pc:spChg>
        <pc:spChg chg="add del">
          <ac:chgData name="Johannes De Smedt" userId="e13460af-634e-4231-9e97-a5e3038c16cf" providerId="ADAL" clId="{0D1066A5-738B-4C5A-8D8D-B22799BBCD97}" dt="2026-10-12T10:29:57.044" v="418" actId="22"/>
          <ac:spMkLst>
            <pc:docMk/>
            <pc:sldMk cId="1788853942" sldId="413"/>
            <ac:spMk id="17" creationId="{FC9F00FD-4861-2986-29F6-31A1B77A8A14}"/>
          </ac:spMkLst>
        </pc:spChg>
        <pc:spChg chg="add mod">
          <ac:chgData name="Johannes De Smedt" userId="e13460af-634e-4231-9e97-a5e3038c16cf" providerId="ADAL" clId="{0D1066A5-738B-4C5A-8D8D-B22799BBCD97}" dt="2026-10-12T10:41:44.708" v="553" actId="207"/>
          <ac:spMkLst>
            <pc:docMk/>
            <pc:sldMk cId="1788853942" sldId="413"/>
            <ac:spMk id="19" creationId="{082CADCE-819E-12A1-8F4A-A20C3A4FAE2F}"/>
          </ac:spMkLst>
        </pc:spChg>
        <pc:spChg chg="del mod">
          <ac:chgData name="Johannes De Smedt" userId="e13460af-634e-4231-9e97-a5e3038c16cf" providerId="ADAL" clId="{0D1066A5-738B-4C5A-8D8D-B22799BBCD97}" dt="2026-10-12T10:29:27.946" v="406" actId="478"/>
          <ac:spMkLst>
            <pc:docMk/>
            <pc:sldMk cId="1788853942" sldId="413"/>
            <ac:spMk id="20" creationId="{00000000-0000-0000-0000-000000000000}"/>
          </ac:spMkLst>
        </pc:spChg>
        <pc:graphicFrameChg chg="add mod">
          <ac:chgData name="Johannes De Smedt" userId="e13460af-634e-4231-9e97-a5e3038c16cf" providerId="ADAL" clId="{0D1066A5-738B-4C5A-8D8D-B22799BBCD97}" dt="2026-10-12T10:31:49.180" v="468"/>
          <ac:graphicFrameMkLst>
            <pc:docMk/>
            <pc:sldMk cId="1788853942" sldId="413"/>
            <ac:graphicFrameMk id="21" creationId="{FB22F039-5EA9-3EF1-91EB-E8311A1CA701}"/>
          </ac:graphicFrameMkLst>
        </pc:graphicFrameChg>
        <pc:graphicFrameChg chg="add mod">
          <ac:chgData name="Johannes De Smedt" userId="e13460af-634e-4231-9e97-a5e3038c16cf" providerId="ADAL" clId="{0D1066A5-738B-4C5A-8D8D-B22799BBCD97}" dt="2026-10-12T10:31:52.490" v="469"/>
          <ac:graphicFrameMkLst>
            <pc:docMk/>
            <pc:sldMk cId="1788853942" sldId="413"/>
            <ac:graphicFrameMk id="22" creationId="{E75BD1C2-B178-4E9D-3230-3AAE499C7D49}"/>
          </ac:graphicFrameMkLst>
        </pc:graphicFrameChg>
        <pc:graphicFrameChg chg="add mod modGraphic">
          <ac:chgData name="Johannes De Smedt" userId="e13460af-634e-4231-9e97-a5e3038c16cf" providerId="ADAL" clId="{0D1066A5-738B-4C5A-8D8D-B22799BBCD97}" dt="2026-10-12T10:41:41.594" v="552" actId="207"/>
          <ac:graphicFrameMkLst>
            <pc:docMk/>
            <pc:sldMk cId="1788853942" sldId="413"/>
            <ac:graphicFrameMk id="23" creationId="{CE7C5109-8CD3-12A6-904A-BFC79ED965B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08F31B-520B-1845-85A4-13BC4D70EB6B}" type="datetimeFigureOut">
              <a:rPr lang="en-BE" smtClean="0"/>
              <a:t>10/13/2026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D55F8-3D2A-CA4E-AB9C-E724D930686A}" type="slidenum">
              <a:rPr lang="en-BE" smtClean="0"/>
              <a:t>‹#›</a:t>
            </a:fld>
            <a:endParaRPr lang="en-BE"/>
          </a:p>
        </p:txBody>
      </p:sp>
    </p:spTree>
    <p:extLst>
      <p:ext uri="{BB962C8B-B14F-4D97-AF65-F5344CB8AC3E}">
        <p14:creationId xmlns:p14="http://schemas.microsoft.com/office/powerpoint/2010/main" val="2995147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D4D55F8-3D2A-CA4E-AB9C-E724D930686A}" type="slidenum">
              <a:rPr lang="en-BE" smtClean="0"/>
              <a:t>1</a:t>
            </a:fld>
            <a:endParaRPr lang="en-BE"/>
          </a:p>
        </p:txBody>
      </p:sp>
    </p:spTree>
    <p:extLst>
      <p:ext uri="{BB962C8B-B14F-4D97-AF65-F5344CB8AC3E}">
        <p14:creationId xmlns:p14="http://schemas.microsoft.com/office/powerpoint/2010/main" val="1696664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D4D55F8-3D2A-CA4E-AB9C-E724D930686A}" type="slidenum">
              <a:rPr lang="en-BE" smtClean="0"/>
              <a:t>2</a:t>
            </a:fld>
            <a:endParaRPr lang="en-BE"/>
          </a:p>
        </p:txBody>
      </p:sp>
    </p:spTree>
    <p:extLst>
      <p:ext uri="{BB962C8B-B14F-4D97-AF65-F5344CB8AC3E}">
        <p14:creationId xmlns:p14="http://schemas.microsoft.com/office/powerpoint/2010/main" val="984873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3</a:t>
            </a:fld>
            <a:endParaRPr lang="en-BE"/>
          </a:p>
        </p:txBody>
      </p:sp>
    </p:spTree>
    <p:extLst>
      <p:ext uri="{BB962C8B-B14F-4D97-AF65-F5344CB8AC3E}">
        <p14:creationId xmlns:p14="http://schemas.microsoft.com/office/powerpoint/2010/main" val="721593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D4D55F8-3D2A-CA4E-AB9C-E724D930686A}" type="slidenum">
              <a:rPr lang="en-BE" smtClean="0"/>
              <a:t>4</a:t>
            </a:fld>
            <a:endParaRPr lang="en-BE"/>
          </a:p>
        </p:txBody>
      </p:sp>
    </p:spTree>
    <p:extLst>
      <p:ext uri="{BB962C8B-B14F-4D97-AF65-F5344CB8AC3E}">
        <p14:creationId xmlns:p14="http://schemas.microsoft.com/office/powerpoint/2010/main" val="3916189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D4D55F8-3D2A-CA4E-AB9C-E724D930686A}" type="slidenum">
              <a:rPr lang="en-BE" smtClean="0"/>
              <a:t>12</a:t>
            </a:fld>
            <a:endParaRPr lang="en-BE"/>
          </a:p>
        </p:txBody>
      </p:sp>
    </p:spTree>
    <p:extLst>
      <p:ext uri="{BB962C8B-B14F-4D97-AF65-F5344CB8AC3E}">
        <p14:creationId xmlns:p14="http://schemas.microsoft.com/office/powerpoint/2010/main" val="22403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22</a:t>
            </a:fld>
            <a:endParaRPr lang="en-BE"/>
          </a:p>
        </p:txBody>
      </p:sp>
    </p:spTree>
    <p:extLst>
      <p:ext uri="{BB962C8B-B14F-4D97-AF65-F5344CB8AC3E}">
        <p14:creationId xmlns:p14="http://schemas.microsoft.com/office/powerpoint/2010/main" val="382484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23</a:t>
            </a:fld>
            <a:endParaRPr lang="en-BE"/>
          </a:p>
        </p:txBody>
      </p:sp>
    </p:spTree>
    <p:extLst>
      <p:ext uri="{BB962C8B-B14F-4D97-AF65-F5344CB8AC3E}">
        <p14:creationId xmlns:p14="http://schemas.microsoft.com/office/powerpoint/2010/main" val="382484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24</a:t>
            </a:fld>
            <a:endParaRPr lang="en-BE"/>
          </a:p>
        </p:txBody>
      </p:sp>
    </p:spTree>
    <p:extLst>
      <p:ext uri="{BB962C8B-B14F-4D97-AF65-F5344CB8AC3E}">
        <p14:creationId xmlns:p14="http://schemas.microsoft.com/office/powerpoint/2010/main" val="382484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D4D55F8-3D2A-CA4E-AB9C-E724D930686A}" type="slidenum">
              <a:rPr lang="en-BE" smtClean="0"/>
              <a:t>31</a:t>
            </a:fld>
            <a:endParaRPr lang="en-BE"/>
          </a:p>
        </p:txBody>
      </p:sp>
    </p:spTree>
    <p:extLst>
      <p:ext uri="{BB962C8B-B14F-4D97-AF65-F5344CB8AC3E}">
        <p14:creationId xmlns:p14="http://schemas.microsoft.com/office/powerpoint/2010/main" val="2731272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37</a:t>
            </a:fld>
            <a:endParaRPr lang="en-BE"/>
          </a:p>
        </p:txBody>
      </p:sp>
    </p:spTree>
    <p:extLst>
      <p:ext uri="{BB962C8B-B14F-4D97-AF65-F5344CB8AC3E}">
        <p14:creationId xmlns:p14="http://schemas.microsoft.com/office/powerpoint/2010/main" val="3988914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46</a:t>
            </a:fld>
            <a:endParaRPr lang="en-BE"/>
          </a:p>
        </p:txBody>
      </p:sp>
    </p:spTree>
    <p:extLst>
      <p:ext uri="{BB962C8B-B14F-4D97-AF65-F5344CB8AC3E}">
        <p14:creationId xmlns:p14="http://schemas.microsoft.com/office/powerpoint/2010/main" val="199909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D4D55F8-3D2A-CA4E-AB9C-E724D930686A}" type="slidenum">
              <a:rPr lang="en-BE" smtClean="0"/>
              <a:t>58</a:t>
            </a:fld>
            <a:endParaRPr lang="en-BE"/>
          </a:p>
        </p:txBody>
      </p:sp>
    </p:spTree>
    <p:extLst>
      <p:ext uri="{BB962C8B-B14F-4D97-AF65-F5344CB8AC3E}">
        <p14:creationId xmlns:p14="http://schemas.microsoft.com/office/powerpoint/2010/main" val="747059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3D4D55F8-3D2A-CA4E-AB9C-E724D930686A}" type="slidenum">
              <a:rPr lang="en-BE" smtClean="0"/>
              <a:t>62</a:t>
            </a:fld>
            <a:endParaRPr lang="en-BE"/>
          </a:p>
        </p:txBody>
      </p:sp>
    </p:spTree>
    <p:extLst>
      <p:ext uri="{BB962C8B-B14F-4D97-AF65-F5344CB8AC3E}">
        <p14:creationId xmlns:p14="http://schemas.microsoft.com/office/powerpoint/2010/main" val="2369774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hthoek 6"/>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0" name="Rechthoek 9"/>
          <p:cNvSpPr/>
          <p:nvPr/>
        </p:nvSpPr>
        <p:spPr>
          <a:xfrm>
            <a:off x="0" y="648000"/>
            <a:ext cx="12193200" cy="621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7998"/>
            <a:ext cx="12193200" cy="445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sp>
        <p:nvSpPr>
          <p:cNvPr id="2" name="Titel 1"/>
          <p:cNvSpPr>
            <a:spLocks noGrp="1"/>
          </p:cNvSpPr>
          <p:nvPr>
            <p:ph type="ctrTitle"/>
          </p:nvPr>
        </p:nvSpPr>
        <p:spPr>
          <a:xfrm>
            <a:off x="575999" y="1080000"/>
            <a:ext cx="6096524" cy="4024798"/>
          </a:xfrm>
        </p:spPr>
        <p:txBody>
          <a:bodyPr anchor="ctr" anchorCtr="0">
            <a:normAutofit/>
          </a:bodyPr>
          <a:lstStyle>
            <a:lvl1pPr algn="l">
              <a:defRPr sz="4000" baseline="0">
                <a:solidFill>
                  <a:schemeClr val="bg1"/>
                </a:solidFill>
              </a:defRPr>
            </a:lvl1pPr>
          </a:lstStyle>
          <a:p>
            <a:r>
              <a:rPr lang="en-GB"/>
              <a:t>Click to edit Master title style</a:t>
            </a:r>
            <a:endParaRPr lang="nl-NL" dirty="0"/>
          </a:p>
        </p:txBody>
      </p:sp>
      <p:sp>
        <p:nvSpPr>
          <p:cNvPr id="3" name="Ondertitel 2"/>
          <p:cNvSpPr>
            <a:spLocks noGrp="1"/>
          </p:cNvSpPr>
          <p:nvPr>
            <p:ph type="subTitle" idx="1"/>
          </p:nvPr>
        </p:nvSpPr>
        <p:spPr>
          <a:xfrm>
            <a:off x="575999" y="5392801"/>
            <a:ext cx="6096524" cy="730188"/>
          </a:xfrm>
        </p:spPr>
        <p:txBody>
          <a:bodyPr lIns="0" tIns="0" rIns="0" bIns="0"/>
          <a:lstStyle>
            <a:lvl1pPr marL="0" indent="0" algn="l">
              <a:buNone/>
              <a:defRPr sz="2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5" name="Picture Placeholder 4"/>
          <p:cNvSpPr>
            <a:spLocks noGrp="1"/>
          </p:cNvSpPr>
          <p:nvPr>
            <p:ph type="pic" sz="quarter" idx="10"/>
          </p:nvPr>
        </p:nvSpPr>
        <p:spPr>
          <a:xfrm>
            <a:off x="7248525" y="1654175"/>
            <a:ext cx="4368673" cy="4468813"/>
          </a:xfrm>
        </p:spPr>
        <p:txBody>
          <a:bodyPr/>
          <a:lstStyle/>
          <a:p>
            <a:r>
              <a:rPr lang="en-GB"/>
              <a:t>Click icon to add picture</a:t>
            </a:r>
            <a:endParaRPr lang="nl-NL"/>
          </a:p>
        </p:txBody>
      </p:sp>
    </p:spTree>
    <p:extLst>
      <p:ext uri="{BB962C8B-B14F-4D97-AF65-F5344CB8AC3E}">
        <p14:creationId xmlns:p14="http://schemas.microsoft.com/office/powerpoint/2010/main" val="2960567610"/>
      </p:ext>
    </p:extLst>
  </p:cSld>
  <p:clrMapOvr>
    <a:masterClrMapping/>
  </p:clrMapOvr>
  <p:hf hdr="0" ftr="0" dt="0"/>
  <p:extLst>
    <p:ext uri="{DCECCB84-F9BA-43D5-87BE-67443E8EF086}">
      <p15:sldGuideLst xmlns:p15="http://schemas.microsoft.com/office/powerpoint/2012/main">
        <p15:guide id="1" orient="horz" pos="1026">
          <p15:clr>
            <a:srgbClr val="FBAE40"/>
          </p15:clr>
        </p15:guide>
        <p15:guide id="2" pos="4203">
          <p15:clr>
            <a:srgbClr val="FBAE40"/>
          </p15:clr>
        </p15:guide>
        <p15:guide id="3"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4" name="Tijdelijke aanduiding voor datum 3"/>
          <p:cNvSpPr>
            <a:spLocks noGrp="1"/>
          </p:cNvSpPr>
          <p:nvPr>
            <p:ph type="dt" sz="half" idx="10"/>
          </p:nvPr>
        </p:nvSpPr>
        <p:spPr/>
        <p:txBody>
          <a:bodyPr/>
          <a:lstStyle/>
          <a:p>
            <a:fld id="{9203A751-7071-7246-A828-E898A62078DD}" type="datetime1">
              <a:rPr lang="en-US" smtClean="0"/>
              <a:t>10/13/2026</a:t>
            </a:fld>
            <a:endParaRPr lang="en-BE"/>
          </a:p>
        </p:txBody>
      </p:sp>
      <p:sp>
        <p:nvSpPr>
          <p:cNvPr id="5" name="Tijdelijke aanduiding voor voettekst 4"/>
          <p:cNvSpPr>
            <a:spLocks noGrp="1"/>
          </p:cNvSpPr>
          <p:nvPr>
            <p:ph type="ftr" sz="quarter" idx="11"/>
          </p:nvPr>
        </p:nvSpPr>
        <p:spPr/>
        <p:txBody>
          <a:bodyPr/>
          <a:lstStyle/>
          <a:p>
            <a:endParaRPr lang="en-BE"/>
          </a:p>
        </p:txBody>
      </p:sp>
      <p:sp>
        <p:nvSpPr>
          <p:cNvPr id="6" name="Tijdelijke aanduiding voor dianummer 5"/>
          <p:cNvSpPr>
            <a:spLocks noGrp="1"/>
          </p:cNvSpPr>
          <p:nvPr>
            <p:ph type="sldNum" sz="quarter" idx="12"/>
          </p:nvPr>
        </p:nvSpPr>
        <p:spPr/>
        <p:txBody>
          <a:bodyPr/>
          <a:lstStyle/>
          <a:p>
            <a:fld id="{D270EDC2-4F5E-5547-954F-5222C286AC2A}" type="slidenum">
              <a:rPr lang="en-BE" smtClean="0"/>
              <a:t>‹#›</a:t>
            </a:fld>
            <a:endParaRPr lang="en-BE"/>
          </a:p>
        </p:txBody>
      </p:sp>
      <p:sp>
        <p:nvSpPr>
          <p:cNvPr id="7" name="Title 6"/>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256512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hthoek 6"/>
          <p:cNvSpPr/>
          <p:nvPr/>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5999" y="1800000"/>
            <a:ext cx="6096524" cy="2386800"/>
          </a:xfrm>
        </p:spPr>
        <p:txBody>
          <a:bodyPr anchor="b"/>
          <a:lstStyle>
            <a:lvl1pPr>
              <a:defRPr sz="4000" baseline="0">
                <a:solidFill>
                  <a:schemeClr val="tx2"/>
                </a:solidFill>
              </a:defRPr>
            </a:lvl1pPr>
          </a:lstStyle>
          <a:p>
            <a:r>
              <a:rPr lang="en-GB"/>
              <a:t>Click to edit Master title style</a:t>
            </a:r>
            <a:endParaRPr lang="nl-NL" dirty="0"/>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Tijdelijke aanduiding voor datum 3"/>
          <p:cNvSpPr>
            <a:spLocks noGrp="1"/>
          </p:cNvSpPr>
          <p:nvPr>
            <p:ph type="dt" sz="half" idx="10"/>
          </p:nvPr>
        </p:nvSpPr>
        <p:spPr/>
        <p:txBody>
          <a:bodyPr/>
          <a:lstStyle/>
          <a:p>
            <a:fld id="{0AA0C879-0D8C-8643-B111-26840AE1A981}" type="datetime1">
              <a:rPr lang="en-US" smtClean="0"/>
              <a:t>10/13/2026</a:t>
            </a:fld>
            <a:endParaRPr lang="en-BE"/>
          </a:p>
        </p:txBody>
      </p:sp>
      <p:sp>
        <p:nvSpPr>
          <p:cNvPr id="5" name="Tijdelijke aanduiding voor voettekst 4"/>
          <p:cNvSpPr>
            <a:spLocks noGrp="1"/>
          </p:cNvSpPr>
          <p:nvPr>
            <p:ph type="ftr" sz="quarter" idx="11"/>
          </p:nvPr>
        </p:nvSpPr>
        <p:spPr/>
        <p:txBody>
          <a:bodyPr/>
          <a:lstStyle/>
          <a:p>
            <a:endParaRPr lang="en-BE"/>
          </a:p>
        </p:txBody>
      </p:sp>
      <p:sp>
        <p:nvSpPr>
          <p:cNvPr id="6" name="Tijdelijke aanduiding voor dianummer 5"/>
          <p:cNvSpPr>
            <a:spLocks noGrp="1"/>
          </p:cNvSpPr>
          <p:nvPr>
            <p:ph type="sldNum" sz="quarter" idx="12"/>
          </p:nvPr>
        </p:nvSpPr>
        <p:spPr/>
        <p:txBody>
          <a:bodyPr/>
          <a:lstStyle/>
          <a:p>
            <a:fld id="{D270EDC2-4F5E-5547-954F-5222C286AC2A}" type="slidenum">
              <a:rPr lang="en-BE" smtClean="0"/>
              <a:t>‹#›</a:t>
            </a:fld>
            <a:endParaRPr lang="en-BE"/>
          </a:p>
        </p:txBody>
      </p:sp>
      <p:sp>
        <p:nvSpPr>
          <p:cNvPr id="8" name="Picture Placeholder 4"/>
          <p:cNvSpPr>
            <a:spLocks noGrp="1"/>
          </p:cNvSpPr>
          <p:nvPr>
            <p:ph type="pic" sz="quarter" idx="13"/>
          </p:nvPr>
        </p:nvSpPr>
        <p:spPr>
          <a:xfrm>
            <a:off x="7248525" y="584201"/>
            <a:ext cx="4368673" cy="2376000"/>
          </a:xfrm>
        </p:spPr>
        <p:txBody>
          <a:bodyPr/>
          <a:lstStyle/>
          <a:p>
            <a:r>
              <a:rPr lang="en-GB"/>
              <a:t>Click icon to add picture</a:t>
            </a:r>
            <a:endParaRPr lang="nl-NL"/>
          </a:p>
        </p:txBody>
      </p:sp>
      <p:sp>
        <p:nvSpPr>
          <p:cNvPr id="9" name="Picture Placeholder 4"/>
          <p:cNvSpPr>
            <a:spLocks noGrp="1"/>
          </p:cNvSpPr>
          <p:nvPr>
            <p:ph type="pic" sz="quarter" idx="14"/>
          </p:nvPr>
        </p:nvSpPr>
        <p:spPr>
          <a:xfrm>
            <a:off x="7248262" y="3248513"/>
            <a:ext cx="4368673" cy="2376000"/>
          </a:xfrm>
        </p:spPr>
        <p:txBody>
          <a:bodyPr/>
          <a:lstStyle/>
          <a:p>
            <a:r>
              <a:rPr lang="en-GB"/>
              <a:t>Click icon to add picture</a:t>
            </a:r>
            <a:endParaRPr lang="nl-NL"/>
          </a:p>
        </p:txBody>
      </p:sp>
    </p:spTree>
    <p:extLst>
      <p:ext uri="{BB962C8B-B14F-4D97-AF65-F5344CB8AC3E}">
        <p14:creationId xmlns:p14="http://schemas.microsoft.com/office/powerpoint/2010/main" val="915476677"/>
      </p:ext>
    </p:extLst>
  </p:cSld>
  <p:clrMapOvr>
    <a:masterClrMapping/>
  </p:clrMapOvr>
  <p:hf hdr="0" ftr="0" dt="0"/>
  <p:extLst>
    <p:ext uri="{DCECCB84-F9BA-43D5-87BE-67443E8EF086}">
      <p15:sldGuideLst xmlns:p15="http://schemas.microsoft.com/office/powerpoint/2012/main">
        <p15:guide id="1" orient="horz" pos="3543">
          <p15:clr>
            <a:srgbClr val="FBAE40"/>
          </p15:clr>
        </p15:guide>
        <p15:guide id="2" pos="4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_White">
    <p:spTree>
      <p:nvGrpSpPr>
        <p:cNvPr id="1" name=""/>
        <p:cNvGrpSpPr/>
        <p:nvPr/>
      </p:nvGrpSpPr>
      <p:grpSpPr>
        <a:xfrm>
          <a:off x="0" y="0"/>
          <a:ext cx="0" cy="0"/>
          <a:chOff x="0" y="0"/>
          <a:chExt cx="0" cy="0"/>
        </a:xfrm>
      </p:grpSpPr>
      <p:sp>
        <p:nvSpPr>
          <p:cNvPr id="2" name="Titel 1"/>
          <p:cNvSpPr>
            <a:spLocks noGrp="1"/>
          </p:cNvSpPr>
          <p:nvPr>
            <p:ph type="title"/>
          </p:nvPr>
        </p:nvSpPr>
        <p:spPr>
          <a:xfrm>
            <a:off x="575999" y="1800000"/>
            <a:ext cx="6096264" cy="2386800"/>
          </a:xfrm>
        </p:spPr>
        <p:txBody>
          <a:bodyPr anchor="b">
            <a:normAutofit/>
          </a:bodyPr>
          <a:lstStyle>
            <a:lvl1pPr>
              <a:defRPr sz="4000"/>
            </a:lvl1pPr>
          </a:lstStyle>
          <a:p>
            <a:r>
              <a:rPr lang="en-GB"/>
              <a:t>Click to edit Master title style</a:t>
            </a:r>
            <a:endParaRPr lang="nl-NL" dirty="0"/>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Tijdelijke aanduiding voor datum 3"/>
          <p:cNvSpPr>
            <a:spLocks noGrp="1"/>
          </p:cNvSpPr>
          <p:nvPr>
            <p:ph type="dt" sz="half" idx="10"/>
          </p:nvPr>
        </p:nvSpPr>
        <p:spPr/>
        <p:txBody>
          <a:bodyPr/>
          <a:lstStyle/>
          <a:p>
            <a:fld id="{0AA0C879-0D8C-8643-B111-26840AE1A981}" type="datetime1">
              <a:rPr lang="en-US" smtClean="0"/>
              <a:t>10/13/2026</a:t>
            </a:fld>
            <a:endParaRPr lang="en-BE"/>
          </a:p>
        </p:txBody>
      </p:sp>
      <p:sp>
        <p:nvSpPr>
          <p:cNvPr id="5" name="Tijdelijke aanduiding voor voettekst 4"/>
          <p:cNvSpPr>
            <a:spLocks noGrp="1"/>
          </p:cNvSpPr>
          <p:nvPr>
            <p:ph type="ftr" sz="quarter" idx="11"/>
          </p:nvPr>
        </p:nvSpPr>
        <p:spPr/>
        <p:txBody>
          <a:bodyPr/>
          <a:lstStyle/>
          <a:p>
            <a:endParaRPr lang="en-BE"/>
          </a:p>
        </p:txBody>
      </p:sp>
      <p:sp>
        <p:nvSpPr>
          <p:cNvPr id="6" name="Tijdelijke aanduiding voor dianummer 5"/>
          <p:cNvSpPr>
            <a:spLocks noGrp="1"/>
          </p:cNvSpPr>
          <p:nvPr>
            <p:ph type="sldNum" sz="quarter" idx="12"/>
          </p:nvPr>
        </p:nvSpPr>
        <p:spPr/>
        <p:txBody>
          <a:bodyPr/>
          <a:lstStyle/>
          <a:p>
            <a:fld id="{D270EDC2-4F5E-5547-954F-5222C286AC2A}" type="slidenum">
              <a:rPr lang="en-BE" smtClean="0"/>
              <a:t>‹#›</a:t>
            </a:fld>
            <a:endParaRPr lang="en-BE"/>
          </a:p>
        </p:txBody>
      </p:sp>
      <p:sp>
        <p:nvSpPr>
          <p:cNvPr id="7" name="Picture Placeholder 4"/>
          <p:cNvSpPr>
            <a:spLocks noGrp="1"/>
          </p:cNvSpPr>
          <p:nvPr>
            <p:ph type="pic" sz="quarter" idx="13"/>
          </p:nvPr>
        </p:nvSpPr>
        <p:spPr>
          <a:xfrm>
            <a:off x="7248525" y="584201"/>
            <a:ext cx="4368673" cy="5040312"/>
          </a:xfrm>
        </p:spPr>
        <p:txBody>
          <a:bodyPr/>
          <a:lstStyle/>
          <a:p>
            <a:r>
              <a:rPr lang="en-GB"/>
              <a:t>Click icon to add picture</a:t>
            </a:r>
            <a:endParaRPr lang="nl-NL"/>
          </a:p>
        </p:txBody>
      </p:sp>
    </p:spTree>
    <p:extLst>
      <p:ext uri="{BB962C8B-B14F-4D97-AF65-F5344CB8AC3E}">
        <p14:creationId xmlns:p14="http://schemas.microsoft.com/office/powerpoint/2010/main" val="936881180"/>
      </p:ext>
    </p:extLst>
  </p:cSld>
  <p:clrMapOvr>
    <a:masterClrMapping/>
  </p:clrMapOvr>
  <p:hf hdr="0" ftr="0" dt="0"/>
  <p:extLst>
    <p:ext uri="{DCECCB84-F9BA-43D5-87BE-67443E8EF086}">
      <p15:sldGuideLst xmlns:p15="http://schemas.microsoft.com/office/powerpoint/2012/main">
        <p15:guide id="1" orient="horz" pos="3543">
          <p15:clr>
            <a:srgbClr val="FBAE40"/>
          </p15:clr>
        </p15:guide>
        <p15:guide id="2" pos="4203">
          <p15:clr>
            <a:srgbClr val="FBAE40"/>
          </p15:clr>
        </p15:guide>
        <p15:guide id="3" orient="horz" pos="3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Tijdelijke aanduiding voor datum 4"/>
          <p:cNvSpPr>
            <a:spLocks noGrp="1"/>
          </p:cNvSpPr>
          <p:nvPr>
            <p:ph type="dt" sz="half" idx="10"/>
          </p:nvPr>
        </p:nvSpPr>
        <p:spPr/>
        <p:txBody>
          <a:bodyPr/>
          <a:lstStyle/>
          <a:p>
            <a:fld id="{0AA0C879-0D8C-8643-B111-26840AE1A981}" type="datetime1">
              <a:rPr lang="en-US" smtClean="0"/>
              <a:t>10/13/2026</a:t>
            </a:fld>
            <a:endParaRPr lang="en-BE"/>
          </a:p>
        </p:txBody>
      </p:sp>
      <p:sp>
        <p:nvSpPr>
          <p:cNvPr id="6" name="Tijdelijke aanduiding voor voettekst 5"/>
          <p:cNvSpPr>
            <a:spLocks noGrp="1"/>
          </p:cNvSpPr>
          <p:nvPr>
            <p:ph type="ftr" sz="quarter" idx="11"/>
          </p:nvPr>
        </p:nvSpPr>
        <p:spPr/>
        <p:txBody>
          <a:bodyPr/>
          <a:lstStyle/>
          <a:p>
            <a:endParaRPr lang="en-BE"/>
          </a:p>
        </p:txBody>
      </p:sp>
      <p:sp>
        <p:nvSpPr>
          <p:cNvPr id="7" name="Tijdelijke aanduiding voor dianummer 6"/>
          <p:cNvSpPr>
            <a:spLocks noGrp="1"/>
          </p:cNvSpPr>
          <p:nvPr>
            <p:ph type="sldNum" sz="quarter" idx="12"/>
          </p:nvPr>
        </p:nvSpPr>
        <p:spPr/>
        <p:txBody>
          <a:bodyPr/>
          <a:lstStyle/>
          <a:p>
            <a:fld id="{D270EDC2-4F5E-5547-954F-5222C286AC2A}" type="slidenum">
              <a:rPr lang="en-BE" smtClean="0"/>
              <a:t>‹#›</a:t>
            </a:fld>
            <a:endParaRPr lang="en-BE"/>
          </a:p>
        </p:txBody>
      </p:sp>
      <p:sp>
        <p:nvSpPr>
          <p:cNvPr id="9" name="Tijdelijke aanduiding voor tekst 2"/>
          <p:cNvSpPr>
            <a:spLocks noGrp="1"/>
          </p:cNvSpPr>
          <p:nvPr>
            <p:ph idx="1"/>
          </p:nvPr>
        </p:nvSpPr>
        <p:spPr>
          <a:xfrm>
            <a:off x="576000" y="1656000"/>
            <a:ext cx="5400000" cy="4464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dirty="0"/>
          </a:p>
        </p:txBody>
      </p:sp>
      <p:sp>
        <p:nvSpPr>
          <p:cNvPr id="12" name="Content Placeholder 11"/>
          <p:cNvSpPr>
            <a:spLocks noGrp="1"/>
          </p:cNvSpPr>
          <p:nvPr>
            <p:ph sz="quarter" idx="13"/>
          </p:nvPr>
        </p:nvSpPr>
        <p:spPr>
          <a:xfrm>
            <a:off x="6217200" y="1656000"/>
            <a:ext cx="5400000" cy="446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2" name="Titel 1"/>
          <p:cNvSpPr>
            <a:spLocks noGrp="1"/>
          </p:cNvSpPr>
          <p:nvPr>
            <p:ph type="title"/>
          </p:nvPr>
        </p:nvSpPr>
        <p:spPr/>
        <p:txBody>
          <a:bodyPr/>
          <a:lstStyle/>
          <a:p>
            <a:r>
              <a:rPr lang="en-GB"/>
              <a:t>Click to edit Master title style</a:t>
            </a:r>
            <a:endParaRPr lang="nl-BE"/>
          </a:p>
        </p:txBody>
      </p:sp>
    </p:spTree>
    <p:extLst>
      <p:ext uri="{BB962C8B-B14F-4D97-AF65-F5344CB8AC3E}">
        <p14:creationId xmlns:p14="http://schemas.microsoft.com/office/powerpoint/2010/main" val="136334139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76000" y="1656000"/>
            <a:ext cx="5421575"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Tijdelijke aanduiding voor inhoud 3"/>
          <p:cNvSpPr>
            <a:spLocks noGrp="1"/>
          </p:cNvSpPr>
          <p:nvPr>
            <p:ph sz="half" idx="2"/>
          </p:nvPr>
        </p:nvSpPr>
        <p:spPr>
          <a:xfrm>
            <a:off x="576000" y="2276271"/>
            <a:ext cx="5421575" cy="383765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dirty="0"/>
          </a:p>
        </p:txBody>
      </p:sp>
      <p:sp>
        <p:nvSpPr>
          <p:cNvPr id="5" name="Tijdelijke aanduiding voor tekst 4"/>
          <p:cNvSpPr>
            <a:spLocks noGrp="1"/>
          </p:cNvSpPr>
          <p:nvPr>
            <p:ph type="body" sz="quarter" idx="3"/>
          </p:nvPr>
        </p:nvSpPr>
        <p:spPr>
          <a:xfrm>
            <a:off x="6172200" y="1656000"/>
            <a:ext cx="5445000"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Tijdelijke aanduiding voor inhoud 5"/>
          <p:cNvSpPr>
            <a:spLocks noGrp="1"/>
          </p:cNvSpPr>
          <p:nvPr>
            <p:ph sz="quarter" idx="4"/>
          </p:nvPr>
        </p:nvSpPr>
        <p:spPr>
          <a:xfrm>
            <a:off x="6172200" y="2276271"/>
            <a:ext cx="5445000" cy="383765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dirty="0"/>
          </a:p>
        </p:txBody>
      </p:sp>
      <p:sp>
        <p:nvSpPr>
          <p:cNvPr id="7" name="Tijdelijke aanduiding voor datum 6"/>
          <p:cNvSpPr>
            <a:spLocks noGrp="1"/>
          </p:cNvSpPr>
          <p:nvPr>
            <p:ph type="dt" sz="half" idx="10"/>
          </p:nvPr>
        </p:nvSpPr>
        <p:spPr/>
        <p:txBody>
          <a:bodyPr/>
          <a:lstStyle/>
          <a:p>
            <a:fld id="{FE8EBEA5-B5CC-A944-9100-27860A95FD3B}" type="datetime1">
              <a:rPr lang="en-US" smtClean="0"/>
              <a:t>10/13/2026</a:t>
            </a:fld>
            <a:endParaRPr lang="en-BE"/>
          </a:p>
        </p:txBody>
      </p:sp>
      <p:sp>
        <p:nvSpPr>
          <p:cNvPr id="8" name="Tijdelijke aanduiding voor voettekst 7"/>
          <p:cNvSpPr>
            <a:spLocks noGrp="1"/>
          </p:cNvSpPr>
          <p:nvPr>
            <p:ph type="ftr" sz="quarter" idx="11"/>
          </p:nvPr>
        </p:nvSpPr>
        <p:spPr/>
        <p:txBody>
          <a:bodyPr/>
          <a:lstStyle/>
          <a:p>
            <a:endParaRPr lang="en-BE"/>
          </a:p>
        </p:txBody>
      </p:sp>
      <p:sp>
        <p:nvSpPr>
          <p:cNvPr id="9" name="Tijdelijke aanduiding voor dianummer 8"/>
          <p:cNvSpPr>
            <a:spLocks noGrp="1"/>
          </p:cNvSpPr>
          <p:nvPr>
            <p:ph type="sldNum" sz="quarter" idx="12"/>
          </p:nvPr>
        </p:nvSpPr>
        <p:spPr/>
        <p:txBody>
          <a:bodyPr/>
          <a:lstStyle/>
          <a:p>
            <a:fld id="{D270EDC2-4F5E-5547-954F-5222C286AC2A}" type="slidenum">
              <a:rPr lang="en-BE" smtClean="0"/>
              <a:t>‹#›</a:t>
            </a:fld>
            <a:endParaRPr lang="en-BE"/>
          </a:p>
        </p:txBody>
      </p:sp>
      <p:sp>
        <p:nvSpPr>
          <p:cNvPr id="2" name="Titel 1"/>
          <p:cNvSpPr>
            <a:spLocks noGrp="1"/>
          </p:cNvSpPr>
          <p:nvPr>
            <p:ph type="title"/>
          </p:nvPr>
        </p:nvSpPr>
        <p:spPr/>
        <p:txBody>
          <a:bodyPr/>
          <a:lstStyle/>
          <a:p>
            <a:r>
              <a:rPr lang="en-GB"/>
              <a:t>Click to edit Master title style</a:t>
            </a:r>
            <a:endParaRPr lang="nl-BE"/>
          </a:p>
        </p:txBody>
      </p:sp>
    </p:spTree>
    <p:extLst>
      <p:ext uri="{BB962C8B-B14F-4D97-AF65-F5344CB8AC3E}">
        <p14:creationId xmlns:p14="http://schemas.microsoft.com/office/powerpoint/2010/main" val="3526840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fld id="{E4D41684-2B8E-D34D-8B1C-C2F073DB9268}" type="datetime1">
              <a:rPr lang="en-US" smtClean="0"/>
              <a:t>10/13/2026</a:t>
            </a:fld>
            <a:endParaRPr lang="en-BE"/>
          </a:p>
        </p:txBody>
      </p:sp>
      <p:sp>
        <p:nvSpPr>
          <p:cNvPr id="4" name="Tijdelijke aanduiding voor voettekst 3"/>
          <p:cNvSpPr>
            <a:spLocks noGrp="1"/>
          </p:cNvSpPr>
          <p:nvPr>
            <p:ph type="ftr" sz="quarter" idx="11"/>
          </p:nvPr>
        </p:nvSpPr>
        <p:spPr/>
        <p:txBody>
          <a:bodyPr/>
          <a:lstStyle/>
          <a:p>
            <a:endParaRPr lang="en-BE"/>
          </a:p>
        </p:txBody>
      </p:sp>
      <p:sp>
        <p:nvSpPr>
          <p:cNvPr id="5" name="Tijdelijke aanduiding voor dianummer 4"/>
          <p:cNvSpPr>
            <a:spLocks noGrp="1"/>
          </p:cNvSpPr>
          <p:nvPr>
            <p:ph type="sldNum" sz="quarter" idx="12"/>
          </p:nvPr>
        </p:nvSpPr>
        <p:spPr/>
        <p:txBody>
          <a:bodyPr/>
          <a:lstStyle/>
          <a:p>
            <a:fld id="{D270EDC2-4F5E-5547-954F-5222C286AC2A}" type="slidenum">
              <a:rPr lang="en-BE" smtClean="0"/>
              <a:t>‹#›</a:t>
            </a:fld>
            <a:endParaRPr lang="en-BE"/>
          </a:p>
        </p:txBody>
      </p:sp>
      <p:sp>
        <p:nvSpPr>
          <p:cNvPr id="6" name="Title 5"/>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1164218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2E383D4E-2B9D-EA42-8356-4787790ABD27}" type="datetime1">
              <a:rPr lang="en-US" smtClean="0"/>
              <a:t>10/13/2026</a:t>
            </a:fld>
            <a:endParaRPr lang="en-BE"/>
          </a:p>
        </p:txBody>
      </p:sp>
      <p:sp>
        <p:nvSpPr>
          <p:cNvPr id="3" name="Tijdelijke aanduiding voor voettekst 2"/>
          <p:cNvSpPr>
            <a:spLocks noGrp="1"/>
          </p:cNvSpPr>
          <p:nvPr>
            <p:ph type="ftr" sz="quarter" idx="11"/>
          </p:nvPr>
        </p:nvSpPr>
        <p:spPr/>
        <p:txBody>
          <a:bodyPr/>
          <a:lstStyle/>
          <a:p>
            <a:endParaRPr lang="en-BE"/>
          </a:p>
        </p:txBody>
      </p:sp>
      <p:sp>
        <p:nvSpPr>
          <p:cNvPr id="4" name="Tijdelijke aanduiding voor dianummer 3"/>
          <p:cNvSpPr>
            <a:spLocks noGrp="1"/>
          </p:cNvSpPr>
          <p:nvPr>
            <p:ph type="sldNum" sz="quarter" idx="12"/>
          </p:nvPr>
        </p:nvSpPr>
        <p:spPr/>
        <p:txBody>
          <a:bodyPr/>
          <a:lstStyle/>
          <a:p>
            <a:fld id="{D270EDC2-4F5E-5547-954F-5222C286AC2A}" type="slidenum">
              <a:rPr lang="en-BE" smtClean="0"/>
              <a:t>‹#›</a:t>
            </a:fld>
            <a:endParaRPr lang="en-BE"/>
          </a:p>
        </p:txBody>
      </p:sp>
    </p:spTree>
    <p:extLst>
      <p:ext uri="{BB962C8B-B14F-4D97-AF65-F5344CB8AC3E}">
        <p14:creationId xmlns:p14="http://schemas.microsoft.com/office/powerpoint/2010/main" val="392703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_Finish">
    <p:spTree>
      <p:nvGrpSpPr>
        <p:cNvPr id="1" name=""/>
        <p:cNvGrpSpPr/>
        <p:nvPr/>
      </p:nvGrpSpPr>
      <p:grpSpPr>
        <a:xfrm>
          <a:off x="0" y="0"/>
          <a:ext cx="0" cy="0"/>
          <a:chOff x="0" y="0"/>
          <a:chExt cx="0" cy="0"/>
        </a:xfrm>
      </p:grpSpPr>
      <p:sp>
        <p:nvSpPr>
          <p:cNvPr id="9" name="Rechthoek 8"/>
          <p:cNvSpPr/>
          <p:nvPr/>
        </p:nvSpPr>
        <p:spPr>
          <a:xfrm>
            <a:off x="0" y="0"/>
            <a:ext cx="12193200" cy="6209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GB"/>
              <a:t>Click to edit Master title style</a:t>
            </a:r>
            <a:endParaRPr lang="nl-NL" dirty="0"/>
          </a:p>
        </p:txBody>
      </p:sp>
      <p:sp>
        <p:nvSpPr>
          <p:cNvPr id="4" name="Tijdelijke aanduiding voor datum 3"/>
          <p:cNvSpPr>
            <a:spLocks noGrp="1"/>
          </p:cNvSpPr>
          <p:nvPr>
            <p:ph type="dt" sz="half" idx="10"/>
          </p:nvPr>
        </p:nvSpPr>
        <p:spPr/>
        <p:txBody>
          <a:bodyPr/>
          <a:lstStyle/>
          <a:p>
            <a:fld id="{0AA0C879-0D8C-8643-B111-26840AE1A981}" type="datetime1">
              <a:rPr lang="en-US" smtClean="0"/>
              <a:t>10/13/2026</a:t>
            </a:fld>
            <a:endParaRPr lang="en-BE"/>
          </a:p>
        </p:txBody>
      </p:sp>
      <p:sp>
        <p:nvSpPr>
          <p:cNvPr id="5" name="Tijdelijke aanduiding voor voettekst 4"/>
          <p:cNvSpPr>
            <a:spLocks noGrp="1"/>
          </p:cNvSpPr>
          <p:nvPr>
            <p:ph type="ftr" sz="quarter" idx="11"/>
          </p:nvPr>
        </p:nvSpPr>
        <p:spPr/>
        <p:txBody>
          <a:bodyPr/>
          <a:lstStyle/>
          <a:p>
            <a:endParaRPr lang="en-BE"/>
          </a:p>
        </p:txBody>
      </p:sp>
      <p:sp>
        <p:nvSpPr>
          <p:cNvPr id="6" name="Tijdelijke aanduiding voor dianummer 5"/>
          <p:cNvSpPr>
            <a:spLocks noGrp="1"/>
          </p:cNvSpPr>
          <p:nvPr>
            <p:ph type="sldNum" sz="quarter" idx="12"/>
          </p:nvPr>
        </p:nvSpPr>
        <p:spPr/>
        <p:txBody>
          <a:bodyPr/>
          <a:lstStyle/>
          <a:p>
            <a:fld id="{D270EDC2-4F5E-5547-954F-5222C286AC2A}" type="slidenum">
              <a:rPr lang="en-BE" smtClean="0"/>
              <a:t>‹#›</a:t>
            </a:fld>
            <a:endParaRPr lang="en-BE"/>
          </a:p>
        </p:txBody>
      </p:sp>
    </p:spTree>
    <p:extLst>
      <p:ext uri="{BB962C8B-B14F-4D97-AF65-F5344CB8AC3E}">
        <p14:creationId xmlns:p14="http://schemas.microsoft.com/office/powerpoint/2010/main" val="124297620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AE1F-EC37-1B44-8265-74CE4BB397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48ED2137-C4A8-F242-9338-A86D0B17D7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E2FC3E4-1B84-3A49-9EDB-B8C05C779D68}"/>
              </a:ext>
            </a:extLst>
          </p:cNvPr>
          <p:cNvSpPr>
            <a:spLocks noGrp="1"/>
          </p:cNvSpPr>
          <p:nvPr>
            <p:ph type="dt" sz="half" idx="10"/>
          </p:nvPr>
        </p:nvSpPr>
        <p:spPr/>
        <p:txBody>
          <a:bodyPr/>
          <a:lstStyle/>
          <a:p>
            <a:fld id="{E138B463-9C40-1942-88C8-7DFCDA999A26}" type="datetime1">
              <a:rPr lang="en-US" smtClean="0"/>
              <a:t>10/13/2026</a:t>
            </a:fld>
            <a:endParaRPr lang="en-BE"/>
          </a:p>
        </p:txBody>
      </p:sp>
      <p:sp>
        <p:nvSpPr>
          <p:cNvPr id="5" name="Footer Placeholder 4">
            <a:extLst>
              <a:ext uri="{FF2B5EF4-FFF2-40B4-BE49-F238E27FC236}">
                <a16:creationId xmlns:a16="http://schemas.microsoft.com/office/drawing/2014/main" id="{949EB827-9AFF-DF44-90F4-4AFD705F745A}"/>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35E7B17-5BF4-C445-9966-AEDE289BD14C}"/>
              </a:ext>
            </a:extLst>
          </p:cNvPr>
          <p:cNvSpPr>
            <a:spLocks noGrp="1"/>
          </p:cNvSpPr>
          <p:nvPr>
            <p:ph type="sldNum" sz="quarter" idx="12"/>
          </p:nvPr>
        </p:nvSpPr>
        <p:spPr/>
        <p:txBody>
          <a:bodyPr/>
          <a:lstStyle/>
          <a:p>
            <a:fld id="{D270EDC2-4F5E-5547-954F-5222C286AC2A}" type="slidenum">
              <a:rPr lang="en-BE" smtClean="0"/>
              <a:t>‹#›</a:t>
            </a:fld>
            <a:endParaRPr lang="en-BE"/>
          </a:p>
        </p:txBody>
      </p:sp>
    </p:spTree>
    <p:extLst>
      <p:ext uri="{BB962C8B-B14F-4D97-AF65-F5344CB8AC3E}">
        <p14:creationId xmlns:p14="http://schemas.microsoft.com/office/powerpoint/2010/main" val="199881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9797-4E0C-E642-B536-6FCAE3D11B2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0154EB3D-7663-D943-9270-7AA84EE5C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82807DC2-F4C3-6242-B8BF-588FC9384512}"/>
              </a:ext>
            </a:extLst>
          </p:cNvPr>
          <p:cNvSpPr>
            <a:spLocks noGrp="1"/>
          </p:cNvSpPr>
          <p:nvPr>
            <p:ph type="dt" sz="half" idx="10"/>
          </p:nvPr>
        </p:nvSpPr>
        <p:spPr/>
        <p:txBody>
          <a:bodyPr/>
          <a:lstStyle/>
          <a:p>
            <a:fld id="{DD365DDC-663F-414F-95F1-2EF995215EBF}" type="datetime1">
              <a:rPr lang="en-US" smtClean="0"/>
              <a:t>10/13/2026</a:t>
            </a:fld>
            <a:endParaRPr lang="en-BE"/>
          </a:p>
        </p:txBody>
      </p:sp>
      <p:sp>
        <p:nvSpPr>
          <p:cNvPr id="5" name="Footer Placeholder 4">
            <a:extLst>
              <a:ext uri="{FF2B5EF4-FFF2-40B4-BE49-F238E27FC236}">
                <a16:creationId xmlns:a16="http://schemas.microsoft.com/office/drawing/2014/main" id="{67930550-01C0-FD4E-BD13-4C07DC155AE4}"/>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AF04EC13-FB57-7740-8691-ED75C59D4EA3}"/>
              </a:ext>
            </a:extLst>
          </p:cNvPr>
          <p:cNvSpPr>
            <a:spLocks noGrp="1"/>
          </p:cNvSpPr>
          <p:nvPr>
            <p:ph type="sldNum" sz="quarter" idx="12"/>
          </p:nvPr>
        </p:nvSpPr>
        <p:spPr/>
        <p:txBody>
          <a:bodyPr/>
          <a:lstStyle/>
          <a:p>
            <a:fld id="{D270EDC2-4F5E-5547-954F-5222C286AC2A}" type="slidenum">
              <a:rPr lang="en-BE" smtClean="0"/>
              <a:t>‹#›</a:t>
            </a:fld>
            <a:endParaRPr lang="en-BE"/>
          </a:p>
        </p:txBody>
      </p:sp>
    </p:spTree>
    <p:extLst>
      <p:ext uri="{BB962C8B-B14F-4D97-AF65-F5344CB8AC3E}">
        <p14:creationId xmlns:p14="http://schemas.microsoft.com/office/powerpoint/2010/main" val="265084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hthoek 6"/>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7998"/>
            <a:ext cx="12193200" cy="6210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791" y="1350253"/>
            <a:ext cx="4648209" cy="5507747"/>
          </a:xfrm>
          <a:prstGeom prst="rect">
            <a:avLst/>
          </a:prstGeom>
        </p:spPr>
      </p:pic>
      <p:sp>
        <p:nvSpPr>
          <p:cNvPr id="12" name="Ondertitel 2"/>
          <p:cNvSpPr>
            <a:spLocks noGrp="1"/>
          </p:cNvSpPr>
          <p:nvPr>
            <p:ph type="subTitle" idx="1"/>
          </p:nvPr>
        </p:nvSpPr>
        <p:spPr>
          <a:xfrm>
            <a:off x="576003" y="4359604"/>
            <a:ext cx="8333999" cy="1655999"/>
          </a:xfrm>
        </p:spPr>
        <p:txBody>
          <a:bodyPr lIns="0" tIns="0" rIns="0" bIns="0"/>
          <a:lstStyle>
            <a:lvl1pPr marL="0" indent="0" algn="l">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Click to edit Master subtitle style</a:t>
            </a:r>
            <a:endParaRPr lang="nl-NL" dirty="0"/>
          </a:p>
        </p:txBody>
      </p:sp>
      <p:sp>
        <p:nvSpPr>
          <p:cNvPr id="3" name="Title 2"/>
          <p:cNvSpPr>
            <a:spLocks noGrp="1"/>
          </p:cNvSpPr>
          <p:nvPr>
            <p:ph type="title"/>
          </p:nvPr>
        </p:nvSpPr>
        <p:spPr>
          <a:xfrm>
            <a:off x="576000" y="1800000"/>
            <a:ext cx="8334000" cy="2386800"/>
          </a:xfrm>
        </p:spPr>
        <p:txBody>
          <a:bodyPr>
            <a:normAutofit/>
          </a:bodyPr>
          <a:lstStyle>
            <a:lvl1pPr>
              <a:defRPr sz="4000">
                <a:solidFill>
                  <a:schemeClr val="bg1"/>
                </a:solidFill>
              </a:defRPr>
            </a:lvl1pPr>
          </a:lstStyle>
          <a:p>
            <a:r>
              <a:rPr lang="en-GB"/>
              <a:t>Click to edit Master title style</a:t>
            </a:r>
            <a:endParaRPr lang="nl-NL" dirty="0"/>
          </a:p>
        </p:txBody>
      </p:sp>
    </p:spTree>
    <p:extLst>
      <p:ext uri="{BB962C8B-B14F-4D97-AF65-F5344CB8AC3E}">
        <p14:creationId xmlns:p14="http://schemas.microsoft.com/office/powerpoint/2010/main" val="1538049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hthoek 6"/>
          <p:cNvSpPr/>
          <p:nvPr/>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4" name="Tijdelijke aanduiding voor datum 3"/>
          <p:cNvSpPr>
            <a:spLocks noGrp="1"/>
          </p:cNvSpPr>
          <p:nvPr>
            <p:ph type="dt" sz="half" idx="10"/>
          </p:nvPr>
        </p:nvSpPr>
        <p:spPr/>
        <p:txBody>
          <a:bodyPr/>
          <a:lstStyle/>
          <a:p>
            <a:fld id="{32CB04F5-1DDB-433A-9F56-F69ABF3D82C1}" type="datetime1">
              <a:rPr lang="nl-BE" smtClean="0"/>
              <a:t>13/10/2026</a:t>
            </a:fld>
            <a:endParaRPr lang="nl-NL"/>
          </a:p>
        </p:txBody>
      </p:sp>
      <p:sp>
        <p:nvSpPr>
          <p:cNvPr id="5" name="Tijdelijke aanduiding voor voettekst 4"/>
          <p:cNvSpPr>
            <a:spLocks noGrp="1"/>
          </p:cNvSpPr>
          <p:nvPr>
            <p:ph type="ftr" sz="quarter" idx="11"/>
          </p:nvPr>
        </p:nvSpPr>
        <p:spPr/>
        <p:txBody>
          <a:bodyPr/>
          <a:lstStyle/>
          <a:p>
            <a:r>
              <a:rPr lang="nl-NL"/>
              <a:t>Faculty, department, unit ...</a:t>
            </a:r>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a:t>
            </a:fld>
            <a:endParaRPr lang="nl-NL"/>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9" name="Titel 1"/>
          <p:cNvSpPr>
            <a:spLocks noGrp="1"/>
          </p:cNvSpPr>
          <p:nvPr>
            <p:ph type="title"/>
          </p:nvPr>
        </p:nvSpPr>
        <p:spPr>
          <a:xfrm>
            <a:off x="576003" y="1800000"/>
            <a:ext cx="8333999" cy="2386800"/>
          </a:xfrm>
        </p:spPr>
        <p:txBody>
          <a:bodyPr anchor="b">
            <a:normAutofit/>
          </a:bodyPr>
          <a:lstStyle>
            <a:lvl1pPr>
              <a:defRPr sz="4000" baseline="0">
                <a:solidFill>
                  <a:srgbClr val="1D8DB0"/>
                </a:solidFill>
              </a:defRPr>
            </a:lvl1pPr>
          </a:lstStyle>
          <a:p>
            <a:r>
              <a:rPr lang="en-GB"/>
              <a:t>Click to edit Master title style</a:t>
            </a:r>
            <a:endParaRPr lang="nl-NL" dirty="0"/>
          </a:p>
        </p:txBody>
      </p:sp>
      <p:sp>
        <p:nvSpPr>
          <p:cNvPr id="10"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rgbClr val="005E77"/>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1696770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_White">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105EA0AE-89F5-40F4-A8AC-2CFB7172A437}" type="datetime1">
              <a:rPr lang="nl-BE" smtClean="0"/>
              <a:t>13/10/2026</a:t>
            </a:fld>
            <a:endParaRPr lang="nl-NL"/>
          </a:p>
        </p:txBody>
      </p:sp>
      <p:sp>
        <p:nvSpPr>
          <p:cNvPr id="5" name="Tijdelijke aanduiding voor voettekst 4"/>
          <p:cNvSpPr>
            <a:spLocks noGrp="1"/>
          </p:cNvSpPr>
          <p:nvPr>
            <p:ph type="ftr" sz="quarter" idx="11"/>
          </p:nvPr>
        </p:nvSpPr>
        <p:spPr/>
        <p:txBody>
          <a:bodyPr/>
          <a:lstStyle/>
          <a:p>
            <a:r>
              <a:rPr lang="nl-NL"/>
              <a:t>Faculty, department, unit ...</a:t>
            </a:r>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a:t>
            </a:fld>
            <a:endParaRPr lang="nl-NL"/>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8" name="Titel 1"/>
          <p:cNvSpPr>
            <a:spLocks noGrp="1"/>
          </p:cNvSpPr>
          <p:nvPr>
            <p:ph type="title"/>
          </p:nvPr>
        </p:nvSpPr>
        <p:spPr>
          <a:xfrm>
            <a:off x="576003" y="1800000"/>
            <a:ext cx="8333999" cy="2386800"/>
          </a:xfrm>
        </p:spPr>
        <p:txBody>
          <a:bodyPr anchor="b">
            <a:normAutofit/>
          </a:bodyPr>
          <a:lstStyle>
            <a:lvl1pPr>
              <a:defRPr sz="4000"/>
            </a:lvl1pPr>
          </a:lstStyle>
          <a:p>
            <a:r>
              <a:rPr lang="en-GB"/>
              <a:t>Click to edit Master title style</a:t>
            </a:r>
            <a:endParaRPr lang="nl-NL" dirty="0"/>
          </a:p>
        </p:txBody>
      </p:sp>
      <p:sp>
        <p:nvSpPr>
          <p:cNvPr id="9"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rgbClr val="2F4D5D"/>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2275993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07036"/>
            <a:ext cx="11041200" cy="1152000"/>
          </a:xfrm>
          <a:prstGeom prst="rect">
            <a:avLst/>
          </a:prstGeom>
        </p:spPr>
        <p:txBody>
          <a:bodyPr vert="horz" lIns="0" tIns="0" rIns="0" bIns="0" rtlCol="0" anchor="ctr"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A0C879-0D8C-8643-B111-26840AE1A981}" type="datetime1">
              <a:rPr lang="en-US" smtClean="0"/>
              <a:t>10/13/2026</a:t>
            </a:fld>
            <a:endParaRPr lang="en-BE"/>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en-BE"/>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D270EDC2-4F5E-5547-954F-5222C286AC2A}" type="slidenum">
              <a:rPr lang="en-BE" smtClean="0"/>
              <a:t>‹#›</a:t>
            </a:fld>
            <a:endParaRPr lang="en-BE"/>
          </a:p>
        </p:txBody>
      </p:sp>
    </p:spTree>
    <p:extLst>
      <p:ext uri="{BB962C8B-B14F-4D97-AF65-F5344CB8AC3E}">
        <p14:creationId xmlns:p14="http://schemas.microsoft.com/office/powerpoint/2010/main" val="3414895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42">
          <p15:clr>
            <a:srgbClr val="F26B43"/>
          </p15:clr>
        </p15:guide>
        <p15:guide id="2" pos="7319">
          <p15:clr>
            <a:srgbClr val="F26B43"/>
          </p15:clr>
        </p15:guide>
        <p15:guide id="3" orient="horz" pos="3857">
          <p15:clr>
            <a:srgbClr val="F26B43"/>
          </p15:clr>
        </p15:guide>
        <p15:guide id="4" pos="36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16000"/>
            <a:ext cx="11041200" cy="1152000"/>
          </a:xfrm>
          <a:prstGeom prst="rect">
            <a:avLst/>
          </a:prstGeom>
        </p:spPr>
        <p:txBody>
          <a:bodyPr vert="horz" lIns="0" tIns="0" rIns="0" bIns="0" rtlCol="0" anchor="ctr"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18BCE0-9917-41C7-AA76-58ADB721FDEC}" type="datetime1">
              <a:rPr lang="nl-BE" smtClean="0"/>
              <a:t>13/10/2026</a:t>
            </a:fld>
            <a:endParaRPr lang="nl-NL" dirty="0"/>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nl-NL"/>
              <a:t>Faculty, department, unit ...</a:t>
            </a:r>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spTree>
    <p:extLst>
      <p:ext uri="{BB962C8B-B14F-4D97-AF65-F5344CB8AC3E}">
        <p14:creationId xmlns:p14="http://schemas.microsoft.com/office/powerpoint/2010/main" val="4522754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dt="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0DDB50-4F7D-C846-B331-5EDF14C94BF5}"/>
              </a:ext>
            </a:extLst>
          </p:cNvPr>
          <p:cNvSpPr>
            <a:spLocks noGrp="1"/>
          </p:cNvSpPr>
          <p:nvPr>
            <p:ph type="ctrTitle"/>
          </p:nvPr>
        </p:nvSpPr>
        <p:spPr/>
        <p:txBody>
          <a:bodyPr/>
          <a:lstStyle/>
          <a:p>
            <a:r>
              <a:rPr lang="nl-NL" dirty="0"/>
              <a:t>Deel 1B: Dataverwerking</a:t>
            </a:r>
          </a:p>
        </p:txBody>
      </p:sp>
      <p:sp>
        <p:nvSpPr>
          <p:cNvPr id="2" name="Subtitle 1">
            <a:extLst>
              <a:ext uri="{FF2B5EF4-FFF2-40B4-BE49-F238E27FC236}">
                <a16:creationId xmlns:a16="http://schemas.microsoft.com/office/drawing/2014/main" id="{D2E8BF41-84C9-CD7C-7584-1AE3391A2D14}"/>
              </a:ext>
            </a:extLst>
          </p:cNvPr>
          <p:cNvSpPr>
            <a:spLocks noGrp="1"/>
          </p:cNvSpPr>
          <p:nvPr>
            <p:ph type="subTitle" idx="1"/>
          </p:nvPr>
        </p:nvSpPr>
        <p:spPr/>
        <p:txBody>
          <a:bodyPr/>
          <a:lstStyle/>
          <a:p>
            <a:endParaRPr lang="en-BE"/>
          </a:p>
        </p:txBody>
      </p:sp>
      <p:sp>
        <p:nvSpPr>
          <p:cNvPr id="3" name="Picture Placeholder 2">
            <a:extLst>
              <a:ext uri="{FF2B5EF4-FFF2-40B4-BE49-F238E27FC236}">
                <a16:creationId xmlns:a16="http://schemas.microsoft.com/office/drawing/2014/main" id="{19FE3FDA-13F5-350E-3080-549ADC7D984D}"/>
              </a:ext>
            </a:extLst>
          </p:cNvPr>
          <p:cNvSpPr>
            <a:spLocks noGrp="1"/>
          </p:cNvSpPr>
          <p:nvPr>
            <p:ph type="pic" sz="quarter" idx="10"/>
          </p:nvPr>
        </p:nvSpPr>
        <p:spPr/>
        <p:txBody>
          <a:bodyPr/>
          <a:lstStyle/>
          <a:p>
            <a:endParaRPr lang="en-BE"/>
          </a:p>
        </p:txBody>
      </p:sp>
      <p:sp>
        <p:nvSpPr>
          <p:cNvPr id="6" name="Slide Number Placeholder 5">
            <a:extLst>
              <a:ext uri="{FF2B5EF4-FFF2-40B4-BE49-F238E27FC236}">
                <a16:creationId xmlns:a16="http://schemas.microsoft.com/office/drawing/2014/main" id="{26EC8D9E-3BB6-6245-BCD5-2197C4D626E4}"/>
              </a:ext>
            </a:extLst>
          </p:cNvPr>
          <p:cNvSpPr>
            <a:spLocks noGrp="1"/>
          </p:cNvSpPr>
          <p:nvPr>
            <p:ph type="sldNum" sz="quarter" idx="4294967295"/>
          </p:nvPr>
        </p:nvSpPr>
        <p:spPr>
          <a:xfrm>
            <a:off x="0" y="6210300"/>
            <a:ext cx="647700" cy="647700"/>
          </a:xfrm>
        </p:spPr>
        <p:txBody>
          <a:bodyPr/>
          <a:lstStyle/>
          <a:p>
            <a:fld id="{D270EDC2-4F5E-5547-954F-5222C286AC2A}" type="slidenum">
              <a:rPr lang="nl-NL" smtClean="0"/>
              <a:t>1</a:t>
            </a:fld>
            <a:endParaRPr lang="nl-NL" dirty="0"/>
          </a:p>
        </p:txBody>
      </p:sp>
    </p:spTree>
    <p:extLst>
      <p:ext uri="{BB962C8B-B14F-4D97-AF65-F5344CB8AC3E}">
        <p14:creationId xmlns:p14="http://schemas.microsoft.com/office/powerpoint/2010/main" val="2220433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A5D96-148A-3D4A-A2AC-78BF764EC596}"/>
              </a:ext>
            </a:extLst>
          </p:cNvPr>
          <p:cNvSpPr>
            <a:spLocks noGrp="1"/>
          </p:cNvSpPr>
          <p:nvPr>
            <p:ph idx="1"/>
          </p:nvPr>
        </p:nvSpPr>
        <p:spPr/>
        <p:txBody>
          <a:bodyPr/>
          <a:lstStyle/>
          <a:p>
            <a:r>
              <a:rPr lang="nl-NL" dirty="0"/>
              <a:t>Dataverwerking is een cruciaal startpunt voor data </a:t>
            </a:r>
            <a:r>
              <a:rPr lang="nl-NL" dirty="0" err="1"/>
              <a:t>science</a:t>
            </a:r>
            <a:endParaRPr lang="nl-NL" dirty="0"/>
          </a:p>
          <a:p>
            <a:r>
              <a:rPr lang="nl-NL" dirty="0"/>
              <a:t>Belangrijk data te kunnen inlezen, opschonen en aanpassen om daarna aan algoritmes te geven</a:t>
            </a:r>
          </a:p>
          <a:p>
            <a:r>
              <a:rPr lang="nl-NL" dirty="0"/>
              <a:t>In dit deel:</a:t>
            </a:r>
          </a:p>
          <a:p>
            <a:pPr lvl="1"/>
            <a:r>
              <a:rPr lang="nl-NL" sz="2000" b="1" dirty="0" err="1"/>
              <a:t>NumPy</a:t>
            </a:r>
            <a:r>
              <a:rPr lang="nl-NL" sz="2000" b="1" dirty="0"/>
              <a:t>: </a:t>
            </a:r>
            <a:r>
              <a:rPr lang="nl-NL" sz="2000" dirty="0"/>
              <a:t>wordt gebruikt voor de berekeningen in data </a:t>
            </a:r>
            <a:r>
              <a:rPr lang="nl-NL" sz="2000" dirty="0" err="1"/>
              <a:t>science</a:t>
            </a:r>
            <a:r>
              <a:rPr lang="nl-NL" sz="2000" dirty="0"/>
              <a:t> pakketten alsook het opslaan van rauwe data </a:t>
            </a:r>
          </a:p>
          <a:p>
            <a:pPr lvl="1"/>
            <a:r>
              <a:rPr lang="nl-NL" sz="2000" b="1" dirty="0" err="1"/>
              <a:t>Pandas</a:t>
            </a:r>
            <a:r>
              <a:rPr lang="nl-NL" sz="2000" b="1" dirty="0"/>
              <a:t>: </a:t>
            </a:r>
            <a:r>
              <a:rPr lang="nl-NL" sz="2000" dirty="0"/>
              <a:t>wordt gebruikt als schil rond </a:t>
            </a:r>
            <a:r>
              <a:rPr lang="nl-NL" sz="2000" dirty="0" err="1"/>
              <a:t>NumPy</a:t>
            </a:r>
            <a:r>
              <a:rPr lang="nl-NL" sz="2000" dirty="0"/>
              <a:t> om data voor te stellen en metadata zoals kolomnamen, etc. toe te voegen</a:t>
            </a:r>
          </a:p>
          <a:p>
            <a:r>
              <a:rPr lang="nl-NL" dirty="0"/>
              <a:t>Zitten standaard in Anaconda, dus niks te installeren</a:t>
            </a:r>
          </a:p>
        </p:txBody>
      </p:sp>
      <p:sp>
        <p:nvSpPr>
          <p:cNvPr id="4" name="Slide Number Placeholder 3">
            <a:extLst>
              <a:ext uri="{FF2B5EF4-FFF2-40B4-BE49-F238E27FC236}">
                <a16:creationId xmlns:a16="http://schemas.microsoft.com/office/drawing/2014/main" id="{1FBB279A-1AA0-4349-9B46-B725ED6F1006}"/>
              </a:ext>
            </a:extLst>
          </p:cNvPr>
          <p:cNvSpPr>
            <a:spLocks noGrp="1"/>
          </p:cNvSpPr>
          <p:nvPr>
            <p:ph type="sldNum" sz="quarter" idx="12"/>
          </p:nvPr>
        </p:nvSpPr>
        <p:spPr/>
        <p:txBody>
          <a:bodyPr/>
          <a:lstStyle/>
          <a:p>
            <a:fld id="{D270EDC2-4F5E-5547-954F-5222C286AC2A}" type="slidenum">
              <a:rPr lang="nl-NL" smtClean="0"/>
              <a:t>2</a:t>
            </a:fld>
            <a:endParaRPr lang="nl-NL" dirty="0"/>
          </a:p>
        </p:txBody>
      </p:sp>
      <p:sp>
        <p:nvSpPr>
          <p:cNvPr id="2" name="Title 1">
            <a:extLst>
              <a:ext uri="{FF2B5EF4-FFF2-40B4-BE49-F238E27FC236}">
                <a16:creationId xmlns:a16="http://schemas.microsoft.com/office/drawing/2014/main" id="{76B90042-586D-D142-92A4-227765B2CC24}"/>
              </a:ext>
            </a:extLst>
          </p:cNvPr>
          <p:cNvSpPr>
            <a:spLocks noGrp="1"/>
          </p:cNvSpPr>
          <p:nvPr>
            <p:ph type="title"/>
          </p:nvPr>
        </p:nvSpPr>
        <p:spPr/>
        <p:txBody>
          <a:bodyPr/>
          <a:lstStyle/>
          <a:p>
            <a:r>
              <a:rPr lang="nl-NL" dirty="0"/>
              <a:t>Introductie</a:t>
            </a:r>
          </a:p>
        </p:txBody>
      </p:sp>
    </p:spTree>
    <p:extLst>
      <p:ext uri="{BB962C8B-B14F-4D97-AF65-F5344CB8AC3E}">
        <p14:creationId xmlns:p14="http://schemas.microsoft.com/office/powerpoint/2010/main" val="702176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7C18E4-69B3-7745-A57B-10E4766BDC98}"/>
              </a:ext>
            </a:extLst>
          </p:cNvPr>
          <p:cNvSpPr>
            <a:spLocks noGrp="1"/>
          </p:cNvSpPr>
          <p:nvPr>
            <p:ph type="title"/>
          </p:nvPr>
        </p:nvSpPr>
        <p:spPr/>
        <p:txBody>
          <a:bodyPr/>
          <a:lstStyle/>
          <a:p>
            <a:r>
              <a:rPr lang="nl-NL" dirty="0"/>
              <a:t>1. </a:t>
            </a:r>
            <a:r>
              <a:rPr lang="nl-NL" dirty="0" err="1"/>
              <a:t>NumPy</a:t>
            </a:r>
            <a:endParaRPr lang="nl-NL" dirty="0"/>
          </a:p>
        </p:txBody>
      </p:sp>
      <p:sp>
        <p:nvSpPr>
          <p:cNvPr id="8" name="Subtitle 7">
            <a:extLst>
              <a:ext uri="{FF2B5EF4-FFF2-40B4-BE49-F238E27FC236}">
                <a16:creationId xmlns:a16="http://schemas.microsoft.com/office/drawing/2014/main" id="{B53618F0-C113-3E4E-98C4-0FC2DCCCA6E0}"/>
              </a:ext>
            </a:extLst>
          </p:cNvPr>
          <p:cNvSpPr>
            <a:spLocks noGrp="1"/>
          </p:cNvSpPr>
          <p:nvPr>
            <p:ph type="body" idx="1"/>
          </p:nvPr>
        </p:nvSpPr>
        <p:spPr/>
        <p:txBody>
          <a:bodyPr/>
          <a:lstStyle/>
          <a:p>
            <a:r>
              <a:rPr lang="nl-NL" dirty="0"/>
              <a:t>1B.1-numpy.ipynb</a:t>
            </a:r>
          </a:p>
        </p:txBody>
      </p:sp>
      <p:sp>
        <p:nvSpPr>
          <p:cNvPr id="4" name="Slide Number Placeholder 3">
            <a:extLst>
              <a:ext uri="{FF2B5EF4-FFF2-40B4-BE49-F238E27FC236}">
                <a16:creationId xmlns:a16="http://schemas.microsoft.com/office/drawing/2014/main" id="{D2A6B954-E82D-3B4F-BAAA-8D8BFBC30E1C}"/>
              </a:ext>
            </a:extLst>
          </p:cNvPr>
          <p:cNvSpPr>
            <a:spLocks noGrp="1"/>
          </p:cNvSpPr>
          <p:nvPr>
            <p:ph type="sldNum" sz="quarter" idx="12"/>
          </p:nvPr>
        </p:nvSpPr>
        <p:spPr/>
        <p:txBody>
          <a:bodyPr/>
          <a:lstStyle/>
          <a:p>
            <a:fld id="{D270EDC2-4F5E-5547-954F-5222C286AC2A}" type="slidenum">
              <a:rPr lang="nl-NL" smtClean="0"/>
              <a:t>3</a:t>
            </a:fld>
            <a:endParaRPr lang="nl-NL" dirty="0"/>
          </a:p>
        </p:txBody>
      </p:sp>
    </p:spTree>
    <p:extLst>
      <p:ext uri="{BB962C8B-B14F-4D97-AF65-F5344CB8AC3E}">
        <p14:creationId xmlns:p14="http://schemas.microsoft.com/office/powerpoint/2010/main" val="3848941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E0C02F-59E6-AF47-BE48-72142DC3678F}"/>
              </a:ext>
            </a:extLst>
          </p:cNvPr>
          <p:cNvSpPr>
            <a:spLocks noGrp="1"/>
          </p:cNvSpPr>
          <p:nvPr>
            <p:ph idx="1"/>
          </p:nvPr>
        </p:nvSpPr>
        <p:spPr/>
        <p:txBody>
          <a:bodyPr/>
          <a:lstStyle/>
          <a:p>
            <a:r>
              <a:rPr lang="nl-NL" dirty="0"/>
              <a:t>1 van de meest gebruikte Python pakketten</a:t>
            </a:r>
          </a:p>
          <a:p>
            <a:r>
              <a:rPr lang="nl-NL" dirty="0"/>
              <a:t>Ondersteunt wiskundige analyse met snelle implementaties voor rij- en matrixbewerkingen en algebra</a:t>
            </a:r>
          </a:p>
          <a:p>
            <a:r>
              <a:rPr lang="nl-NL" dirty="0"/>
              <a:t>Maakt in de achtergrond gebruik van de C programmeertaal en is performanter dan standaard Python</a:t>
            </a:r>
          </a:p>
          <a:p>
            <a:r>
              <a:rPr lang="nl-NL" dirty="0"/>
              <a:t>Ondersteunt de grootste data </a:t>
            </a:r>
            <a:r>
              <a:rPr lang="nl-NL" dirty="0" err="1"/>
              <a:t>science</a:t>
            </a:r>
            <a:r>
              <a:rPr lang="nl-NL" dirty="0"/>
              <a:t> pakketten zoals </a:t>
            </a:r>
            <a:r>
              <a:rPr lang="nl-NL" dirty="0" err="1"/>
              <a:t>Pandas</a:t>
            </a:r>
            <a:r>
              <a:rPr lang="nl-NL" dirty="0"/>
              <a:t>, </a:t>
            </a:r>
            <a:r>
              <a:rPr lang="nl-NL" dirty="0" err="1"/>
              <a:t>statsmodels</a:t>
            </a:r>
            <a:r>
              <a:rPr lang="nl-NL" dirty="0"/>
              <a:t>, </a:t>
            </a:r>
            <a:r>
              <a:rPr lang="nl-NL" dirty="0" err="1"/>
              <a:t>scikit-learn</a:t>
            </a:r>
            <a:r>
              <a:rPr lang="nl-NL" dirty="0"/>
              <a:t>, Tensorflow, </a:t>
            </a:r>
            <a:r>
              <a:rPr lang="nl-NL" dirty="0" err="1"/>
              <a:t>PyTorch</a:t>
            </a:r>
            <a:r>
              <a:rPr lang="nl-NL" dirty="0"/>
              <a:t>, </a:t>
            </a:r>
            <a:r>
              <a:rPr lang="nl-NL" dirty="0" err="1"/>
              <a:t>NetworkX</a:t>
            </a:r>
            <a:r>
              <a:rPr lang="nl-NL" dirty="0"/>
              <a:t>, enz.</a:t>
            </a:r>
          </a:p>
          <a:p>
            <a:r>
              <a:rPr lang="nl-NL" dirty="0"/>
              <a:t>Open source</a:t>
            </a:r>
          </a:p>
        </p:txBody>
      </p:sp>
      <p:sp>
        <p:nvSpPr>
          <p:cNvPr id="4" name="Slide Number Placeholder 3">
            <a:extLst>
              <a:ext uri="{FF2B5EF4-FFF2-40B4-BE49-F238E27FC236}">
                <a16:creationId xmlns:a16="http://schemas.microsoft.com/office/drawing/2014/main" id="{C3CC4171-917A-344D-A1B0-CCC8F3A94347}"/>
              </a:ext>
            </a:extLst>
          </p:cNvPr>
          <p:cNvSpPr>
            <a:spLocks noGrp="1"/>
          </p:cNvSpPr>
          <p:nvPr>
            <p:ph type="sldNum" sz="quarter" idx="12"/>
          </p:nvPr>
        </p:nvSpPr>
        <p:spPr/>
        <p:txBody>
          <a:bodyPr/>
          <a:lstStyle/>
          <a:p>
            <a:fld id="{D270EDC2-4F5E-5547-954F-5222C286AC2A}" type="slidenum">
              <a:rPr lang="nl-NL" smtClean="0"/>
              <a:t>4</a:t>
            </a:fld>
            <a:endParaRPr lang="nl-NL" dirty="0"/>
          </a:p>
        </p:txBody>
      </p:sp>
      <p:sp>
        <p:nvSpPr>
          <p:cNvPr id="2" name="Title 1">
            <a:extLst>
              <a:ext uri="{FF2B5EF4-FFF2-40B4-BE49-F238E27FC236}">
                <a16:creationId xmlns:a16="http://schemas.microsoft.com/office/drawing/2014/main" id="{671973B9-9BE7-074B-B595-A33DAD0C60BC}"/>
              </a:ext>
            </a:extLst>
          </p:cNvPr>
          <p:cNvSpPr>
            <a:spLocks noGrp="1"/>
          </p:cNvSpPr>
          <p:nvPr>
            <p:ph type="title"/>
          </p:nvPr>
        </p:nvSpPr>
        <p:spPr/>
        <p:txBody>
          <a:bodyPr/>
          <a:lstStyle/>
          <a:p>
            <a:r>
              <a:rPr lang="nl-NL" dirty="0"/>
              <a:t>Introductie</a:t>
            </a:r>
          </a:p>
        </p:txBody>
      </p:sp>
    </p:spTree>
    <p:extLst>
      <p:ext uri="{BB962C8B-B14F-4D97-AF65-F5344CB8AC3E}">
        <p14:creationId xmlns:p14="http://schemas.microsoft.com/office/powerpoint/2010/main" val="163725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1CA2F2-8990-1F4B-A37F-A576F9580084}"/>
              </a:ext>
            </a:extLst>
          </p:cNvPr>
          <p:cNvSpPr>
            <a:spLocks noGrp="1"/>
          </p:cNvSpPr>
          <p:nvPr>
            <p:ph idx="1"/>
          </p:nvPr>
        </p:nvSpPr>
        <p:spPr/>
        <p:txBody>
          <a:bodyPr>
            <a:normAutofit/>
          </a:bodyPr>
          <a:lstStyle/>
          <a:p>
            <a:r>
              <a:rPr lang="nl-NL" dirty="0"/>
              <a:t>Alle beschikbare methodes zijn gebaseerd op (n-dimensionele) matrices en rijen (/vectoren):</a:t>
            </a:r>
          </a:p>
          <a:p>
            <a:pPr lvl="1"/>
            <a:r>
              <a:rPr lang="nl-NL" sz="2000" dirty="0"/>
              <a:t>Met behulp van de </a:t>
            </a:r>
            <a:r>
              <a:rPr lang="nl-NL" sz="2000" dirty="0" err="1">
                <a:latin typeface="Courier New" panose="02070309020205020404" pitchFamily="49" charset="0"/>
                <a:cs typeface="Courier New" panose="02070309020205020404" pitchFamily="49" charset="0"/>
              </a:rPr>
              <a:t>ndarray</a:t>
            </a:r>
            <a:r>
              <a:rPr lang="nl-NL" sz="2000" dirty="0"/>
              <a:t> klasse</a:t>
            </a:r>
          </a:p>
          <a:p>
            <a:r>
              <a:rPr lang="nl-NL" dirty="0"/>
              <a:t>Volgt dezelfde logica qua indexering als bv. een lijst in Python:</a:t>
            </a:r>
          </a:p>
          <a:p>
            <a:pPr lvl="1"/>
            <a:r>
              <a:rPr lang="nl-NL" sz="2000" dirty="0"/>
              <a:t>Tellen van 0</a:t>
            </a:r>
          </a:p>
          <a:p>
            <a:pPr lvl="1"/>
            <a:r>
              <a:rPr lang="nl-NL" sz="2000" b="1" dirty="0"/>
              <a:t>Geen dubbele haken meer nodig voor matrices </a:t>
            </a:r>
            <a:r>
              <a:rPr lang="nl-NL" sz="2000" dirty="0"/>
              <a:t>(want geen lijst in lijst meer)</a:t>
            </a:r>
          </a:p>
          <a:p>
            <a:r>
              <a:rPr lang="nl-NL" dirty="0"/>
              <a:t>Opslag-efficiëntie :</a:t>
            </a:r>
          </a:p>
          <a:p>
            <a:pPr lvl="1"/>
            <a:r>
              <a:rPr lang="nl-NL" sz="2000" dirty="0"/>
              <a:t>Python houdt in de achtergrond getallen met eender welke hoeveelheid bits bij:</a:t>
            </a:r>
          </a:p>
          <a:p>
            <a:pPr lvl="2"/>
            <a:r>
              <a:rPr lang="nl-NL" sz="1600" dirty="0"/>
              <a:t>Je zou een getal kunnen maken dat zoveel bits gebruikt als je geheugen groot is</a:t>
            </a:r>
          </a:p>
          <a:p>
            <a:pPr lvl="1"/>
            <a:r>
              <a:rPr lang="nl-NL" sz="2000" dirty="0" err="1"/>
              <a:t>NumPy</a:t>
            </a:r>
            <a:r>
              <a:rPr lang="nl-NL" sz="2000" dirty="0"/>
              <a:t> legt aantal bits per data-element vast:</a:t>
            </a:r>
          </a:p>
          <a:p>
            <a:pPr lvl="2"/>
            <a:r>
              <a:rPr lang="nl-NL" sz="1600" dirty="0"/>
              <a:t>int32, int64, float32, float64, enz.</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5</a:t>
            </a:fld>
            <a:endParaRPr lang="nl-NL" dirty="0"/>
          </a:p>
        </p:txBody>
      </p:sp>
      <p:sp>
        <p:nvSpPr>
          <p:cNvPr id="2" name="Title 1">
            <a:extLst>
              <a:ext uri="{FF2B5EF4-FFF2-40B4-BE49-F238E27FC236}">
                <a16:creationId xmlns:a16="http://schemas.microsoft.com/office/drawing/2014/main" id="{CFE8B1B2-11CC-2242-8AF7-1AA344999E23}"/>
              </a:ext>
            </a:extLst>
          </p:cNvPr>
          <p:cNvSpPr>
            <a:spLocks noGrp="1"/>
          </p:cNvSpPr>
          <p:nvPr>
            <p:ph type="title"/>
          </p:nvPr>
        </p:nvSpPr>
        <p:spPr/>
        <p:txBody>
          <a:bodyPr/>
          <a:lstStyle/>
          <a:p>
            <a:r>
              <a:rPr lang="nl-NL" dirty="0"/>
              <a:t>Rijen en matrices</a:t>
            </a:r>
          </a:p>
        </p:txBody>
      </p:sp>
    </p:spTree>
    <p:extLst>
      <p:ext uri="{BB962C8B-B14F-4D97-AF65-F5344CB8AC3E}">
        <p14:creationId xmlns:p14="http://schemas.microsoft.com/office/powerpoint/2010/main" val="2415581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44E71-028B-9B41-BE59-D55AA1092080}"/>
              </a:ext>
            </a:extLst>
          </p:cNvPr>
          <p:cNvSpPr>
            <a:spLocks noGrp="1"/>
          </p:cNvSpPr>
          <p:nvPr>
            <p:ph idx="1"/>
          </p:nvPr>
        </p:nvSpPr>
        <p:spPr/>
        <p:txBody>
          <a:bodyPr/>
          <a:lstStyle/>
          <a:p>
            <a:r>
              <a:rPr lang="nl-NL" dirty="0"/>
              <a:t>Een lege rij/matrix maken:</a:t>
            </a:r>
          </a:p>
        </p:txBody>
      </p:sp>
      <p:sp>
        <p:nvSpPr>
          <p:cNvPr id="4" name="Slide Number Placeholder 3">
            <a:extLst>
              <a:ext uri="{FF2B5EF4-FFF2-40B4-BE49-F238E27FC236}">
                <a16:creationId xmlns:a16="http://schemas.microsoft.com/office/drawing/2014/main" id="{89DC266D-1FEF-AB43-BD0A-38CF147C13E7}"/>
              </a:ext>
            </a:extLst>
          </p:cNvPr>
          <p:cNvSpPr>
            <a:spLocks noGrp="1"/>
          </p:cNvSpPr>
          <p:nvPr>
            <p:ph type="sldNum" sz="quarter" idx="12"/>
          </p:nvPr>
        </p:nvSpPr>
        <p:spPr/>
        <p:txBody>
          <a:bodyPr/>
          <a:lstStyle/>
          <a:p>
            <a:fld id="{D270EDC2-4F5E-5547-954F-5222C286AC2A}" type="slidenum">
              <a:rPr lang="nl-NL" smtClean="0"/>
              <a:t>6</a:t>
            </a:fld>
            <a:endParaRPr lang="nl-NL" dirty="0"/>
          </a:p>
        </p:txBody>
      </p:sp>
      <p:sp>
        <p:nvSpPr>
          <p:cNvPr id="2" name="Title 1">
            <a:extLst>
              <a:ext uri="{FF2B5EF4-FFF2-40B4-BE49-F238E27FC236}">
                <a16:creationId xmlns:a16="http://schemas.microsoft.com/office/drawing/2014/main" id="{1DB6116F-14A7-B144-83E2-017D531A4E64}"/>
              </a:ext>
            </a:extLst>
          </p:cNvPr>
          <p:cNvSpPr>
            <a:spLocks noGrp="1"/>
          </p:cNvSpPr>
          <p:nvPr>
            <p:ph type="title"/>
          </p:nvPr>
        </p:nvSpPr>
        <p:spPr/>
        <p:txBody>
          <a:bodyPr/>
          <a:lstStyle/>
          <a:p>
            <a:r>
              <a:rPr lang="nl-NL" dirty="0"/>
              <a:t>Aanmaken rijen en matrices</a:t>
            </a:r>
          </a:p>
        </p:txBody>
      </p:sp>
      <p:sp>
        <p:nvSpPr>
          <p:cNvPr id="5" name="Rectangle 4">
            <a:extLst>
              <a:ext uri="{FF2B5EF4-FFF2-40B4-BE49-F238E27FC236}">
                <a16:creationId xmlns:a16="http://schemas.microsoft.com/office/drawing/2014/main" id="{6D1D1EDD-B20A-CD49-AB04-9FD858059316}"/>
              </a:ext>
            </a:extLst>
          </p:cNvPr>
          <p:cNvSpPr/>
          <p:nvPr/>
        </p:nvSpPr>
        <p:spPr>
          <a:xfrm>
            <a:off x="3003331" y="2482027"/>
            <a:ext cx="3618186" cy="2893100"/>
          </a:xfrm>
          <a:prstGeom prst="rect">
            <a:avLst/>
          </a:prstGeom>
          <a:ln>
            <a:solidFill>
              <a:schemeClr val="tx1"/>
            </a:solidFill>
          </a:ln>
        </p:spPr>
        <p:txBody>
          <a:bodyPr wrap="square">
            <a:spAutoFit/>
          </a:bodyPr>
          <a:lstStyle/>
          <a:p>
            <a:r>
              <a:rPr lang="nl-NL" sz="1400" dirty="0">
                <a:solidFill>
                  <a:srgbClr val="CC7832"/>
                </a:solidFill>
              </a:rPr>
              <a:t>import </a:t>
            </a:r>
            <a:r>
              <a:rPr lang="nl-NL" sz="1400" dirty="0" err="1"/>
              <a:t>numpy</a:t>
            </a:r>
            <a:r>
              <a:rPr lang="nl-NL" sz="1400" dirty="0"/>
              <a:t> </a:t>
            </a:r>
            <a:r>
              <a:rPr lang="nl-NL" sz="1400" dirty="0">
                <a:solidFill>
                  <a:srgbClr val="CC7832"/>
                </a:solidFill>
              </a:rPr>
              <a:t>as </a:t>
            </a:r>
            <a:r>
              <a:rPr lang="nl-NL" sz="1400" dirty="0" err="1"/>
              <a:t>np</a:t>
            </a:r>
            <a:br>
              <a:rPr lang="nl-NL" sz="1400" dirty="0"/>
            </a:br>
            <a:br>
              <a:rPr lang="nl-NL" sz="1400" dirty="0"/>
            </a:br>
            <a:r>
              <a:rPr lang="nl-NL" sz="1400" dirty="0" err="1"/>
              <a:t>lege_rij</a:t>
            </a:r>
            <a:r>
              <a:rPr lang="nl-NL" sz="1400" dirty="0"/>
              <a:t> = </a:t>
            </a:r>
            <a:r>
              <a:rPr lang="nl-NL" sz="1400" dirty="0" err="1"/>
              <a:t>np.zeros</a:t>
            </a:r>
            <a:r>
              <a:rPr lang="nl-NL" sz="1400" dirty="0"/>
              <a:t>(</a:t>
            </a:r>
            <a:r>
              <a:rPr lang="nl-NL" sz="1400" dirty="0">
                <a:solidFill>
                  <a:srgbClr val="6897BB"/>
                </a:solidFill>
              </a:rPr>
              <a:t>5</a:t>
            </a:r>
            <a:r>
              <a:rPr lang="nl-NL" sz="1400" dirty="0"/>
              <a:t>)</a:t>
            </a:r>
            <a:br>
              <a:rPr lang="nl-NL" sz="1400" dirty="0"/>
            </a:br>
            <a:r>
              <a:rPr lang="nl-NL" sz="1400" dirty="0" err="1"/>
              <a:t>lege_matrix</a:t>
            </a:r>
            <a:r>
              <a:rPr lang="nl-NL" sz="1400" dirty="0"/>
              <a:t> = </a:t>
            </a:r>
            <a:r>
              <a:rPr lang="nl-NL" sz="1400" dirty="0" err="1"/>
              <a:t>np.zeros</a:t>
            </a:r>
            <a:r>
              <a:rPr lang="nl-NL" sz="1400" dirty="0"/>
              <a:t>((</a:t>
            </a:r>
            <a:r>
              <a:rPr lang="nl-NL" sz="1400" dirty="0">
                <a:solidFill>
                  <a:srgbClr val="6897BB"/>
                </a:solidFill>
              </a:rPr>
              <a:t>5</a:t>
            </a:r>
            <a:r>
              <a:rPr lang="nl-NL" sz="1400" dirty="0">
                <a:solidFill>
                  <a:srgbClr val="CC7832"/>
                </a:solidFill>
              </a:rPr>
              <a:t>, </a:t>
            </a:r>
            <a:r>
              <a:rPr lang="nl-NL" sz="1400" dirty="0">
                <a:solidFill>
                  <a:srgbClr val="6897BB"/>
                </a:solidFill>
              </a:rPr>
              <a:t>2</a:t>
            </a:r>
            <a:r>
              <a:rPr lang="nl-NL" sz="1400" dirty="0"/>
              <a:t>))</a:t>
            </a:r>
            <a:br>
              <a:rPr lang="nl-NL" sz="1400" dirty="0"/>
            </a:br>
            <a:br>
              <a:rPr lang="nl-NL" sz="1400" dirty="0"/>
            </a:br>
            <a:r>
              <a:rPr lang="nl-NL" sz="1400" dirty="0">
                <a:solidFill>
                  <a:srgbClr val="8888C6"/>
                </a:solidFill>
              </a:rPr>
              <a:t>print</a:t>
            </a:r>
            <a:r>
              <a:rPr lang="nl-NL" sz="1400" dirty="0"/>
              <a:t>(</a:t>
            </a:r>
            <a:r>
              <a:rPr lang="nl-NL" sz="1400" dirty="0">
                <a:solidFill>
                  <a:srgbClr val="6A8759"/>
                </a:solidFill>
              </a:rPr>
              <a:t>'Lege rij:'</a:t>
            </a:r>
            <a:r>
              <a:rPr lang="nl-NL" sz="1400" dirty="0">
                <a:solidFill>
                  <a:srgbClr val="CC7832"/>
                </a:solidFill>
              </a:rPr>
              <a:t>, </a:t>
            </a:r>
            <a:r>
              <a:rPr lang="nl-NL" sz="1400" dirty="0" err="1"/>
              <a:t>lege_rij</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'Lege matrix:'</a:t>
            </a:r>
            <a:r>
              <a:rPr lang="nl-NL" sz="1400" dirty="0">
                <a:solidFill>
                  <a:srgbClr val="CC7832"/>
                </a:solidFill>
              </a:rPr>
              <a:t>, </a:t>
            </a:r>
            <a:r>
              <a:rPr lang="nl-NL" sz="1400" dirty="0" err="1"/>
              <a:t>lege_matrix</a:t>
            </a:r>
            <a:r>
              <a:rPr lang="nl-NL" sz="1400" dirty="0"/>
              <a:t>)</a:t>
            </a:r>
            <a:br>
              <a:rPr lang="nl-NL" sz="1400" dirty="0"/>
            </a:br>
            <a:br>
              <a:rPr lang="nl-NL" sz="1400" dirty="0"/>
            </a:br>
            <a:r>
              <a:rPr lang="nl-NL" sz="1400" dirty="0" err="1"/>
              <a:t>lege_rij</a:t>
            </a:r>
            <a:r>
              <a:rPr lang="nl-NL" sz="1400" dirty="0"/>
              <a:t>[</a:t>
            </a:r>
            <a:r>
              <a:rPr lang="nl-NL" sz="1400" dirty="0">
                <a:solidFill>
                  <a:srgbClr val="6897BB"/>
                </a:solidFill>
              </a:rPr>
              <a:t>2</a:t>
            </a:r>
            <a:r>
              <a:rPr lang="nl-NL" sz="1400" dirty="0"/>
              <a:t>] = </a:t>
            </a:r>
            <a:r>
              <a:rPr lang="nl-NL" sz="1400" dirty="0">
                <a:solidFill>
                  <a:srgbClr val="6897BB"/>
                </a:solidFill>
              </a:rPr>
              <a:t>4</a:t>
            </a:r>
            <a:br>
              <a:rPr lang="nl-NL" sz="1400" dirty="0">
                <a:solidFill>
                  <a:srgbClr val="6897BB"/>
                </a:solidFill>
              </a:rPr>
            </a:br>
            <a:r>
              <a:rPr lang="nl-NL" sz="1400" dirty="0" err="1"/>
              <a:t>lege_matrix</a:t>
            </a:r>
            <a:r>
              <a:rPr lang="nl-NL" sz="1400" dirty="0"/>
              <a:t>[</a:t>
            </a:r>
            <a:r>
              <a:rPr lang="nl-NL" sz="1400" dirty="0">
                <a:solidFill>
                  <a:srgbClr val="6897BB"/>
                </a:solidFill>
              </a:rPr>
              <a:t>3</a:t>
            </a:r>
            <a:r>
              <a:rPr lang="nl-NL" sz="1400" dirty="0">
                <a:solidFill>
                  <a:srgbClr val="CC7832"/>
                </a:solidFill>
              </a:rPr>
              <a:t>, </a:t>
            </a:r>
            <a:r>
              <a:rPr lang="nl-NL" sz="1400" dirty="0">
                <a:solidFill>
                  <a:srgbClr val="6897BB"/>
                </a:solidFill>
              </a:rPr>
              <a:t>1</a:t>
            </a:r>
            <a:r>
              <a:rPr lang="nl-NL" sz="1400" dirty="0"/>
              <a:t>] = </a:t>
            </a:r>
            <a:r>
              <a:rPr lang="nl-NL" sz="1400" dirty="0">
                <a:solidFill>
                  <a:srgbClr val="6897BB"/>
                </a:solidFill>
              </a:rPr>
              <a:t>4</a:t>
            </a:r>
            <a:br>
              <a:rPr lang="nl-NL" sz="1400" dirty="0">
                <a:solidFill>
                  <a:srgbClr val="6897BB"/>
                </a:solidFill>
              </a:rPr>
            </a:br>
            <a:br>
              <a:rPr lang="nl-NL" sz="1400" dirty="0">
                <a:solidFill>
                  <a:srgbClr val="6897BB"/>
                </a:solidFill>
              </a:rPr>
            </a:br>
            <a:r>
              <a:rPr lang="nl-NL" sz="1400" dirty="0">
                <a:solidFill>
                  <a:srgbClr val="8888C6"/>
                </a:solidFill>
              </a:rPr>
              <a:t>print</a:t>
            </a:r>
            <a:r>
              <a:rPr lang="nl-NL" sz="1400" dirty="0"/>
              <a:t>(</a:t>
            </a:r>
            <a:r>
              <a:rPr lang="nl-NL" sz="1400" dirty="0">
                <a:solidFill>
                  <a:srgbClr val="6A8759"/>
                </a:solidFill>
              </a:rPr>
              <a:t>'</a:t>
            </a:r>
            <a:r>
              <a:rPr lang="nl-NL" sz="1400" dirty="0" err="1">
                <a:solidFill>
                  <a:srgbClr val="6A8759"/>
                </a:solidFill>
              </a:rPr>
              <a:t>lege_rij</a:t>
            </a:r>
            <a:r>
              <a:rPr lang="nl-NL" sz="1400" dirty="0">
                <a:solidFill>
                  <a:srgbClr val="6A8759"/>
                </a:solidFill>
              </a:rPr>
              <a:t> nu:'</a:t>
            </a:r>
            <a:r>
              <a:rPr lang="nl-NL" sz="1400" dirty="0">
                <a:solidFill>
                  <a:srgbClr val="CC7832"/>
                </a:solidFill>
              </a:rPr>
              <a:t>, </a:t>
            </a:r>
            <a:r>
              <a:rPr lang="nl-NL" sz="1400" dirty="0" err="1"/>
              <a:t>lege_rij</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a:t>
            </a:r>
            <a:r>
              <a:rPr lang="nl-NL" sz="1400" dirty="0" err="1">
                <a:solidFill>
                  <a:srgbClr val="6A8759"/>
                </a:solidFill>
              </a:rPr>
              <a:t>lege_matrix</a:t>
            </a:r>
            <a:r>
              <a:rPr lang="nl-NL" sz="1400" dirty="0">
                <a:solidFill>
                  <a:srgbClr val="6A8759"/>
                </a:solidFill>
              </a:rPr>
              <a:t> nu:'</a:t>
            </a:r>
            <a:r>
              <a:rPr lang="nl-NL" sz="1400" dirty="0">
                <a:solidFill>
                  <a:srgbClr val="CC7832"/>
                </a:solidFill>
              </a:rPr>
              <a:t>, </a:t>
            </a:r>
            <a:r>
              <a:rPr lang="nl-NL" sz="1400" dirty="0" err="1"/>
              <a:t>lege_matrix</a:t>
            </a:r>
            <a:r>
              <a:rPr lang="nl-NL" sz="1400" dirty="0"/>
              <a:t>)</a:t>
            </a:r>
          </a:p>
        </p:txBody>
      </p:sp>
      <p:sp>
        <p:nvSpPr>
          <p:cNvPr id="6" name="Rectangle 5">
            <a:extLst>
              <a:ext uri="{FF2B5EF4-FFF2-40B4-BE49-F238E27FC236}">
                <a16:creationId xmlns:a16="http://schemas.microsoft.com/office/drawing/2014/main" id="{836EC20F-8316-6649-81BD-28FF3CF03403}"/>
              </a:ext>
            </a:extLst>
          </p:cNvPr>
          <p:cNvSpPr/>
          <p:nvPr/>
        </p:nvSpPr>
        <p:spPr>
          <a:xfrm>
            <a:off x="7296806" y="2462704"/>
            <a:ext cx="2627587" cy="3754874"/>
          </a:xfrm>
          <a:prstGeom prst="rect">
            <a:avLst/>
          </a:prstGeom>
          <a:ln>
            <a:solidFill>
              <a:schemeClr val="tx1"/>
            </a:solidFill>
          </a:ln>
        </p:spPr>
        <p:txBody>
          <a:bodyPr wrap="square">
            <a:spAutoFit/>
          </a:bodyPr>
          <a:lstStyle/>
          <a:p>
            <a:endParaRPr lang="nl-NL" sz="1400" dirty="0"/>
          </a:p>
          <a:p>
            <a:endParaRPr lang="nl-NL" sz="1400" dirty="0"/>
          </a:p>
          <a:p>
            <a:endParaRPr lang="nl-NL" sz="1400" dirty="0"/>
          </a:p>
          <a:p>
            <a:endParaRPr lang="nl-NL" sz="1400" dirty="0"/>
          </a:p>
          <a:p>
            <a:endParaRPr lang="nl-NL" sz="1400" dirty="0"/>
          </a:p>
          <a:p>
            <a:r>
              <a:rPr lang="nl-NL" sz="1400" dirty="0"/>
              <a:t>Lege rij: [0. 0. 0. 0. 0.]</a:t>
            </a:r>
          </a:p>
          <a:p>
            <a:r>
              <a:rPr lang="nl-NL" sz="1400" dirty="0"/>
              <a:t>Lege matrix: [[0. 0.]</a:t>
            </a:r>
          </a:p>
          <a:p>
            <a:r>
              <a:rPr lang="nl-NL" sz="1400" dirty="0"/>
              <a:t> [0. 0.]</a:t>
            </a:r>
          </a:p>
          <a:p>
            <a:r>
              <a:rPr lang="nl-NL" sz="1400" dirty="0"/>
              <a:t> [0. 0.]</a:t>
            </a:r>
          </a:p>
          <a:p>
            <a:r>
              <a:rPr lang="nl-NL" sz="1400" dirty="0"/>
              <a:t> [0. 0.]</a:t>
            </a:r>
          </a:p>
          <a:p>
            <a:r>
              <a:rPr lang="nl-NL" sz="1400" dirty="0"/>
              <a:t> [0. 0.]]</a:t>
            </a:r>
          </a:p>
          <a:p>
            <a:r>
              <a:rPr lang="nl-NL" sz="1400" dirty="0" err="1"/>
              <a:t>lege_rij</a:t>
            </a:r>
            <a:r>
              <a:rPr lang="nl-NL" sz="1400" dirty="0"/>
              <a:t> nu: [0. 0. </a:t>
            </a:r>
            <a:r>
              <a:rPr lang="nl-NL" sz="1400" dirty="0">
                <a:solidFill>
                  <a:srgbClr val="FF0000"/>
                </a:solidFill>
              </a:rPr>
              <a:t>4</a:t>
            </a:r>
            <a:r>
              <a:rPr lang="nl-NL" sz="1400" dirty="0"/>
              <a:t>. 0. 0.]</a:t>
            </a:r>
          </a:p>
          <a:p>
            <a:r>
              <a:rPr lang="nl-NL" sz="1400" dirty="0" err="1"/>
              <a:t>lege_matrix</a:t>
            </a:r>
            <a:r>
              <a:rPr lang="nl-NL" sz="1400" dirty="0"/>
              <a:t> nu: [[0. 0.]</a:t>
            </a:r>
          </a:p>
          <a:p>
            <a:r>
              <a:rPr lang="nl-NL" sz="1400" dirty="0"/>
              <a:t> [0. 0.]</a:t>
            </a:r>
          </a:p>
          <a:p>
            <a:r>
              <a:rPr lang="nl-NL" sz="1400" dirty="0"/>
              <a:t> [0. 0.]</a:t>
            </a:r>
          </a:p>
          <a:p>
            <a:r>
              <a:rPr lang="nl-NL" sz="1400" dirty="0"/>
              <a:t> [0. </a:t>
            </a:r>
            <a:r>
              <a:rPr lang="nl-NL" sz="1400" dirty="0">
                <a:solidFill>
                  <a:srgbClr val="FF0000"/>
                </a:solidFill>
              </a:rPr>
              <a:t>4.</a:t>
            </a:r>
            <a:r>
              <a:rPr lang="nl-NL" sz="1400" dirty="0"/>
              <a:t>]</a:t>
            </a:r>
          </a:p>
          <a:p>
            <a:r>
              <a:rPr lang="nl-NL" sz="1400" dirty="0"/>
              <a:t> [0. 0.]]</a:t>
            </a:r>
          </a:p>
        </p:txBody>
      </p:sp>
      <p:sp>
        <p:nvSpPr>
          <p:cNvPr id="7" name="TextBox 6">
            <a:extLst>
              <a:ext uri="{FF2B5EF4-FFF2-40B4-BE49-F238E27FC236}">
                <a16:creationId xmlns:a16="http://schemas.microsoft.com/office/drawing/2014/main" id="{A1754D30-F8AB-A644-B29B-0346A3A3C433}"/>
              </a:ext>
            </a:extLst>
          </p:cNvPr>
          <p:cNvSpPr txBox="1"/>
          <p:nvPr/>
        </p:nvSpPr>
        <p:spPr>
          <a:xfrm>
            <a:off x="7296806" y="2093372"/>
            <a:ext cx="941283" cy="369332"/>
          </a:xfrm>
          <a:prstGeom prst="rect">
            <a:avLst/>
          </a:prstGeom>
          <a:noFill/>
        </p:spPr>
        <p:txBody>
          <a:bodyPr wrap="none" rtlCol="0">
            <a:spAutoFit/>
          </a:bodyPr>
          <a:lstStyle/>
          <a:p>
            <a:r>
              <a:rPr lang="nl-NL" dirty="0"/>
              <a:t>Output:</a:t>
            </a:r>
          </a:p>
        </p:txBody>
      </p:sp>
      <p:sp>
        <p:nvSpPr>
          <p:cNvPr id="8" name="TextBox 7">
            <a:extLst>
              <a:ext uri="{FF2B5EF4-FFF2-40B4-BE49-F238E27FC236}">
                <a16:creationId xmlns:a16="http://schemas.microsoft.com/office/drawing/2014/main" id="{36644759-203B-D243-8BAF-9E7032B190B7}"/>
              </a:ext>
            </a:extLst>
          </p:cNvPr>
          <p:cNvSpPr txBox="1"/>
          <p:nvPr/>
        </p:nvSpPr>
        <p:spPr>
          <a:xfrm>
            <a:off x="2267607" y="2482027"/>
            <a:ext cx="800219" cy="369332"/>
          </a:xfrm>
          <a:prstGeom prst="rect">
            <a:avLst/>
          </a:prstGeom>
          <a:noFill/>
        </p:spPr>
        <p:txBody>
          <a:bodyPr wrap="none" rtlCol="0">
            <a:spAutoFit/>
          </a:bodyPr>
          <a:lstStyle/>
          <a:p>
            <a:r>
              <a:rPr lang="nl-NL" dirty="0"/>
              <a:t>Code:</a:t>
            </a:r>
          </a:p>
        </p:txBody>
      </p:sp>
      <p:cxnSp>
        <p:nvCxnSpPr>
          <p:cNvPr id="9" name="Straight Arrow Connector 8">
            <a:extLst>
              <a:ext uri="{FF2B5EF4-FFF2-40B4-BE49-F238E27FC236}">
                <a16:creationId xmlns:a16="http://schemas.microsoft.com/office/drawing/2014/main" id="{208EBD69-43CA-C74A-B7F1-5CA70856531C}"/>
              </a:ext>
            </a:extLst>
          </p:cNvPr>
          <p:cNvCxnSpPr>
            <a:cxnSpLocks/>
          </p:cNvCxnSpPr>
          <p:nvPr/>
        </p:nvCxnSpPr>
        <p:spPr>
          <a:xfrm flipH="1">
            <a:off x="2599959" y="4680065"/>
            <a:ext cx="1406776" cy="2660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5C9C4BF-BFA7-8543-BC58-672F3264D62A}"/>
              </a:ext>
            </a:extLst>
          </p:cNvPr>
          <p:cNvSpPr txBox="1"/>
          <p:nvPr/>
        </p:nvSpPr>
        <p:spPr>
          <a:xfrm>
            <a:off x="405653" y="4719861"/>
            <a:ext cx="2540094" cy="954107"/>
          </a:xfrm>
          <a:prstGeom prst="rect">
            <a:avLst/>
          </a:prstGeom>
          <a:noFill/>
        </p:spPr>
        <p:txBody>
          <a:bodyPr wrap="square" rtlCol="0">
            <a:spAutoFit/>
          </a:bodyPr>
          <a:lstStyle/>
          <a:p>
            <a:r>
              <a:rPr lang="nl-NL" sz="1400" dirty="0"/>
              <a:t>Merk op dat we vroeger lijsten in lijsten hadden en </a:t>
            </a:r>
            <a:r>
              <a:rPr lang="nl-NL" sz="1400" dirty="0" err="1">
                <a:latin typeface="Courier New" panose="02070309020205020404" pitchFamily="49" charset="0"/>
                <a:cs typeface="Courier New" panose="02070309020205020404" pitchFamily="49" charset="0"/>
              </a:rPr>
              <a:t>lege_matrix</a:t>
            </a:r>
            <a:r>
              <a:rPr lang="nl-NL" sz="1400" dirty="0">
                <a:latin typeface="Courier New" panose="02070309020205020404" pitchFamily="49" charset="0"/>
                <a:cs typeface="Courier New" panose="02070309020205020404" pitchFamily="49" charset="0"/>
              </a:rPr>
              <a:t>[3][1] </a:t>
            </a:r>
            <a:r>
              <a:rPr lang="nl-NL" sz="1400" dirty="0"/>
              <a:t>zouden gebruikt hebben</a:t>
            </a:r>
          </a:p>
        </p:txBody>
      </p:sp>
      <p:cxnSp>
        <p:nvCxnSpPr>
          <p:cNvPr id="10" name="Straight Arrow Connector 9">
            <a:extLst>
              <a:ext uri="{FF2B5EF4-FFF2-40B4-BE49-F238E27FC236}">
                <a16:creationId xmlns:a16="http://schemas.microsoft.com/office/drawing/2014/main" id="{94A17484-F16F-CAE4-6E7C-CF819C686368}"/>
              </a:ext>
            </a:extLst>
          </p:cNvPr>
          <p:cNvCxnSpPr>
            <a:cxnSpLocks/>
          </p:cNvCxnSpPr>
          <p:nvPr/>
        </p:nvCxnSpPr>
        <p:spPr>
          <a:xfrm flipV="1">
            <a:off x="5245160" y="1972605"/>
            <a:ext cx="685800" cy="119089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4FA4AB0-38F1-76DD-0C52-AAE9EE83C5DE}"/>
              </a:ext>
            </a:extLst>
          </p:cNvPr>
          <p:cNvSpPr txBox="1"/>
          <p:nvPr/>
        </p:nvSpPr>
        <p:spPr>
          <a:xfrm>
            <a:off x="5884891" y="1449385"/>
            <a:ext cx="5902656" cy="523220"/>
          </a:xfrm>
          <a:prstGeom prst="rect">
            <a:avLst/>
          </a:prstGeom>
          <a:noFill/>
        </p:spPr>
        <p:txBody>
          <a:bodyPr wrap="square" rtlCol="0">
            <a:spAutoFit/>
          </a:bodyPr>
          <a:lstStyle/>
          <a:p>
            <a:r>
              <a:rPr lang="nl-NL" sz="1400" dirty="0"/>
              <a:t>Matrix met 2 dimensies, rij- en kolom-dimensie (hier 5 rijen, 2 kolommen)</a:t>
            </a:r>
          </a:p>
          <a:p>
            <a:r>
              <a:rPr lang="nl-NL" sz="1400" dirty="0"/>
              <a:t>-&gt; dit is de </a:t>
            </a:r>
            <a:r>
              <a:rPr lang="nl-NL" sz="1400" dirty="0" err="1">
                <a:latin typeface="Courier New" panose="02070309020205020404" pitchFamily="49" charset="0"/>
                <a:cs typeface="Courier New" panose="02070309020205020404" pitchFamily="49" charset="0"/>
              </a:rPr>
              <a:t>shape</a:t>
            </a:r>
            <a:r>
              <a:rPr lang="nl-NL" sz="1400" dirty="0"/>
              <a:t> van de matrix (een attribuut van de klasse </a:t>
            </a:r>
            <a:r>
              <a:rPr lang="nl-NL" sz="1400" dirty="0" err="1">
                <a:latin typeface="Courier New" panose="02070309020205020404" pitchFamily="49" charset="0"/>
                <a:cs typeface="Courier New" panose="02070309020205020404" pitchFamily="49" charset="0"/>
              </a:rPr>
              <a:t>ndarray</a:t>
            </a:r>
            <a:r>
              <a:rPr lang="nl-NL" sz="1400" dirty="0"/>
              <a:t>)</a:t>
            </a:r>
          </a:p>
        </p:txBody>
      </p:sp>
    </p:spTree>
    <p:extLst>
      <p:ext uri="{BB962C8B-B14F-4D97-AF65-F5344CB8AC3E}">
        <p14:creationId xmlns:p14="http://schemas.microsoft.com/office/powerpoint/2010/main" val="92903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A3D86-CA5A-1149-B0E9-CD551904C939}"/>
              </a:ext>
            </a:extLst>
          </p:cNvPr>
          <p:cNvSpPr>
            <a:spLocks noGrp="1"/>
          </p:cNvSpPr>
          <p:nvPr>
            <p:ph idx="1"/>
          </p:nvPr>
        </p:nvSpPr>
        <p:spPr/>
        <p:txBody>
          <a:bodyPr/>
          <a:lstStyle/>
          <a:p>
            <a:r>
              <a:rPr lang="nl-NL" dirty="0"/>
              <a:t>Ofwel via lijsten (van lijsten)</a:t>
            </a:r>
          </a:p>
        </p:txBody>
      </p:sp>
      <p:sp>
        <p:nvSpPr>
          <p:cNvPr id="4" name="Slide Number Placeholder 3">
            <a:extLst>
              <a:ext uri="{FF2B5EF4-FFF2-40B4-BE49-F238E27FC236}">
                <a16:creationId xmlns:a16="http://schemas.microsoft.com/office/drawing/2014/main" id="{208B5AD8-831A-224E-93C1-33B50A79C8AD}"/>
              </a:ext>
            </a:extLst>
          </p:cNvPr>
          <p:cNvSpPr>
            <a:spLocks noGrp="1"/>
          </p:cNvSpPr>
          <p:nvPr>
            <p:ph type="sldNum" sz="quarter" idx="12"/>
          </p:nvPr>
        </p:nvSpPr>
        <p:spPr/>
        <p:txBody>
          <a:bodyPr/>
          <a:lstStyle/>
          <a:p>
            <a:fld id="{D270EDC2-4F5E-5547-954F-5222C286AC2A}" type="slidenum">
              <a:rPr lang="nl-NL" smtClean="0"/>
              <a:t>7</a:t>
            </a:fld>
            <a:endParaRPr lang="nl-NL" dirty="0"/>
          </a:p>
        </p:txBody>
      </p:sp>
      <p:sp>
        <p:nvSpPr>
          <p:cNvPr id="2" name="Title 1">
            <a:extLst>
              <a:ext uri="{FF2B5EF4-FFF2-40B4-BE49-F238E27FC236}">
                <a16:creationId xmlns:a16="http://schemas.microsoft.com/office/drawing/2014/main" id="{794DFE48-B00B-4C49-B252-908F7535DCB6}"/>
              </a:ext>
            </a:extLst>
          </p:cNvPr>
          <p:cNvSpPr>
            <a:spLocks noGrp="1"/>
          </p:cNvSpPr>
          <p:nvPr>
            <p:ph type="title"/>
          </p:nvPr>
        </p:nvSpPr>
        <p:spPr/>
        <p:txBody>
          <a:bodyPr/>
          <a:lstStyle/>
          <a:p>
            <a:r>
              <a:rPr lang="nl-NL" dirty="0"/>
              <a:t>Aanmaken matrices (</a:t>
            </a:r>
            <a:r>
              <a:rPr lang="nl-NL" dirty="0" err="1"/>
              <a:t>cont</a:t>
            </a:r>
            <a:r>
              <a:rPr lang="nl-NL" dirty="0"/>
              <a:t>.)</a:t>
            </a:r>
          </a:p>
        </p:txBody>
      </p:sp>
      <p:sp>
        <p:nvSpPr>
          <p:cNvPr id="5" name="Rectangle 4">
            <a:extLst>
              <a:ext uri="{FF2B5EF4-FFF2-40B4-BE49-F238E27FC236}">
                <a16:creationId xmlns:a16="http://schemas.microsoft.com/office/drawing/2014/main" id="{3A92A5C0-0C1B-5C42-87A9-85645807FE5A}"/>
              </a:ext>
            </a:extLst>
          </p:cNvPr>
          <p:cNvSpPr/>
          <p:nvPr/>
        </p:nvSpPr>
        <p:spPr>
          <a:xfrm>
            <a:off x="834887" y="3032157"/>
            <a:ext cx="5261113" cy="2462213"/>
          </a:xfrm>
          <a:prstGeom prst="rect">
            <a:avLst/>
          </a:prstGeom>
          <a:ln>
            <a:solidFill>
              <a:schemeClr val="tx1"/>
            </a:solidFill>
          </a:ln>
        </p:spPr>
        <p:txBody>
          <a:bodyPr wrap="square">
            <a:spAutoFit/>
          </a:bodyPr>
          <a:lstStyle/>
          <a:p>
            <a:r>
              <a:rPr lang="nl-NL" sz="1400" dirty="0"/>
              <a:t>mat = </a:t>
            </a:r>
            <a:r>
              <a:rPr lang="nl-NL" sz="1400" dirty="0" err="1"/>
              <a:t>np.array</a:t>
            </a:r>
            <a:r>
              <a:rPr lang="nl-NL" sz="1400" dirty="0"/>
              <a:t>([</a:t>
            </a:r>
            <a:br>
              <a:rPr lang="nl-NL" sz="1400" dirty="0"/>
            </a:br>
            <a:r>
              <a:rPr lang="nl-NL" sz="1400" dirty="0"/>
              <a:t>    [</a:t>
            </a:r>
            <a:r>
              <a:rPr lang="nl-NL" sz="1400" dirty="0">
                <a:solidFill>
                  <a:srgbClr val="6897BB"/>
                </a:solidFill>
              </a:rPr>
              <a:t>1</a:t>
            </a:r>
            <a:r>
              <a:rPr lang="nl-NL" sz="1400" dirty="0">
                <a:solidFill>
                  <a:srgbClr val="CC7832"/>
                </a:solidFill>
              </a:rPr>
              <a:t>, </a:t>
            </a:r>
            <a:r>
              <a:rPr lang="nl-NL" sz="1400" dirty="0">
                <a:solidFill>
                  <a:srgbClr val="6897BB"/>
                </a:solidFill>
              </a:rPr>
              <a:t>3</a:t>
            </a:r>
            <a:r>
              <a:rPr lang="nl-NL" sz="1400" dirty="0">
                <a:solidFill>
                  <a:srgbClr val="CC7832"/>
                </a:solidFill>
              </a:rPr>
              <a:t>, </a:t>
            </a:r>
            <a:r>
              <a:rPr lang="nl-NL" sz="1400" dirty="0">
                <a:solidFill>
                  <a:srgbClr val="6897BB"/>
                </a:solidFill>
              </a:rPr>
              <a:t>3</a:t>
            </a:r>
            <a:r>
              <a:rPr lang="nl-NL" sz="1400" dirty="0"/>
              <a:t>]</a:t>
            </a:r>
            <a:r>
              <a:rPr lang="nl-NL" sz="1400" dirty="0">
                <a:solidFill>
                  <a:srgbClr val="CC7832"/>
                </a:solidFill>
              </a:rPr>
              <a:t>,</a:t>
            </a:r>
            <a:br>
              <a:rPr lang="nl-NL" sz="1400" dirty="0">
                <a:solidFill>
                  <a:srgbClr val="CC7832"/>
                </a:solidFill>
              </a:rPr>
            </a:br>
            <a:r>
              <a:rPr lang="nl-NL" sz="1400" dirty="0">
                <a:solidFill>
                  <a:srgbClr val="CC7832"/>
                </a:solidFill>
              </a:rPr>
              <a:t>    </a:t>
            </a:r>
            <a:r>
              <a:rPr lang="nl-NL" sz="1400" dirty="0"/>
              <a:t>[</a:t>
            </a:r>
            <a:r>
              <a:rPr lang="nl-NL" sz="1400" dirty="0">
                <a:solidFill>
                  <a:srgbClr val="6897BB"/>
                </a:solidFill>
              </a:rPr>
              <a:t>4</a:t>
            </a:r>
            <a:r>
              <a:rPr lang="nl-NL" sz="1400" dirty="0">
                <a:solidFill>
                  <a:srgbClr val="CC7832"/>
                </a:solidFill>
              </a:rPr>
              <a:t>, </a:t>
            </a:r>
            <a:r>
              <a:rPr lang="nl-NL" sz="1400" dirty="0">
                <a:solidFill>
                  <a:srgbClr val="6897BB"/>
                </a:solidFill>
              </a:rPr>
              <a:t>5</a:t>
            </a:r>
            <a:r>
              <a:rPr lang="nl-NL" sz="1400" dirty="0">
                <a:solidFill>
                  <a:srgbClr val="CC7832"/>
                </a:solidFill>
              </a:rPr>
              <a:t>, </a:t>
            </a:r>
            <a:r>
              <a:rPr lang="nl-NL" sz="1400" dirty="0">
                <a:solidFill>
                  <a:srgbClr val="6897BB"/>
                </a:solidFill>
              </a:rPr>
              <a:t>6</a:t>
            </a:r>
            <a:r>
              <a:rPr lang="nl-NL" sz="1400" dirty="0"/>
              <a:t>]</a:t>
            </a:r>
            <a:r>
              <a:rPr lang="nl-NL" sz="1400" dirty="0">
                <a:solidFill>
                  <a:srgbClr val="CC7832"/>
                </a:solidFill>
              </a:rPr>
              <a:t>,</a:t>
            </a:r>
            <a:br>
              <a:rPr lang="nl-NL" sz="1400" dirty="0">
                <a:solidFill>
                  <a:srgbClr val="CC7832"/>
                </a:solidFill>
              </a:rPr>
            </a:br>
            <a:r>
              <a:rPr lang="nl-NL" sz="1400" dirty="0">
                <a:solidFill>
                  <a:srgbClr val="CC7832"/>
                </a:solidFill>
              </a:rPr>
              <a:t>    </a:t>
            </a:r>
            <a:r>
              <a:rPr lang="nl-NL" sz="1400" dirty="0"/>
              <a:t>[</a:t>
            </a:r>
            <a:r>
              <a:rPr lang="nl-NL" sz="1400" dirty="0">
                <a:solidFill>
                  <a:srgbClr val="6897BB"/>
                </a:solidFill>
              </a:rPr>
              <a:t>7</a:t>
            </a:r>
            <a:r>
              <a:rPr lang="nl-NL" sz="1400" dirty="0">
                <a:solidFill>
                  <a:srgbClr val="CC7832"/>
                </a:solidFill>
              </a:rPr>
              <a:t>, </a:t>
            </a:r>
            <a:r>
              <a:rPr lang="nl-NL" sz="1400" dirty="0">
                <a:solidFill>
                  <a:srgbClr val="6897BB"/>
                </a:solidFill>
              </a:rPr>
              <a:t>8</a:t>
            </a:r>
            <a:r>
              <a:rPr lang="nl-NL" sz="1400" dirty="0">
                <a:solidFill>
                  <a:srgbClr val="CC7832"/>
                </a:solidFill>
              </a:rPr>
              <a:t>, </a:t>
            </a:r>
            <a:r>
              <a:rPr lang="nl-NL" sz="1400" dirty="0">
                <a:solidFill>
                  <a:srgbClr val="6897BB"/>
                </a:solidFill>
              </a:rPr>
              <a:t>9</a:t>
            </a:r>
            <a:r>
              <a:rPr lang="nl-NL" sz="1400" dirty="0"/>
              <a:t>]])</a:t>
            </a:r>
            <a:br>
              <a:rPr lang="nl-NL" sz="1400" dirty="0"/>
            </a:br>
            <a:br>
              <a:rPr lang="nl-NL" sz="1400" dirty="0"/>
            </a:br>
            <a:r>
              <a:rPr lang="nl-NL" sz="1400" dirty="0">
                <a:solidFill>
                  <a:srgbClr val="8888C6"/>
                </a:solidFill>
              </a:rPr>
              <a:t>print</a:t>
            </a:r>
            <a:r>
              <a:rPr lang="nl-NL" sz="1400" dirty="0"/>
              <a:t>(</a:t>
            </a:r>
            <a:r>
              <a:rPr lang="nl-NL" sz="1400" dirty="0">
                <a:solidFill>
                  <a:srgbClr val="6A8759"/>
                </a:solidFill>
              </a:rPr>
              <a:t>'Matrix:'</a:t>
            </a:r>
            <a:r>
              <a:rPr lang="nl-NL" sz="1400" dirty="0">
                <a:solidFill>
                  <a:srgbClr val="CC7832"/>
                </a:solidFill>
              </a:rPr>
              <a:t>, </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a:t>
            </a:r>
            <a:r>
              <a:rPr lang="nl-NL" sz="1400" dirty="0" err="1">
                <a:solidFill>
                  <a:srgbClr val="6A8759"/>
                </a:solidFill>
              </a:rPr>
              <a:t>Cell</a:t>
            </a:r>
            <a:r>
              <a:rPr lang="nl-NL" sz="1400" dirty="0">
                <a:solidFill>
                  <a:srgbClr val="6A8759"/>
                </a:solidFill>
              </a:rPr>
              <a:t> 2,2:'</a:t>
            </a:r>
            <a:r>
              <a:rPr lang="nl-NL" sz="1400" dirty="0">
                <a:solidFill>
                  <a:srgbClr val="CC7832"/>
                </a:solidFill>
              </a:rPr>
              <a:t>, </a:t>
            </a:r>
            <a:r>
              <a:rPr lang="nl-NL" sz="1400" dirty="0"/>
              <a:t>mat[</a:t>
            </a:r>
            <a:r>
              <a:rPr lang="nl-NL" sz="1400" dirty="0">
                <a:solidFill>
                  <a:srgbClr val="6897BB"/>
                </a:solidFill>
              </a:rPr>
              <a:t>1</a:t>
            </a:r>
            <a:r>
              <a:rPr lang="nl-NL" sz="1400" dirty="0">
                <a:solidFill>
                  <a:srgbClr val="CC7832"/>
                </a:solidFill>
              </a:rPr>
              <a:t>, </a:t>
            </a:r>
            <a:r>
              <a:rPr lang="nl-NL" sz="1400" dirty="0">
                <a:solidFill>
                  <a:srgbClr val="6897BB"/>
                </a:solidFill>
              </a:rPr>
              <a:t>1</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a:t>
            </a:r>
            <a:r>
              <a:rPr lang="nl-NL" sz="1400" dirty="0" err="1">
                <a:solidFill>
                  <a:srgbClr val="6A8759"/>
                </a:solidFill>
              </a:rPr>
              <a:t>Cell</a:t>
            </a:r>
            <a:r>
              <a:rPr lang="nl-NL" sz="1400" dirty="0">
                <a:solidFill>
                  <a:srgbClr val="6A8759"/>
                </a:solidFill>
              </a:rPr>
              <a:t> 2,3:'</a:t>
            </a:r>
            <a:r>
              <a:rPr lang="nl-NL" sz="1400" dirty="0">
                <a:solidFill>
                  <a:srgbClr val="CC7832"/>
                </a:solidFill>
              </a:rPr>
              <a:t>, </a:t>
            </a:r>
            <a:r>
              <a:rPr lang="nl-NL" sz="1400" dirty="0"/>
              <a:t>mat[</a:t>
            </a:r>
            <a:r>
              <a:rPr lang="nl-NL" sz="1400" dirty="0">
                <a:solidFill>
                  <a:srgbClr val="6897BB"/>
                </a:solidFill>
              </a:rPr>
              <a:t>1</a:t>
            </a:r>
            <a:r>
              <a:rPr lang="nl-NL" sz="1400" dirty="0">
                <a:solidFill>
                  <a:srgbClr val="CC7832"/>
                </a:solidFill>
              </a:rPr>
              <a:t>, </a:t>
            </a:r>
            <a:r>
              <a:rPr lang="nl-NL" sz="1400" dirty="0">
                <a:solidFill>
                  <a:srgbClr val="6897BB"/>
                </a:solidFill>
              </a:rPr>
              <a:t>2</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'Eerste 2 rijen:'</a:t>
            </a:r>
            <a:r>
              <a:rPr lang="nl-NL" sz="1400" dirty="0">
                <a:solidFill>
                  <a:srgbClr val="CC7832"/>
                </a:solidFill>
              </a:rPr>
              <a:t>, </a:t>
            </a:r>
            <a:r>
              <a:rPr lang="nl-NL" sz="1400" dirty="0"/>
              <a:t>mat[</a:t>
            </a:r>
            <a:r>
              <a:rPr lang="nl-NL" sz="1400" dirty="0">
                <a:solidFill>
                  <a:srgbClr val="6897BB"/>
                </a:solidFill>
              </a:rPr>
              <a:t>0</a:t>
            </a:r>
            <a:r>
              <a:rPr lang="nl-NL" sz="1400" dirty="0"/>
              <a:t>:</a:t>
            </a:r>
            <a:r>
              <a:rPr lang="nl-NL" sz="1400" dirty="0">
                <a:solidFill>
                  <a:srgbClr val="6897BB"/>
                </a:solidFill>
              </a:rPr>
              <a:t>2</a:t>
            </a:r>
            <a:r>
              <a:rPr lang="nl-NL" sz="1400" dirty="0"/>
              <a:t>])</a:t>
            </a:r>
            <a:br>
              <a:rPr lang="nl-NL" sz="1400" dirty="0"/>
            </a:br>
            <a:r>
              <a:rPr lang="nl-NL" sz="1400" dirty="0">
                <a:solidFill>
                  <a:srgbClr val="808080"/>
                </a:solidFill>
              </a:rPr>
              <a:t># mat[0:2,] kan ook gebruikt worden voor de eerste 2 rijen</a:t>
            </a:r>
            <a:br>
              <a:rPr lang="nl-NL" sz="1400" dirty="0">
                <a:solidFill>
                  <a:srgbClr val="808080"/>
                </a:solidFill>
              </a:rPr>
            </a:br>
            <a:r>
              <a:rPr lang="nl-NL" sz="1400" dirty="0">
                <a:solidFill>
                  <a:srgbClr val="8888C6"/>
                </a:solidFill>
              </a:rPr>
              <a:t>print</a:t>
            </a:r>
            <a:r>
              <a:rPr lang="nl-NL" sz="1400" dirty="0"/>
              <a:t>(</a:t>
            </a:r>
            <a:r>
              <a:rPr lang="nl-NL" sz="1400" dirty="0">
                <a:solidFill>
                  <a:srgbClr val="6A8759"/>
                </a:solidFill>
              </a:rPr>
              <a:t>'Eerste 2 kolommen:'</a:t>
            </a:r>
            <a:r>
              <a:rPr lang="nl-NL" sz="1400" dirty="0">
                <a:solidFill>
                  <a:srgbClr val="CC7832"/>
                </a:solidFill>
              </a:rPr>
              <a:t>, </a:t>
            </a:r>
            <a:r>
              <a:rPr lang="nl-NL" sz="1400" dirty="0"/>
              <a:t>mat[:</a:t>
            </a:r>
            <a:r>
              <a:rPr lang="nl-NL" sz="1400" dirty="0">
                <a:solidFill>
                  <a:srgbClr val="CC7832"/>
                </a:solidFill>
              </a:rPr>
              <a:t>, </a:t>
            </a:r>
            <a:r>
              <a:rPr lang="nl-NL" sz="1400" dirty="0">
                <a:solidFill>
                  <a:srgbClr val="6897BB"/>
                </a:solidFill>
              </a:rPr>
              <a:t>0</a:t>
            </a:r>
            <a:r>
              <a:rPr lang="nl-NL" sz="1400" dirty="0"/>
              <a:t>:</a:t>
            </a:r>
            <a:r>
              <a:rPr lang="nl-NL" sz="1400" dirty="0">
                <a:solidFill>
                  <a:srgbClr val="6897BB"/>
                </a:solidFill>
              </a:rPr>
              <a:t>2</a:t>
            </a:r>
            <a:r>
              <a:rPr lang="nl-NL" sz="1400" dirty="0"/>
              <a:t>])</a:t>
            </a:r>
          </a:p>
        </p:txBody>
      </p:sp>
      <p:sp>
        <p:nvSpPr>
          <p:cNvPr id="6" name="Rectangle 5">
            <a:extLst>
              <a:ext uri="{FF2B5EF4-FFF2-40B4-BE49-F238E27FC236}">
                <a16:creationId xmlns:a16="http://schemas.microsoft.com/office/drawing/2014/main" id="{C28A6899-74C5-BD49-93AB-EE1887ABD7A1}"/>
              </a:ext>
            </a:extLst>
          </p:cNvPr>
          <p:cNvSpPr/>
          <p:nvPr/>
        </p:nvSpPr>
        <p:spPr>
          <a:xfrm>
            <a:off x="6506817" y="3032157"/>
            <a:ext cx="3144259" cy="2462213"/>
          </a:xfrm>
          <a:prstGeom prst="rect">
            <a:avLst/>
          </a:prstGeom>
          <a:ln>
            <a:solidFill>
              <a:schemeClr val="tx1"/>
            </a:solidFill>
          </a:ln>
        </p:spPr>
        <p:txBody>
          <a:bodyPr wrap="square">
            <a:spAutoFit/>
          </a:bodyPr>
          <a:lstStyle/>
          <a:p>
            <a:r>
              <a:rPr lang="nl-NL" sz="1400" dirty="0"/>
              <a:t>Matrix: [[1 3 3]</a:t>
            </a:r>
          </a:p>
          <a:p>
            <a:r>
              <a:rPr lang="nl-NL" sz="1400" dirty="0"/>
              <a:t> [4 5 6]</a:t>
            </a:r>
          </a:p>
          <a:p>
            <a:r>
              <a:rPr lang="nl-NL" sz="1400" dirty="0"/>
              <a:t> [7 8 9]]</a:t>
            </a:r>
          </a:p>
          <a:p>
            <a:endParaRPr lang="nl-NL" sz="1400" dirty="0"/>
          </a:p>
          <a:p>
            <a:r>
              <a:rPr lang="nl-NL" sz="1400" dirty="0" err="1"/>
              <a:t>Cell</a:t>
            </a:r>
            <a:r>
              <a:rPr lang="nl-NL" sz="1400" dirty="0"/>
              <a:t> 2,2: 5</a:t>
            </a:r>
          </a:p>
          <a:p>
            <a:r>
              <a:rPr lang="nl-NL" sz="1400" dirty="0" err="1"/>
              <a:t>Cell</a:t>
            </a:r>
            <a:r>
              <a:rPr lang="nl-NL" sz="1400" dirty="0"/>
              <a:t> 2,3: 6</a:t>
            </a:r>
          </a:p>
          <a:p>
            <a:r>
              <a:rPr lang="nl-NL" sz="1400" dirty="0"/>
              <a:t>Eerste 2 rijen: [[1 3 3]</a:t>
            </a:r>
          </a:p>
          <a:p>
            <a:r>
              <a:rPr lang="nl-NL" sz="1400" dirty="0"/>
              <a:t> [4 5 6]]</a:t>
            </a:r>
          </a:p>
          <a:p>
            <a:r>
              <a:rPr lang="nl-NL" sz="1400" dirty="0"/>
              <a:t>Eerste 2 kolommen: [[1 3]</a:t>
            </a:r>
          </a:p>
          <a:p>
            <a:r>
              <a:rPr lang="nl-NL" sz="1400" dirty="0"/>
              <a:t> [4 5]</a:t>
            </a:r>
          </a:p>
          <a:p>
            <a:r>
              <a:rPr lang="nl-NL" sz="1400" dirty="0"/>
              <a:t> [7 8]]</a:t>
            </a:r>
          </a:p>
        </p:txBody>
      </p:sp>
      <p:sp>
        <p:nvSpPr>
          <p:cNvPr id="7" name="TextBox 6">
            <a:extLst>
              <a:ext uri="{FF2B5EF4-FFF2-40B4-BE49-F238E27FC236}">
                <a16:creationId xmlns:a16="http://schemas.microsoft.com/office/drawing/2014/main" id="{8B96CB86-9A63-B342-9422-EC5B86A4D808}"/>
              </a:ext>
            </a:extLst>
          </p:cNvPr>
          <p:cNvSpPr txBox="1"/>
          <p:nvPr/>
        </p:nvSpPr>
        <p:spPr>
          <a:xfrm>
            <a:off x="6506817" y="2662825"/>
            <a:ext cx="1182456"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0CD5740E-8411-3443-9B63-116BA63C48AC}"/>
              </a:ext>
            </a:extLst>
          </p:cNvPr>
          <p:cNvSpPr txBox="1"/>
          <p:nvPr/>
        </p:nvSpPr>
        <p:spPr>
          <a:xfrm>
            <a:off x="834887" y="2662825"/>
            <a:ext cx="918841"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97925EAB-4F32-45F5-65DC-B2DBD6A476E9}"/>
              </a:ext>
            </a:extLst>
          </p:cNvPr>
          <p:cNvCxnSpPr>
            <a:cxnSpLocks/>
          </p:cNvCxnSpPr>
          <p:nvPr/>
        </p:nvCxnSpPr>
        <p:spPr>
          <a:xfrm>
            <a:off x="3649287" y="5467556"/>
            <a:ext cx="323082" cy="4616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74BDD3F-8D6D-51FB-24C3-3B26097C54F2}"/>
              </a:ext>
            </a:extLst>
          </p:cNvPr>
          <p:cNvSpPr txBox="1"/>
          <p:nvPr/>
        </p:nvSpPr>
        <p:spPr>
          <a:xfrm>
            <a:off x="3972369" y="5723734"/>
            <a:ext cx="5261113" cy="461665"/>
          </a:xfrm>
          <a:prstGeom prst="rect">
            <a:avLst/>
          </a:prstGeom>
          <a:noFill/>
        </p:spPr>
        <p:txBody>
          <a:bodyPr wrap="square" rtlCol="0">
            <a:spAutoFit/>
          </a:bodyPr>
          <a:lstStyle/>
          <a:p>
            <a:r>
              <a:rPr lang="nl-NL" sz="1200" dirty="0"/>
              <a:t>Kolommen zijn de 2</a:t>
            </a:r>
            <a:r>
              <a:rPr lang="nl-NL" sz="1200" baseline="30000" dirty="0"/>
              <a:t>de</a:t>
            </a:r>
            <a:r>
              <a:rPr lang="nl-NL" sz="1200" dirty="0"/>
              <a:t> dimensie, we geven het dubbelpunt mee om aan te geven dat we alles uit de eerste dimensie (de rijen) willen meenemen</a:t>
            </a:r>
          </a:p>
        </p:txBody>
      </p:sp>
    </p:spTree>
    <p:extLst>
      <p:ext uri="{BB962C8B-B14F-4D97-AF65-F5344CB8AC3E}">
        <p14:creationId xmlns:p14="http://schemas.microsoft.com/office/powerpoint/2010/main" val="3313251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006318-6CEF-3AC4-20B2-693CFDE14812}"/>
              </a:ext>
            </a:extLst>
          </p:cNvPr>
          <p:cNvSpPr>
            <a:spLocks noGrp="1"/>
          </p:cNvSpPr>
          <p:nvPr>
            <p:ph idx="1"/>
          </p:nvPr>
        </p:nvSpPr>
        <p:spPr/>
        <p:txBody>
          <a:bodyPr/>
          <a:lstStyle/>
          <a:p>
            <a:endParaRPr lang="nl-NL" dirty="0"/>
          </a:p>
          <a:p>
            <a:endParaRPr lang="nl-NL" dirty="0"/>
          </a:p>
          <a:p>
            <a:endParaRPr lang="nl-NL" dirty="0"/>
          </a:p>
          <a:p>
            <a:endParaRPr lang="nl-NL" dirty="0"/>
          </a:p>
          <a:p>
            <a:endParaRPr lang="nl-NL" dirty="0"/>
          </a:p>
          <a:p>
            <a:endParaRPr lang="nl-NL" dirty="0"/>
          </a:p>
          <a:p>
            <a:endParaRPr lang="nl-NL" dirty="0"/>
          </a:p>
          <a:p>
            <a:endParaRPr lang="nl-NL" dirty="0"/>
          </a:p>
          <a:p>
            <a:pPr marL="0" indent="0">
              <a:buNone/>
            </a:pPr>
            <a:r>
              <a:rPr lang="nl-NL" b="1" dirty="0"/>
              <a:t>Merk op: </a:t>
            </a:r>
            <a:r>
              <a:rPr lang="nl-NL" dirty="0"/>
              <a:t>voor dit vak gaan we enkel tot 2D</a:t>
            </a:r>
          </a:p>
        </p:txBody>
      </p:sp>
      <p:sp>
        <p:nvSpPr>
          <p:cNvPr id="3" name="Slide Number Placeholder 2">
            <a:extLst>
              <a:ext uri="{FF2B5EF4-FFF2-40B4-BE49-F238E27FC236}">
                <a16:creationId xmlns:a16="http://schemas.microsoft.com/office/drawing/2014/main" id="{393E1A15-8BD6-6134-D14A-EDED29BEE15C}"/>
              </a:ext>
            </a:extLst>
          </p:cNvPr>
          <p:cNvSpPr>
            <a:spLocks noGrp="1"/>
          </p:cNvSpPr>
          <p:nvPr>
            <p:ph type="sldNum" sz="quarter" idx="12"/>
          </p:nvPr>
        </p:nvSpPr>
        <p:spPr/>
        <p:txBody>
          <a:bodyPr/>
          <a:lstStyle/>
          <a:p>
            <a:fld id="{D270EDC2-4F5E-5547-954F-5222C286AC2A}" type="slidenum">
              <a:rPr lang="nl-NL" smtClean="0"/>
              <a:t>8</a:t>
            </a:fld>
            <a:endParaRPr lang="nl-NL" dirty="0"/>
          </a:p>
        </p:txBody>
      </p:sp>
      <p:sp>
        <p:nvSpPr>
          <p:cNvPr id="4" name="Title 3">
            <a:extLst>
              <a:ext uri="{FF2B5EF4-FFF2-40B4-BE49-F238E27FC236}">
                <a16:creationId xmlns:a16="http://schemas.microsoft.com/office/drawing/2014/main" id="{75B42BE4-2249-E892-0C56-36FF3B78AEB8}"/>
              </a:ext>
            </a:extLst>
          </p:cNvPr>
          <p:cNvSpPr>
            <a:spLocks noGrp="1"/>
          </p:cNvSpPr>
          <p:nvPr>
            <p:ph type="title"/>
          </p:nvPr>
        </p:nvSpPr>
        <p:spPr/>
        <p:txBody>
          <a:bodyPr/>
          <a:lstStyle/>
          <a:p>
            <a:r>
              <a:rPr lang="nl-NL" dirty="0"/>
              <a:t>Voorbeeld matrices</a:t>
            </a:r>
          </a:p>
        </p:txBody>
      </p:sp>
      <p:pic>
        <p:nvPicPr>
          <p:cNvPr id="1026" name="Picture 2" descr="Numpy array dimensions">
            <a:extLst>
              <a:ext uri="{FF2B5EF4-FFF2-40B4-BE49-F238E27FC236}">
                <a16:creationId xmlns:a16="http://schemas.microsoft.com/office/drawing/2014/main" id="{6697E87C-2C0F-0F57-401A-E3CC28803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1657" y="1524000"/>
            <a:ext cx="5905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A2E1BA-2073-708B-90BC-18EF3A4FA44F}"/>
              </a:ext>
            </a:extLst>
          </p:cNvPr>
          <p:cNvSpPr txBox="1"/>
          <p:nvPr/>
        </p:nvSpPr>
        <p:spPr>
          <a:xfrm>
            <a:off x="900000" y="6556198"/>
            <a:ext cx="6094708" cy="261610"/>
          </a:xfrm>
          <a:prstGeom prst="rect">
            <a:avLst/>
          </a:prstGeom>
          <a:noFill/>
        </p:spPr>
        <p:txBody>
          <a:bodyPr wrap="square">
            <a:spAutoFit/>
          </a:bodyPr>
          <a:lstStyle/>
          <a:p>
            <a:r>
              <a:rPr lang="nl-NL" sz="1100" dirty="0" err="1">
                <a:solidFill>
                  <a:schemeClr val="bg1"/>
                </a:solidFill>
              </a:rPr>
              <a:t>https</a:t>
            </a:r>
            <a:r>
              <a:rPr lang="nl-NL" sz="1100" dirty="0">
                <a:solidFill>
                  <a:schemeClr val="bg1"/>
                </a:solidFill>
              </a:rPr>
              <a:t>://www.plus2net.com/python/</a:t>
            </a:r>
            <a:r>
              <a:rPr lang="nl-NL" sz="1100" dirty="0" err="1">
                <a:solidFill>
                  <a:schemeClr val="bg1"/>
                </a:solidFill>
              </a:rPr>
              <a:t>numpy-ndarray.php</a:t>
            </a:r>
            <a:endParaRPr lang="nl-NL" sz="1100" dirty="0">
              <a:solidFill>
                <a:schemeClr val="bg1"/>
              </a:solidFill>
            </a:endParaRPr>
          </a:p>
        </p:txBody>
      </p:sp>
      <p:sp>
        <p:nvSpPr>
          <p:cNvPr id="7" name="TextBox 6">
            <a:extLst>
              <a:ext uri="{FF2B5EF4-FFF2-40B4-BE49-F238E27FC236}">
                <a16:creationId xmlns:a16="http://schemas.microsoft.com/office/drawing/2014/main" id="{740D2C57-8F2D-4187-7368-3CBEB43316DD}"/>
              </a:ext>
            </a:extLst>
          </p:cNvPr>
          <p:cNvSpPr txBox="1"/>
          <p:nvPr/>
        </p:nvSpPr>
        <p:spPr>
          <a:xfrm>
            <a:off x="856787" y="3429000"/>
            <a:ext cx="2005677" cy="369332"/>
          </a:xfrm>
          <a:prstGeom prst="rect">
            <a:avLst/>
          </a:prstGeom>
          <a:noFill/>
        </p:spPr>
        <p:txBody>
          <a:bodyPr wrap="none" rtlCol="0">
            <a:spAutoFit/>
          </a:bodyPr>
          <a:lstStyle/>
          <a:p>
            <a:r>
              <a:rPr lang="nl-NL" dirty="0"/>
              <a:t>Aantal dimensies:</a:t>
            </a:r>
          </a:p>
        </p:txBody>
      </p:sp>
      <p:sp>
        <p:nvSpPr>
          <p:cNvPr id="5" name="TextBox 4">
            <a:extLst>
              <a:ext uri="{FF2B5EF4-FFF2-40B4-BE49-F238E27FC236}">
                <a16:creationId xmlns:a16="http://schemas.microsoft.com/office/drawing/2014/main" id="{54AA77B0-66BA-C286-D96A-8F94567FCA63}"/>
              </a:ext>
            </a:extLst>
          </p:cNvPr>
          <p:cNvSpPr txBox="1"/>
          <p:nvPr/>
        </p:nvSpPr>
        <p:spPr>
          <a:xfrm>
            <a:off x="8604044" y="3613666"/>
            <a:ext cx="3293944" cy="1569660"/>
          </a:xfrm>
          <a:prstGeom prst="rect">
            <a:avLst/>
          </a:prstGeom>
          <a:noFill/>
        </p:spPr>
        <p:txBody>
          <a:bodyPr wrap="square" rtlCol="0">
            <a:spAutoFit/>
          </a:bodyPr>
          <a:lstStyle/>
          <a:p>
            <a:r>
              <a:rPr lang="nl-NL" sz="1200" dirty="0"/>
              <a:t>-&gt; Dit zou een afbeelding kunnen zijn:</a:t>
            </a:r>
          </a:p>
          <a:p>
            <a:pPr marL="171450" indent="-171450">
              <a:buFontTx/>
              <a:buChar char="-"/>
            </a:pPr>
            <a:r>
              <a:rPr lang="nl-NL" sz="1200" dirty="0"/>
              <a:t>3 2D-matrices:</a:t>
            </a:r>
          </a:p>
          <a:p>
            <a:pPr marL="628650" lvl="1" indent="-171450">
              <a:buFontTx/>
              <a:buChar char="-"/>
            </a:pPr>
            <a:r>
              <a:rPr lang="nl-NL" sz="1200" dirty="0"/>
              <a:t>2D-matrices: de pixels langs hoogte/breedte</a:t>
            </a:r>
          </a:p>
          <a:p>
            <a:pPr marL="628650" lvl="1" indent="-171450">
              <a:buFontTx/>
              <a:buChar char="-"/>
            </a:pPr>
            <a:r>
              <a:rPr lang="nl-NL" sz="1200" dirty="0"/>
              <a:t>1 matrix voor elke kleur (rood-groen-blauw)</a:t>
            </a:r>
          </a:p>
          <a:p>
            <a:pPr marL="628650" lvl="1" indent="-171450">
              <a:buFontTx/>
              <a:buChar char="-"/>
            </a:pPr>
            <a:endParaRPr lang="nl-NL" sz="1200" dirty="0"/>
          </a:p>
          <a:p>
            <a:pPr marL="171450" indent="-171450">
              <a:buFontTx/>
              <a:buChar char="-"/>
            </a:pPr>
            <a:endParaRPr lang="nl-NL" sz="1200" dirty="0"/>
          </a:p>
        </p:txBody>
      </p:sp>
    </p:spTree>
    <p:extLst>
      <p:ext uri="{BB962C8B-B14F-4D97-AF65-F5344CB8AC3E}">
        <p14:creationId xmlns:p14="http://schemas.microsoft.com/office/powerpoint/2010/main" val="2429825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A036A6-A2DD-EDB2-5D55-E9F93450DEF7}"/>
              </a:ext>
            </a:extLst>
          </p:cNvPr>
          <p:cNvSpPr>
            <a:spLocks noGrp="1"/>
          </p:cNvSpPr>
          <p:nvPr>
            <p:ph idx="1"/>
          </p:nvPr>
        </p:nvSpPr>
        <p:spPr/>
        <p:txBody>
          <a:bodyPr/>
          <a:lstStyle/>
          <a:p>
            <a:r>
              <a:rPr lang="nl-NL" dirty="0" err="1">
                <a:latin typeface="Courier New" panose="02070309020205020404" pitchFamily="49" charset="0"/>
                <a:cs typeface="Courier New" panose="02070309020205020404" pitchFamily="49" charset="0"/>
              </a:rPr>
              <a:t>zeros</a:t>
            </a:r>
            <a:r>
              <a:rPr lang="nl-NL" dirty="0">
                <a:latin typeface="Courier New" panose="02070309020205020404" pitchFamily="49" charset="0"/>
                <a:cs typeface="Courier New" panose="02070309020205020404" pitchFamily="49" charset="0"/>
              </a:rPr>
              <a:t>()</a:t>
            </a:r>
            <a:r>
              <a:rPr lang="nl-NL" dirty="0"/>
              <a:t>: maakt een rij/matrix met allemaal 0-waardes</a:t>
            </a:r>
          </a:p>
          <a:p>
            <a:r>
              <a:rPr lang="nl-NL" dirty="0" err="1">
                <a:latin typeface="Courier New" panose="02070309020205020404" pitchFamily="49" charset="0"/>
                <a:cs typeface="Courier New" panose="02070309020205020404" pitchFamily="49" charset="0"/>
              </a:rPr>
              <a:t>ones</a:t>
            </a:r>
            <a:r>
              <a:rPr lang="nl-NL" dirty="0">
                <a:latin typeface="Courier New" panose="02070309020205020404" pitchFamily="49" charset="0"/>
                <a:cs typeface="Courier New" panose="02070309020205020404" pitchFamily="49" charset="0"/>
              </a:rPr>
              <a:t>()</a:t>
            </a:r>
            <a:r>
              <a:rPr lang="nl-NL" dirty="0"/>
              <a:t>: maakt een rij/matrix met allemaal 1-waardes</a:t>
            </a:r>
          </a:p>
          <a:p>
            <a:r>
              <a:rPr lang="nl-NL" dirty="0">
                <a:latin typeface="Courier New" panose="02070309020205020404" pitchFamily="49" charset="0"/>
                <a:cs typeface="Courier New" panose="02070309020205020404" pitchFamily="49" charset="0"/>
              </a:rPr>
              <a:t>empty()</a:t>
            </a:r>
            <a:r>
              <a:rPr lang="nl-NL" dirty="0"/>
              <a:t>: maakt een rij/matrix met willekeurige (meestal lage) waardes</a:t>
            </a:r>
          </a:p>
          <a:p>
            <a:r>
              <a:rPr lang="nl-NL" dirty="0" err="1">
                <a:latin typeface="Courier New" panose="02070309020205020404" pitchFamily="49" charset="0"/>
                <a:cs typeface="Courier New" panose="02070309020205020404" pitchFamily="49" charset="0"/>
              </a:rPr>
              <a:t>arange</a:t>
            </a:r>
            <a:r>
              <a:rPr lang="nl-NL" dirty="0">
                <a:latin typeface="Courier New" panose="02070309020205020404" pitchFamily="49" charset="0"/>
                <a:cs typeface="Courier New" panose="02070309020205020404" pitchFamily="49" charset="0"/>
              </a:rPr>
              <a:t>()</a:t>
            </a:r>
            <a:r>
              <a:rPr lang="nl-NL" dirty="0"/>
              <a:t>: maakt een rij/matrix volgens de logica van de </a:t>
            </a:r>
            <a:r>
              <a:rPr lang="nl-NL" dirty="0">
                <a:latin typeface="Courier New" panose="02070309020205020404" pitchFamily="49" charset="0"/>
                <a:cs typeface="Courier New" panose="02070309020205020404" pitchFamily="49" charset="0"/>
              </a:rPr>
              <a:t>range()</a:t>
            </a:r>
            <a:r>
              <a:rPr lang="nl-NL" dirty="0"/>
              <a:t>-functie</a:t>
            </a:r>
          </a:p>
          <a:p>
            <a:r>
              <a:rPr lang="nl-NL" dirty="0" err="1">
                <a:latin typeface="Courier New" panose="02070309020205020404" pitchFamily="49" charset="0"/>
                <a:cs typeface="Courier New" panose="02070309020205020404" pitchFamily="49" charset="0"/>
              </a:rPr>
              <a:t>linspace</a:t>
            </a:r>
            <a:r>
              <a:rPr lang="nl-NL" dirty="0">
                <a:latin typeface="Courier New" panose="02070309020205020404" pitchFamily="49" charset="0"/>
                <a:cs typeface="Courier New" panose="02070309020205020404" pitchFamily="49" charset="0"/>
              </a:rPr>
              <a:t>()</a:t>
            </a:r>
            <a:r>
              <a:rPr lang="nl-NL" dirty="0"/>
              <a:t>: maakt een rij van getallen in een interval op dezelfde afstand naar gelang het aantal elementen gevraagd</a:t>
            </a:r>
          </a:p>
          <a:p>
            <a:r>
              <a:rPr lang="nl-NL" dirty="0">
                <a:latin typeface="Courier New" panose="02070309020205020404" pitchFamily="49" charset="0"/>
                <a:cs typeface="Courier New" panose="02070309020205020404" pitchFamily="49" charset="0"/>
              </a:rPr>
              <a:t>random()</a:t>
            </a:r>
            <a:r>
              <a:rPr lang="nl-NL" dirty="0"/>
              <a:t>: maakt willekeurige rij/matrix</a:t>
            </a:r>
          </a:p>
          <a:p>
            <a:endParaRPr lang="nl-NL" dirty="0"/>
          </a:p>
        </p:txBody>
      </p:sp>
      <p:sp>
        <p:nvSpPr>
          <p:cNvPr id="3" name="Slide Number Placeholder 2">
            <a:extLst>
              <a:ext uri="{FF2B5EF4-FFF2-40B4-BE49-F238E27FC236}">
                <a16:creationId xmlns:a16="http://schemas.microsoft.com/office/drawing/2014/main" id="{9E9FEB0D-A1C9-D6B9-342A-FBFB14D595CA}"/>
              </a:ext>
            </a:extLst>
          </p:cNvPr>
          <p:cNvSpPr>
            <a:spLocks noGrp="1"/>
          </p:cNvSpPr>
          <p:nvPr>
            <p:ph type="sldNum" sz="quarter" idx="12"/>
          </p:nvPr>
        </p:nvSpPr>
        <p:spPr/>
        <p:txBody>
          <a:bodyPr/>
          <a:lstStyle/>
          <a:p>
            <a:fld id="{D270EDC2-4F5E-5547-954F-5222C286AC2A}" type="slidenum">
              <a:rPr lang="nl-NL" smtClean="0"/>
              <a:t>9</a:t>
            </a:fld>
            <a:endParaRPr lang="nl-NL" dirty="0"/>
          </a:p>
        </p:txBody>
      </p:sp>
      <p:sp>
        <p:nvSpPr>
          <p:cNvPr id="4" name="Title 3">
            <a:extLst>
              <a:ext uri="{FF2B5EF4-FFF2-40B4-BE49-F238E27FC236}">
                <a16:creationId xmlns:a16="http://schemas.microsoft.com/office/drawing/2014/main" id="{9D0F1DA1-8715-CCCA-D35D-88E4416DBF19}"/>
              </a:ext>
            </a:extLst>
          </p:cNvPr>
          <p:cNvSpPr>
            <a:spLocks noGrp="1"/>
          </p:cNvSpPr>
          <p:nvPr>
            <p:ph type="title"/>
          </p:nvPr>
        </p:nvSpPr>
        <p:spPr/>
        <p:txBody>
          <a:bodyPr/>
          <a:lstStyle/>
          <a:p>
            <a:r>
              <a:rPr lang="nl-NL" dirty="0"/>
              <a:t>Andere manieren om matrix te maken</a:t>
            </a:r>
          </a:p>
        </p:txBody>
      </p:sp>
    </p:spTree>
    <p:extLst>
      <p:ext uri="{BB962C8B-B14F-4D97-AF65-F5344CB8AC3E}">
        <p14:creationId xmlns:p14="http://schemas.microsoft.com/office/powerpoint/2010/main" val="4221614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4A13AF-0911-018E-F805-4B409B417792}"/>
              </a:ext>
            </a:extLst>
          </p:cNvPr>
          <p:cNvSpPr>
            <a:spLocks noGrp="1"/>
          </p:cNvSpPr>
          <p:nvPr>
            <p:ph type="sldNum" sz="quarter" idx="12"/>
          </p:nvPr>
        </p:nvSpPr>
        <p:spPr/>
        <p:txBody>
          <a:bodyPr/>
          <a:lstStyle/>
          <a:p>
            <a:fld id="{D270EDC2-4F5E-5547-954F-5222C286AC2A}" type="slidenum">
              <a:rPr lang="nl-NL" smtClean="0"/>
              <a:t>10</a:t>
            </a:fld>
            <a:endParaRPr lang="nl-NL" dirty="0"/>
          </a:p>
        </p:txBody>
      </p:sp>
      <p:sp>
        <p:nvSpPr>
          <p:cNvPr id="4" name="Title 3">
            <a:extLst>
              <a:ext uri="{FF2B5EF4-FFF2-40B4-BE49-F238E27FC236}">
                <a16:creationId xmlns:a16="http://schemas.microsoft.com/office/drawing/2014/main" id="{56998327-A55A-03D2-B7E9-34492707F326}"/>
              </a:ext>
            </a:extLst>
          </p:cNvPr>
          <p:cNvSpPr>
            <a:spLocks noGrp="1"/>
          </p:cNvSpPr>
          <p:nvPr>
            <p:ph type="title"/>
          </p:nvPr>
        </p:nvSpPr>
        <p:spPr/>
        <p:txBody>
          <a:bodyPr/>
          <a:lstStyle/>
          <a:p>
            <a:r>
              <a:rPr lang="nl-NL" dirty="0">
                <a:latin typeface="+mn-lt"/>
                <a:cs typeface="Courier New" panose="02070309020205020404" pitchFamily="49" charset="0"/>
              </a:rPr>
              <a:t>Voorbeelden </a:t>
            </a:r>
            <a:r>
              <a:rPr lang="nl-NL" dirty="0">
                <a:latin typeface="Courier New" panose="02070309020205020404" pitchFamily="49" charset="0"/>
                <a:cs typeface="Courier New" panose="02070309020205020404" pitchFamily="49" charset="0"/>
              </a:rPr>
              <a:t>empty</a:t>
            </a:r>
            <a:r>
              <a:rPr lang="nl-NL" dirty="0"/>
              <a:t> en </a:t>
            </a:r>
            <a:r>
              <a:rPr lang="nl-NL" dirty="0" err="1">
                <a:latin typeface="Courier New" panose="02070309020205020404" pitchFamily="49" charset="0"/>
                <a:cs typeface="Courier New" panose="02070309020205020404" pitchFamily="49" charset="0"/>
              </a:rPr>
              <a:t>arange</a:t>
            </a:r>
            <a:endParaRPr lang="nl-NL" dirty="0">
              <a:latin typeface="Courier New" panose="02070309020205020404" pitchFamily="49" charset="0"/>
              <a:cs typeface="Courier New" panose="02070309020205020404" pitchFamily="49" charset="0"/>
            </a:endParaRPr>
          </a:p>
        </p:txBody>
      </p:sp>
      <p:sp>
        <p:nvSpPr>
          <p:cNvPr id="5" name="Rectangle 1">
            <a:extLst>
              <a:ext uri="{FF2B5EF4-FFF2-40B4-BE49-F238E27FC236}">
                <a16:creationId xmlns:a16="http://schemas.microsoft.com/office/drawing/2014/main" id="{095D27D2-D60C-7B8E-E99A-4005642B3F90}"/>
              </a:ext>
            </a:extLst>
          </p:cNvPr>
          <p:cNvSpPr>
            <a:spLocks noChangeArrowheads="1"/>
          </p:cNvSpPr>
          <p:nvPr/>
        </p:nvSpPr>
        <p:spPr bwMode="auto">
          <a:xfrm>
            <a:off x="900000" y="1907479"/>
            <a:ext cx="2502977"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1" u="none" strike="noStrike" cap="none" normalizeH="0" baseline="0" dirty="0">
                <a:ln>
                  <a:noFill/>
                </a:ln>
                <a:solidFill>
                  <a:srgbClr val="8C8C8C"/>
                </a:solidFill>
                <a:effectLst/>
                <a:latin typeface="JetBrains Mono"/>
              </a:rPr>
              <a:t># empty werkt ook gelijkaardig</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err="1">
                <a:ln>
                  <a:noFill/>
                </a:ln>
                <a:solidFill>
                  <a:srgbClr val="080808"/>
                </a:solidFill>
                <a:effectLst/>
                <a:latin typeface="JetBrains Mono"/>
              </a:rPr>
              <a:t>lege_matrix</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np.empty</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err="1">
                <a:ln>
                  <a:noFill/>
                </a:ln>
                <a:solidFill>
                  <a:srgbClr val="080808"/>
                </a:solidFill>
                <a:effectLst/>
                <a:latin typeface="JetBrains Mono"/>
              </a:rPr>
              <a:t>lege_</a:t>
            </a:r>
            <a:r>
              <a:rPr lang="nl-NL" sz="1400" dirty="0" err="1">
                <a:solidFill>
                  <a:srgbClr val="080808"/>
                </a:solidFill>
                <a:latin typeface="JetBrains Mono"/>
              </a:rPr>
              <a:t>matrix</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DEDC4A3-883C-91C7-00D0-EA3972169D02}"/>
              </a:ext>
            </a:extLst>
          </p:cNvPr>
          <p:cNvSpPr>
            <a:spLocks noChangeArrowheads="1"/>
          </p:cNvSpPr>
          <p:nvPr/>
        </p:nvSpPr>
        <p:spPr bwMode="auto">
          <a:xfrm>
            <a:off x="900000" y="3305824"/>
            <a:ext cx="4424766" cy="224676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1" u="none" strike="noStrike" cap="none" normalizeH="0" baseline="0" dirty="0">
                <a:ln>
                  <a:noFill/>
                </a:ln>
                <a:solidFill>
                  <a:srgbClr val="8C8C8C"/>
                </a:solidFill>
                <a:effectLst/>
                <a:latin typeface="JetBrains Mono"/>
              </a:rPr>
              <a:t># maak een interval van gehele getallen tussen 0 tot 10</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a:ln>
                  <a:noFill/>
                </a:ln>
                <a:solidFill>
                  <a:srgbClr val="080808"/>
                </a:solidFill>
                <a:effectLst/>
                <a:latin typeface="JetBrains Mono"/>
              </a:rPr>
              <a:t>interval1 = </a:t>
            </a:r>
            <a:r>
              <a:rPr kumimoji="0" lang="nl-NL" sz="1400" b="0" i="0" u="none" strike="noStrike" cap="none" normalizeH="0" baseline="0" dirty="0" err="1">
                <a:ln>
                  <a:noFill/>
                </a:ln>
                <a:solidFill>
                  <a:srgbClr val="080808"/>
                </a:solidFill>
                <a:effectLst/>
                <a:latin typeface="JetBrains Mono"/>
              </a:rPr>
              <a:t>np.arange</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1" u="none" strike="noStrike" cap="none" normalizeH="0" baseline="0" dirty="0">
                <a:ln>
                  <a:noFill/>
                </a:ln>
                <a:solidFill>
                  <a:srgbClr val="8C8C8C"/>
                </a:solidFill>
                <a:effectLst/>
                <a:latin typeface="JetBrains Mono"/>
              </a:rPr>
              <a:t># idem, maar vanaf 5 en tot 10</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a:ln>
                  <a:noFill/>
                </a:ln>
                <a:solidFill>
                  <a:srgbClr val="080808"/>
                </a:solidFill>
                <a:effectLst/>
                <a:latin typeface="JetBrains Mono"/>
              </a:rPr>
              <a:t>interval2 = </a:t>
            </a:r>
            <a:r>
              <a:rPr kumimoji="0" lang="nl-NL" sz="1400" b="0" i="0" u="none" strike="noStrike" cap="none" normalizeH="0" baseline="0" dirty="0" err="1">
                <a:ln>
                  <a:noFill/>
                </a:ln>
                <a:solidFill>
                  <a:srgbClr val="080808"/>
                </a:solidFill>
                <a:effectLst/>
                <a:latin typeface="JetBrains Mono"/>
              </a:rPr>
              <a:t>np.arange</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1" u="none" strike="noStrike" cap="none" normalizeH="0" baseline="0" dirty="0">
                <a:ln>
                  <a:noFill/>
                </a:ln>
                <a:solidFill>
                  <a:srgbClr val="8C8C8C"/>
                </a:solidFill>
                <a:effectLst/>
                <a:latin typeface="JetBrains Mono"/>
              </a:rPr>
              <a:t># idem, maar vanaf -1 in stappen van 3</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a:ln>
                  <a:noFill/>
                </a:ln>
                <a:solidFill>
                  <a:srgbClr val="080808"/>
                </a:solidFill>
                <a:effectLst/>
                <a:latin typeface="JetBrains Mono"/>
              </a:rPr>
              <a:t>interval3 = </a:t>
            </a:r>
            <a:r>
              <a:rPr kumimoji="0" lang="nl-NL" sz="1400" b="0" i="0" u="none" strike="noStrike" cap="none" normalizeH="0" baseline="0" dirty="0" err="1">
                <a:ln>
                  <a:noFill/>
                </a:ln>
                <a:solidFill>
                  <a:srgbClr val="080808"/>
                </a:solidFill>
                <a:effectLst/>
                <a:latin typeface="JetBrains Mono"/>
              </a:rPr>
              <a:t>np.arange</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(interval1)</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(interval2)</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(interval3)</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32A62762-5F11-4587-967E-95F542DC5F08}"/>
              </a:ext>
            </a:extLst>
          </p:cNvPr>
          <p:cNvSpPr>
            <a:spLocks noChangeArrowheads="1"/>
          </p:cNvSpPr>
          <p:nvPr/>
        </p:nvSpPr>
        <p:spPr bwMode="auto">
          <a:xfrm>
            <a:off x="5819614" y="1899003"/>
            <a:ext cx="6067586" cy="83099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9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9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[6.23042070e-307, 4.67296746e-307, 1.69121096e-306, 8.90070287e-308, 1.33509100e-307],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9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[1.42413555e-306, 1.78019082e-306, 1.37959740e-306, 6.23057349e-307, 8.45593934e-307],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9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[7.56593017e-307, 1.11258854e-306, 1.11261502e-306, 1.42410839e-306, 7.56597770e-307],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9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[6.23059726e-307, 1.42419530e-306, 1.37961302e-306, 6.89804132e-307, 1.11261434e-306],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9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[1.06809996e-306, 9.34607074e-307, 1.42410974e-306, 1.50449502e-311, 1.50497595e-311]])</a:t>
            </a:r>
            <a:r>
              <a:rPr kumimoji="0" lang="nl-NL" sz="300" b="0" i="0" u="none" strike="noStrike" cap="none" normalizeH="0" baseline="0" dirty="0">
                <a:ln>
                  <a:noFill/>
                </a:ln>
                <a:solidFill>
                  <a:schemeClr val="tx1"/>
                </a:solidFill>
                <a:effectLst/>
              </a:rPr>
              <a:t> </a:t>
            </a:r>
            <a:endParaRPr kumimoji="0" lang="nl-NL" sz="16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DB229B00-6CF1-2070-0CD4-53ED308BEFEB}"/>
              </a:ext>
            </a:extLst>
          </p:cNvPr>
          <p:cNvSpPr>
            <a:spLocks noChangeArrowheads="1"/>
          </p:cNvSpPr>
          <p:nvPr/>
        </p:nvSpPr>
        <p:spPr bwMode="auto">
          <a:xfrm>
            <a:off x="5819614" y="4906262"/>
            <a:ext cx="2921430" cy="64633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[0 1 2 3 4 5 6 7 8 9]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[5 6 7 8 9]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 2 5 8]</a:t>
            </a:r>
            <a:r>
              <a:rPr kumimoji="0" lang="nl-NL" sz="800" b="0" i="0" u="none" strike="noStrike" cap="none" normalizeH="0" baseline="0" dirty="0">
                <a:ln>
                  <a:noFill/>
                </a:ln>
                <a:solidFill>
                  <a:schemeClr val="tx1"/>
                </a:solidFill>
                <a:effectLst/>
              </a:rPr>
              <a:t> </a:t>
            </a:r>
            <a:endParaRPr kumimoji="0" lang="nl-NL" sz="32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685C216E-982C-3A9B-11BA-8D49E20FBFC5}"/>
              </a:ext>
            </a:extLst>
          </p:cNvPr>
          <p:cNvSpPr txBox="1"/>
          <p:nvPr/>
        </p:nvSpPr>
        <p:spPr>
          <a:xfrm>
            <a:off x="5819614" y="1460422"/>
            <a:ext cx="941283" cy="369332"/>
          </a:xfrm>
          <a:prstGeom prst="rect">
            <a:avLst/>
          </a:prstGeom>
          <a:noFill/>
        </p:spPr>
        <p:txBody>
          <a:bodyPr wrap="none" rtlCol="0">
            <a:spAutoFit/>
          </a:bodyPr>
          <a:lstStyle/>
          <a:p>
            <a:r>
              <a:rPr lang="nl-NL" dirty="0"/>
              <a:t>Output:</a:t>
            </a:r>
          </a:p>
        </p:txBody>
      </p:sp>
      <p:sp>
        <p:nvSpPr>
          <p:cNvPr id="10" name="TextBox 9">
            <a:extLst>
              <a:ext uri="{FF2B5EF4-FFF2-40B4-BE49-F238E27FC236}">
                <a16:creationId xmlns:a16="http://schemas.microsoft.com/office/drawing/2014/main" id="{22C35AFB-A0F1-6EF2-51C8-73397AF2E60B}"/>
              </a:ext>
            </a:extLst>
          </p:cNvPr>
          <p:cNvSpPr txBox="1"/>
          <p:nvPr/>
        </p:nvSpPr>
        <p:spPr>
          <a:xfrm>
            <a:off x="900000" y="1544370"/>
            <a:ext cx="800219" cy="369332"/>
          </a:xfrm>
          <a:prstGeom prst="rect">
            <a:avLst/>
          </a:prstGeom>
          <a:noFill/>
        </p:spPr>
        <p:txBody>
          <a:bodyPr wrap="none" rtlCol="0">
            <a:spAutoFit/>
          </a:bodyPr>
          <a:lstStyle/>
          <a:p>
            <a:r>
              <a:rPr lang="nl-NL" dirty="0"/>
              <a:t>Code:</a:t>
            </a:r>
          </a:p>
        </p:txBody>
      </p:sp>
    </p:spTree>
    <p:extLst>
      <p:ext uri="{BB962C8B-B14F-4D97-AF65-F5344CB8AC3E}">
        <p14:creationId xmlns:p14="http://schemas.microsoft.com/office/powerpoint/2010/main" val="771445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8C888B-F707-4386-F7FB-9631CCB3D70E}"/>
              </a:ext>
            </a:extLst>
          </p:cNvPr>
          <p:cNvSpPr>
            <a:spLocks noGrp="1"/>
          </p:cNvSpPr>
          <p:nvPr>
            <p:ph type="sldNum" sz="quarter" idx="12"/>
          </p:nvPr>
        </p:nvSpPr>
        <p:spPr/>
        <p:txBody>
          <a:bodyPr/>
          <a:lstStyle/>
          <a:p>
            <a:fld id="{D270EDC2-4F5E-5547-954F-5222C286AC2A}" type="slidenum">
              <a:rPr lang="nl-NL" smtClean="0"/>
              <a:t>11</a:t>
            </a:fld>
            <a:endParaRPr lang="nl-NL" dirty="0"/>
          </a:p>
        </p:txBody>
      </p:sp>
      <p:sp>
        <p:nvSpPr>
          <p:cNvPr id="4" name="Title 3">
            <a:extLst>
              <a:ext uri="{FF2B5EF4-FFF2-40B4-BE49-F238E27FC236}">
                <a16:creationId xmlns:a16="http://schemas.microsoft.com/office/drawing/2014/main" id="{BC0E3F3E-909A-B866-98B9-4D429E9496C4}"/>
              </a:ext>
            </a:extLst>
          </p:cNvPr>
          <p:cNvSpPr>
            <a:spLocks noGrp="1"/>
          </p:cNvSpPr>
          <p:nvPr>
            <p:ph type="title"/>
          </p:nvPr>
        </p:nvSpPr>
        <p:spPr/>
        <p:txBody>
          <a:bodyPr/>
          <a:lstStyle/>
          <a:p>
            <a:r>
              <a:rPr lang="nl-NL" dirty="0"/>
              <a:t>Voorbeelden </a:t>
            </a:r>
            <a:r>
              <a:rPr lang="nl-NL" dirty="0" err="1">
                <a:latin typeface="Courier New" panose="02070309020205020404" pitchFamily="49" charset="0"/>
                <a:cs typeface="Courier New" panose="02070309020205020404" pitchFamily="49" charset="0"/>
              </a:rPr>
              <a:t>linspace</a:t>
            </a:r>
            <a:endParaRPr lang="nl-NL" dirty="0">
              <a:latin typeface="Courier New" panose="02070309020205020404" pitchFamily="49" charset="0"/>
              <a:cs typeface="Courier New" panose="02070309020205020404" pitchFamily="49" charset="0"/>
            </a:endParaRPr>
          </a:p>
        </p:txBody>
      </p:sp>
      <p:sp>
        <p:nvSpPr>
          <p:cNvPr id="5" name="Rectangle 1">
            <a:extLst>
              <a:ext uri="{FF2B5EF4-FFF2-40B4-BE49-F238E27FC236}">
                <a16:creationId xmlns:a16="http://schemas.microsoft.com/office/drawing/2014/main" id="{B93D1363-B345-B529-9FCC-97E249817143}"/>
              </a:ext>
            </a:extLst>
          </p:cNvPr>
          <p:cNvSpPr>
            <a:spLocks noChangeArrowheads="1"/>
          </p:cNvSpPr>
          <p:nvPr/>
        </p:nvSpPr>
        <p:spPr bwMode="auto">
          <a:xfrm>
            <a:off x="574800" y="2764615"/>
            <a:ext cx="4827721" cy="224676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1" u="none" strike="noStrike" cap="none" normalizeH="0" baseline="0" dirty="0">
                <a:ln>
                  <a:noFill/>
                </a:ln>
                <a:solidFill>
                  <a:srgbClr val="8C8C8C"/>
                </a:solidFill>
                <a:effectLst/>
                <a:latin typeface="JetBrains Mono"/>
              </a:rPr>
              <a:t># maak een reeks met gelijke intervallen van 10 </a:t>
            </a:r>
            <a:r>
              <a:rPr kumimoji="0" lang="nl-NL" sz="1400" b="0" i="1" u="none" strike="noStrike" cap="none" normalizeH="0" baseline="0" dirty="0">
                <a:ln>
                  <a:noFill/>
                </a:ln>
                <a:solidFill>
                  <a:srgbClr val="00B050"/>
                </a:solidFill>
                <a:effectLst/>
                <a:latin typeface="JetBrains Mono"/>
              </a:rPr>
              <a:t>tem</a:t>
            </a:r>
            <a:r>
              <a:rPr kumimoji="0" lang="nl-NL" sz="1400" b="0" i="1" u="none" strike="noStrike" cap="none" normalizeH="0" baseline="0" dirty="0">
                <a:ln>
                  <a:noFill/>
                </a:ln>
                <a:solidFill>
                  <a:srgbClr val="8C8C8C"/>
                </a:solidFill>
                <a:effectLst/>
                <a:latin typeface="JetBrains Mono"/>
              </a:rPr>
              <a:t> 100</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a:ln>
                  <a:noFill/>
                </a:ln>
                <a:solidFill>
                  <a:srgbClr val="080808"/>
                </a:solidFill>
                <a:effectLst/>
                <a:latin typeface="JetBrains Mono"/>
              </a:rPr>
              <a:t>interval1 = </a:t>
            </a:r>
            <a:r>
              <a:rPr kumimoji="0" lang="nl-NL" sz="1400" b="0" i="0" u="none" strike="noStrike" cap="none" normalizeH="0" baseline="0" dirty="0" err="1">
                <a:ln>
                  <a:noFill/>
                </a:ln>
                <a:solidFill>
                  <a:srgbClr val="080808"/>
                </a:solidFill>
                <a:effectLst/>
                <a:latin typeface="JetBrains Mono"/>
              </a:rPr>
              <a:t>np.linspace</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100</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1" u="none" strike="noStrike" cap="none" normalizeH="0" baseline="0" dirty="0">
                <a:ln>
                  <a:noFill/>
                </a:ln>
                <a:solidFill>
                  <a:srgbClr val="8C8C8C"/>
                </a:solidFill>
                <a:effectLst/>
                <a:latin typeface="JetBrains Mono"/>
              </a:rPr>
              <a:t># idem, maar vanaf 1 </a:t>
            </a:r>
            <a:r>
              <a:rPr kumimoji="0" lang="nl-NL" sz="1400" b="0" i="1" u="none" strike="noStrike" cap="none" normalizeH="0" baseline="0" dirty="0">
                <a:ln>
                  <a:noFill/>
                </a:ln>
                <a:solidFill>
                  <a:srgbClr val="00B050"/>
                </a:solidFill>
                <a:effectLst/>
                <a:latin typeface="JetBrains Mono"/>
              </a:rPr>
              <a:t>tem</a:t>
            </a:r>
            <a:r>
              <a:rPr kumimoji="0" lang="nl-NL" sz="1400" b="0" i="1" u="none" strike="noStrike" cap="none" normalizeH="0" baseline="0" dirty="0">
                <a:ln>
                  <a:noFill/>
                </a:ln>
                <a:solidFill>
                  <a:srgbClr val="8C8C8C"/>
                </a:solidFill>
                <a:effectLst/>
                <a:latin typeface="JetBrains Mono"/>
              </a:rPr>
              <a:t> 10 met maar 3 waardes</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a:ln>
                  <a:noFill/>
                </a:ln>
                <a:solidFill>
                  <a:srgbClr val="080808"/>
                </a:solidFill>
                <a:effectLst/>
                <a:latin typeface="JetBrains Mono"/>
              </a:rPr>
              <a:t>interval2 = </a:t>
            </a:r>
            <a:r>
              <a:rPr kumimoji="0" lang="nl-NL" sz="1400" b="0" i="0" u="none" strike="noStrike" cap="none" normalizeH="0" baseline="0" dirty="0" err="1">
                <a:ln>
                  <a:noFill/>
                </a:ln>
                <a:solidFill>
                  <a:srgbClr val="080808"/>
                </a:solidFill>
                <a:effectLst/>
                <a:latin typeface="JetBrains Mono"/>
              </a:rPr>
              <a:t>np.linspace</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1" u="none" strike="noStrike" cap="none" normalizeH="0" baseline="0" dirty="0">
                <a:ln>
                  <a:noFill/>
                </a:ln>
                <a:solidFill>
                  <a:srgbClr val="8C8C8C"/>
                </a:solidFill>
                <a:effectLst/>
                <a:latin typeface="JetBrains Mono"/>
              </a:rPr>
              <a:t># idem, maar vanaf 1 </a:t>
            </a:r>
            <a:r>
              <a:rPr kumimoji="0" lang="nl-NL" sz="1400" b="0" i="1" u="none" strike="noStrike" cap="none" normalizeH="0" baseline="0" dirty="0">
                <a:ln>
                  <a:noFill/>
                </a:ln>
                <a:solidFill>
                  <a:srgbClr val="00B050"/>
                </a:solidFill>
                <a:effectLst/>
                <a:latin typeface="JetBrains Mono"/>
              </a:rPr>
              <a:t>tem</a:t>
            </a:r>
            <a:r>
              <a:rPr kumimoji="0" lang="nl-NL" sz="1400" b="0" i="1" u="none" strike="noStrike" cap="none" normalizeH="0" baseline="0" dirty="0">
                <a:ln>
                  <a:noFill/>
                </a:ln>
                <a:solidFill>
                  <a:srgbClr val="8C8C8C"/>
                </a:solidFill>
                <a:effectLst/>
                <a:latin typeface="JetBrains Mono"/>
              </a:rPr>
              <a:t> 20 met maar 6 waardes</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a:ln>
                  <a:noFill/>
                </a:ln>
                <a:solidFill>
                  <a:srgbClr val="080808"/>
                </a:solidFill>
                <a:effectLst/>
                <a:latin typeface="JetBrains Mono"/>
              </a:rPr>
              <a:t>interval3 = </a:t>
            </a:r>
            <a:r>
              <a:rPr kumimoji="0" lang="nl-NL" sz="1400" b="0" i="0" u="none" strike="noStrike" cap="none" normalizeH="0" baseline="0" dirty="0" err="1">
                <a:ln>
                  <a:noFill/>
                </a:ln>
                <a:solidFill>
                  <a:srgbClr val="080808"/>
                </a:solidFill>
                <a:effectLst/>
                <a:latin typeface="JetBrains Mono"/>
              </a:rPr>
              <a:t>np.linspace</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20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6</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FF0000"/>
                </a:solidFill>
                <a:effectLst/>
                <a:latin typeface="JetBrains Mono"/>
              </a:rPr>
              <a:t>interval1</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067D17"/>
                </a:solidFill>
                <a:effectLst/>
                <a:latin typeface="JetBrains Mono"/>
              </a:rPr>
              <a:t>'lengte:'</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00080"/>
                </a:solidFill>
                <a:effectLst/>
                <a:latin typeface="JetBrains Mono"/>
              </a:rPr>
              <a:t>len</a:t>
            </a:r>
            <a:r>
              <a:rPr kumimoji="0" lang="nl-NL" sz="1400" b="0" i="0" u="none" strike="noStrike" cap="none" normalizeH="0" baseline="0" dirty="0">
                <a:ln>
                  <a:noFill/>
                </a:ln>
                <a:solidFill>
                  <a:srgbClr val="080808"/>
                </a:solidFill>
                <a:effectLst/>
                <a:latin typeface="JetBrains Mono"/>
              </a:rPr>
              <a:t>(interval1))</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0B050"/>
                </a:solidFill>
                <a:effectLst/>
                <a:latin typeface="JetBrains Mono"/>
              </a:rPr>
              <a:t>interval2</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0B0F0"/>
                </a:solidFill>
                <a:effectLst/>
                <a:latin typeface="JetBrains Mono"/>
              </a:rPr>
              <a:t>interval3</a:t>
            </a:r>
            <a:r>
              <a:rPr kumimoji="0" lang="nl-NL" sz="1400" b="0" i="0" u="none" strike="noStrike" cap="none" normalizeH="0" baseline="0" dirty="0">
                <a:ln>
                  <a:noFill/>
                </a:ln>
                <a:solidFill>
                  <a:srgbClr val="080808"/>
                </a:solidFill>
                <a:effectLst/>
                <a:latin typeface="JetBrains Mono"/>
              </a:rPr>
              <a:t>)</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E9572D7C-4D3A-0774-7BD4-D8F02D5CC0DF}"/>
              </a:ext>
            </a:extLst>
          </p:cNvPr>
          <p:cNvSpPr>
            <a:spLocks noChangeArrowheads="1"/>
          </p:cNvSpPr>
          <p:nvPr/>
        </p:nvSpPr>
        <p:spPr bwMode="auto">
          <a:xfrm>
            <a:off x="5579410" y="2687675"/>
            <a:ext cx="6036590" cy="226215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050" b="0"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[ 10. 11.83673469 13.67346939 15.51020408 17.34693878 19.18367347 21.02040816 22.85714286 24.69387755 26.53061224 28.36734694 30.20408163 32.04081633 33.87755102 35.71428571 37.55102041 39.3877551 41.2244898 43.06122449 44.89795918 46.73469388 48.57142857 50.40816327 52.24489796 54.08163265 55.91836735 57.75510204 59.59183673 61.42857143 63.26530612 65.10204082 66.93877551 68.7755102 70.6122449 72.44897959 74.28571429 76.12244898 77.95918367 79.79591837 81.63265306 83.46938776 85.30612245 87.14285714 88.97959184 90.81632653 92.65306122 94.48979592 96.32653061 98.16326531 100. ] </a:t>
            </a:r>
            <a:r>
              <a:rPr kumimoji="0" lang="nl-NL" sz="105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lengte: 50 (50 is de default waarde)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sz="105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sz="105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5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[ 1. 5.5 10.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sz="105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50" b="0" i="0" u="none" strike="noStrike" cap="none" normalizeH="0" baseline="0" dirty="0">
                <a:ln>
                  <a:noFill/>
                </a:ln>
                <a:solidFill>
                  <a:srgbClr val="00B0F0"/>
                </a:solidFill>
                <a:effectLst/>
                <a:latin typeface="Courier New" panose="02070309020205020404" pitchFamily="49" charset="0"/>
                <a:cs typeface="Courier New" panose="02070309020205020404" pitchFamily="49" charset="0"/>
              </a:rPr>
              <a:t>[ 1. 4.8 8.6 12.4 16.2 20. ]</a:t>
            </a:r>
            <a:r>
              <a:rPr kumimoji="0" lang="nl-NL" sz="500" b="0" i="0" u="none" strike="noStrike" cap="none" normalizeH="0" baseline="0" dirty="0">
                <a:ln>
                  <a:noFill/>
                </a:ln>
                <a:solidFill>
                  <a:srgbClr val="00B0F0"/>
                </a:solidFill>
                <a:effectLst/>
              </a:rPr>
              <a:t> </a:t>
            </a:r>
            <a:endParaRPr kumimoji="0" lang="nl-NL" sz="2000" b="0" i="0" u="none" strike="noStrike" cap="none" normalizeH="0" baseline="0" dirty="0">
              <a:ln>
                <a:noFill/>
              </a:ln>
              <a:solidFill>
                <a:srgbClr val="00B0F0"/>
              </a:solidFill>
              <a:effectLst/>
              <a:latin typeface="Arial" panose="020B0604020202020204" pitchFamily="34" charset="0"/>
            </a:endParaRPr>
          </a:p>
        </p:txBody>
      </p:sp>
      <p:sp>
        <p:nvSpPr>
          <p:cNvPr id="8" name="TextBox 7">
            <a:extLst>
              <a:ext uri="{FF2B5EF4-FFF2-40B4-BE49-F238E27FC236}">
                <a16:creationId xmlns:a16="http://schemas.microsoft.com/office/drawing/2014/main" id="{79BE139C-6CEB-FD9D-57B5-8C9AD0964C34}"/>
              </a:ext>
            </a:extLst>
          </p:cNvPr>
          <p:cNvSpPr txBox="1"/>
          <p:nvPr/>
        </p:nvSpPr>
        <p:spPr>
          <a:xfrm>
            <a:off x="5579410" y="2293493"/>
            <a:ext cx="1182456" cy="369332"/>
          </a:xfrm>
          <a:prstGeom prst="rect">
            <a:avLst/>
          </a:prstGeom>
          <a:noFill/>
        </p:spPr>
        <p:txBody>
          <a:bodyPr wrap="square" rtlCol="0">
            <a:spAutoFit/>
          </a:bodyPr>
          <a:lstStyle/>
          <a:p>
            <a:r>
              <a:rPr lang="nl-NL" dirty="0"/>
              <a:t>Output:</a:t>
            </a:r>
          </a:p>
        </p:txBody>
      </p:sp>
      <p:sp>
        <p:nvSpPr>
          <p:cNvPr id="9" name="TextBox 8">
            <a:extLst>
              <a:ext uri="{FF2B5EF4-FFF2-40B4-BE49-F238E27FC236}">
                <a16:creationId xmlns:a16="http://schemas.microsoft.com/office/drawing/2014/main" id="{2002CB38-A6EE-71EF-85F4-DC9B8A953B72}"/>
              </a:ext>
            </a:extLst>
          </p:cNvPr>
          <p:cNvSpPr txBox="1"/>
          <p:nvPr/>
        </p:nvSpPr>
        <p:spPr>
          <a:xfrm>
            <a:off x="574800" y="2372986"/>
            <a:ext cx="918841" cy="369332"/>
          </a:xfrm>
          <a:prstGeom prst="rect">
            <a:avLst/>
          </a:prstGeom>
          <a:noFill/>
        </p:spPr>
        <p:txBody>
          <a:bodyPr wrap="square" rtlCol="0">
            <a:spAutoFit/>
          </a:bodyPr>
          <a:lstStyle/>
          <a:p>
            <a:r>
              <a:rPr lang="nl-NL" dirty="0"/>
              <a:t>Code:</a:t>
            </a:r>
          </a:p>
        </p:txBody>
      </p:sp>
    </p:spTree>
    <p:extLst>
      <p:ext uri="{BB962C8B-B14F-4D97-AF65-F5344CB8AC3E}">
        <p14:creationId xmlns:p14="http://schemas.microsoft.com/office/powerpoint/2010/main" val="4124821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2943C6-7BCD-6090-7539-A0AC83402421}"/>
              </a:ext>
            </a:extLst>
          </p:cNvPr>
          <p:cNvSpPr>
            <a:spLocks noGrp="1"/>
          </p:cNvSpPr>
          <p:nvPr>
            <p:ph type="sldNum" sz="quarter" idx="12"/>
          </p:nvPr>
        </p:nvSpPr>
        <p:spPr/>
        <p:txBody>
          <a:bodyPr/>
          <a:lstStyle/>
          <a:p>
            <a:fld id="{D270EDC2-4F5E-5547-954F-5222C286AC2A}" type="slidenum">
              <a:rPr lang="nl-NL" smtClean="0"/>
              <a:t>12</a:t>
            </a:fld>
            <a:endParaRPr lang="nl-NL" dirty="0"/>
          </a:p>
        </p:txBody>
      </p:sp>
      <p:sp>
        <p:nvSpPr>
          <p:cNvPr id="4" name="Title 3">
            <a:extLst>
              <a:ext uri="{FF2B5EF4-FFF2-40B4-BE49-F238E27FC236}">
                <a16:creationId xmlns:a16="http://schemas.microsoft.com/office/drawing/2014/main" id="{494C82E3-D993-A36B-8799-F77596653510}"/>
              </a:ext>
            </a:extLst>
          </p:cNvPr>
          <p:cNvSpPr>
            <a:spLocks noGrp="1"/>
          </p:cNvSpPr>
          <p:nvPr>
            <p:ph type="title"/>
          </p:nvPr>
        </p:nvSpPr>
        <p:spPr/>
        <p:txBody>
          <a:bodyPr/>
          <a:lstStyle/>
          <a:p>
            <a:r>
              <a:rPr lang="nl-NL" dirty="0"/>
              <a:t>Voorbeelden </a:t>
            </a:r>
            <a:r>
              <a:rPr lang="nl-NL" dirty="0">
                <a:latin typeface="Courier New" panose="02070309020205020404" pitchFamily="49" charset="0"/>
                <a:cs typeface="Courier New" panose="02070309020205020404" pitchFamily="49" charset="0"/>
              </a:rPr>
              <a:t>rand(int)</a:t>
            </a:r>
          </a:p>
        </p:txBody>
      </p:sp>
      <p:sp>
        <p:nvSpPr>
          <p:cNvPr id="7" name="Rectangle 1">
            <a:extLst>
              <a:ext uri="{FF2B5EF4-FFF2-40B4-BE49-F238E27FC236}">
                <a16:creationId xmlns:a16="http://schemas.microsoft.com/office/drawing/2014/main" id="{4044F811-AC6F-54BA-007B-5673649F0402}"/>
              </a:ext>
            </a:extLst>
          </p:cNvPr>
          <p:cNvSpPr>
            <a:spLocks noChangeArrowheads="1"/>
          </p:cNvSpPr>
          <p:nvPr/>
        </p:nvSpPr>
        <p:spPr bwMode="auto">
          <a:xfrm>
            <a:off x="575999" y="1808653"/>
            <a:ext cx="5615573" cy="181588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1" u="none" strike="noStrike" cap="none" normalizeH="0" baseline="0" dirty="0">
                <a:ln>
                  <a:noFill/>
                </a:ln>
                <a:solidFill>
                  <a:srgbClr val="8C8C8C"/>
                </a:solidFill>
                <a:effectLst/>
                <a:latin typeface="JetBrains Mono"/>
              </a:rPr>
              <a:t># maak een reeks van 6 willekeurige gehele getallen vanaf 5 tot 10</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err="1">
                <a:ln>
                  <a:noFill/>
                </a:ln>
                <a:solidFill>
                  <a:srgbClr val="080808"/>
                </a:solidFill>
                <a:effectLst/>
                <a:latin typeface="JetBrains Mono"/>
              </a:rPr>
              <a:t>willekeurige_gehele_rij</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np.random.randint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6</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1" u="none" strike="noStrike" cap="none" normalizeH="0" baseline="0" dirty="0">
                <a:ln>
                  <a:noFill/>
                </a:ln>
                <a:solidFill>
                  <a:srgbClr val="8C8C8C"/>
                </a:solidFill>
                <a:effectLst/>
                <a:latin typeface="JetBrains Mono"/>
              </a:rPr>
              <a:t># maak een matrix van 3x6 met willekeurige gehele getallen vanaf 5 tot 10</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err="1">
                <a:ln>
                  <a:noFill/>
                </a:ln>
                <a:solidFill>
                  <a:srgbClr val="080808"/>
                </a:solidFill>
                <a:effectLst/>
                <a:latin typeface="JetBrains Mono"/>
              </a:rPr>
              <a:t>willekeurige_gehele_matrix</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np.random.randint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6</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'Rij:'</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FF0000"/>
                </a:solidFill>
                <a:effectLst/>
                <a:latin typeface="JetBrains Mono"/>
              </a:rPr>
              <a:t>willekeurige_gehele_rij</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'Matrix:'</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0B050"/>
                </a:solidFill>
                <a:effectLst/>
                <a:latin typeface="JetBrains Mono"/>
              </a:rPr>
              <a:t>willekeurige_gehele_matrix</a:t>
            </a:r>
            <a:r>
              <a:rPr lang="nl-NL" sz="1400" dirty="0">
                <a:solidFill>
                  <a:srgbClr val="080808"/>
                </a:solidFill>
                <a:latin typeface="JetBrains Mono"/>
              </a:rPr>
              <a:t>)</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38677094-1E8F-3B20-93FD-BB978DF0324D}"/>
              </a:ext>
            </a:extLst>
          </p:cNvPr>
          <p:cNvSpPr>
            <a:spLocks noChangeArrowheads="1"/>
          </p:cNvSpPr>
          <p:nvPr/>
        </p:nvSpPr>
        <p:spPr bwMode="auto">
          <a:xfrm>
            <a:off x="575999" y="3946031"/>
            <a:ext cx="5310753" cy="20313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1" u="none" strike="noStrike" cap="none" normalizeH="0" baseline="0" dirty="0">
                <a:ln>
                  <a:noFill/>
                </a:ln>
                <a:solidFill>
                  <a:srgbClr val="8C8C8C"/>
                </a:solidFill>
                <a:effectLst/>
                <a:latin typeface="JetBrains Mono"/>
              </a:rPr>
              <a:t># maak een reeks van 5 willekeurige getallen tussen 0 en 1</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err="1">
                <a:ln>
                  <a:noFill/>
                </a:ln>
                <a:solidFill>
                  <a:srgbClr val="080808"/>
                </a:solidFill>
                <a:effectLst/>
                <a:latin typeface="JetBrains Mono"/>
              </a:rPr>
              <a:t>willekeurige_gehele_rij</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np.random.rand</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1" u="none" strike="noStrike" cap="none" normalizeH="0" baseline="0" dirty="0">
                <a:ln>
                  <a:noFill/>
                </a:ln>
                <a:solidFill>
                  <a:srgbClr val="8C8C8C"/>
                </a:solidFill>
                <a:effectLst/>
                <a:latin typeface="JetBrains Mono"/>
              </a:rPr>
              <a:t># maak een matrix van 5x6 met willekeurige kommagetallen tussen 0 en 1</a:t>
            </a:r>
            <a:br>
              <a:rPr kumimoji="0" lang="nl-NL" sz="1400" b="0" i="1" u="none" strike="noStrike" cap="none" normalizeH="0" baseline="0" dirty="0">
                <a:ln>
                  <a:noFill/>
                </a:ln>
                <a:solidFill>
                  <a:srgbClr val="8C8C8C"/>
                </a:solidFill>
                <a:effectLst/>
                <a:latin typeface="JetBrains Mono"/>
              </a:rPr>
            </a:br>
            <a:r>
              <a:rPr kumimoji="0" lang="nl-NL" sz="1400" b="0" i="0" u="none" strike="noStrike" cap="none" normalizeH="0" baseline="0" dirty="0" err="1">
                <a:ln>
                  <a:noFill/>
                </a:ln>
                <a:solidFill>
                  <a:srgbClr val="080808"/>
                </a:solidFill>
                <a:effectLst/>
                <a:latin typeface="JetBrains Mono"/>
              </a:rPr>
              <a:t>willekeurige_gehele_matrix</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np.random.rand</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6</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'Rij:'</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FF0000"/>
                </a:solidFill>
                <a:effectLst/>
                <a:latin typeface="JetBrains Mono"/>
              </a:rPr>
              <a:t>willekeurige_gehele_rij</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'Matrix:'</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0B050"/>
                </a:solidFill>
                <a:effectLst/>
                <a:latin typeface="JetBrains Mono"/>
              </a:rPr>
              <a:t>willekeurige_gehele_matrix</a:t>
            </a:r>
            <a:r>
              <a:rPr kumimoji="0" lang="nl-NL" sz="1400" b="0" i="0" u="none" strike="noStrike" cap="none" normalizeH="0" baseline="0" dirty="0">
                <a:ln>
                  <a:noFill/>
                </a:ln>
                <a:solidFill>
                  <a:srgbClr val="080808"/>
                </a:solidFill>
                <a:effectLst/>
                <a:latin typeface="JetBrains Mono"/>
              </a:rPr>
              <a:t>)</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8A01FBC0-D708-29FE-D736-E70468DAF776}"/>
              </a:ext>
            </a:extLst>
          </p:cNvPr>
          <p:cNvSpPr>
            <a:spLocks noChangeArrowheads="1"/>
          </p:cNvSpPr>
          <p:nvPr/>
        </p:nvSpPr>
        <p:spPr bwMode="auto">
          <a:xfrm>
            <a:off x="6703017" y="2722644"/>
            <a:ext cx="2100020" cy="92333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Rij: </a:t>
            </a:r>
            <a:r>
              <a:rPr kumimoji="0" lang="nl-NL" sz="1200" b="0"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[6 6 8 6 9 5]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Matrix: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[[7 7 7 7 9 9]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[5 8 8 5 9 5]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[9 5 5 7 7 8]]</a:t>
            </a:r>
            <a:r>
              <a:rPr kumimoji="0" lang="nl-NL" sz="700" b="0" i="0" u="none" strike="noStrike" cap="none" normalizeH="0" baseline="0" dirty="0">
                <a:ln>
                  <a:noFill/>
                </a:ln>
                <a:solidFill>
                  <a:srgbClr val="00B050"/>
                </a:solidFill>
                <a:effectLst/>
              </a:rPr>
              <a:t> </a:t>
            </a:r>
            <a:endParaRPr kumimoji="0" lang="nl-NL" sz="2800" b="0" i="0" u="none" strike="noStrike" cap="none" normalizeH="0" baseline="0" dirty="0">
              <a:ln>
                <a:noFill/>
              </a:ln>
              <a:solidFill>
                <a:srgbClr val="00B050"/>
              </a:solidFill>
              <a:effectLst/>
              <a:latin typeface="Arial" panose="020B0604020202020204" pitchFamily="34" charset="0"/>
            </a:endParaRPr>
          </a:p>
        </p:txBody>
      </p:sp>
      <p:sp>
        <p:nvSpPr>
          <p:cNvPr id="10" name="Rectangle 4">
            <a:extLst>
              <a:ext uri="{FF2B5EF4-FFF2-40B4-BE49-F238E27FC236}">
                <a16:creationId xmlns:a16="http://schemas.microsoft.com/office/drawing/2014/main" id="{E60B1187-F173-CD3F-06B4-0A6D8CEED5EB}"/>
              </a:ext>
            </a:extLst>
          </p:cNvPr>
          <p:cNvSpPr>
            <a:spLocks noChangeArrowheads="1"/>
          </p:cNvSpPr>
          <p:nvPr/>
        </p:nvSpPr>
        <p:spPr bwMode="auto">
          <a:xfrm>
            <a:off x="6703017" y="4720510"/>
            <a:ext cx="5310753" cy="123110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Rij: </a:t>
            </a:r>
            <a:r>
              <a:rPr kumimoji="0" lang="nl-NL" sz="1000" b="0"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[0.7917406 0.7687894 0.08825505 0.93891194 0.99397832]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Matrix: </a:t>
            </a:r>
            <a:r>
              <a:rPr kumimoji="0" lang="nl-NL" sz="10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[[0.59802363 0.24293301 0.01323218 0.88718424 0.92683855 0.23853339] [0.83880011 0.75325842 0.17597428 0.57899784 0.0411351 0.32980728] [0.68720541 0.32880611 0.60245001 0.48152655 0.33320987 0.4928996 ] [0.31268604 0.02641823 0.56957233 0.35206696 0.11431288 0.07715521] [0.23370395 0.9190379 0.40317555 0.62535445 0.88102138 0.15068908]]</a:t>
            </a:r>
            <a:r>
              <a:rPr kumimoji="0" lang="nl-NL" sz="400" b="0" i="0" u="none" strike="noStrike" cap="none" normalizeH="0" baseline="0" dirty="0">
                <a:ln>
                  <a:noFill/>
                </a:ln>
                <a:solidFill>
                  <a:srgbClr val="00B050"/>
                </a:solidFill>
                <a:effectLst/>
              </a:rPr>
              <a:t> </a:t>
            </a:r>
            <a:endParaRPr kumimoji="0" lang="nl-NL" sz="1800" b="0" i="0" u="none" strike="noStrike" cap="none" normalizeH="0" baseline="0" dirty="0">
              <a:ln>
                <a:noFill/>
              </a:ln>
              <a:solidFill>
                <a:srgbClr val="00B050"/>
              </a:solidFill>
              <a:effectLst/>
              <a:latin typeface="Arial" panose="020B0604020202020204" pitchFamily="34" charset="0"/>
            </a:endParaRPr>
          </a:p>
        </p:txBody>
      </p:sp>
      <p:sp>
        <p:nvSpPr>
          <p:cNvPr id="11" name="TextBox 10">
            <a:extLst>
              <a:ext uri="{FF2B5EF4-FFF2-40B4-BE49-F238E27FC236}">
                <a16:creationId xmlns:a16="http://schemas.microsoft.com/office/drawing/2014/main" id="{12AEA47D-4804-D9A9-DF92-78D23FD093FE}"/>
              </a:ext>
            </a:extLst>
          </p:cNvPr>
          <p:cNvSpPr txBox="1"/>
          <p:nvPr/>
        </p:nvSpPr>
        <p:spPr>
          <a:xfrm>
            <a:off x="6703017" y="2347262"/>
            <a:ext cx="1182456" cy="369332"/>
          </a:xfrm>
          <a:prstGeom prst="rect">
            <a:avLst/>
          </a:prstGeom>
          <a:noFill/>
        </p:spPr>
        <p:txBody>
          <a:bodyPr wrap="square" rtlCol="0">
            <a:spAutoFit/>
          </a:bodyPr>
          <a:lstStyle/>
          <a:p>
            <a:r>
              <a:rPr lang="nl-NL" dirty="0"/>
              <a:t>Output:</a:t>
            </a:r>
          </a:p>
        </p:txBody>
      </p:sp>
      <p:sp>
        <p:nvSpPr>
          <p:cNvPr id="12" name="TextBox 11">
            <a:extLst>
              <a:ext uri="{FF2B5EF4-FFF2-40B4-BE49-F238E27FC236}">
                <a16:creationId xmlns:a16="http://schemas.microsoft.com/office/drawing/2014/main" id="{2DDDF5BD-0A12-3143-3C1F-BB7E893F26C5}"/>
              </a:ext>
            </a:extLst>
          </p:cNvPr>
          <p:cNvSpPr txBox="1"/>
          <p:nvPr/>
        </p:nvSpPr>
        <p:spPr>
          <a:xfrm>
            <a:off x="512807" y="1413666"/>
            <a:ext cx="918841" cy="369332"/>
          </a:xfrm>
          <a:prstGeom prst="rect">
            <a:avLst/>
          </a:prstGeom>
          <a:noFill/>
        </p:spPr>
        <p:txBody>
          <a:bodyPr wrap="square" rtlCol="0">
            <a:spAutoFit/>
          </a:bodyPr>
          <a:lstStyle/>
          <a:p>
            <a:r>
              <a:rPr lang="nl-NL" dirty="0"/>
              <a:t>Code:</a:t>
            </a:r>
          </a:p>
        </p:txBody>
      </p:sp>
    </p:spTree>
    <p:extLst>
      <p:ext uri="{BB962C8B-B14F-4D97-AF65-F5344CB8AC3E}">
        <p14:creationId xmlns:p14="http://schemas.microsoft.com/office/powerpoint/2010/main" val="2737207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a = np.zeros((2, 3))</a:t>
            </a:r>
          </a:p>
          <a:p>
            <a:pPr marL="0" indent="0">
              <a:lnSpc>
                <a:spcPts val="2400"/>
              </a:lnSpc>
              <a:spcBef>
                <a:spcPts val="0"/>
              </a:spcBef>
              <a:spcAft>
                <a:spcPts val="0"/>
              </a:spcAft>
              <a:buNone/>
            </a:pPr>
            <a:r>
              <a:rPr lang="nl-NL" sz="2000" dirty="0">
                <a:latin typeface="Consolas"/>
                <a:cs typeface="Consolas"/>
              </a:rPr>
              <a:t>print(a.shape)</a:t>
            </a:r>
          </a:p>
          <a:p>
            <a:pPr marL="0" indent="0">
              <a:lnSpc>
                <a:spcPts val="2400"/>
              </a:lnSpc>
              <a:spcBef>
                <a:spcPts val="0"/>
              </a:spcBef>
              <a:spcAft>
                <a:spcPts val="0"/>
              </a:spcAft>
              <a:buNone/>
            </a:pPr>
            <a:r>
              <a:rPr lang="nl-NL" sz="2000" dirty="0">
                <a:latin typeface="Consolas"/>
                <a:cs typeface="Consolas"/>
              </a:rPr>
              <a:t>print(np.arange(2, 10, 3))</a:t>
            </a:r>
          </a:p>
          <a:p>
            <a:pPr marL="0" indent="0">
              <a:lnSpc>
                <a:spcPts val="2400"/>
              </a:lnSpc>
              <a:spcBef>
                <a:spcPts val="0"/>
              </a:spcBef>
              <a:spcAft>
                <a:spcPts val="0"/>
              </a:spcAft>
              <a:buNone/>
            </a:pPr>
            <a:r>
              <a:rPr lang="nl-NL" sz="2000" dirty="0">
                <a:latin typeface="Consolas"/>
                <a:cs typeface="Consolas"/>
              </a:rPr>
              <a:t>print(np.linspace(0, 1, 5))</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l = [1, 2, 3]</a:t>
            </a:r>
          </a:p>
          <a:p>
            <a:pPr marL="0" indent="0">
              <a:lnSpc>
                <a:spcPts val="2400"/>
              </a:lnSpc>
              <a:spcBef>
                <a:spcPts val="0"/>
              </a:spcBef>
              <a:spcAft>
                <a:spcPts val="0"/>
              </a:spcAft>
              <a:buNone/>
            </a:pPr>
            <a:r>
              <a:rPr lang="nl-NL" sz="2000" dirty="0">
                <a:latin typeface="Consolas"/>
                <a:cs typeface="Consolas"/>
              </a:rPr>
              <a:t>r = np.array([1, 2, 3])</a:t>
            </a:r>
          </a:p>
          <a:p>
            <a:pPr marL="0" indent="0">
              <a:lnSpc>
                <a:spcPts val="2400"/>
              </a:lnSpc>
              <a:spcBef>
                <a:spcPts val="0"/>
              </a:spcBef>
              <a:spcAft>
                <a:spcPts val="0"/>
              </a:spcAft>
              <a:buNone/>
            </a:pPr>
            <a:r>
              <a:rPr lang="nl-NL" sz="2000" dirty="0">
                <a:latin typeface="Consolas"/>
                <a:cs typeface="Consolas"/>
              </a:rPr>
              <a:t>print(l * 2)</a:t>
            </a:r>
          </a:p>
          <a:p>
            <a:pPr marL="0" indent="0">
              <a:lnSpc>
                <a:spcPts val="2400"/>
              </a:lnSpc>
              <a:spcBef>
                <a:spcPts val="0"/>
              </a:spcBef>
              <a:spcAft>
                <a:spcPts val="0"/>
              </a:spcAft>
              <a:buNone/>
            </a:pPr>
            <a:r>
              <a:rPr lang="nl-NL" sz="2000" dirty="0">
                <a:latin typeface="Consolas"/>
                <a:cs typeface="Consolas"/>
              </a:rPr>
              <a:t>print(r * 2)</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 (zie notebook 1B-oefeningen_slides)</a:t>
            </a:r>
          </a:p>
          <a:p>
            <a:pPr marL="0" indent="0">
              <a:spcBef>
                <a:spcPts val="600"/>
              </a:spcBef>
              <a:buNone/>
            </a:pPr>
            <a:r>
              <a:rPr lang="nl-NL" sz="1800" dirty="0">
                <a:solidFill>
                  <a:srgbClr val="1D8DB0"/>
                </a:solidFill>
              </a:rPr>
              <a:t>Hint: de vorm (</a:t>
            </a:r>
            <a:r>
              <a:rPr lang="nl-NL" sz="1800" dirty="0">
                <a:solidFill>
                  <a:srgbClr val="1D8DB0"/>
                </a:solidFill>
                <a:latin typeface="Courier New" panose="02070309020205020404" pitchFamily="49" charset="0"/>
                <a:cs typeface="Courier New" panose="02070309020205020404" pitchFamily="49" charset="0"/>
              </a:rPr>
              <a:t>shape</a:t>
            </a:r>
            <a:r>
              <a:rPr lang="nl-NL" sz="1800" dirty="0">
                <a:solidFill>
                  <a:srgbClr val="1D8DB0"/>
                </a:solidFill>
              </a:rPr>
              <a:t>) van een matrix geef je mee als 1 tuple</a:t>
            </a:r>
          </a:p>
        </p:txBody>
      </p:sp>
      <p:sp>
        <p:nvSpPr>
          <p:cNvPr id="3" name="Title 2"/>
          <p:cNvSpPr>
            <a:spLocks noGrp="1"/>
          </p:cNvSpPr>
          <p:nvPr>
            <p:ph type="title"/>
          </p:nvPr>
        </p:nvSpPr>
        <p:spPr/>
        <p:txBody>
          <a:bodyPr/>
          <a:lstStyle/>
          <a:p>
            <a:r>
              <a:t>Oefening 1B.1: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13</a:t>
            </a:fld>
            <a:endParaRPr lang="nl-NL"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1CA2F2-8990-1F4B-A37F-A576F9580084}"/>
              </a:ext>
            </a:extLst>
          </p:cNvPr>
          <p:cNvSpPr>
            <a:spLocks noGrp="1"/>
          </p:cNvSpPr>
          <p:nvPr>
            <p:ph idx="1"/>
          </p:nvPr>
        </p:nvSpPr>
        <p:spPr/>
        <p:txBody>
          <a:bodyPr>
            <a:normAutofit/>
          </a:bodyPr>
          <a:lstStyle/>
          <a:p>
            <a:r>
              <a:rPr lang="nl-NL" dirty="0"/>
              <a:t>Laten toe om rond de assen van de n dimensies verschillende operaties uit te voeren</a:t>
            </a:r>
          </a:p>
          <a:p>
            <a:r>
              <a:rPr lang="nl-NL" dirty="0"/>
              <a:t>Bv. bij 2D-matrix:</a:t>
            </a:r>
          </a:p>
          <a:p>
            <a:pPr lvl="1"/>
            <a:r>
              <a:rPr lang="nl-NL" sz="2000" dirty="0" err="1">
                <a:latin typeface="Courier New" panose="02070309020205020404" pitchFamily="49" charset="0"/>
                <a:cs typeface="Courier New" panose="02070309020205020404" pitchFamily="49" charset="0"/>
              </a:rPr>
              <a:t>axis</a:t>
            </a:r>
            <a:r>
              <a:rPr lang="nl-NL" sz="2000" dirty="0">
                <a:latin typeface="Courier New" panose="02070309020205020404" pitchFamily="49" charset="0"/>
                <a:cs typeface="Courier New" panose="02070309020205020404" pitchFamily="49" charset="0"/>
              </a:rPr>
              <a:t>=0</a:t>
            </a:r>
            <a:r>
              <a:rPr lang="nl-NL" sz="2000" dirty="0"/>
              <a:t> -&gt; rij-dimensie</a:t>
            </a:r>
          </a:p>
          <a:p>
            <a:pPr lvl="1"/>
            <a:r>
              <a:rPr lang="nl-NL" sz="2000" dirty="0" err="1">
                <a:latin typeface="Courier New" panose="02070309020205020404" pitchFamily="49" charset="0"/>
                <a:cs typeface="Courier New" panose="02070309020205020404" pitchFamily="49" charset="0"/>
              </a:rPr>
              <a:t>axis</a:t>
            </a:r>
            <a:r>
              <a:rPr lang="nl-NL" sz="2000" dirty="0">
                <a:latin typeface="Courier New" panose="02070309020205020404" pitchFamily="49" charset="0"/>
                <a:cs typeface="Courier New" panose="02070309020205020404" pitchFamily="49" charset="0"/>
              </a:rPr>
              <a:t>=1</a:t>
            </a:r>
            <a:r>
              <a:rPr lang="nl-NL" sz="2000" dirty="0"/>
              <a:t> -&gt; kolom-dimensie</a:t>
            </a:r>
          </a:p>
          <a:p>
            <a:pPr lvl="1"/>
            <a:r>
              <a:rPr lang="nl-NL" sz="2000" dirty="0"/>
              <a:t>Argumenten van methodes zoals </a:t>
            </a:r>
            <a:r>
              <a:rPr lang="nl-NL" sz="2000" dirty="0" err="1">
                <a:latin typeface="Courier New" panose="02070309020205020404" pitchFamily="49" charset="0"/>
                <a:cs typeface="Courier New" panose="02070309020205020404" pitchFamily="49" charset="0"/>
              </a:rPr>
              <a:t>sum</a:t>
            </a:r>
            <a:r>
              <a:rPr lang="nl-NL" sz="2000" dirty="0">
                <a:latin typeface="Courier New" panose="02070309020205020404" pitchFamily="49" charset="0"/>
                <a:cs typeface="Courier New" panose="02070309020205020404" pitchFamily="49" charset="0"/>
              </a:rPr>
              <a:t>()</a:t>
            </a:r>
            <a:r>
              <a:rPr lang="nl-NL" sz="2000" dirty="0"/>
              <a:t>, </a:t>
            </a:r>
            <a:r>
              <a:rPr lang="nl-NL" sz="2000" dirty="0" err="1">
                <a:latin typeface="Courier New" panose="02070309020205020404" pitchFamily="49" charset="0"/>
                <a:cs typeface="Courier New" panose="02070309020205020404" pitchFamily="49" charset="0"/>
              </a:rPr>
              <a:t>mean</a:t>
            </a:r>
            <a:r>
              <a:rPr lang="nl-NL" sz="2000" dirty="0">
                <a:latin typeface="Courier New" panose="02070309020205020404" pitchFamily="49" charset="0"/>
                <a:cs typeface="Courier New" panose="02070309020205020404" pitchFamily="49" charset="0"/>
              </a:rPr>
              <a:t>()</a:t>
            </a:r>
            <a:r>
              <a:rPr lang="nl-NL" sz="2000" dirty="0"/>
              <a:t>, enz.</a:t>
            </a:r>
          </a:p>
          <a:p>
            <a:pPr lvl="1"/>
            <a:r>
              <a:rPr lang="nl-NL" sz="2000" dirty="0"/>
              <a:t>Lees als: </a:t>
            </a:r>
            <a:r>
              <a:rPr lang="nl-NL" sz="2000" i="1" dirty="0"/>
              <a:t>langs</a:t>
            </a:r>
            <a:r>
              <a:rPr lang="nl-NL" sz="2000" dirty="0"/>
              <a:t> de rij-dimensie en </a:t>
            </a:r>
            <a:r>
              <a:rPr lang="nl-NL" sz="2000" i="1" dirty="0"/>
              <a:t>langs</a:t>
            </a:r>
            <a:r>
              <a:rPr lang="nl-NL" sz="2000" dirty="0"/>
              <a:t> de kolom-dimensie</a:t>
            </a:r>
          </a:p>
          <a:p>
            <a:pPr lvl="1"/>
            <a:endParaRPr lang="nl-NL" sz="2000" dirty="0"/>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14</a:t>
            </a:fld>
            <a:endParaRPr lang="nl-NL" dirty="0"/>
          </a:p>
        </p:txBody>
      </p:sp>
      <p:sp>
        <p:nvSpPr>
          <p:cNvPr id="2" name="Title 1">
            <a:extLst>
              <a:ext uri="{FF2B5EF4-FFF2-40B4-BE49-F238E27FC236}">
                <a16:creationId xmlns:a16="http://schemas.microsoft.com/office/drawing/2014/main" id="{CFE8B1B2-11CC-2242-8AF7-1AA344999E23}"/>
              </a:ext>
            </a:extLst>
          </p:cNvPr>
          <p:cNvSpPr>
            <a:spLocks noGrp="1"/>
          </p:cNvSpPr>
          <p:nvPr>
            <p:ph type="title"/>
          </p:nvPr>
        </p:nvSpPr>
        <p:spPr/>
        <p:txBody>
          <a:bodyPr/>
          <a:lstStyle/>
          <a:p>
            <a:r>
              <a:rPr lang="nl-NL" dirty="0"/>
              <a:t>Dimensies</a:t>
            </a:r>
          </a:p>
        </p:txBody>
      </p:sp>
    </p:spTree>
    <p:extLst>
      <p:ext uri="{BB962C8B-B14F-4D97-AF65-F5344CB8AC3E}">
        <p14:creationId xmlns:p14="http://schemas.microsoft.com/office/powerpoint/2010/main" val="2941469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8391B0A-5644-BF92-2553-847564E6C6EA}"/>
              </a:ext>
            </a:extLst>
          </p:cNvPr>
          <p:cNvSpPr>
            <a:spLocks noGrp="1"/>
          </p:cNvSpPr>
          <p:nvPr>
            <p:ph type="sldNum" sz="quarter" idx="12"/>
          </p:nvPr>
        </p:nvSpPr>
        <p:spPr/>
        <p:txBody>
          <a:bodyPr/>
          <a:lstStyle/>
          <a:p>
            <a:fld id="{D270EDC2-4F5E-5547-954F-5222C286AC2A}" type="slidenum">
              <a:rPr lang="nl-NL" smtClean="0"/>
              <a:t>15</a:t>
            </a:fld>
            <a:endParaRPr lang="nl-NL" dirty="0"/>
          </a:p>
        </p:txBody>
      </p:sp>
      <p:sp>
        <p:nvSpPr>
          <p:cNvPr id="4" name="Title 3">
            <a:extLst>
              <a:ext uri="{FF2B5EF4-FFF2-40B4-BE49-F238E27FC236}">
                <a16:creationId xmlns:a16="http://schemas.microsoft.com/office/drawing/2014/main" id="{42170732-A03F-1D8C-9200-5D1E7A7C321A}"/>
              </a:ext>
            </a:extLst>
          </p:cNvPr>
          <p:cNvSpPr>
            <a:spLocks noGrp="1"/>
          </p:cNvSpPr>
          <p:nvPr>
            <p:ph type="title"/>
          </p:nvPr>
        </p:nvSpPr>
        <p:spPr/>
        <p:txBody>
          <a:bodyPr/>
          <a:lstStyle/>
          <a:p>
            <a:r>
              <a:rPr lang="nl-NL" dirty="0"/>
              <a:t>Berekeningen langs de assen</a:t>
            </a:r>
          </a:p>
        </p:txBody>
      </p:sp>
      <p:sp>
        <p:nvSpPr>
          <p:cNvPr id="5" name="Rectangle 1">
            <a:extLst>
              <a:ext uri="{FF2B5EF4-FFF2-40B4-BE49-F238E27FC236}">
                <a16:creationId xmlns:a16="http://schemas.microsoft.com/office/drawing/2014/main" id="{3B671E10-545D-FDA0-6DE9-CB4D3766A7C5}"/>
              </a:ext>
            </a:extLst>
          </p:cNvPr>
          <p:cNvSpPr>
            <a:spLocks noChangeArrowheads="1"/>
          </p:cNvSpPr>
          <p:nvPr/>
        </p:nvSpPr>
        <p:spPr bwMode="auto">
          <a:xfrm>
            <a:off x="741789" y="2718871"/>
            <a:ext cx="4953837" cy="181588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err="1">
                <a:ln>
                  <a:noFill/>
                </a:ln>
                <a:solidFill>
                  <a:srgbClr val="080808"/>
                </a:solidFill>
                <a:effectLst/>
                <a:latin typeface="JetBrains Mono"/>
              </a:rPr>
              <a:t>willekeurige_gehele_matrix</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np.random.randint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4</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'Matrix:</a:t>
            </a:r>
            <a:r>
              <a:rPr kumimoji="0" lang="nl-NL" sz="1400" b="0" i="0" u="none" strike="noStrike" cap="none" normalizeH="0" baseline="0" dirty="0">
                <a:ln>
                  <a:noFill/>
                </a:ln>
                <a:solidFill>
                  <a:srgbClr val="0037A6"/>
                </a:solidFill>
                <a:effectLst/>
                <a:latin typeface="JetBrains Mono"/>
              </a:rPr>
              <a:t>\n</a:t>
            </a:r>
            <a:r>
              <a:rPr kumimoji="0" lang="nl-NL" sz="1400" b="0" i="0" u="none" strike="noStrike" cap="none" normalizeH="0" baseline="0" dirty="0">
                <a:ln>
                  <a:noFill/>
                </a:ln>
                <a:solidFill>
                  <a:srgbClr val="067D17"/>
                </a:solidFill>
                <a:effectLst/>
                <a:latin typeface="JetBrains Mono"/>
              </a:rPr>
              <a:t>'</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80808"/>
                </a:solidFill>
                <a:effectLst/>
                <a:latin typeface="JetBrains Mono"/>
              </a:rPr>
              <a:t>willekeurige_gehele_matrix</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'Totale som:’</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80808"/>
                </a:solidFill>
                <a:effectLst/>
                <a:latin typeface="JetBrains Mono"/>
              </a:rPr>
              <a:t>willekeurige_gehele_matrix.sum</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'Som langs de rijen (per kolom):'</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80808"/>
                </a:solidFill>
                <a:effectLst/>
                <a:latin typeface="JetBrains Mono"/>
              </a:rPr>
              <a:t>willekeurige_gehele_matrix.sum</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err="1">
                <a:ln>
                  <a:noFill/>
                </a:ln>
                <a:solidFill>
                  <a:srgbClr val="660099"/>
                </a:solidFill>
                <a:effectLst/>
                <a:latin typeface="JetBrains Mono"/>
              </a:rPr>
              <a:t>axis</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0</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'Som langs de kolommen (per rij):'</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err="1">
                <a:ln>
                  <a:noFill/>
                </a:ln>
                <a:solidFill>
                  <a:srgbClr val="080808"/>
                </a:solidFill>
                <a:effectLst/>
                <a:latin typeface="JetBrains Mono"/>
              </a:rPr>
              <a:t>willekeurige_gehele_matrix.sum</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err="1">
                <a:ln>
                  <a:noFill/>
                </a:ln>
                <a:solidFill>
                  <a:srgbClr val="660099"/>
                </a:solidFill>
                <a:effectLst/>
                <a:latin typeface="JetBrains Mono"/>
              </a:rPr>
              <a:t>axis</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a:t>
            </a:r>
            <a:r>
              <a:rPr kumimoji="0" lang="nl-NL" sz="1400" b="0" i="0" u="none" strike="noStrike" cap="none" normalizeH="0" baseline="0" dirty="0">
                <a:ln>
                  <a:noFill/>
                </a:ln>
                <a:solidFill>
                  <a:srgbClr val="080808"/>
                </a:solidFill>
                <a:effectLst/>
                <a:latin typeface="JetBrains Mono"/>
              </a:rPr>
              <a:t>))</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7EB0A852-18D7-F972-C29A-5BCF4BB57B2A}"/>
              </a:ext>
            </a:extLst>
          </p:cNvPr>
          <p:cNvSpPr>
            <a:spLocks noChangeArrowheads="1"/>
          </p:cNvSpPr>
          <p:nvPr/>
        </p:nvSpPr>
        <p:spPr bwMode="auto">
          <a:xfrm>
            <a:off x="6245165" y="3031134"/>
            <a:ext cx="5525145"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Matrix: [[8 9 5 6] </a:t>
            </a:r>
          </a:p>
          <a:p>
            <a:pPr marL="0" marR="0" lvl="0" indent="0" algn="l" defTabSz="914400" rtl="0" eaLnBrk="0" fontAlgn="base" latinLnBrk="0" hangingPunct="0">
              <a:lnSpc>
                <a:spcPct val="100000"/>
              </a:lnSpc>
              <a:spcBef>
                <a:spcPct val="0"/>
              </a:spcBef>
              <a:spcAft>
                <a:spcPct val="0"/>
              </a:spcAft>
              <a:buClrTx/>
              <a:buSzTx/>
              <a:buFontTx/>
              <a:buNone/>
              <a:tabLst/>
            </a:pPr>
            <a:r>
              <a:rPr lang="nl-NL" sz="1600" dirty="0">
                <a:solidFill>
                  <a:srgbClr val="000000"/>
                </a:solidFill>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[9 8 9 6]]</a:t>
            </a:r>
          </a:p>
          <a:p>
            <a:pPr marL="0" marR="0" lvl="0" indent="0" algn="l" defTabSz="914400" rtl="0" eaLnBrk="0" fontAlgn="base" latinLnBrk="0" hangingPunct="0">
              <a:lnSpc>
                <a:spcPct val="100000"/>
              </a:lnSpc>
              <a:spcBef>
                <a:spcPct val="0"/>
              </a:spcBef>
              <a:spcAft>
                <a:spcPct val="0"/>
              </a:spcAft>
              <a:buClrTx/>
              <a:buSzTx/>
              <a:buFontTx/>
              <a:buNone/>
              <a:tabLst/>
            </a:pPr>
            <a:endParaRPr lang="nl-NL" sz="1600" dirty="0">
              <a:solidFill>
                <a:srgbClr val="000000"/>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Totale som: 60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Som langs de rijen (per kolom): [17 17 14 12]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Som langs de kolommen (per rij): [28 32]</a:t>
            </a:r>
            <a:r>
              <a:rPr kumimoji="0" lang="nl-NL" sz="900" b="0" i="0" u="none" strike="noStrike" cap="none" normalizeH="0" baseline="0" dirty="0">
                <a:ln>
                  <a:noFill/>
                </a:ln>
                <a:solidFill>
                  <a:schemeClr val="tx1"/>
                </a:solidFill>
                <a:effectLst/>
              </a:rPr>
              <a:t> </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0B402E6-367D-0DCA-80A8-0A613A548857}"/>
              </a:ext>
            </a:extLst>
          </p:cNvPr>
          <p:cNvSpPr txBox="1"/>
          <p:nvPr/>
        </p:nvSpPr>
        <p:spPr>
          <a:xfrm>
            <a:off x="6245165" y="2718871"/>
            <a:ext cx="941283" cy="369332"/>
          </a:xfrm>
          <a:prstGeom prst="rect">
            <a:avLst/>
          </a:prstGeom>
          <a:noFill/>
        </p:spPr>
        <p:txBody>
          <a:bodyPr wrap="none" rtlCol="0">
            <a:spAutoFit/>
          </a:bodyPr>
          <a:lstStyle/>
          <a:p>
            <a:r>
              <a:rPr lang="nl-NL" dirty="0"/>
              <a:t>Output:</a:t>
            </a:r>
          </a:p>
        </p:txBody>
      </p:sp>
      <p:sp>
        <p:nvSpPr>
          <p:cNvPr id="8" name="TextBox 7">
            <a:extLst>
              <a:ext uri="{FF2B5EF4-FFF2-40B4-BE49-F238E27FC236}">
                <a16:creationId xmlns:a16="http://schemas.microsoft.com/office/drawing/2014/main" id="{8FD7DD78-3A6C-0606-43C8-21AC8A2A7A6F}"/>
              </a:ext>
            </a:extLst>
          </p:cNvPr>
          <p:cNvSpPr txBox="1"/>
          <p:nvPr/>
        </p:nvSpPr>
        <p:spPr>
          <a:xfrm>
            <a:off x="741789" y="2349539"/>
            <a:ext cx="800219" cy="369332"/>
          </a:xfrm>
          <a:prstGeom prst="rect">
            <a:avLst/>
          </a:prstGeom>
          <a:noFill/>
        </p:spPr>
        <p:txBody>
          <a:bodyPr wrap="none" rtlCol="0">
            <a:spAutoFit/>
          </a:bodyPr>
          <a:lstStyle/>
          <a:p>
            <a:r>
              <a:rPr lang="nl-NL" dirty="0"/>
              <a:t>Code:</a:t>
            </a:r>
          </a:p>
        </p:txBody>
      </p:sp>
    </p:spTree>
    <p:extLst>
      <p:ext uri="{BB962C8B-B14F-4D97-AF65-F5344CB8AC3E}">
        <p14:creationId xmlns:p14="http://schemas.microsoft.com/office/powerpoint/2010/main" val="2524814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2A37AC-08C7-1F4F-8017-65FAB64DAE7E}"/>
              </a:ext>
            </a:extLst>
          </p:cNvPr>
          <p:cNvSpPr>
            <a:spLocks noGrp="1"/>
          </p:cNvSpPr>
          <p:nvPr>
            <p:ph type="sldNum" sz="quarter" idx="12"/>
          </p:nvPr>
        </p:nvSpPr>
        <p:spPr/>
        <p:txBody>
          <a:bodyPr/>
          <a:lstStyle/>
          <a:p>
            <a:fld id="{D270EDC2-4F5E-5547-954F-5222C286AC2A}" type="slidenum">
              <a:rPr lang="nl-NL" smtClean="0"/>
              <a:t>16</a:t>
            </a:fld>
            <a:endParaRPr lang="nl-NL" dirty="0"/>
          </a:p>
        </p:txBody>
      </p:sp>
      <p:sp>
        <p:nvSpPr>
          <p:cNvPr id="2" name="Title 1">
            <a:extLst>
              <a:ext uri="{FF2B5EF4-FFF2-40B4-BE49-F238E27FC236}">
                <a16:creationId xmlns:a16="http://schemas.microsoft.com/office/drawing/2014/main" id="{23526733-DADB-724A-8498-D068EA39854F}"/>
              </a:ext>
            </a:extLst>
          </p:cNvPr>
          <p:cNvSpPr>
            <a:spLocks noGrp="1"/>
          </p:cNvSpPr>
          <p:nvPr>
            <p:ph type="title"/>
          </p:nvPr>
        </p:nvSpPr>
        <p:spPr/>
        <p:txBody>
          <a:bodyPr/>
          <a:lstStyle/>
          <a:p>
            <a:r>
              <a:rPr lang="nl-NL" dirty="0"/>
              <a:t>Methodes en berekeningen</a:t>
            </a:r>
          </a:p>
        </p:txBody>
      </p:sp>
      <p:sp>
        <p:nvSpPr>
          <p:cNvPr id="5" name="Rectangle 4">
            <a:extLst>
              <a:ext uri="{FF2B5EF4-FFF2-40B4-BE49-F238E27FC236}">
                <a16:creationId xmlns:a16="http://schemas.microsoft.com/office/drawing/2014/main" id="{48D13AC2-4A59-2A4F-83D1-4CDBF7680DC3}"/>
              </a:ext>
            </a:extLst>
          </p:cNvPr>
          <p:cNvSpPr/>
          <p:nvPr/>
        </p:nvSpPr>
        <p:spPr>
          <a:xfrm>
            <a:off x="135834" y="3203354"/>
            <a:ext cx="6543262" cy="2031325"/>
          </a:xfrm>
          <a:prstGeom prst="rect">
            <a:avLst/>
          </a:prstGeom>
          <a:ln>
            <a:solidFill>
              <a:schemeClr val="tx1"/>
            </a:solidFill>
          </a:ln>
        </p:spPr>
        <p:txBody>
          <a:bodyPr wrap="square">
            <a:spAutoFit/>
          </a:bodyPr>
          <a:lstStyle/>
          <a:p>
            <a:r>
              <a:rPr lang="nl-NL" sz="1400" dirty="0">
                <a:solidFill>
                  <a:srgbClr val="8888C6"/>
                </a:solidFill>
              </a:rPr>
              <a:t>print</a:t>
            </a:r>
            <a:r>
              <a:rPr lang="nl-NL" sz="1400" dirty="0"/>
              <a:t>(</a:t>
            </a:r>
            <a:r>
              <a:rPr lang="nl-NL" sz="1400" dirty="0">
                <a:solidFill>
                  <a:srgbClr val="6A8759"/>
                </a:solidFill>
              </a:rPr>
              <a:t>'Totale som:'</a:t>
            </a:r>
            <a:r>
              <a:rPr lang="nl-NL" sz="1400" dirty="0">
                <a:solidFill>
                  <a:srgbClr val="CC7832"/>
                </a:solidFill>
              </a:rPr>
              <a:t>, </a:t>
            </a:r>
            <a:r>
              <a:rPr lang="nl-NL" sz="1400" dirty="0" err="1"/>
              <a:t>np.sum</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'Hoogste getal:'</a:t>
            </a:r>
            <a:r>
              <a:rPr lang="nl-NL" sz="1400" dirty="0">
                <a:solidFill>
                  <a:srgbClr val="CC7832"/>
                </a:solidFill>
              </a:rPr>
              <a:t>, </a:t>
            </a:r>
            <a:r>
              <a:rPr lang="nl-NL" sz="1400" dirty="0" err="1"/>
              <a:t>np.max</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'Hoogste getal per kolom (langs de rijen gaan):'</a:t>
            </a:r>
            <a:r>
              <a:rPr lang="nl-NL" sz="1400" dirty="0">
                <a:solidFill>
                  <a:srgbClr val="CC7832"/>
                </a:solidFill>
              </a:rPr>
              <a:t>, </a:t>
            </a:r>
            <a:r>
              <a:rPr lang="nl-NL" sz="1400" dirty="0" err="1"/>
              <a:t>np.max</a:t>
            </a:r>
            <a:r>
              <a:rPr lang="nl-NL" sz="1400" dirty="0"/>
              <a:t>(mat</a:t>
            </a:r>
            <a:r>
              <a:rPr lang="nl-NL" sz="1400" dirty="0">
                <a:solidFill>
                  <a:srgbClr val="CC7832"/>
                </a:solidFill>
              </a:rPr>
              <a:t>, </a:t>
            </a:r>
            <a:r>
              <a:rPr lang="nl-NL" sz="1400" dirty="0" err="1">
                <a:solidFill>
                  <a:srgbClr val="AA4926"/>
                </a:solidFill>
              </a:rPr>
              <a:t>axis</a:t>
            </a:r>
            <a:r>
              <a:rPr lang="nl-NL" sz="1400" dirty="0"/>
              <a:t>=</a:t>
            </a:r>
            <a:r>
              <a:rPr lang="nl-NL" sz="1400" dirty="0">
                <a:solidFill>
                  <a:srgbClr val="6897BB"/>
                </a:solidFill>
              </a:rPr>
              <a:t>0</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'Hoogste getal per rij (langs de kolommen gaan):'</a:t>
            </a:r>
            <a:r>
              <a:rPr lang="nl-NL" sz="1400" dirty="0">
                <a:solidFill>
                  <a:srgbClr val="CC7832"/>
                </a:solidFill>
              </a:rPr>
              <a:t>, </a:t>
            </a:r>
            <a:r>
              <a:rPr lang="nl-NL" sz="1400" dirty="0" err="1"/>
              <a:t>np.max</a:t>
            </a:r>
            <a:r>
              <a:rPr lang="nl-NL" sz="1400" dirty="0"/>
              <a:t>(mat</a:t>
            </a:r>
            <a:r>
              <a:rPr lang="nl-NL" sz="1400" dirty="0">
                <a:solidFill>
                  <a:srgbClr val="CC7832"/>
                </a:solidFill>
              </a:rPr>
              <a:t>, </a:t>
            </a:r>
            <a:r>
              <a:rPr lang="nl-NL" sz="1400" dirty="0" err="1">
                <a:solidFill>
                  <a:srgbClr val="AA4926"/>
                </a:solidFill>
              </a:rPr>
              <a:t>axis</a:t>
            </a:r>
            <a:r>
              <a:rPr lang="nl-NL" sz="1400" dirty="0"/>
              <a:t>=</a:t>
            </a:r>
            <a:r>
              <a:rPr lang="nl-NL" sz="1400" dirty="0">
                <a:solidFill>
                  <a:srgbClr val="6897BB"/>
                </a:solidFill>
              </a:rPr>
              <a:t>1</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'Laagste getal:'</a:t>
            </a:r>
            <a:r>
              <a:rPr lang="nl-NL" sz="1400" dirty="0">
                <a:solidFill>
                  <a:srgbClr val="CC7832"/>
                </a:solidFill>
              </a:rPr>
              <a:t>, </a:t>
            </a:r>
            <a:r>
              <a:rPr lang="nl-NL" sz="1400" dirty="0" err="1"/>
              <a:t>np.min</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'Gemiddelde:'</a:t>
            </a:r>
            <a:r>
              <a:rPr lang="nl-NL" sz="1400" dirty="0">
                <a:solidFill>
                  <a:srgbClr val="CC7832"/>
                </a:solidFill>
              </a:rPr>
              <a:t>, </a:t>
            </a:r>
            <a:r>
              <a:rPr lang="nl-NL" sz="1400" dirty="0" err="1"/>
              <a:t>np.mean</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'Mediaan:'</a:t>
            </a:r>
            <a:r>
              <a:rPr lang="nl-NL" sz="1400" dirty="0">
                <a:solidFill>
                  <a:srgbClr val="CC7832"/>
                </a:solidFill>
              </a:rPr>
              <a:t>, </a:t>
            </a:r>
            <a:r>
              <a:rPr lang="nl-NL" sz="1400" dirty="0" err="1"/>
              <a:t>np.median</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'Standaard deviatie:'</a:t>
            </a:r>
            <a:r>
              <a:rPr lang="nl-NL" sz="1400" dirty="0">
                <a:solidFill>
                  <a:srgbClr val="CC7832"/>
                </a:solidFill>
              </a:rPr>
              <a:t>, </a:t>
            </a:r>
            <a:r>
              <a:rPr lang="nl-NL" sz="1400" dirty="0" err="1"/>
              <a:t>np.std</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'Variantie:'</a:t>
            </a:r>
            <a:r>
              <a:rPr lang="nl-NL" sz="1400" dirty="0">
                <a:solidFill>
                  <a:srgbClr val="CC7832"/>
                </a:solidFill>
              </a:rPr>
              <a:t>, </a:t>
            </a:r>
            <a:r>
              <a:rPr lang="nl-NL" sz="1400" dirty="0" err="1"/>
              <a:t>np.var</a:t>
            </a:r>
            <a:r>
              <a:rPr lang="nl-NL" sz="1400" dirty="0"/>
              <a:t>(mat))</a:t>
            </a:r>
          </a:p>
        </p:txBody>
      </p:sp>
      <p:sp>
        <p:nvSpPr>
          <p:cNvPr id="6" name="Rectangle 5">
            <a:extLst>
              <a:ext uri="{FF2B5EF4-FFF2-40B4-BE49-F238E27FC236}">
                <a16:creationId xmlns:a16="http://schemas.microsoft.com/office/drawing/2014/main" id="{A42E5754-7E7A-7442-BE7E-18EEC4CDA5E7}"/>
              </a:ext>
            </a:extLst>
          </p:cNvPr>
          <p:cNvSpPr/>
          <p:nvPr/>
        </p:nvSpPr>
        <p:spPr>
          <a:xfrm>
            <a:off x="6844748" y="3203354"/>
            <a:ext cx="4774095" cy="2031325"/>
          </a:xfrm>
          <a:prstGeom prst="rect">
            <a:avLst/>
          </a:prstGeom>
          <a:ln>
            <a:solidFill>
              <a:schemeClr val="tx1"/>
            </a:solidFill>
          </a:ln>
        </p:spPr>
        <p:txBody>
          <a:bodyPr wrap="square">
            <a:spAutoFit/>
          </a:bodyPr>
          <a:lstStyle/>
          <a:p>
            <a:r>
              <a:rPr lang="nl-NL" sz="1400" dirty="0"/>
              <a:t>Totale som: 46</a:t>
            </a:r>
          </a:p>
          <a:p>
            <a:r>
              <a:rPr lang="nl-NL" sz="1400" dirty="0"/>
              <a:t>Hoogste getal: 9</a:t>
            </a:r>
          </a:p>
          <a:p>
            <a:r>
              <a:rPr lang="nl-NL" sz="1400" dirty="0"/>
              <a:t>Hoogste getal per kolom (langs de rijen gaan): [7 8 9]</a:t>
            </a:r>
          </a:p>
          <a:p>
            <a:r>
              <a:rPr lang="nl-NL" sz="1400" dirty="0"/>
              <a:t>Hoogste getal per rij (langs de kolommen gaan): [3 6 9]</a:t>
            </a:r>
          </a:p>
          <a:p>
            <a:r>
              <a:rPr lang="nl-NL" sz="1400" dirty="0"/>
              <a:t>Laagste getal: 1</a:t>
            </a:r>
          </a:p>
          <a:p>
            <a:r>
              <a:rPr lang="nl-NL" sz="1400" dirty="0"/>
              <a:t>Gemiddelde: 5.111111111111111</a:t>
            </a:r>
          </a:p>
          <a:p>
            <a:r>
              <a:rPr lang="nl-NL" sz="1400" dirty="0"/>
              <a:t>Mediaan: 5.0</a:t>
            </a:r>
          </a:p>
          <a:p>
            <a:r>
              <a:rPr lang="nl-NL" sz="1400" dirty="0"/>
              <a:t>Standaard deviatie: 2.469567863432541</a:t>
            </a:r>
          </a:p>
          <a:p>
            <a:r>
              <a:rPr lang="nl-NL" sz="1400" dirty="0"/>
              <a:t>Variantie: 6.098765432098765</a:t>
            </a:r>
          </a:p>
        </p:txBody>
      </p:sp>
      <p:sp>
        <p:nvSpPr>
          <p:cNvPr id="7" name="TextBox 6">
            <a:extLst>
              <a:ext uri="{FF2B5EF4-FFF2-40B4-BE49-F238E27FC236}">
                <a16:creationId xmlns:a16="http://schemas.microsoft.com/office/drawing/2014/main" id="{4FC1230D-698A-584C-8B91-0AD79AA87E6A}"/>
              </a:ext>
            </a:extLst>
          </p:cNvPr>
          <p:cNvSpPr txBox="1"/>
          <p:nvPr/>
        </p:nvSpPr>
        <p:spPr>
          <a:xfrm>
            <a:off x="6844748" y="2834022"/>
            <a:ext cx="1185347"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DF1267C2-155C-394A-986C-43D9430CED76}"/>
              </a:ext>
            </a:extLst>
          </p:cNvPr>
          <p:cNvSpPr txBox="1"/>
          <p:nvPr/>
        </p:nvSpPr>
        <p:spPr>
          <a:xfrm>
            <a:off x="135834" y="2834022"/>
            <a:ext cx="836755" cy="369332"/>
          </a:xfrm>
          <a:prstGeom prst="rect">
            <a:avLst/>
          </a:prstGeom>
          <a:noFill/>
        </p:spPr>
        <p:txBody>
          <a:bodyPr wrap="square" rtlCol="0">
            <a:spAutoFit/>
          </a:bodyPr>
          <a:lstStyle/>
          <a:p>
            <a:r>
              <a:rPr lang="nl-NL" dirty="0"/>
              <a:t>Code:</a:t>
            </a:r>
          </a:p>
        </p:txBody>
      </p:sp>
      <p:sp>
        <p:nvSpPr>
          <p:cNvPr id="9" name="Rectangle 8">
            <a:extLst>
              <a:ext uri="{FF2B5EF4-FFF2-40B4-BE49-F238E27FC236}">
                <a16:creationId xmlns:a16="http://schemas.microsoft.com/office/drawing/2014/main" id="{3A4D8EE3-BD99-DE4C-A584-96B37A2D8505}"/>
              </a:ext>
            </a:extLst>
          </p:cNvPr>
          <p:cNvSpPr/>
          <p:nvPr/>
        </p:nvSpPr>
        <p:spPr>
          <a:xfrm>
            <a:off x="1696279" y="1662191"/>
            <a:ext cx="1851991" cy="1200329"/>
          </a:xfrm>
          <a:prstGeom prst="rect">
            <a:avLst/>
          </a:prstGeom>
          <a:ln>
            <a:solidFill>
              <a:schemeClr val="tx1"/>
            </a:solidFill>
          </a:ln>
        </p:spPr>
        <p:txBody>
          <a:bodyPr wrap="square">
            <a:spAutoFit/>
          </a:bodyPr>
          <a:lstStyle/>
          <a:p>
            <a:r>
              <a:rPr lang="nl-NL" dirty="0"/>
              <a:t>mat = </a:t>
            </a:r>
            <a:r>
              <a:rPr lang="nl-NL" dirty="0" err="1"/>
              <a:t>np.array</a:t>
            </a:r>
            <a:r>
              <a:rPr lang="nl-NL" dirty="0"/>
              <a:t>([</a:t>
            </a:r>
            <a:br>
              <a:rPr lang="nl-NL" dirty="0"/>
            </a:br>
            <a:r>
              <a:rPr lang="nl-NL" dirty="0"/>
              <a:t>    [</a:t>
            </a:r>
            <a:r>
              <a:rPr lang="nl-NL" dirty="0">
                <a:solidFill>
                  <a:srgbClr val="6897BB"/>
                </a:solidFill>
              </a:rPr>
              <a:t>1</a:t>
            </a:r>
            <a:r>
              <a:rPr lang="nl-NL" dirty="0">
                <a:solidFill>
                  <a:srgbClr val="CC7832"/>
                </a:solidFill>
              </a:rPr>
              <a:t>, </a:t>
            </a:r>
            <a:r>
              <a:rPr lang="nl-NL" dirty="0">
                <a:solidFill>
                  <a:srgbClr val="6897BB"/>
                </a:solidFill>
              </a:rPr>
              <a:t>3</a:t>
            </a:r>
            <a:r>
              <a:rPr lang="nl-NL" dirty="0">
                <a:solidFill>
                  <a:srgbClr val="CC7832"/>
                </a:solidFill>
              </a:rPr>
              <a:t>, </a:t>
            </a:r>
            <a:r>
              <a:rPr lang="nl-NL" dirty="0">
                <a:solidFill>
                  <a:srgbClr val="6897BB"/>
                </a:solidFill>
              </a:rPr>
              <a:t>3</a:t>
            </a:r>
            <a:r>
              <a:rPr lang="nl-NL" dirty="0"/>
              <a:t>]</a:t>
            </a:r>
            <a:r>
              <a:rPr lang="nl-NL" dirty="0">
                <a:solidFill>
                  <a:srgbClr val="CC7832"/>
                </a:solidFill>
              </a:rPr>
              <a:t>,</a:t>
            </a:r>
            <a:br>
              <a:rPr lang="nl-NL" dirty="0">
                <a:solidFill>
                  <a:srgbClr val="CC7832"/>
                </a:solidFill>
              </a:rPr>
            </a:br>
            <a:r>
              <a:rPr lang="nl-NL" dirty="0">
                <a:solidFill>
                  <a:srgbClr val="CC7832"/>
                </a:solidFill>
              </a:rPr>
              <a:t>    </a:t>
            </a:r>
            <a:r>
              <a:rPr lang="nl-NL" dirty="0"/>
              <a:t>[</a:t>
            </a:r>
            <a:r>
              <a:rPr lang="nl-NL" dirty="0">
                <a:solidFill>
                  <a:srgbClr val="6897BB"/>
                </a:solidFill>
              </a:rPr>
              <a:t>4</a:t>
            </a:r>
            <a:r>
              <a:rPr lang="nl-NL" dirty="0">
                <a:solidFill>
                  <a:srgbClr val="CC7832"/>
                </a:solidFill>
              </a:rPr>
              <a:t>, </a:t>
            </a:r>
            <a:r>
              <a:rPr lang="nl-NL" dirty="0">
                <a:solidFill>
                  <a:srgbClr val="6897BB"/>
                </a:solidFill>
              </a:rPr>
              <a:t>5</a:t>
            </a:r>
            <a:r>
              <a:rPr lang="nl-NL" dirty="0">
                <a:solidFill>
                  <a:srgbClr val="CC7832"/>
                </a:solidFill>
              </a:rPr>
              <a:t>, </a:t>
            </a:r>
            <a:r>
              <a:rPr lang="nl-NL" dirty="0">
                <a:solidFill>
                  <a:srgbClr val="6897BB"/>
                </a:solidFill>
              </a:rPr>
              <a:t>6</a:t>
            </a:r>
            <a:r>
              <a:rPr lang="nl-NL" dirty="0"/>
              <a:t>]</a:t>
            </a:r>
            <a:r>
              <a:rPr lang="nl-NL" dirty="0">
                <a:solidFill>
                  <a:srgbClr val="CC7832"/>
                </a:solidFill>
              </a:rPr>
              <a:t>,</a:t>
            </a:r>
            <a:br>
              <a:rPr lang="nl-NL" dirty="0">
                <a:solidFill>
                  <a:srgbClr val="CC7832"/>
                </a:solidFill>
              </a:rPr>
            </a:br>
            <a:r>
              <a:rPr lang="nl-NL" dirty="0">
                <a:solidFill>
                  <a:srgbClr val="CC7832"/>
                </a:solidFill>
              </a:rPr>
              <a:t>    </a:t>
            </a:r>
            <a:r>
              <a:rPr lang="nl-NL" dirty="0"/>
              <a:t>[</a:t>
            </a:r>
            <a:r>
              <a:rPr lang="nl-NL" dirty="0">
                <a:solidFill>
                  <a:srgbClr val="6897BB"/>
                </a:solidFill>
              </a:rPr>
              <a:t>7</a:t>
            </a:r>
            <a:r>
              <a:rPr lang="nl-NL" dirty="0">
                <a:solidFill>
                  <a:srgbClr val="CC7832"/>
                </a:solidFill>
              </a:rPr>
              <a:t>, </a:t>
            </a:r>
            <a:r>
              <a:rPr lang="nl-NL" dirty="0">
                <a:solidFill>
                  <a:srgbClr val="6897BB"/>
                </a:solidFill>
              </a:rPr>
              <a:t>8</a:t>
            </a:r>
            <a:r>
              <a:rPr lang="nl-NL" dirty="0">
                <a:solidFill>
                  <a:srgbClr val="CC7832"/>
                </a:solidFill>
              </a:rPr>
              <a:t>, </a:t>
            </a:r>
            <a:r>
              <a:rPr lang="nl-NL" dirty="0">
                <a:solidFill>
                  <a:srgbClr val="6897BB"/>
                </a:solidFill>
              </a:rPr>
              <a:t>9</a:t>
            </a:r>
            <a:r>
              <a:rPr lang="nl-NL" dirty="0"/>
              <a:t>]])</a:t>
            </a:r>
          </a:p>
        </p:txBody>
      </p:sp>
      <p:cxnSp>
        <p:nvCxnSpPr>
          <p:cNvPr id="10" name="Straight Arrow Connector 9">
            <a:extLst>
              <a:ext uri="{FF2B5EF4-FFF2-40B4-BE49-F238E27FC236}">
                <a16:creationId xmlns:a16="http://schemas.microsoft.com/office/drawing/2014/main" id="{129C8864-15EB-EE41-BBD0-116C996A9CED}"/>
              </a:ext>
            </a:extLst>
          </p:cNvPr>
          <p:cNvCxnSpPr>
            <a:cxnSpLocks/>
          </p:cNvCxnSpPr>
          <p:nvPr/>
        </p:nvCxnSpPr>
        <p:spPr>
          <a:xfrm flipV="1">
            <a:off x="5772828" y="2262355"/>
            <a:ext cx="417443" cy="138948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E2AA572-24B6-1C49-969A-3D7EDC5036CA}"/>
              </a:ext>
            </a:extLst>
          </p:cNvPr>
          <p:cNvSpPr txBox="1"/>
          <p:nvPr/>
        </p:nvSpPr>
        <p:spPr>
          <a:xfrm>
            <a:off x="5553284" y="1776815"/>
            <a:ext cx="3323877" cy="523220"/>
          </a:xfrm>
          <a:prstGeom prst="rect">
            <a:avLst/>
          </a:prstGeom>
          <a:noFill/>
        </p:spPr>
        <p:txBody>
          <a:bodyPr wrap="square" rtlCol="0">
            <a:spAutoFit/>
          </a:bodyPr>
          <a:lstStyle/>
          <a:p>
            <a:r>
              <a:rPr lang="nl-NL" sz="1400" dirty="0"/>
              <a:t>We voeren de bewerking uit langs de </a:t>
            </a:r>
            <a:r>
              <a:rPr lang="nl-NL" sz="1400" dirty="0" err="1"/>
              <a:t>de</a:t>
            </a:r>
            <a:r>
              <a:rPr lang="nl-NL" sz="1400" dirty="0"/>
              <a:t> rij-dimensie (per kolom)</a:t>
            </a:r>
          </a:p>
        </p:txBody>
      </p:sp>
    </p:spTree>
    <p:extLst>
      <p:ext uri="{BB962C8B-B14F-4D97-AF65-F5344CB8AC3E}">
        <p14:creationId xmlns:p14="http://schemas.microsoft.com/office/powerpoint/2010/main" val="2350594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13F453-D65E-F74E-A2DF-154157A688F5}"/>
              </a:ext>
            </a:extLst>
          </p:cNvPr>
          <p:cNvSpPr>
            <a:spLocks noGrp="1"/>
          </p:cNvSpPr>
          <p:nvPr>
            <p:ph type="sldNum" sz="quarter" idx="12"/>
          </p:nvPr>
        </p:nvSpPr>
        <p:spPr/>
        <p:txBody>
          <a:bodyPr/>
          <a:lstStyle/>
          <a:p>
            <a:fld id="{D270EDC2-4F5E-5547-954F-5222C286AC2A}" type="slidenum">
              <a:rPr lang="nl-NL" smtClean="0"/>
              <a:t>17</a:t>
            </a:fld>
            <a:endParaRPr lang="nl-NL" dirty="0"/>
          </a:p>
        </p:txBody>
      </p:sp>
      <p:sp>
        <p:nvSpPr>
          <p:cNvPr id="2" name="Title 1">
            <a:extLst>
              <a:ext uri="{FF2B5EF4-FFF2-40B4-BE49-F238E27FC236}">
                <a16:creationId xmlns:a16="http://schemas.microsoft.com/office/drawing/2014/main" id="{77A243BA-7131-D24D-BA23-AEC70EF2D6B4}"/>
              </a:ext>
            </a:extLst>
          </p:cNvPr>
          <p:cNvSpPr>
            <a:spLocks noGrp="1"/>
          </p:cNvSpPr>
          <p:nvPr>
            <p:ph type="title"/>
          </p:nvPr>
        </p:nvSpPr>
        <p:spPr/>
        <p:txBody>
          <a:bodyPr/>
          <a:lstStyle/>
          <a:p>
            <a:r>
              <a:rPr lang="nl-NL" dirty="0"/>
              <a:t>Methodes en functies</a:t>
            </a:r>
          </a:p>
        </p:txBody>
      </p:sp>
      <p:sp>
        <p:nvSpPr>
          <p:cNvPr id="5" name="Rectangle 4">
            <a:extLst>
              <a:ext uri="{FF2B5EF4-FFF2-40B4-BE49-F238E27FC236}">
                <a16:creationId xmlns:a16="http://schemas.microsoft.com/office/drawing/2014/main" id="{4FB33A25-F093-8145-BB29-A7287C48D18A}"/>
              </a:ext>
            </a:extLst>
          </p:cNvPr>
          <p:cNvSpPr/>
          <p:nvPr/>
        </p:nvSpPr>
        <p:spPr>
          <a:xfrm>
            <a:off x="274982" y="2745218"/>
            <a:ext cx="6423991" cy="1815882"/>
          </a:xfrm>
          <a:prstGeom prst="rect">
            <a:avLst/>
          </a:prstGeom>
          <a:ln>
            <a:solidFill>
              <a:schemeClr val="tx1"/>
            </a:solidFill>
          </a:ln>
        </p:spPr>
        <p:txBody>
          <a:bodyPr wrap="square">
            <a:spAutoFit/>
          </a:bodyPr>
          <a:lstStyle/>
          <a:p>
            <a:r>
              <a:rPr lang="nl-NL" sz="1400" dirty="0">
                <a:solidFill>
                  <a:srgbClr val="8888C6"/>
                </a:solidFill>
              </a:rPr>
              <a:t>print</a:t>
            </a:r>
            <a:r>
              <a:rPr lang="nl-NL" sz="1400" dirty="0"/>
              <a:t>(</a:t>
            </a:r>
            <a:r>
              <a:rPr lang="nl-NL" sz="1400" dirty="0">
                <a:solidFill>
                  <a:srgbClr val="6A8759"/>
                </a:solidFill>
              </a:rPr>
              <a:t>'Som rij 1:'</a:t>
            </a:r>
            <a:r>
              <a:rPr lang="nl-NL" sz="1400" dirty="0">
                <a:solidFill>
                  <a:srgbClr val="CC7832"/>
                </a:solidFill>
              </a:rPr>
              <a:t>, </a:t>
            </a:r>
            <a:r>
              <a:rPr lang="nl-NL" sz="1400" dirty="0" err="1"/>
              <a:t>np.sum</a:t>
            </a:r>
            <a:r>
              <a:rPr lang="nl-NL" sz="1400" dirty="0"/>
              <a:t>(mat[</a:t>
            </a:r>
            <a:r>
              <a:rPr lang="nl-NL" sz="1400" dirty="0">
                <a:solidFill>
                  <a:srgbClr val="6897BB"/>
                </a:solidFill>
              </a:rPr>
              <a:t>0</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'Som rij 2:'</a:t>
            </a:r>
            <a:r>
              <a:rPr lang="nl-NL" sz="1400" dirty="0">
                <a:solidFill>
                  <a:srgbClr val="CC7832"/>
                </a:solidFill>
              </a:rPr>
              <a:t>, </a:t>
            </a:r>
            <a:r>
              <a:rPr lang="nl-NL" sz="1400" dirty="0" err="1"/>
              <a:t>np.sum</a:t>
            </a:r>
            <a:r>
              <a:rPr lang="nl-NL" sz="1400" dirty="0"/>
              <a:t>(mat[</a:t>
            </a:r>
            <a:r>
              <a:rPr lang="nl-NL" sz="1400" dirty="0">
                <a:solidFill>
                  <a:srgbClr val="6897BB"/>
                </a:solidFill>
              </a:rPr>
              <a:t>1</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'Som kolom 3:'</a:t>
            </a:r>
            <a:r>
              <a:rPr lang="nl-NL" sz="1400" dirty="0">
                <a:solidFill>
                  <a:srgbClr val="CC7832"/>
                </a:solidFill>
              </a:rPr>
              <a:t>, </a:t>
            </a:r>
            <a:r>
              <a:rPr lang="nl-NL" sz="1400" dirty="0" err="1"/>
              <a:t>np.sum</a:t>
            </a:r>
            <a:r>
              <a:rPr lang="nl-NL" sz="1400" dirty="0"/>
              <a:t>(mat[:</a:t>
            </a:r>
            <a:r>
              <a:rPr lang="nl-NL" sz="1400" dirty="0">
                <a:solidFill>
                  <a:srgbClr val="CC7832"/>
                </a:solidFill>
              </a:rPr>
              <a:t>, </a:t>
            </a:r>
            <a:r>
              <a:rPr lang="nl-NL" sz="1400" dirty="0">
                <a:solidFill>
                  <a:srgbClr val="6897BB"/>
                </a:solidFill>
              </a:rPr>
              <a:t>2</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'Som hele matrix:'</a:t>
            </a:r>
            <a:r>
              <a:rPr lang="nl-NL" sz="1400" dirty="0">
                <a:solidFill>
                  <a:srgbClr val="CC7832"/>
                </a:solidFill>
              </a:rPr>
              <a:t>, </a:t>
            </a:r>
            <a:r>
              <a:rPr lang="nl-NL" sz="1400" dirty="0" err="1"/>
              <a:t>mat.sum</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'Som per rij (langs de kolommen):'</a:t>
            </a:r>
            <a:r>
              <a:rPr lang="nl-NL" sz="1400" dirty="0">
                <a:solidFill>
                  <a:srgbClr val="CC7832"/>
                </a:solidFill>
              </a:rPr>
              <a:t>, </a:t>
            </a:r>
            <a:r>
              <a:rPr lang="nl-NL" sz="1400" dirty="0" err="1"/>
              <a:t>mat.sum</a:t>
            </a:r>
            <a:r>
              <a:rPr lang="nl-NL" sz="1400" dirty="0"/>
              <a:t>(</a:t>
            </a:r>
            <a:r>
              <a:rPr lang="nl-NL" sz="1400" dirty="0" err="1">
                <a:solidFill>
                  <a:srgbClr val="AA4926"/>
                </a:solidFill>
              </a:rPr>
              <a:t>axis</a:t>
            </a:r>
            <a:r>
              <a:rPr lang="nl-NL" sz="1400" dirty="0"/>
              <a:t>=</a:t>
            </a:r>
            <a:r>
              <a:rPr lang="nl-NL" sz="1400" dirty="0">
                <a:solidFill>
                  <a:srgbClr val="6897BB"/>
                </a:solidFill>
              </a:rPr>
              <a:t>1</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'Getransponeerde matrix:'</a:t>
            </a:r>
            <a:r>
              <a:rPr lang="nl-NL" sz="1400" dirty="0">
                <a:solidFill>
                  <a:srgbClr val="CC7832"/>
                </a:solidFill>
              </a:rPr>
              <a:t>, </a:t>
            </a:r>
            <a:r>
              <a:rPr lang="nl-NL" sz="1400" dirty="0" err="1"/>
              <a:t>mat.T</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'Inverteren (kan enkel op vierkante matrices):'</a:t>
            </a:r>
            <a:r>
              <a:rPr lang="nl-NL" sz="1400" dirty="0">
                <a:solidFill>
                  <a:srgbClr val="CC7832"/>
                </a:solidFill>
              </a:rPr>
              <a:t>, </a:t>
            </a:r>
            <a:r>
              <a:rPr lang="nl-NL" sz="1400" dirty="0" err="1"/>
              <a:t>np.linalg.inv</a:t>
            </a:r>
            <a:r>
              <a:rPr lang="nl-NL" sz="1400" dirty="0"/>
              <a:t>(mat))</a:t>
            </a:r>
            <a:br>
              <a:rPr lang="nl-NL" sz="1400" dirty="0"/>
            </a:br>
            <a:r>
              <a:rPr lang="nl-NL" sz="1400" dirty="0">
                <a:solidFill>
                  <a:srgbClr val="8888C6"/>
                </a:solidFill>
              </a:rPr>
              <a:t>print</a:t>
            </a:r>
            <a:r>
              <a:rPr lang="nl-NL" sz="1400" dirty="0"/>
              <a:t>(</a:t>
            </a:r>
            <a:r>
              <a:rPr lang="nl-NL" sz="1400" dirty="0">
                <a:solidFill>
                  <a:srgbClr val="6A8759"/>
                </a:solidFill>
              </a:rPr>
              <a:t>'Determinant:'</a:t>
            </a:r>
            <a:r>
              <a:rPr lang="nl-NL" sz="1400" dirty="0">
                <a:solidFill>
                  <a:srgbClr val="CC7832"/>
                </a:solidFill>
              </a:rPr>
              <a:t>, </a:t>
            </a:r>
            <a:r>
              <a:rPr lang="nl-NL" sz="1400" dirty="0" err="1"/>
              <a:t>np.linalg.det</a:t>
            </a:r>
            <a:r>
              <a:rPr lang="nl-NL" sz="1400" dirty="0"/>
              <a:t>(mat))</a:t>
            </a:r>
          </a:p>
        </p:txBody>
      </p:sp>
      <p:sp>
        <p:nvSpPr>
          <p:cNvPr id="6" name="Rectangle 5">
            <a:extLst>
              <a:ext uri="{FF2B5EF4-FFF2-40B4-BE49-F238E27FC236}">
                <a16:creationId xmlns:a16="http://schemas.microsoft.com/office/drawing/2014/main" id="{86FEE661-0C30-284D-95B9-00B94D035EFB}"/>
              </a:ext>
            </a:extLst>
          </p:cNvPr>
          <p:cNvSpPr/>
          <p:nvPr/>
        </p:nvSpPr>
        <p:spPr>
          <a:xfrm>
            <a:off x="7023652" y="2745218"/>
            <a:ext cx="4456044" cy="2893100"/>
          </a:xfrm>
          <a:prstGeom prst="rect">
            <a:avLst/>
          </a:prstGeom>
          <a:ln>
            <a:solidFill>
              <a:schemeClr val="tx1"/>
            </a:solidFill>
          </a:ln>
        </p:spPr>
        <p:txBody>
          <a:bodyPr wrap="square">
            <a:spAutoFit/>
          </a:bodyPr>
          <a:lstStyle/>
          <a:p>
            <a:r>
              <a:rPr lang="nl-NL" sz="1400" dirty="0"/>
              <a:t>Som rij 1: 7</a:t>
            </a:r>
          </a:p>
          <a:p>
            <a:r>
              <a:rPr lang="nl-NL" sz="1400" dirty="0"/>
              <a:t>Som rij 2: 15</a:t>
            </a:r>
          </a:p>
          <a:p>
            <a:r>
              <a:rPr lang="nl-NL" sz="1400" dirty="0"/>
              <a:t>Som kolom 3: 18</a:t>
            </a:r>
          </a:p>
          <a:p>
            <a:r>
              <a:rPr lang="nl-NL" sz="1400" dirty="0"/>
              <a:t>Som hele matrix: 46</a:t>
            </a:r>
          </a:p>
          <a:p>
            <a:r>
              <a:rPr lang="nl-NL" sz="1400" dirty="0"/>
              <a:t>Som per rij (langs de kolommen): [ 7 15 24]</a:t>
            </a:r>
          </a:p>
          <a:p>
            <a:r>
              <a:rPr lang="nl-NL" sz="1400" dirty="0"/>
              <a:t>Getransponeerde matrix: [[1 4 7]</a:t>
            </a:r>
          </a:p>
          <a:p>
            <a:r>
              <a:rPr lang="nl-NL" sz="1400" dirty="0"/>
              <a:t> [3 5 8]</a:t>
            </a:r>
          </a:p>
          <a:p>
            <a:r>
              <a:rPr lang="nl-NL" sz="1400" dirty="0"/>
              <a:t> [3 6 9]]</a:t>
            </a:r>
          </a:p>
          <a:p>
            <a:r>
              <a:rPr lang="nl-NL" sz="1400" dirty="0"/>
              <a:t>Inverteren (kan enkel op vierkante matrices): [[-0.5        -0.5         0.5       ]</a:t>
            </a:r>
          </a:p>
          <a:p>
            <a:r>
              <a:rPr lang="nl-NL" sz="1400" dirty="0"/>
              <a:t> [ 1.         -2.          1.        ]</a:t>
            </a:r>
          </a:p>
          <a:p>
            <a:r>
              <a:rPr lang="nl-NL" sz="1400" dirty="0"/>
              <a:t> [-0.5         2.16666667 -1.16666667]]</a:t>
            </a:r>
          </a:p>
          <a:p>
            <a:r>
              <a:rPr lang="nl-NL" sz="1400" dirty="0"/>
              <a:t>Determinant: 6.0</a:t>
            </a:r>
          </a:p>
        </p:txBody>
      </p:sp>
      <p:sp>
        <p:nvSpPr>
          <p:cNvPr id="7" name="TextBox 6">
            <a:extLst>
              <a:ext uri="{FF2B5EF4-FFF2-40B4-BE49-F238E27FC236}">
                <a16:creationId xmlns:a16="http://schemas.microsoft.com/office/drawing/2014/main" id="{9E8EA750-7D72-7244-800A-4139E3BF5F88}"/>
              </a:ext>
            </a:extLst>
          </p:cNvPr>
          <p:cNvSpPr txBox="1"/>
          <p:nvPr/>
        </p:nvSpPr>
        <p:spPr>
          <a:xfrm>
            <a:off x="7023652" y="2375886"/>
            <a:ext cx="1206840"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52E3C226-B501-D54C-B1FF-3EC2A71A350E}"/>
              </a:ext>
            </a:extLst>
          </p:cNvPr>
          <p:cNvSpPr txBox="1"/>
          <p:nvPr/>
        </p:nvSpPr>
        <p:spPr>
          <a:xfrm>
            <a:off x="274982" y="2378840"/>
            <a:ext cx="802167"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C14A9DDE-674F-E548-8B3C-E4E8C3E1CAA2}"/>
              </a:ext>
            </a:extLst>
          </p:cNvPr>
          <p:cNvCxnSpPr>
            <a:cxnSpLocks/>
          </p:cNvCxnSpPr>
          <p:nvPr/>
        </p:nvCxnSpPr>
        <p:spPr>
          <a:xfrm flipV="1">
            <a:off x="3486449" y="2378840"/>
            <a:ext cx="1206840" cy="9408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7FA0B9-31EE-9141-8586-E43D5EBEF93E}"/>
              </a:ext>
            </a:extLst>
          </p:cNvPr>
          <p:cNvSpPr txBox="1"/>
          <p:nvPr/>
        </p:nvSpPr>
        <p:spPr>
          <a:xfrm>
            <a:off x="4006845" y="1447035"/>
            <a:ext cx="3016807" cy="954107"/>
          </a:xfrm>
          <a:prstGeom prst="rect">
            <a:avLst/>
          </a:prstGeom>
          <a:noFill/>
        </p:spPr>
        <p:txBody>
          <a:bodyPr wrap="square" rtlCol="0">
            <a:spAutoFit/>
          </a:bodyPr>
          <a:lstStyle/>
          <a:p>
            <a:r>
              <a:rPr lang="nl-NL" sz="1400" dirty="0"/>
              <a:t>Merk op dat zowel een ingebouwde functie zoals </a:t>
            </a:r>
            <a:r>
              <a:rPr lang="nl-NL" sz="1400" dirty="0" err="1">
                <a:latin typeface="Courier New" panose="02070309020205020404" pitchFamily="49" charset="0"/>
                <a:cs typeface="Courier New" panose="02070309020205020404" pitchFamily="49" charset="0"/>
              </a:rPr>
              <a:t>np.sum</a:t>
            </a:r>
            <a:r>
              <a:rPr lang="nl-NL" sz="1400" dirty="0">
                <a:latin typeface="Courier New" panose="02070309020205020404" pitchFamily="49" charset="0"/>
                <a:cs typeface="Courier New" panose="02070309020205020404" pitchFamily="49" charset="0"/>
              </a:rPr>
              <a:t>()</a:t>
            </a:r>
            <a:r>
              <a:rPr lang="nl-NL" sz="1400" dirty="0"/>
              <a:t> kan gebruikt worden als een methode op de matrix zelf (</a:t>
            </a:r>
            <a:r>
              <a:rPr lang="nl-NL" sz="1400" dirty="0" err="1">
                <a:latin typeface="Courier New" panose="02070309020205020404" pitchFamily="49" charset="0"/>
                <a:cs typeface="Courier New" panose="02070309020205020404" pitchFamily="49" charset="0"/>
              </a:rPr>
              <a:t>mat.sum</a:t>
            </a:r>
            <a:r>
              <a:rPr lang="nl-NL" sz="1400" dirty="0">
                <a:latin typeface="Courier New" panose="02070309020205020404" pitchFamily="49" charset="0"/>
                <a:cs typeface="Courier New" panose="02070309020205020404" pitchFamily="49" charset="0"/>
              </a:rPr>
              <a:t>()</a:t>
            </a:r>
            <a:r>
              <a:rPr lang="nl-NL" sz="1400" dirty="0"/>
              <a:t>)</a:t>
            </a:r>
          </a:p>
        </p:txBody>
      </p:sp>
      <p:cxnSp>
        <p:nvCxnSpPr>
          <p:cNvPr id="14" name="Straight Arrow Connector 13">
            <a:extLst>
              <a:ext uri="{FF2B5EF4-FFF2-40B4-BE49-F238E27FC236}">
                <a16:creationId xmlns:a16="http://schemas.microsoft.com/office/drawing/2014/main" id="{ECCD660D-BCD9-0141-8725-912B46C5C5BD}"/>
              </a:ext>
            </a:extLst>
          </p:cNvPr>
          <p:cNvCxnSpPr>
            <a:cxnSpLocks/>
          </p:cNvCxnSpPr>
          <p:nvPr/>
        </p:nvCxnSpPr>
        <p:spPr>
          <a:xfrm>
            <a:off x="3410497" y="4060809"/>
            <a:ext cx="596348" cy="8150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647AB02-A73A-8848-86D0-9BC0E96B4158}"/>
              </a:ext>
            </a:extLst>
          </p:cNvPr>
          <p:cNvSpPr txBox="1"/>
          <p:nvPr/>
        </p:nvSpPr>
        <p:spPr>
          <a:xfrm>
            <a:off x="2705978" y="4841380"/>
            <a:ext cx="3016807" cy="461665"/>
          </a:xfrm>
          <a:prstGeom prst="rect">
            <a:avLst/>
          </a:prstGeom>
          <a:noFill/>
        </p:spPr>
        <p:txBody>
          <a:bodyPr wrap="square" rtlCol="0">
            <a:spAutoFit/>
          </a:bodyPr>
          <a:lstStyle/>
          <a:p>
            <a:r>
              <a:rPr lang="nl-NL" sz="1200" dirty="0">
                <a:latin typeface="Courier New" panose="02070309020205020404" pitchFamily="49" charset="0"/>
                <a:cs typeface="Courier New" panose="02070309020205020404" pitchFamily="49" charset="0"/>
              </a:rPr>
              <a:t>T</a:t>
            </a:r>
            <a:r>
              <a:rPr lang="nl-NL" sz="1200" dirty="0"/>
              <a:t> is een attribuut en geen methode van de matrix (net als </a:t>
            </a:r>
            <a:r>
              <a:rPr lang="nl-NL" sz="1200" dirty="0" err="1">
                <a:latin typeface="Courier New" panose="02070309020205020404" pitchFamily="49" charset="0"/>
                <a:cs typeface="Courier New" panose="02070309020205020404" pitchFamily="49" charset="0"/>
              </a:rPr>
              <a:t>shape</a:t>
            </a:r>
            <a:r>
              <a:rPr lang="nl-NL" sz="1200" dirty="0"/>
              <a:t>)</a:t>
            </a:r>
          </a:p>
        </p:txBody>
      </p:sp>
      <p:cxnSp>
        <p:nvCxnSpPr>
          <p:cNvPr id="18" name="Straight Arrow Connector 17">
            <a:extLst>
              <a:ext uri="{FF2B5EF4-FFF2-40B4-BE49-F238E27FC236}">
                <a16:creationId xmlns:a16="http://schemas.microsoft.com/office/drawing/2014/main" id="{C916FAAB-99CF-3646-A07F-5E8D7CAAB5A0}"/>
              </a:ext>
            </a:extLst>
          </p:cNvPr>
          <p:cNvCxnSpPr>
            <a:cxnSpLocks/>
          </p:cNvCxnSpPr>
          <p:nvPr/>
        </p:nvCxnSpPr>
        <p:spPr>
          <a:xfrm>
            <a:off x="5451420" y="4301224"/>
            <a:ext cx="708311" cy="11864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B4B5F8F-29FA-7143-B07D-80C80EB08DEE}"/>
              </a:ext>
            </a:extLst>
          </p:cNvPr>
          <p:cNvSpPr txBox="1"/>
          <p:nvPr/>
        </p:nvSpPr>
        <p:spPr>
          <a:xfrm>
            <a:off x="3943016" y="5477157"/>
            <a:ext cx="3016807" cy="646331"/>
          </a:xfrm>
          <a:prstGeom prst="rect">
            <a:avLst/>
          </a:prstGeom>
          <a:noFill/>
        </p:spPr>
        <p:txBody>
          <a:bodyPr wrap="square" rtlCol="0">
            <a:spAutoFit/>
          </a:bodyPr>
          <a:lstStyle/>
          <a:p>
            <a:r>
              <a:rPr lang="nl-NL" sz="1200" dirty="0"/>
              <a:t>Hier wordt een </a:t>
            </a:r>
            <a:r>
              <a:rPr lang="nl-NL" sz="1200" dirty="0" err="1"/>
              <a:t>submodule</a:t>
            </a:r>
            <a:r>
              <a:rPr lang="nl-NL" sz="1200" dirty="0"/>
              <a:t> </a:t>
            </a:r>
            <a:r>
              <a:rPr lang="nl-NL" sz="1200" dirty="0" err="1">
                <a:latin typeface="Courier New" panose="02070309020205020404" pitchFamily="49" charset="0"/>
                <a:cs typeface="Courier New" panose="02070309020205020404" pitchFamily="49" charset="0"/>
              </a:rPr>
              <a:t>linalg</a:t>
            </a:r>
            <a:r>
              <a:rPr lang="nl-NL" sz="1200" dirty="0"/>
              <a:t> opgeroepen waarin de functie </a:t>
            </a:r>
            <a:r>
              <a:rPr lang="nl-NL" sz="1200" dirty="0" err="1">
                <a:latin typeface="Courier New" panose="02070309020205020404" pitchFamily="49" charset="0"/>
                <a:cs typeface="Courier New" panose="02070309020205020404" pitchFamily="49" charset="0"/>
              </a:rPr>
              <a:t>inv</a:t>
            </a:r>
            <a:r>
              <a:rPr lang="nl-NL" sz="1200" dirty="0">
                <a:latin typeface="Courier New" panose="02070309020205020404" pitchFamily="49" charset="0"/>
                <a:cs typeface="Courier New" panose="02070309020205020404" pitchFamily="49" charset="0"/>
              </a:rPr>
              <a:t>()</a:t>
            </a:r>
            <a:r>
              <a:rPr lang="nl-NL" sz="1200" dirty="0"/>
              <a:t> bestaat</a:t>
            </a:r>
          </a:p>
        </p:txBody>
      </p:sp>
      <p:sp>
        <p:nvSpPr>
          <p:cNvPr id="22" name="Rectangle 21">
            <a:extLst>
              <a:ext uri="{FF2B5EF4-FFF2-40B4-BE49-F238E27FC236}">
                <a16:creationId xmlns:a16="http://schemas.microsoft.com/office/drawing/2014/main" id="{853B4A75-D2B9-9B41-82B8-A4583BDE9DE0}"/>
              </a:ext>
            </a:extLst>
          </p:cNvPr>
          <p:cNvSpPr/>
          <p:nvPr/>
        </p:nvSpPr>
        <p:spPr>
          <a:xfrm>
            <a:off x="1401828" y="1433123"/>
            <a:ext cx="1851991" cy="1200329"/>
          </a:xfrm>
          <a:prstGeom prst="rect">
            <a:avLst/>
          </a:prstGeom>
          <a:ln>
            <a:solidFill>
              <a:schemeClr val="tx1"/>
            </a:solidFill>
          </a:ln>
        </p:spPr>
        <p:txBody>
          <a:bodyPr wrap="square">
            <a:spAutoFit/>
          </a:bodyPr>
          <a:lstStyle/>
          <a:p>
            <a:r>
              <a:rPr lang="nl-NL" dirty="0"/>
              <a:t>mat = </a:t>
            </a:r>
            <a:r>
              <a:rPr lang="nl-NL" dirty="0" err="1"/>
              <a:t>np.array</a:t>
            </a:r>
            <a:r>
              <a:rPr lang="nl-NL" dirty="0"/>
              <a:t>([</a:t>
            </a:r>
            <a:br>
              <a:rPr lang="nl-NL" dirty="0"/>
            </a:br>
            <a:r>
              <a:rPr lang="nl-NL" dirty="0"/>
              <a:t>    [</a:t>
            </a:r>
            <a:r>
              <a:rPr lang="nl-NL" dirty="0">
                <a:solidFill>
                  <a:srgbClr val="6897BB"/>
                </a:solidFill>
              </a:rPr>
              <a:t>1</a:t>
            </a:r>
            <a:r>
              <a:rPr lang="nl-NL" dirty="0">
                <a:solidFill>
                  <a:srgbClr val="CC7832"/>
                </a:solidFill>
              </a:rPr>
              <a:t>, </a:t>
            </a:r>
            <a:r>
              <a:rPr lang="nl-NL" dirty="0">
                <a:solidFill>
                  <a:srgbClr val="6897BB"/>
                </a:solidFill>
              </a:rPr>
              <a:t>3</a:t>
            </a:r>
            <a:r>
              <a:rPr lang="nl-NL" dirty="0">
                <a:solidFill>
                  <a:srgbClr val="CC7832"/>
                </a:solidFill>
              </a:rPr>
              <a:t>, </a:t>
            </a:r>
            <a:r>
              <a:rPr lang="nl-NL" dirty="0">
                <a:solidFill>
                  <a:srgbClr val="6897BB"/>
                </a:solidFill>
              </a:rPr>
              <a:t>3</a:t>
            </a:r>
            <a:r>
              <a:rPr lang="nl-NL" dirty="0"/>
              <a:t>]</a:t>
            </a:r>
            <a:r>
              <a:rPr lang="nl-NL" dirty="0">
                <a:solidFill>
                  <a:srgbClr val="CC7832"/>
                </a:solidFill>
              </a:rPr>
              <a:t>,</a:t>
            </a:r>
            <a:br>
              <a:rPr lang="nl-NL" dirty="0">
                <a:solidFill>
                  <a:srgbClr val="CC7832"/>
                </a:solidFill>
              </a:rPr>
            </a:br>
            <a:r>
              <a:rPr lang="nl-NL" dirty="0">
                <a:solidFill>
                  <a:srgbClr val="CC7832"/>
                </a:solidFill>
              </a:rPr>
              <a:t>    </a:t>
            </a:r>
            <a:r>
              <a:rPr lang="nl-NL" dirty="0"/>
              <a:t>[</a:t>
            </a:r>
            <a:r>
              <a:rPr lang="nl-NL" dirty="0">
                <a:solidFill>
                  <a:srgbClr val="6897BB"/>
                </a:solidFill>
              </a:rPr>
              <a:t>4</a:t>
            </a:r>
            <a:r>
              <a:rPr lang="nl-NL" dirty="0">
                <a:solidFill>
                  <a:srgbClr val="CC7832"/>
                </a:solidFill>
              </a:rPr>
              <a:t>, </a:t>
            </a:r>
            <a:r>
              <a:rPr lang="nl-NL" dirty="0">
                <a:solidFill>
                  <a:srgbClr val="6897BB"/>
                </a:solidFill>
              </a:rPr>
              <a:t>5</a:t>
            </a:r>
            <a:r>
              <a:rPr lang="nl-NL" dirty="0">
                <a:solidFill>
                  <a:srgbClr val="CC7832"/>
                </a:solidFill>
              </a:rPr>
              <a:t>, </a:t>
            </a:r>
            <a:r>
              <a:rPr lang="nl-NL" dirty="0">
                <a:solidFill>
                  <a:srgbClr val="6897BB"/>
                </a:solidFill>
              </a:rPr>
              <a:t>6</a:t>
            </a:r>
            <a:r>
              <a:rPr lang="nl-NL" dirty="0"/>
              <a:t>]</a:t>
            </a:r>
            <a:r>
              <a:rPr lang="nl-NL" dirty="0">
                <a:solidFill>
                  <a:srgbClr val="CC7832"/>
                </a:solidFill>
              </a:rPr>
              <a:t>,</a:t>
            </a:r>
            <a:br>
              <a:rPr lang="nl-NL" dirty="0">
                <a:solidFill>
                  <a:srgbClr val="CC7832"/>
                </a:solidFill>
              </a:rPr>
            </a:br>
            <a:r>
              <a:rPr lang="nl-NL" dirty="0">
                <a:solidFill>
                  <a:srgbClr val="CC7832"/>
                </a:solidFill>
              </a:rPr>
              <a:t>    </a:t>
            </a:r>
            <a:r>
              <a:rPr lang="nl-NL" dirty="0"/>
              <a:t>[</a:t>
            </a:r>
            <a:r>
              <a:rPr lang="nl-NL" dirty="0">
                <a:solidFill>
                  <a:srgbClr val="6897BB"/>
                </a:solidFill>
              </a:rPr>
              <a:t>7</a:t>
            </a:r>
            <a:r>
              <a:rPr lang="nl-NL" dirty="0">
                <a:solidFill>
                  <a:srgbClr val="CC7832"/>
                </a:solidFill>
              </a:rPr>
              <a:t>, </a:t>
            </a:r>
            <a:r>
              <a:rPr lang="nl-NL" dirty="0">
                <a:solidFill>
                  <a:srgbClr val="6897BB"/>
                </a:solidFill>
              </a:rPr>
              <a:t>8</a:t>
            </a:r>
            <a:r>
              <a:rPr lang="nl-NL" dirty="0">
                <a:solidFill>
                  <a:srgbClr val="CC7832"/>
                </a:solidFill>
              </a:rPr>
              <a:t>, </a:t>
            </a:r>
            <a:r>
              <a:rPr lang="nl-NL" dirty="0">
                <a:solidFill>
                  <a:srgbClr val="6897BB"/>
                </a:solidFill>
              </a:rPr>
              <a:t>9</a:t>
            </a:r>
            <a:r>
              <a:rPr lang="nl-NL" dirty="0"/>
              <a:t>]])</a:t>
            </a:r>
          </a:p>
        </p:txBody>
      </p:sp>
    </p:spTree>
    <p:extLst>
      <p:ext uri="{BB962C8B-B14F-4D97-AF65-F5344CB8AC3E}">
        <p14:creationId xmlns:p14="http://schemas.microsoft.com/office/powerpoint/2010/main" val="2501473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FB95AF-9B85-A893-859A-D4254B22F14B}"/>
              </a:ext>
            </a:extLst>
          </p:cNvPr>
          <p:cNvSpPr>
            <a:spLocks noGrp="1"/>
          </p:cNvSpPr>
          <p:nvPr>
            <p:ph idx="1"/>
          </p:nvPr>
        </p:nvSpPr>
        <p:spPr/>
        <p:txBody>
          <a:bodyPr/>
          <a:lstStyle/>
          <a:p>
            <a:r>
              <a:rPr lang="nl-NL" dirty="0"/>
              <a:t>Let goed op het verschil:</a:t>
            </a:r>
          </a:p>
          <a:p>
            <a:pPr lvl="1"/>
            <a:r>
              <a:rPr lang="nl-NL" sz="2000" dirty="0"/>
              <a:t>Methode: eigen aan de rij/matrix (bv. </a:t>
            </a:r>
            <a:r>
              <a:rPr lang="nl-NL" sz="2000" dirty="0" err="1">
                <a:latin typeface="Courier New" panose="02070309020205020404" pitchFamily="49" charset="0"/>
                <a:cs typeface="Courier New" panose="02070309020205020404" pitchFamily="49" charset="0"/>
              </a:rPr>
              <a:t>matrix.sum</a:t>
            </a:r>
            <a:r>
              <a:rPr lang="nl-NL" sz="2000" dirty="0">
                <a:latin typeface="Courier New" panose="02070309020205020404" pitchFamily="49" charset="0"/>
                <a:cs typeface="Courier New" panose="02070309020205020404" pitchFamily="49" charset="0"/>
              </a:rPr>
              <a:t>()</a:t>
            </a:r>
            <a:r>
              <a:rPr lang="nl-NL" sz="2000" dirty="0"/>
              <a:t>)</a:t>
            </a:r>
          </a:p>
          <a:p>
            <a:pPr lvl="1"/>
            <a:r>
              <a:rPr lang="nl-NL" sz="2000" dirty="0"/>
              <a:t>Functie: opgeroepen uit </a:t>
            </a:r>
            <a:r>
              <a:rPr lang="nl-NL" sz="2000" dirty="0" err="1"/>
              <a:t>numpy</a:t>
            </a:r>
            <a:r>
              <a:rPr lang="nl-NL" sz="2000" dirty="0"/>
              <a:t> zelf (bv. </a:t>
            </a:r>
            <a:r>
              <a:rPr lang="nl-NL" sz="2000" dirty="0" err="1">
                <a:latin typeface="Courier New" panose="02070309020205020404" pitchFamily="49" charset="0"/>
                <a:cs typeface="Courier New" panose="02070309020205020404" pitchFamily="49" charset="0"/>
              </a:rPr>
              <a:t>np.sum</a:t>
            </a:r>
            <a:r>
              <a:rPr lang="nl-NL" sz="2000" dirty="0">
                <a:latin typeface="Courier New" panose="02070309020205020404" pitchFamily="49" charset="0"/>
                <a:cs typeface="Courier New" panose="02070309020205020404" pitchFamily="49" charset="0"/>
              </a:rPr>
              <a:t>(matrix)</a:t>
            </a:r>
            <a:r>
              <a:rPr lang="nl-NL" sz="2000" dirty="0"/>
              <a:t>)</a:t>
            </a:r>
          </a:p>
          <a:p>
            <a:r>
              <a:rPr lang="nl-NL" dirty="0"/>
              <a:t>Soms is een mix mogelijk:</a:t>
            </a:r>
          </a:p>
          <a:p>
            <a:pPr lvl="1"/>
            <a:r>
              <a:rPr lang="nl-NL" sz="2000" dirty="0" err="1">
                <a:latin typeface="Courier New" panose="02070309020205020404" pitchFamily="49" charset="0"/>
                <a:cs typeface="Courier New" panose="02070309020205020404" pitchFamily="49" charset="0"/>
              </a:rPr>
              <a:t>mean</a:t>
            </a:r>
            <a:r>
              <a:rPr lang="nl-NL" sz="2000" dirty="0">
                <a:latin typeface="Courier New" panose="02070309020205020404" pitchFamily="49" charset="0"/>
                <a:cs typeface="Courier New" panose="02070309020205020404" pitchFamily="49" charset="0"/>
              </a:rPr>
              <a:t>()</a:t>
            </a:r>
            <a:r>
              <a:rPr lang="nl-NL" sz="2000" dirty="0"/>
              <a:t> werkt zowel via </a:t>
            </a:r>
            <a:r>
              <a:rPr lang="nl-NL" sz="2000" dirty="0" err="1">
                <a:latin typeface="Courier New" panose="02070309020205020404" pitchFamily="49" charset="0"/>
                <a:cs typeface="Courier New" panose="02070309020205020404" pitchFamily="49" charset="0"/>
              </a:rPr>
              <a:t>matrix.mean</a:t>
            </a:r>
            <a:r>
              <a:rPr lang="nl-NL" sz="2000" dirty="0">
                <a:latin typeface="Courier New" panose="02070309020205020404" pitchFamily="49" charset="0"/>
                <a:cs typeface="Courier New" panose="02070309020205020404" pitchFamily="49" charset="0"/>
              </a:rPr>
              <a:t>()</a:t>
            </a:r>
            <a:r>
              <a:rPr lang="nl-NL" sz="2000" dirty="0"/>
              <a:t> als </a:t>
            </a:r>
            <a:r>
              <a:rPr lang="nl-NL" sz="2000" dirty="0" err="1">
                <a:latin typeface="Courier New" panose="02070309020205020404" pitchFamily="49" charset="0"/>
                <a:cs typeface="Courier New" panose="02070309020205020404" pitchFamily="49" charset="0"/>
              </a:rPr>
              <a:t>np.mean</a:t>
            </a:r>
            <a:r>
              <a:rPr lang="nl-NL" sz="2000" dirty="0">
                <a:latin typeface="Courier New" panose="02070309020205020404" pitchFamily="49" charset="0"/>
                <a:cs typeface="Courier New" panose="02070309020205020404" pitchFamily="49" charset="0"/>
              </a:rPr>
              <a:t>()</a:t>
            </a:r>
          </a:p>
          <a:p>
            <a:pPr lvl="1"/>
            <a:r>
              <a:rPr lang="nl-NL" sz="2000" dirty="0"/>
              <a:t>Flexibiliteit van </a:t>
            </a:r>
            <a:r>
              <a:rPr lang="nl-NL" sz="2000" dirty="0" err="1"/>
              <a:t>NumPy</a:t>
            </a:r>
            <a:r>
              <a:rPr lang="nl-NL" sz="2000" dirty="0"/>
              <a:t>: </a:t>
            </a:r>
            <a:r>
              <a:rPr lang="nl-NL" sz="2000" dirty="0" err="1">
                <a:latin typeface="Courier New" panose="02070309020205020404" pitchFamily="49" charset="0"/>
                <a:cs typeface="Courier New" panose="02070309020205020404" pitchFamily="49" charset="0"/>
              </a:rPr>
              <a:t>np.mean</a:t>
            </a:r>
            <a:r>
              <a:rPr lang="nl-NL" sz="2000" dirty="0">
                <a:latin typeface="Courier New" panose="02070309020205020404" pitchFamily="49" charset="0"/>
                <a:cs typeface="Courier New" panose="02070309020205020404" pitchFamily="49" charset="0"/>
              </a:rPr>
              <a:t>([matrix1,matrix2])</a:t>
            </a:r>
          </a:p>
          <a:p>
            <a:r>
              <a:rPr lang="nl-NL" dirty="0"/>
              <a:t>Normaal gezien telkens beide beschikbaar</a:t>
            </a:r>
          </a:p>
          <a:p>
            <a:r>
              <a:rPr lang="nl-NL" dirty="0"/>
              <a:t>Hulpmiddeltje: gebruik VSC en kijk naar de gesuggereerde functies/methodes</a:t>
            </a:r>
          </a:p>
        </p:txBody>
      </p:sp>
      <p:sp>
        <p:nvSpPr>
          <p:cNvPr id="3" name="Slide Number Placeholder 2">
            <a:extLst>
              <a:ext uri="{FF2B5EF4-FFF2-40B4-BE49-F238E27FC236}">
                <a16:creationId xmlns:a16="http://schemas.microsoft.com/office/drawing/2014/main" id="{D500FA2A-D839-2013-3E52-E8A595BABC67}"/>
              </a:ext>
            </a:extLst>
          </p:cNvPr>
          <p:cNvSpPr>
            <a:spLocks noGrp="1"/>
          </p:cNvSpPr>
          <p:nvPr>
            <p:ph type="sldNum" sz="quarter" idx="12"/>
          </p:nvPr>
        </p:nvSpPr>
        <p:spPr/>
        <p:txBody>
          <a:bodyPr/>
          <a:lstStyle/>
          <a:p>
            <a:fld id="{D270EDC2-4F5E-5547-954F-5222C286AC2A}" type="slidenum">
              <a:rPr lang="nl-NL" smtClean="0"/>
              <a:t>18</a:t>
            </a:fld>
            <a:endParaRPr lang="nl-NL" dirty="0"/>
          </a:p>
        </p:txBody>
      </p:sp>
      <p:sp>
        <p:nvSpPr>
          <p:cNvPr id="4" name="Title 3">
            <a:extLst>
              <a:ext uri="{FF2B5EF4-FFF2-40B4-BE49-F238E27FC236}">
                <a16:creationId xmlns:a16="http://schemas.microsoft.com/office/drawing/2014/main" id="{9BEDCA1E-D169-37A2-3DAF-368B89505E9A}"/>
              </a:ext>
            </a:extLst>
          </p:cNvPr>
          <p:cNvSpPr>
            <a:spLocks noGrp="1"/>
          </p:cNvSpPr>
          <p:nvPr>
            <p:ph type="title"/>
          </p:nvPr>
        </p:nvSpPr>
        <p:spPr/>
        <p:txBody>
          <a:bodyPr/>
          <a:lstStyle/>
          <a:p>
            <a:r>
              <a:rPr lang="nl-NL" dirty="0"/>
              <a:t>Methodes vs. functies</a:t>
            </a:r>
          </a:p>
        </p:txBody>
      </p:sp>
    </p:spTree>
    <p:extLst>
      <p:ext uri="{BB962C8B-B14F-4D97-AF65-F5344CB8AC3E}">
        <p14:creationId xmlns:p14="http://schemas.microsoft.com/office/powerpoint/2010/main" val="2571455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mat = np.array([[1, 2, 3],</a:t>
            </a:r>
          </a:p>
          <a:p>
            <a:pPr marL="0" indent="0">
              <a:lnSpc>
                <a:spcPts val="2400"/>
              </a:lnSpc>
              <a:spcBef>
                <a:spcPts val="0"/>
              </a:spcBef>
              <a:spcAft>
                <a:spcPts val="0"/>
              </a:spcAft>
              <a:buNone/>
            </a:pPr>
            <a:r>
              <a:rPr lang="nl-NL" sz="2000" dirty="0">
                <a:latin typeface="Consolas"/>
                <a:cs typeface="Consolas"/>
              </a:rPr>
              <a:t>                [4, 5, 6]])</a:t>
            </a:r>
          </a:p>
          <a:p>
            <a:pPr marL="0" indent="0">
              <a:lnSpc>
                <a:spcPts val="2400"/>
              </a:lnSpc>
              <a:spcBef>
                <a:spcPts val="0"/>
              </a:spcBef>
              <a:spcAft>
                <a:spcPts val="0"/>
              </a:spcAft>
              <a:buNone/>
            </a:pPr>
            <a:r>
              <a:rPr lang="nl-NL" sz="2000" dirty="0">
                <a:latin typeface="Consolas"/>
                <a:cs typeface="Consolas"/>
              </a:rPr>
              <a:t>print(mat[1, 2], mat[:, 1])</a:t>
            </a:r>
          </a:p>
          <a:p>
            <a:pPr marL="0" indent="0">
              <a:lnSpc>
                <a:spcPts val="2400"/>
              </a:lnSpc>
              <a:spcBef>
                <a:spcPts val="0"/>
              </a:spcBef>
              <a:spcAft>
                <a:spcPts val="0"/>
              </a:spcAft>
              <a:buNone/>
            </a:pPr>
            <a:r>
              <a:rPr lang="nl-NL" sz="2000" dirty="0">
                <a:latin typeface="Consolas"/>
                <a:cs typeface="Consolas"/>
              </a:rPr>
              <a:t>print(mat.sum(axis=0))</a:t>
            </a:r>
          </a:p>
          <a:p>
            <a:pPr marL="0" indent="0">
              <a:lnSpc>
                <a:spcPts val="2400"/>
              </a:lnSpc>
              <a:spcBef>
                <a:spcPts val="0"/>
              </a:spcBef>
              <a:spcAft>
                <a:spcPts val="0"/>
              </a:spcAft>
              <a:buNone/>
            </a:pPr>
            <a:r>
              <a:rPr lang="nl-NL" sz="2000" dirty="0">
                <a:latin typeface="Consolas"/>
                <a:cs typeface="Consolas"/>
              </a:rPr>
              <a:t>print(mat.sum(axis=1))</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punten = np.array([12, 17, 9, 15])</a:t>
            </a:r>
          </a:p>
          <a:p>
            <a:pPr marL="0" indent="0">
              <a:lnSpc>
                <a:spcPts val="2400"/>
              </a:lnSpc>
              <a:spcBef>
                <a:spcPts val="0"/>
              </a:spcBef>
              <a:spcAft>
                <a:spcPts val="0"/>
              </a:spcAft>
              <a:buNone/>
            </a:pPr>
            <a:r>
              <a:rPr lang="nl-NL" sz="2000" dirty="0">
                <a:latin typeface="Consolas"/>
                <a:cs typeface="Consolas"/>
              </a:rPr>
              <a:t>print(np.max(punten), np.argmax(punten))</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a:p>
            <a:pPr marL="0" indent="0">
              <a:spcBef>
                <a:spcPts val="600"/>
              </a:spcBef>
              <a:buNone/>
            </a:pPr>
            <a:r>
              <a:rPr lang="nl-NL" sz="1800" dirty="0">
                <a:solidFill>
                  <a:srgbClr val="1D8DB0"/>
                </a:solidFill>
              </a:rPr>
              <a:t>Hint: </a:t>
            </a:r>
            <a:r>
              <a:rPr lang="nl-NL" sz="1800" dirty="0">
                <a:solidFill>
                  <a:srgbClr val="1D8DB0"/>
                </a:solidFill>
                <a:latin typeface="Courier New" panose="02070309020205020404" pitchFamily="49" charset="0"/>
                <a:cs typeface="Courier New" panose="02070309020205020404" pitchFamily="49" charset="0"/>
              </a:rPr>
              <a:t>argmax()</a:t>
            </a:r>
            <a:r>
              <a:rPr lang="nl-NL" sz="1800" dirty="0">
                <a:solidFill>
                  <a:srgbClr val="1D8DB0"/>
                </a:solidFill>
              </a:rPr>
              <a:t> / </a:t>
            </a:r>
            <a:r>
              <a:rPr lang="nl-NL" sz="1800" dirty="0">
                <a:solidFill>
                  <a:srgbClr val="1D8DB0"/>
                </a:solidFill>
                <a:latin typeface="Courier New" panose="02070309020205020404" pitchFamily="49" charset="0"/>
                <a:cs typeface="Courier New" panose="02070309020205020404" pitchFamily="49" charset="0"/>
              </a:rPr>
              <a:t>argmin()</a:t>
            </a:r>
            <a:r>
              <a:rPr lang="nl-NL" sz="1800" dirty="0">
                <a:solidFill>
                  <a:srgbClr val="1D8DB0"/>
                </a:solidFill>
              </a:rPr>
              <a:t> geven de index terug, niet de waarde</a:t>
            </a:r>
          </a:p>
        </p:txBody>
      </p:sp>
      <p:sp>
        <p:nvSpPr>
          <p:cNvPr id="3" name="Title 2"/>
          <p:cNvSpPr>
            <a:spLocks noGrp="1"/>
          </p:cNvSpPr>
          <p:nvPr>
            <p:ph type="title"/>
          </p:nvPr>
        </p:nvSpPr>
        <p:spPr/>
        <p:txBody>
          <a:bodyPr/>
          <a:lstStyle/>
          <a:p>
            <a:r>
              <a:t>Oefening 1B.2: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19</a:t>
            </a:fld>
            <a:endParaRPr lang="nl-NL"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258043-A83B-9045-90FF-1527199C0715}"/>
              </a:ext>
            </a:extLst>
          </p:cNvPr>
          <p:cNvSpPr>
            <a:spLocks noGrp="1"/>
          </p:cNvSpPr>
          <p:nvPr>
            <p:ph type="sldNum" sz="quarter" idx="12"/>
          </p:nvPr>
        </p:nvSpPr>
        <p:spPr/>
        <p:txBody>
          <a:bodyPr/>
          <a:lstStyle/>
          <a:p>
            <a:fld id="{D270EDC2-4F5E-5547-954F-5222C286AC2A}" type="slidenum">
              <a:rPr lang="nl-NL" smtClean="0"/>
              <a:t>20</a:t>
            </a:fld>
            <a:endParaRPr lang="nl-NL" dirty="0"/>
          </a:p>
        </p:txBody>
      </p:sp>
      <p:sp>
        <p:nvSpPr>
          <p:cNvPr id="2" name="Title 1">
            <a:extLst>
              <a:ext uri="{FF2B5EF4-FFF2-40B4-BE49-F238E27FC236}">
                <a16:creationId xmlns:a16="http://schemas.microsoft.com/office/drawing/2014/main" id="{FFFE1C7E-23AE-824F-BA55-49F97B787F41}"/>
              </a:ext>
            </a:extLst>
          </p:cNvPr>
          <p:cNvSpPr>
            <a:spLocks noGrp="1"/>
          </p:cNvSpPr>
          <p:nvPr>
            <p:ph type="title"/>
          </p:nvPr>
        </p:nvSpPr>
        <p:spPr/>
        <p:txBody>
          <a:bodyPr/>
          <a:lstStyle/>
          <a:p>
            <a:r>
              <a:rPr lang="nl-NL" dirty="0"/>
              <a:t>Matrix operaties - optellen</a:t>
            </a:r>
          </a:p>
        </p:txBody>
      </p:sp>
      <p:sp>
        <p:nvSpPr>
          <p:cNvPr id="5" name="Rectangle 4">
            <a:extLst>
              <a:ext uri="{FF2B5EF4-FFF2-40B4-BE49-F238E27FC236}">
                <a16:creationId xmlns:a16="http://schemas.microsoft.com/office/drawing/2014/main" id="{5034A983-F5C9-8544-96CE-0E9D2E9C3906}"/>
              </a:ext>
            </a:extLst>
          </p:cNvPr>
          <p:cNvSpPr/>
          <p:nvPr/>
        </p:nvSpPr>
        <p:spPr>
          <a:xfrm>
            <a:off x="838200" y="1945912"/>
            <a:ext cx="4996070" cy="3754874"/>
          </a:xfrm>
          <a:prstGeom prst="rect">
            <a:avLst/>
          </a:prstGeom>
          <a:ln>
            <a:solidFill>
              <a:schemeClr val="tx1"/>
            </a:solidFill>
          </a:ln>
        </p:spPr>
        <p:txBody>
          <a:bodyPr wrap="square">
            <a:spAutoFit/>
          </a:bodyPr>
          <a:lstStyle/>
          <a:p>
            <a:r>
              <a:rPr lang="nl-NL" sz="1400" dirty="0"/>
              <a:t>mat_1 = </a:t>
            </a:r>
            <a:r>
              <a:rPr lang="nl-NL" sz="1400" dirty="0" err="1"/>
              <a:t>np.array</a:t>
            </a:r>
            <a:r>
              <a:rPr lang="nl-NL" sz="1400" dirty="0"/>
              <a:t>([</a:t>
            </a:r>
            <a:br>
              <a:rPr lang="nl-NL" sz="1400" dirty="0"/>
            </a:br>
            <a:r>
              <a:rPr lang="nl-NL" sz="1400" dirty="0"/>
              <a:t>    [</a:t>
            </a:r>
            <a:r>
              <a:rPr lang="nl-NL" sz="1400" dirty="0">
                <a:solidFill>
                  <a:srgbClr val="6897BB"/>
                </a:solidFill>
              </a:rPr>
              <a:t>1</a:t>
            </a:r>
            <a:r>
              <a:rPr lang="nl-NL" sz="1400" dirty="0">
                <a:solidFill>
                  <a:srgbClr val="CC7832"/>
                </a:solidFill>
              </a:rPr>
              <a:t>, </a:t>
            </a:r>
            <a:r>
              <a:rPr lang="nl-NL" sz="1400" dirty="0">
                <a:solidFill>
                  <a:srgbClr val="6897BB"/>
                </a:solidFill>
              </a:rPr>
              <a:t>3</a:t>
            </a:r>
            <a:r>
              <a:rPr lang="nl-NL" sz="1400" dirty="0">
                <a:solidFill>
                  <a:srgbClr val="CC7832"/>
                </a:solidFill>
              </a:rPr>
              <a:t>, </a:t>
            </a:r>
            <a:r>
              <a:rPr lang="nl-NL" sz="1400" dirty="0">
                <a:solidFill>
                  <a:srgbClr val="6897BB"/>
                </a:solidFill>
              </a:rPr>
              <a:t>3</a:t>
            </a:r>
            <a:r>
              <a:rPr lang="nl-NL" sz="1400" dirty="0"/>
              <a:t>]</a:t>
            </a:r>
            <a:r>
              <a:rPr lang="nl-NL" sz="1400" dirty="0">
                <a:solidFill>
                  <a:srgbClr val="CC7832"/>
                </a:solidFill>
              </a:rPr>
              <a:t>,</a:t>
            </a:r>
            <a:br>
              <a:rPr lang="nl-NL" sz="1400" dirty="0">
                <a:solidFill>
                  <a:srgbClr val="CC7832"/>
                </a:solidFill>
              </a:rPr>
            </a:br>
            <a:r>
              <a:rPr lang="nl-NL" sz="1400" dirty="0">
                <a:solidFill>
                  <a:srgbClr val="CC7832"/>
                </a:solidFill>
              </a:rPr>
              <a:t>    </a:t>
            </a:r>
            <a:r>
              <a:rPr lang="nl-NL" sz="1400" dirty="0"/>
              <a:t>[</a:t>
            </a:r>
            <a:r>
              <a:rPr lang="nl-NL" sz="1400" dirty="0">
                <a:solidFill>
                  <a:srgbClr val="6897BB"/>
                </a:solidFill>
              </a:rPr>
              <a:t>4</a:t>
            </a:r>
            <a:r>
              <a:rPr lang="nl-NL" sz="1400" dirty="0">
                <a:solidFill>
                  <a:srgbClr val="CC7832"/>
                </a:solidFill>
              </a:rPr>
              <a:t>, </a:t>
            </a:r>
            <a:r>
              <a:rPr lang="nl-NL" sz="1400" dirty="0">
                <a:solidFill>
                  <a:srgbClr val="6897BB"/>
                </a:solidFill>
              </a:rPr>
              <a:t>5</a:t>
            </a:r>
            <a:r>
              <a:rPr lang="nl-NL" sz="1400" dirty="0">
                <a:solidFill>
                  <a:srgbClr val="CC7832"/>
                </a:solidFill>
              </a:rPr>
              <a:t>, </a:t>
            </a:r>
            <a:r>
              <a:rPr lang="nl-NL" sz="1400" dirty="0">
                <a:solidFill>
                  <a:srgbClr val="6897BB"/>
                </a:solidFill>
              </a:rPr>
              <a:t>6</a:t>
            </a:r>
            <a:r>
              <a:rPr lang="nl-NL" sz="1400" dirty="0"/>
              <a:t>]</a:t>
            </a:r>
            <a:r>
              <a:rPr lang="nl-NL" sz="1400" dirty="0">
                <a:solidFill>
                  <a:srgbClr val="CC7832"/>
                </a:solidFill>
              </a:rPr>
              <a:t>,</a:t>
            </a:r>
            <a:br>
              <a:rPr lang="nl-NL" sz="1400" dirty="0">
                <a:solidFill>
                  <a:srgbClr val="CC7832"/>
                </a:solidFill>
              </a:rPr>
            </a:br>
            <a:r>
              <a:rPr lang="nl-NL" sz="1400" dirty="0">
                <a:solidFill>
                  <a:srgbClr val="CC7832"/>
                </a:solidFill>
              </a:rPr>
              <a:t>    </a:t>
            </a:r>
            <a:r>
              <a:rPr lang="nl-NL" sz="1400" dirty="0"/>
              <a:t>[</a:t>
            </a:r>
            <a:r>
              <a:rPr lang="nl-NL" sz="1400" dirty="0">
                <a:solidFill>
                  <a:srgbClr val="6897BB"/>
                </a:solidFill>
              </a:rPr>
              <a:t>7</a:t>
            </a:r>
            <a:r>
              <a:rPr lang="nl-NL" sz="1400" dirty="0">
                <a:solidFill>
                  <a:srgbClr val="CC7832"/>
                </a:solidFill>
              </a:rPr>
              <a:t>, </a:t>
            </a:r>
            <a:r>
              <a:rPr lang="nl-NL" sz="1400" dirty="0">
                <a:solidFill>
                  <a:srgbClr val="6897BB"/>
                </a:solidFill>
              </a:rPr>
              <a:t>8</a:t>
            </a:r>
            <a:r>
              <a:rPr lang="nl-NL" sz="1400" dirty="0">
                <a:solidFill>
                  <a:srgbClr val="CC7832"/>
                </a:solidFill>
              </a:rPr>
              <a:t>, </a:t>
            </a:r>
            <a:r>
              <a:rPr lang="nl-NL" sz="1400" dirty="0">
                <a:solidFill>
                  <a:srgbClr val="6897BB"/>
                </a:solidFill>
              </a:rPr>
              <a:t>9</a:t>
            </a:r>
            <a:r>
              <a:rPr lang="nl-NL" sz="1400" dirty="0"/>
              <a:t>]])</a:t>
            </a:r>
            <a:br>
              <a:rPr lang="nl-NL" sz="1400" dirty="0"/>
            </a:br>
            <a:r>
              <a:rPr lang="nl-NL" sz="1400" dirty="0"/>
              <a:t>mat_2 = </a:t>
            </a:r>
            <a:r>
              <a:rPr lang="nl-NL" sz="1400" dirty="0" err="1"/>
              <a:t>np.array</a:t>
            </a:r>
            <a:r>
              <a:rPr lang="nl-NL" sz="1400" dirty="0"/>
              <a:t>([</a:t>
            </a:r>
            <a:r>
              <a:rPr lang="nl-NL" sz="1400" dirty="0">
                <a:solidFill>
                  <a:srgbClr val="6897BB"/>
                </a:solidFill>
              </a:rPr>
              <a:t>4</a:t>
            </a:r>
            <a:r>
              <a:rPr lang="nl-NL" sz="1400" dirty="0">
                <a:solidFill>
                  <a:srgbClr val="CC7832"/>
                </a:solidFill>
              </a:rPr>
              <a:t>, </a:t>
            </a:r>
            <a:r>
              <a:rPr lang="nl-NL" sz="1400" dirty="0">
                <a:solidFill>
                  <a:srgbClr val="6897BB"/>
                </a:solidFill>
              </a:rPr>
              <a:t>5</a:t>
            </a:r>
            <a:r>
              <a:rPr lang="nl-NL" sz="1400" dirty="0">
                <a:solidFill>
                  <a:srgbClr val="CC7832"/>
                </a:solidFill>
              </a:rPr>
              <a:t>, </a:t>
            </a:r>
            <a:r>
              <a:rPr lang="nl-NL" sz="1400" dirty="0">
                <a:solidFill>
                  <a:srgbClr val="6897BB"/>
                </a:solidFill>
              </a:rPr>
              <a:t>6</a:t>
            </a:r>
            <a:r>
              <a:rPr lang="nl-NL" sz="1400" dirty="0"/>
              <a:t>])</a:t>
            </a:r>
            <a:br>
              <a:rPr lang="nl-NL" sz="1400" dirty="0"/>
            </a:br>
            <a:r>
              <a:rPr lang="nl-NL" sz="1400" dirty="0"/>
              <a:t>mat_3 = </a:t>
            </a:r>
            <a:r>
              <a:rPr lang="nl-NL" sz="1400" dirty="0" err="1"/>
              <a:t>np.array</a:t>
            </a:r>
            <a:r>
              <a:rPr lang="nl-NL" sz="1400" dirty="0"/>
              <a:t>([</a:t>
            </a:r>
            <a:br>
              <a:rPr lang="nl-NL" sz="1400" dirty="0"/>
            </a:br>
            <a:r>
              <a:rPr lang="nl-NL" sz="1400" dirty="0"/>
              <a:t>    [</a:t>
            </a:r>
            <a:r>
              <a:rPr lang="nl-NL" sz="1400" dirty="0">
                <a:solidFill>
                  <a:srgbClr val="6897BB"/>
                </a:solidFill>
              </a:rPr>
              <a:t>5</a:t>
            </a:r>
            <a:r>
              <a:rPr lang="nl-NL" sz="1400" dirty="0">
                <a:solidFill>
                  <a:srgbClr val="CC7832"/>
                </a:solidFill>
              </a:rPr>
              <a:t>, </a:t>
            </a:r>
            <a:r>
              <a:rPr lang="nl-NL" sz="1400" dirty="0">
                <a:solidFill>
                  <a:srgbClr val="6897BB"/>
                </a:solidFill>
              </a:rPr>
              <a:t>1</a:t>
            </a:r>
            <a:r>
              <a:rPr lang="nl-NL" sz="1400" dirty="0">
                <a:solidFill>
                  <a:srgbClr val="CC7832"/>
                </a:solidFill>
              </a:rPr>
              <a:t>, </a:t>
            </a:r>
            <a:r>
              <a:rPr lang="nl-NL" sz="1400" dirty="0">
                <a:solidFill>
                  <a:srgbClr val="6897BB"/>
                </a:solidFill>
              </a:rPr>
              <a:t>1</a:t>
            </a:r>
            <a:r>
              <a:rPr lang="nl-NL" sz="1400" dirty="0"/>
              <a:t>]</a:t>
            </a:r>
            <a:r>
              <a:rPr lang="nl-NL" sz="1400" dirty="0">
                <a:solidFill>
                  <a:srgbClr val="CC7832"/>
                </a:solidFill>
              </a:rPr>
              <a:t>,</a:t>
            </a:r>
            <a:br>
              <a:rPr lang="nl-NL" sz="1400" dirty="0">
                <a:solidFill>
                  <a:srgbClr val="CC7832"/>
                </a:solidFill>
              </a:rPr>
            </a:br>
            <a:r>
              <a:rPr lang="nl-NL" sz="1400" dirty="0">
                <a:solidFill>
                  <a:srgbClr val="CC7832"/>
                </a:solidFill>
              </a:rPr>
              <a:t>    </a:t>
            </a:r>
            <a:r>
              <a:rPr lang="nl-NL" sz="1400" dirty="0"/>
              <a:t>[</a:t>
            </a:r>
            <a:r>
              <a:rPr lang="nl-NL" sz="1400" dirty="0">
                <a:solidFill>
                  <a:srgbClr val="6897BB"/>
                </a:solidFill>
              </a:rPr>
              <a:t>1</a:t>
            </a:r>
            <a:r>
              <a:rPr lang="nl-NL" sz="1400" dirty="0">
                <a:solidFill>
                  <a:srgbClr val="CC7832"/>
                </a:solidFill>
              </a:rPr>
              <a:t>, </a:t>
            </a:r>
            <a:r>
              <a:rPr lang="nl-NL" sz="1400" dirty="0">
                <a:solidFill>
                  <a:srgbClr val="6897BB"/>
                </a:solidFill>
              </a:rPr>
              <a:t>0</a:t>
            </a:r>
            <a:r>
              <a:rPr lang="nl-NL" sz="1400" dirty="0">
                <a:solidFill>
                  <a:srgbClr val="CC7832"/>
                </a:solidFill>
              </a:rPr>
              <a:t>, </a:t>
            </a:r>
            <a:r>
              <a:rPr lang="nl-NL" sz="1400" dirty="0">
                <a:solidFill>
                  <a:srgbClr val="6897BB"/>
                </a:solidFill>
              </a:rPr>
              <a:t>1</a:t>
            </a:r>
            <a:r>
              <a:rPr lang="nl-NL" sz="1400" dirty="0"/>
              <a:t>]</a:t>
            </a:r>
            <a:r>
              <a:rPr lang="nl-NL" sz="1400" dirty="0">
                <a:solidFill>
                  <a:srgbClr val="CC7832"/>
                </a:solidFill>
              </a:rPr>
              <a:t>,</a:t>
            </a:r>
            <a:br>
              <a:rPr lang="nl-NL" sz="1400" dirty="0">
                <a:solidFill>
                  <a:srgbClr val="CC7832"/>
                </a:solidFill>
              </a:rPr>
            </a:br>
            <a:r>
              <a:rPr lang="nl-NL" sz="1400" dirty="0">
                <a:solidFill>
                  <a:srgbClr val="CC7832"/>
                </a:solidFill>
              </a:rPr>
              <a:t>    </a:t>
            </a:r>
            <a:r>
              <a:rPr lang="nl-NL" sz="1400" dirty="0"/>
              <a:t>[</a:t>
            </a:r>
            <a:r>
              <a:rPr lang="nl-NL" sz="1400" dirty="0">
                <a:solidFill>
                  <a:srgbClr val="6897BB"/>
                </a:solidFill>
              </a:rPr>
              <a:t>5</a:t>
            </a:r>
            <a:r>
              <a:rPr lang="nl-NL" sz="1400" dirty="0">
                <a:solidFill>
                  <a:srgbClr val="CC7832"/>
                </a:solidFill>
              </a:rPr>
              <a:t>, </a:t>
            </a:r>
            <a:r>
              <a:rPr lang="nl-NL" sz="1400" dirty="0">
                <a:solidFill>
                  <a:srgbClr val="6897BB"/>
                </a:solidFill>
              </a:rPr>
              <a:t>3</a:t>
            </a:r>
            <a:r>
              <a:rPr lang="nl-NL" sz="1400" dirty="0">
                <a:solidFill>
                  <a:srgbClr val="CC7832"/>
                </a:solidFill>
              </a:rPr>
              <a:t>, </a:t>
            </a:r>
            <a:r>
              <a:rPr lang="nl-NL" sz="1400" dirty="0">
                <a:solidFill>
                  <a:srgbClr val="6897BB"/>
                </a:solidFill>
              </a:rPr>
              <a:t>4</a:t>
            </a:r>
            <a:r>
              <a:rPr lang="nl-NL" sz="1400" dirty="0"/>
              <a:t>]])</a:t>
            </a:r>
          </a:p>
          <a:p>
            <a:r>
              <a:rPr lang="nl-NL" sz="1400" dirty="0"/>
              <a:t>mat_4 = </a:t>
            </a:r>
            <a:r>
              <a:rPr lang="nl-NL" sz="1400" dirty="0" err="1"/>
              <a:t>np.array</a:t>
            </a:r>
            <a:r>
              <a:rPr lang="nl-NL" sz="1400" dirty="0"/>
              <a:t>([ [</a:t>
            </a:r>
            <a:r>
              <a:rPr lang="nl-NL" sz="1400" dirty="0">
                <a:solidFill>
                  <a:srgbClr val="6897BB"/>
                </a:solidFill>
              </a:rPr>
              <a:t>4</a:t>
            </a:r>
            <a:r>
              <a:rPr lang="nl-NL" sz="1400" dirty="0">
                <a:solidFill>
                  <a:srgbClr val="CC7832"/>
                </a:solidFill>
              </a:rPr>
              <a:t>, </a:t>
            </a:r>
            <a:r>
              <a:rPr lang="nl-NL" sz="1400" dirty="0">
                <a:solidFill>
                  <a:srgbClr val="6897BB"/>
                </a:solidFill>
              </a:rPr>
              <a:t>5</a:t>
            </a:r>
            <a:r>
              <a:rPr lang="nl-NL" sz="1400" dirty="0">
                <a:solidFill>
                  <a:srgbClr val="CC7832"/>
                </a:solidFill>
              </a:rPr>
              <a:t>, </a:t>
            </a:r>
            <a:r>
              <a:rPr lang="nl-NL" sz="1400" dirty="0">
                <a:solidFill>
                  <a:srgbClr val="6897BB"/>
                </a:solidFill>
              </a:rPr>
              <a:t>6</a:t>
            </a:r>
            <a:r>
              <a:rPr lang="nl-NL" sz="1400" dirty="0"/>
              <a:t>] ])</a:t>
            </a:r>
            <a:br>
              <a:rPr lang="nl-NL" sz="1400" dirty="0"/>
            </a:br>
            <a:r>
              <a:rPr lang="nl-NL" sz="1400" dirty="0">
                <a:solidFill>
                  <a:srgbClr val="8888C6"/>
                </a:solidFill>
              </a:rPr>
              <a:t>print</a:t>
            </a:r>
            <a:r>
              <a:rPr lang="nl-NL" sz="1400" dirty="0"/>
              <a:t>(</a:t>
            </a:r>
            <a:r>
              <a:rPr lang="nl-NL" sz="1400" dirty="0">
                <a:solidFill>
                  <a:srgbClr val="6A8759"/>
                </a:solidFill>
              </a:rPr>
              <a:t>'#rijen en #kolommen mat_1:'</a:t>
            </a:r>
            <a:r>
              <a:rPr lang="nl-NL" sz="1400" dirty="0">
                <a:solidFill>
                  <a:srgbClr val="CC7832"/>
                </a:solidFill>
              </a:rPr>
              <a:t>, </a:t>
            </a:r>
            <a:r>
              <a:rPr lang="nl-NL" sz="1400" dirty="0" err="1"/>
              <a:t>np.shape</a:t>
            </a:r>
            <a:r>
              <a:rPr lang="nl-NL" sz="1400" dirty="0"/>
              <a:t>(mat_1))</a:t>
            </a:r>
            <a:br>
              <a:rPr lang="nl-NL" sz="1400" dirty="0"/>
            </a:br>
            <a:r>
              <a:rPr lang="nl-NL" sz="1400" dirty="0">
                <a:solidFill>
                  <a:srgbClr val="8888C6"/>
                </a:solidFill>
              </a:rPr>
              <a:t>print</a:t>
            </a:r>
            <a:r>
              <a:rPr lang="nl-NL" sz="1400" dirty="0"/>
              <a:t>(</a:t>
            </a:r>
            <a:r>
              <a:rPr lang="nl-NL" sz="1400" dirty="0">
                <a:solidFill>
                  <a:srgbClr val="6A8759"/>
                </a:solidFill>
              </a:rPr>
              <a:t>'#rijen en #kolommen mat_2:'</a:t>
            </a:r>
            <a:r>
              <a:rPr lang="nl-NL" sz="1400" dirty="0">
                <a:solidFill>
                  <a:srgbClr val="CC7832"/>
                </a:solidFill>
              </a:rPr>
              <a:t>, </a:t>
            </a:r>
            <a:r>
              <a:rPr lang="nl-NL" sz="1400" dirty="0" err="1"/>
              <a:t>np.shape</a:t>
            </a:r>
            <a:r>
              <a:rPr lang="nl-NL" sz="1400" dirty="0"/>
              <a:t>(mat_2))</a:t>
            </a:r>
          </a:p>
          <a:p>
            <a:r>
              <a:rPr lang="nl-NL" sz="1400" dirty="0">
                <a:solidFill>
                  <a:srgbClr val="8888C6"/>
                </a:solidFill>
              </a:rPr>
              <a:t>print</a:t>
            </a:r>
            <a:r>
              <a:rPr lang="nl-NL" sz="1400" dirty="0"/>
              <a:t>(</a:t>
            </a:r>
            <a:r>
              <a:rPr lang="nl-NL" sz="1400" dirty="0">
                <a:solidFill>
                  <a:srgbClr val="6A8759"/>
                </a:solidFill>
              </a:rPr>
              <a:t>'#rijen en #kolommen mat_4:'</a:t>
            </a:r>
            <a:r>
              <a:rPr lang="nl-NL" sz="1400" dirty="0">
                <a:solidFill>
                  <a:srgbClr val="CC7832"/>
                </a:solidFill>
              </a:rPr>
              <a:t>, </a:t>
            </a:r>
            <a:r>
              <a:rPr lang="nl-NL" sz="1400" dirty="0" err="1"/>
              <a:t>np.shape</a:t>
            </a:r>
            <a:r>
              <a:rPr lang="nl-NL" sz="1400" dirty="0"/>
              <a:t>(mat_4))</a:t>
            </a:r>
            <a:br>
              <a:rPr lang="nl-NL" sz="1400" dirty="0"/>
            </a:br>
            <a:r>
              <a:rPr lang="nl-NL" sz="1400" dirty="0">
                <a:solidFill>
                  <a:srgbClr val="8888C6"/>
                </a:solidFill>
              </a:rPr>
              <a:t>print</a:t>
            </a:r>
            <a:r>
              <a:rPr lang="nl-NL" sz="1400" dirty="0"/>
              <a:t>(</a:t>
            </a:r>
            <a:r>
              <a:rPr lang="nl-NL" sz="1400" dirty="0">
                <a:solidFill>
                  <a:srgbClr val="6A8759"/>
                </a:solidFill>
              </a:rPr>
              <a:t>'Som 1 &amp; 2 (per rij):'</a:t>
            </a:r>
            <a:r>
              <a:rPr lang="nl-NL" sz="1400" dirty="0">
                <a:solidFill>
                  <a:srgbClr val="CC7832"/>
                </a:solidFill>
              </a:rPr>
              <a:t>, </a:t>
            </a:r>
            <a:r>
              <a:rPr lang="nl-NL" sz="1400" dirty="0"/>
              <a:t>mat_1 + mat_2)</a:t>
            </a:r>
          </a:p>
          <a:p>
            <a:endParaRPr lang="nl-NL" sz="1400" dirty="0"/>
          </a:p>
          <a:p>
            <a:br>
              <a:rPr lang="nl-NL" sz="1400" dirty="0"/>
            </a:br>
            <a:r>
              <a:rPr lang="nl-NL" sz="1400" dirty="0">
                <a:solidFill>
                  <a:srgbClr val="8888C6"/>
                </a:solidFill>
              </a:rPr>
              <a:t>print</a:t>
            </a:r>
            <a:r>
              <a:rPr lang="nl-NL" sz="1400" dirty="0"/>
              <a:t>(</a:t>
            </a:r>
            <a:r>
              <a:rPr lang="nl-NL" sz="1400" dirty="0">
                <a:solidFill>
                  <a:srgbClr val="6A8759"/>
                </a:solidFill>
              </a:rPr>
              <a:t>'Som 1 &amp; 3 (</a:t>
            </a:r>
            <a:r>
              <a:rPr lang="nl-NL" sz="1400" dirty="0" err="1">
                <a:solidFill>
                  <a:srgbClr val="6A8759"/>
                </a:solidFill>
              </a:rPr>
              <a:t>elementsgewijs</a:t>
            </a:r>
            <a:r>
              <a:rPr lang="nl-NL" sz="1400" dirty="0">
                <a:solidFill>
                  <a:srgbClr val="6A8759"/>
                </a:solidFill>
              </a:rPr>
              <a:t>):'</a:t>
            </a:r>
            <a:r>
              <a:rPr lang="nl-NL" sz="1400" dirty="0">
                <a:solidFill>
                  <a:srgbClr val="CC7832"/>
                </a:solidFill>
              </a:rPr>
              <a:t>, </a:t>
            </a:r>
            <a:r>
              <a:rPr lang="nl-NL" sz="1400" dirty="0"/>
              <a:t>mat_1 + mat_3)</a:t>
            </a:r>
          </a:p>
        </p:txBody>
      </p:sp>
      <p:sp>
        <p:nvSpPr>
          <p:cNvPr id="6" name="Rectangle 5">
            <a:extLst>
              <a:ext uri="{FF2B5EF4-FFF2-40B4-BE49-F238E27FC236}">
                <a16:creationId xmlns:a16="http://schemas.microsoft.com/office/drawing/2014/main" id="{F355BB7A-D124-BF48-8D34-B4A49E1AB62E}"/>
              </a:ext>
            </a:extLst>
          </p:cNvPr>
          <p:cNvSpPr/>
          <p:nvPr/>
        </p:nvSpPr>
        <p:spPr>
          <a:xfrm>
            <a:off x="6096000" y="1945912"/>
            <a:ext cx="3697357" cy="3970318"/>
          </a:xfrm>
          <a:prstGeom prst="rect">
            <a:avLst/>
          </a:prstGeom>
          <a:ln>
            <a:solidFill>
              <a:schemeClr val="tx1"/>
            </a:solidFill>
          </a:ln>
        </p:spPr>
        <p:txBody>
          <a:bodyPr wrap="square">
            <a:spAutoFit/>
          </a:bodyPr>
          <a:lstStyle/>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r>
              <a:rPr lang="nl-NL" sz="1400" dirty="0"/>
              <a:t>#rijen en #kolommen mat_1: (3, 3)</a:t>
            </a:r>
          </a:p>
          <a:p>
            <a:r>
              <a:rPr lang="nl-NL" sz="1400" dirty="0"/>
              <a:t>#rijen en #kolommen mat_2: (3,)</a:t>
            </a:r>
          </a:p>
          <a:p>
            <a:r>
              <a:rPr lang="nl-NL" sz="1400" dirty="0"/>
              <a:t>#rijen en #kolommen mat_4: (1,3)</a:t>
            </a:r>
          </a:p>
          <a:p>
            <a:r>
              <a:rPr lang="nl-NL" sz="1400" dirty="0"/>
              <a:t>Som 1 &amp; 2 (per rij): [[ 5  8  9]</a:t>
            </a:r>
          </a:p>
          <a:p>
            <a:r>
              <a:rPr lang="nl-NL" sz="1400" dirty="0"/>
              <a:t> [ 8 10 12]</a:t>
            </a:r>
          </a:p>
          <a:p>
            <a:r>
              <a:rPr lang="nl-NL" sz="1400" dirty="0"/>
              <a:t> [11 13 15]]</a:t>
            </a:r>
          </a:p>
          <a:p>
            <a:r>
              <a:rPr lang="nl-NL" sz="1400" dirty="0"/>
              <a:t>Som 1 &amp; 3: [[ 6  4  4]</a:t>
            </a:r>
          </a:p>
          <a:p>
            <a:r>
              <a:rPr lang="nl-NL" sz="1400" dirty="0"/>
              <a:t> [ 5 5 7]</a:t>
            </a:r>
          </a:p>
          <a:p>
            <a:r>
              <a:rPr lang="nl-NL" sz="1400" dirty="0"/>
              <a:t> [12 11 13]]</a:t>
            </a:r>
          </a:p>
        </p:txBody>
      </p:sp>
      <p:sp>
        <p:nvSpPr>
          <p:cNvPr id="7" name="TextBox 6">
            <a:extLst>
              <a:ext uri="{FF2B5EF4-FFF2-40B4-BE49-F238E27FC236}">
                <a16:creationId xmlns:a16="http://schemas.microsoft.com/office/drawing/2014/main" id="{DE235087-D9B2-4148-8C60-82208FDCD39F}"/>
              </a:ext>
            </a:extLst>
          </p:cNvPr>
          <p:cNvSpPr txBox="1"/>
          <p:nvPr/>
        </p:nvSpPr>
        <p:spPr>
          <a:xfrm>
            <a:off x="6096000" y="1576580"/>
            <a:ext cx="1169324"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1E4AE8FE-E650-2B44-8A56-A060BD89D17D}"/>
              </a:ext>
            </a:extLst>
          </p:cNvPr>
          <p:cNvSpPr txBox="1"/>
          <p:nvPr/>
        </p:nvSpPr>
        <p:spPr>
          <a:xfrm>
            <a:off x="838200" y="1576580"/>
            <a:ext cx="918841"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EF052A44-E5D6-1740-ACFE-80F3BD4A3B7C}"/>
              </a:ext>
            </a:extLst>
          </p:cNvPr>
          <p:cNvCxnSpPr>
            <a:cxnSpLocks/>
          </p:cNvCxnSpPr>
          <p:nvPr/>
        </p:nvCxnSpPr>
        <p:spPr>
          <a:xfrm>
            <a:off x="8062086" y="5281420"/>
            <a:ext cx="1920114" cy="4193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92859A8-506C-7447-B875-3C1F34354082}"/>
              </a:ext>
            </a:extLst>
          </p:cNvPr>
          <p:cNvSpPr txBox="1"/>
          <p:nvPr/>
        </p:nvSpPr>
        <p:spPr>
          <a:xfrm>
            <a:off x="9971409" y="4890938"/>
            <a:ext cx="2147980" cy="1200329"/>
          </a:xfrm>
          <a:prstGeom prst="rect">
            <a:avLst/>
          </a:prstGeom>
          <a:noFill/>
        </p:spPr>
        <p:txBody>
          <a:bodyPr wrap="square" rtlCol="0">
            <a:spAutoFit/>
          </a:bodyPr>
          <a:lstStyle/>
          <a:p>
            <a:r>
              <a:rPr lang="nl-NL" sz="1200" dirty="0"/>
              <a:t>Merk op dat </a:t>
            </a:r>
            <a:r>
              <a:rPr lang="nl-NL" sz="1200" dirty="0" err="1"/>
              <a:t>NumPy</a:t>
            </a:r>
            <a:r>
              <a:rPr lang="nl-NL" sz="1200" dirty="0"/>
              <a:t> automatisch de ‘juiste’ bewerkingen doet naargelang de dimensies van de matrices (optellen 3x3 en 1x3 of 3x3 matrices)</a:t>
            </a:r>
          </a:p>
        </p:txBody>
      </p:sp>
      <p:cxnSp>
        <p:nvCxnSpPr>
          <p:cNvPr id="10" name="Straight Arrow Connector 9">
            <a:extLst>
              <a:ext uri="{FF2B5EF4-FFF2-40B4-BE49-F238E27FC236}">
                <a16:creationId xmlns:a16="http://schemas.microsoft.com/office/drawing/2014/main" id="{ADF229D3-48B0-02BF-2389-A167A4E708F0}"/>
              </a:ext>
            </a:extLst>
          </p:cNvPr>
          <p:cNvCxnSpPr>
            <a:cxnSpLocks/>
          </p:cNvCxnSpPr>
          <p:nvPr/>
        </p:nvCxnSpPr>
        <p:spPr>
          <a:xfrm flipV="1">
            <a:off x="8713124" y="1576580"/>
            <a:ext cx="480752" cy="22467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03AC277-5408-4E97-5EEE-19E606FDBED1}"/>
              </a:ext>
            </a:extLst>
          </p:cNvPr>
          <p:cNvSpPr txBox="1"/>
          <p:nvPr/>
        </p:nvSpPr>
        <p:spPr>
          <a:xfrm>
            <a:off x="8062086" y="1032400"/>
            <a:ext cx="3840228" cy="738664"/>
          </a:xfrm>
          <a:prstGeom prst="rect">
            <a:avLst/>
          </a:prstGeom>
          <a:noFill/>
        </p:spPr>
        <p:txBody>
          <a:bodyPr wrap="square" rtlCol="0">
            <a:spAutoFit/>
          </a:bodyPr>
          <a:lstStyle/>
          <a:p>
            <a:r>
              <a:rPr lang="nl-NL" sz="1400" dirty="0" err="1">
                <a:latin typeface="Courier New" panose="02070309020205020404" pitchFamily="49" charset="0"/>
                <a:cs typeface="Courier New" panose="02070309020205020404" pitchFamily="49" charset="0"/>
              </a:rPr>
              <a:t>shape</a:t>
            </a:r>
            <a:r>
              <a:rPr lang="nl-NL" sz="1400" dirty="0"/>
              <a:t> is een </a:t>
            </a:r>
            <a:r>
              <a:rPr lang="nl-NL" sz="1400" dirty="0" err="1"/>
              <a:t>tuple</a:t>
            </a:r>
            <a:r>
              <a:rPr lang="nl-NL" sz="1400" dirty="0"/>
              <a:t> met de dimensiegroottes (hier 2D-matrix: </a:t>
            </a:r>
            <a:r>
              <a:rPr lang="nl-NL" sz="1400" dirty="0" err="1"/>
              <a:t>tuple</a:t>
            </a:r>
            <a:r>
              <a:rPr lang="nl-NL" sz="1400" dirty="0"/>
              <a:t> van 2, 3D-matrix: </a:t>
            </a:r>
            <a:r>
              <a:rPr lang="nl-NL" sz="1400" dirty="0" err="1"/>
              <a:t>tuple</a:t>
            </a:r>
            <a:r>
              <a:rPr lang="nl-NL" sz="1400" dirty="0"/>
              <a:t> van 3)</a:t>
            </a:r>
          </a:p>
        </p:txBody>
      </p:sp>
      <p:cxnSp>
        <p:nvCxnSpPr>
          <p:cNvPr id="3" name="Straight Arrow Connector 2">
            <a:extLst>
              <a:ext uri="{FF2B5EF4-FFF2-40B4-BE49-F238E27FC236}">
                <a16:creationId xmlns:a16="http://schemas.microsoft.com/office/drawing/2014/main" id="{D20EE866-3C01-2212-7C0A-03D03A916E1C}"/>
              </a:ext>
            </a:extLst>
          </p:cNvPr>
          <p:cNvCxnSpPr>
            <a:cxnSpLocks/>
          </p:cNvCxnSpPr>
          <p:nvPr/>
        </p:nvCxnSpPr>
        <p:spPr>
          <a:xfrm flipV="1">
            <a:off x="8858195" y="3523525"/>
            <a:ext cx="1196892" cy="7091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CA1A59E-9775-CEEF-F7D5-147CAF944E76}"/>
              </a:ext>
            </a:extLst>
          </p:cNvPr>
          <p:cNvSpPr txBox="1"/>
          <p:nvPr/>
        </p:nvSpPr>
        <p:spPr>
          <a:xfrm>
            <a:off x="9982200" y="3092020"/>
            <a:ext cx="2220591" cy="461665"/>
          </a:xfrm>
          <a:prstGeom prst="rect">
            <a:avLst/>
          </a:prstGeom>
          <a:noFill/>
        </p:spPr>
        <p:txBody>
          <a:bodyPr wrap="square" rtlCol="0">
            <a:spAutoFit/>
          </a:bodyPr>
          <a:lstStyle/>
          <a:p>
            <a:r>
              <a:rPr lang="nl-NL" sz="1200" dirty="0">
                <a:cs typeface="Courier New" panose="02070309020205020404" pitchFamily="49" charset="0"/>
              </a:rPr>
              <a:t>Dit is geen matrix maar een vector met 3 elementen</a:t>
            </a:r>
            <a:endParaRPr lang="nl-NL" sz="1200" dirty="0"/>
          </a:p>
        </p:txBody>
      </p:sp>
      <p:cxnSp>
        <p:nvCxnSpPr>
          <p:cNvPr id="21" name="Straight Arrow Connector 20">
            <a:extLst>
              <a:ext uri="{FF2B5EF4-FFF2-40B4-BE49-F238E27FC236}">
                <a16:creationId xmlns:a16="http://schemas.microsoft.com/office/drawing/2014/main" id="{9E2FFB33-8E0C-D7A6-5FBC-3D13778D789A}"/>
              </a:ext>
            </a:extLst>
          </p:cNvPr>
          <p:cNvCxnSpPr>
            <a:cxnSpLocks/>
          </p:cNvCxnSpPr>
          <p:nvPr/>
        </p:nvCxnSpPr>
        <p:spPr>
          <a:xfrm flipV="1">
            <a:off x="8895171" y="4351707"/>
            <a:ext cx="1159916" cy="1059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54F7BE7-F522-D0B8-B2A2-504280CA4760}"/>
              </a:ext>
            </a:extLst>
          </p:cNvPr>
          <p:cNvSpPr txBox="1"/>
          <p:nvPr/>
        </p:nvSpPr>
        <p:spPr>
          <a:xfrm>
            <a:off x="10055087" y="4166811"/>
            <a:ext cx="2220591" cy="276999"/>
          </a:xfrm>
          <a:prstGeom prst="rect">
            <a:avLst/>
          </a:prstGeom>
          <a:noFill/>
        </p:spPr>
        <p:txBody>
          <a:bodyPr wrap="square" rtlCol="0">
            <a:spAutoFit/>
          </a:bodyPr>
          <a:lstStyle/>
          <a:p>
            <a:r>
              <a:rPr lang="nl-NL" sz="1200" dirty="0">
                <a:cs typeface="Courier New" panose="02070309020205020404" pitchFamily="49" charset="0"/>
              </a:rPr>
              <a:t>Dit is een 1x3 matrix</a:t>
            </a:r>
            <a:endParaRPr lang="nl-NL" sz="1200" dirty="0"/>
          </a:p>
        </p:txBody>
      </p:sp>
    </p:spTree>
    <p:extLst>
      <p:ext uri="{BB962C8B-B14F-4D97-AF65-F5344CB8AC3E}">
        <p14:creationId xmlns:p14="http://schemas.microsoft.com/office/powerpoint/2010/main" val="1738228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A6225C6-2727-91E4-1100-69B5133339FE}"/>
                  </a:ext>
                </a:extLst>
              </p:cNvPr>
              <p:cNvSpPr>
                <a:spLocks noGrp="1"/>
              </p:cNvSpPr>
              <p:nvPr>
                <p:ph idx="1"/>
              </p:nvPr>
            </p:nvSpPr>
            <p:spPr/>
            <p:txBody>
              <a:bodyPr>
                <a:normAutofit fontScale="77500" lnSpcReduction="20000"/>
              </a:bodyPr>
              <a:lstStyle/>
              <a:p>
                <a:r>
                  <a:rPr lang="nl-NL" dirty="0"/>
                  <a:t>Dot/matrix-producten:</a:t>
                </a:r>
              </a:p>
              <a:p>
                <a:pPr lvl="2"/>
                <a:r>
                  <a:rPr lang="nl-NL" dirty="0"/>
                  <a:t>1D – scalair product: </a:t>
                </a:r>
                <a14:m>
                  <m:oMath xmlns:m="http://schemas.openxmlformats.org/officeDocument/2006/math">
                    <m:r>
                      <m:rPr>
                        <m:sty m:val="p"/>
                      </m:rPr>
                      <a:rPr lang="nl-NL">
                        <a:latin typeface="Cambria Math" panose="02040503050406030204" pitchFamily="18" charset="0"/>
                      </a:rPr>
                      <m:t>AB</m:t>
                    </m:r>
                    <m:r>
                      <a:rPr lang="nl-NL">
                        <a:latin typeface="Cambria Math" panose="02040503050406030204" pitchFamily="18" charset="0"/>
                      </a:rPr>
                      <m:t>=</m:t>
                    </m:r>
                    <m:r>
                      <m:rPr>
                        <m:sty m:val="p"/>
                      </m:rPr>
                      <a:rPr lang="en-US" b="0" i="0" smtClean="0">
                        <a:latin typeface="Cambria Math" panose="02040503050406030204" pitchFamily="18" charset="0"/>
                      </a:rPr>
                      <m:t>Σ</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oMath>
                </a14:m>
                <a:endParaRPr lang="nl-NL" dirty="0"/>
              </a:p>
              <a:p>
                <a:pPr lvl="2"/>
                <a:endParaRPr lang="nl-NL" dirty="0">
                  <a:solidFill>
                    <a:schemeClr val="tx1"/>
                  </a:solidFill>
                  <a:latin typeface="Cambria Math" panose="02040503050406030204" pitchFamily="18" charset="0"/>
                </a:endParaRPr>
              </a:p>
              <a:p>
                <a:pPr lvl="2"/>
                <a:r>
                  <a:rPr lang="nl-NL" dirty="0">
                    <a:solidFill>
                      <a:schemeClr val="tx1"/>
                    </a:solidFill>
                  </a:rPr>
                  <a:t>2D – matrix product:</a:t>
                </a:r>
              </a:p>
              <a:p>
                <a:pPr lvl="3"/>
                <a14:m>
                  <m:oMath xmlns:m="http://schemas.openxmlformats.org/officeDocument/2006/math">
                    <m:r>
                      <m:rPr>
                        <m:sty m:val="p"/>
                      </m:rPr>
                      <a:rPr lang="nl-NL">
                        <a:solidFill>
                          <a:schemeClr val="tx1"/>
                        </a:solidFill>
                        <a:latin typeface="Cambria Math" panose="02040503050406030204" pitchFamily="18" charset="0"/>
                      </a:rPr>
                      <m:t>AB</m:t>
                    </m:r>
                    <m:r>
                      <a:rPr lang="nl-NL">
                        <a:solidFill>
                          <a:schemeClr val="tx1"/>
                        </a:solidFill>
                        <a:latin typeface="Cambria Math" panose="02040503050406030204" pitchFamily="18" charset="0"/>
                      </a:rPr>
                      <m:t>=</m:t>
                    </m:r>
                    <m:d>
                      <m:dPr>
                        <m:begChr m:val="["/>
                        <m:endChr m:val="]"/>
                        <m:ctrlPr>
                          <a:rPr lang="nl-NL" i="1">
                            <a:solidFill>
                              <a:schemeClr val="tx1"/>
                            </a:solidFill>
                            <a:latin typeface="Cambria Math" panose="02040503050406030204" pitchFamily="18" charset="0"/>
                          </a:rPr>
                        </m:ctrlPr>
                      </m:dPr>
                      <m:e>
                        <m:m>
                          <m:mPr>
                            <m:mcs>
                              <m:mc>
                                <m:mcPr>
                                  <m:count m:val="3"/>
                                  <m:mcJc m:val="center"/>
                                </m:mcPr>
                              </m:mc>
                            </m:mcs>
                            <m:ctrlPr>
                              <a:rPr lang="nl-NL" i="1">
                                <a:solidFill>
                                  <a:schemeClr val="tx1"/>
                                </a:solidFill>
                                <a:latin typeface="Cambria Math" panose="02040503050406030204" pitchFamily="18" charset="0"/>
                              </a:rPr>
                            </m:ctrlPr>
                          </m:mPr>
                          <m:mr>
                            <m:e>
                              <m:sSub>
                                <m:sSubPr>
                                  <m:ctrlPr>
                                    <a:rPr lang="nl-NL" i="1">
                                      <a:solidFill>
                                        <a:schemeClr val="tx1"/>
                                      </a:solidFill>
                                      <a:latin typeface="Cambria Math" panose="02040503050406030204" pitchFamily="18" charset="0"/>
                                    </a:rPr>
                                  </m:ctrlPr>
                                </m:sSubPr>
                                <m:e>
                                  <m:r>
                                    <m:rPr>
                                      <m:brk m:alnAt="7"/>
                                    </m:rPr>
                                    <a:rPr lang="nl-NL" i="1">
                                      <a:solidFill>
                                        <a:schemeClr val="tx1"/>
                                      </a:solidFill>
                                      <a:latin typeface="Cambria Math" panose="02040503050406030204" pitchFamily="18" charset="0"/>
                                    </a:rPr>
                                    <m:t>𝑎</m:t>
                                  </m:r>
                                </m:e>
                                <m:sub>
                                  <m:r>
                                    <m:rPr>
                                      <m:brk m:alnAt="7"/>
                                    </m:rPr>
                                    <a:rPr lang="nl-NL" i="1">
                                      <a:solidFill>
                                        <a:schemeClr val="tx1"/>
                                      </a:solidFill>
                                      <a:latin typeface="Cambria Math" panose="02040503050406030204" pitchFamily="18" charset="0"/>
                                    </a:rPr>
                                    <m:t>1</m:t>
                                  </m:r>
                                  <m:r>
                                    <a:rPr lang="nl-NL" i="1">
                                      <a:solidFill>
                                        <a:schemeClr val="tx1"/>
                                      </a:solidFill>
                                      <a:latin typeface="Cambria Math" panose="02040503050406030204" pitchFamily="18" charset="0"/>
                                    </a:rPr>
                                    <m:t>1</m:t>
                                  </m:r>
                                </m:sub>
                              </m:sSub>
                              <m:sSub>
                                <m:sSubPr>
                                  <m:ctrlPr>
                                    <a:rPr lang="nl-NL" i="1">
                                      <a:solidFill>
                                        <a:schemeClr val="tx1"/>
                                      </a:solidFill>
                                      <a:latin typeface="Cambria Math" panose="02040503050406030204" pitchFamily="18" charset="0"/>
                                    </a:rPr>
                                  </m:ctrlPr>
                                </m:sSubPr>
                                <m:e>
                                  <m:r>
                                    <m:rPr>
                                      <m:brk m:alnAt="7"/>
                                    </m:rPr>
                                    <a:rPr lang="nl-NL" i="1">
                                      <a:solidFill>
                                        <a:schemeClr val="tx1"/>
                                      </a:solidFill>
                                      <a:latin typeface="Cambria Math" panose="02040503050406030204" pitchFamily="18" charset="0"/>
                                    </a:rPr>
                                    <m:t>𝑏</m:t>
                                  </m:r>
                                </m:e>
                                <m:sub>
                                  <m:r>
                                    <m:rPr>
                                      <m:brk m:alnAt="7"/>
                                    </m:rPr>
                                    <a:rPr lang="nl-NL" i="1">
                                      <a:solidFill>
                                        <a:schemeClr val="tx1"/>
                                      </a:solidFill>
                                      <a:latin typeface="Cambria Math" panose="02040503050406030204" pitchFamily="18" charset="0"/>
                                    </a:rPr>
                                    <m:t>1</m:t>
                                  </m:r>
                                  <m:r>
                                    <a:rPr lang="nl-NL" i="1">
                                      <a:solidFill>
                                        <a:schemeClr val="tx1"/>
                                      </a:solidFill>
                                      <a:latin typeface="Cambria Math" panose="02040503050406030204" pitchFamily="18" charset="0"/>
                                    </a:rPr>
                                    <m:t>1</m:t>
                                  </m:r>
                                </m:sub>
                              </m:sSub>
                              <m:r>
                                <m:rPr>
                                  <m:brk m:alnAt="7"/>
                                </m:rPr>
                                <a:rPr lang="nl-NL" i="1">
                                  <a:solidFill>
                                    <a:schemeClr val="tx1"/>
                                  </a:solidFill>
                                  <a:latin typeface="Cambria Math" panose="02040503050406030204" pitchFamily="18" charset="0"/>
                                </a:rPr>
                                <m:t>+</m:t>
                              </m:r>
                              <m:r>
                                <a:rPr lang="nl-NL" i="1">
                                  <a:solidFill>
                                    <a:schemeClr val="tx1"/>
                                  </a:solidFill>
                                  <a:latin typeface="Cambria Math" panose="02040503050406030204" pitchFamily="18" charset="0"/>
                                </a:rPr>
                                <m:t>…+</m:t>
                              </m:r>
                              <m:sSub>
                                <m:sSubPr>
                                  <m:ctrlPr>
                                    <a:rPr lang="nl-NL" i="1">
                                      <a:solidFill>
                                        <a:schemeClr val="tx1"/>
                                      </a:solidFill>
                                      <a:latin typeface="Cambria Math" panose="02040503050406030204" pitchFamily="18" charset="0"/>
                                    </a:rPr>
                                  </m:ctrlPr>
                                </m:sSubPr>
                                <m:e>
                                  <m:r>
                                    <m:rPr>
                                      <m:brk m:alnAt="7"/>
                                    </m:rPr>
                                    <a:rPr lang="nl-NL" i="1">
                                      <a:solidFill>
                                        <a:schemeClr val="tx1"/>
                                      </a:solidFill>
                                      <a:latin typeface="Cambria Math" panose="02040503050406030204" pitchFamily="18" charset="0"/>
                                    </a:rPr>
                                    <m:t>𝑎</m:t>
                                  </m:r>
                                </m:e>
                                <m:sub>
                                  <m:r>
                                    <m:rPr>
                                      <m:brk m:alnAt="7"/>
                                    </m:rPr>
                                    <a:rPr lang="nl-NL" i="1">
                                      <a:solidFill>
                                        <a:schemeClr val="tx1"/>
                                      </a:solidFill>
                                      <a:latin typeface="Cambria Math" panose="02040503050406030204" pitchFamily="18" charset="0"/>
                                    </a:rPr>
                                    <m:t>1</m:t>
                                  </m:r>
                                  <m:r>
                                    <a:rPr lang="nl-NL" i="1">
                                      <a:solidFill>
                                        <a:schemeClr val="tx1"/>
                                      </a:solidFill>
                                      <a:latin typeface="Cambria Math" panose="02040503050406030204" pitchFamily="18" charset="0"/>
                                    </a:rPr>
                                    <m:t>𝑛</m:t>
                                  </m:r>
                                </m:sub>
                              </m:sSub>
                              <m:sSub>
                                <m:sSubPr>
                                  <m:ctrlPr>
                                    <a:rPr lang="nl-NL" i="1">
                                      <a:solidFill>
                                        <a:schemeClr val="tx1"/>
                                      </a:solidFill>
                                      <a:latin typeface="Cambria Math" panose="02040503050406030204" pitchFamily="18" charset="0"/>
                                    </a:rPr>
                                  </m:ctrlPr>
                                </m:sSubPr>
                                <m:e>
                                  <m:r>
                                    <m:rPr>
                                      <m:brk m:alnAt="7"/>
                                    </m:rPr>
                                    <a:rPr lang="nl-NL" i="1">
                                      <a:solidFill>
                                        <a:schemeClr val="tx1"/>
                                      </a:solidFill>
                                      <a:latin typeface="Cambria Math" panose="02040503050406030204" pitchFamily="18" charset="0"/>
                                    </a:rPr>
                                    <m:t>𝑏</m:t>
                                  </m:r>
                                </m:e>
                                <m:sub>
                                  <m:r>
                                    <m:rPr>
                                      <m:brk m:alnAt="7"/>
                                    </m:rPr>
                                    <a:rPr lang="nl-NL" i="1">
                                      <a:solidFill>
                                        <a:schemeClr val="tx1"/>
                                      </a:solidFill>
                                      <a:latin typeface="Cambria Math" panose="02040503050406030204" pitchFamily="18" charset="0"/>
                                    </a:rPr>
                                    <m:t>𝑛</m:t>
                                  </m:r>
                                  <m:r>
                                    <a:rPr lang="nl-NL" i="1">
                                      <a:solidFill>
                                        <a:schemeClr val="tx1"/>
                                      </a:solidFill>
                                      <a:latin typeface="Cambria Math" panose="02040503050406030204" pitchFamily="18" charset="0"/>
                                    </a:rPr>
                                    <m:t>1</m:t>
                                  </m:r>
                                </m:sub>
                              </m:sSub>
                            </m:e>
                            <m:e>
                              <m:r>
                                <a:rPr lang="nl-NL" i="1">
                                  <a:solidFill>
                                    <a:schemeClr val="tx1"/>
                                  </a:solidFill>
                                  <a:latin typeface="Cambria Math" panose="02040503050406030204" pitchFamily="18" charset="0"/>
                                </a:rPr>
                                <m:t>⋯</m:t>
                              </m:r>
                            </m:e>
                            <m:e>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𝑎</m:t>
                                  </m:r>
                                </m:e>
                                <m:sub>
                                  <m:r>
                                    <a:rPr lang="nl-NL" i="1">
                                      <a:solidFill>
                                        <a:schemeClr val="tx1"/>
                                      </a:solidFill>
                                      <a:latin typeface="Cambria Math" panose="02040503050406030204" pitchFamily="18" charset="0"/>
                                    </a:rPr>
                                    <m:t>11</m:t>
                                  </m:r>
                                </m:sub>
                              </m:sSub>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𝑏</m:t>
                                  </m:r>
                                </m:e>
                                <m:sub>
                                  <m:r>
                                    <a:rPr lang="nl-NL" i="1">
                                      <a:solidFill>
                                        <a:schemeClr val="tx1"/>
                                      </a:solidFill>
                                      <a:latin typeface="Cambria Math" panose="02040503050406030204" pitchFamily="18" charset="0"/>
                                    </a:rPr>
                                    <m:t>1</m:t>
                                  </m:r>
                                  <m:r>
                                    <a:rPr lang="nl-NL" i="1">
                                      <a:solidFill>
                                        <a:schemeClr val="tx1"/>
                                      </a:solidFill>
                                      <a:latin typeface="Cambria Math" panose="02040503050406030204" pitchFamily="18" charset="0"/>
                                    </a:rPr>
                                    <m:t>𝑝</m:t>
                                  </m:r>
                                </m:sub>
                              </m:sSub>
                              <m:r>
                                <a:rPr lang="nl-NL" i="1">
                                  <a:solidFill>
                                    <a:schemeClr val="tx1"/>
                                  </a:solidFill>
                                  <a:latin typeface="Cambria Math" panose="02040503050406030204" pitchFamily="18" charset="0"/>
                                </a:rPr>
                                <m:t>+…+</m:t>
                              </m:r>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𝑎</m:t>
                                  </m:r>
                                </m:e>
                                <m:sub>
                                  <m:r>
                                    <a:rPr lang="nl-NL" i="1">
                                      <a:solidFill>
                                        <a:schemeClr val="tx1"/>
                                      </a:solidFill>
                                      <a:latin typeface="Cambria Math" panose="02040503050406030204" pitchFamily="18" charset="0"/>
                                    </a:rPr>
                                    <m:t>1</m:t>
                                  </m:r>
                                  <m:r>
                                    <a:rPr lang="nl-NL" i="1">
                                      <a:solidFill>
                                        <a:schemeClr val="tx1"/>
                                      </a:solidFill>
                                      <a:latin typeface="Cambria Math" panose="02040503050406030204" pitchFamily="18" charset="0"/>
                                    </a:rPr>
                                    <m:t>𝑛</m:t>
                                  </m:r>
                                </m:sub>
                              </m:sSub>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𝑏</m:t>
                                  </m:r>
                                </m:e>
                                <m:sub>
                                  <m:r>
                                    <a:rPr lang="nl-NL" i="1">
                                      <a:solidFill>
                                        <a:schemeClr val="tx1"/>
                                      </a:solidFill>
                                      <a:latin typeface="Cambria Math" panose="02040503050406030204" pitchFamily="18" charset="0"/>
                                    </a:rPr>
                                    <m:t>𝑛𝑝</m:t>
                                  </m:r>
                                </m:sub>
                              </m:sSub>
                            </m:e>
                          </m:mr>
                          <m:mr>
                            <m:e>
                              <m:r>
                                <a:rPr lang="nl-NL" i="1">
                                  <a:solidFill>
                                    <a:schemeClr val="tx1"/>
                                  </a:solidFill>
                                  <a:latin typeface="Cambria Math" panose="02040503050406030204" pitchFamily="18" charset="0"/>
                                </a:rPr>
                                <m:t>⋮</m:t>
                              </m:r>
                            </m:e>
                            <m:e>
                              <m:r>
                                <a:rPr lang="nl-NL" i="1">
                                  <a:solidFill>
                                    <a:schemeClr val="tx1"/>
                                  </a:solidFill>
                                  <a:latin typeface="Cambria Math" panose="02040503050406030204" pitchFamily="18" charset="0"/>
                                </a:rPr>
                                <m:t>⋱</m:t>
                              </m:r>
                            </m:e>
                            <m:e>
                              <m:r>
                                <a:rPr lang="nl-NL" i="1">
                                  <a:solidFill>
                                    <a:schemeClr val="tx1"/>
                                  </a:solidFill>
                                  <a:latin typeface="Cambria Math" panose="02040503050406030204" pitchFamily="18" charset="0"/>
                                </a:rPr>
                                <m:t>⋮</m:t>
                              </m:r>
                            </m:e>
                          </m:mr>
                          <m:mr>
                            <m:e>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𝑎</m:t>
                                  </m:r>
                                </m:e>
                                <m:sub>
                                  <m:r>
                                    <a:rPr lang="nl-NL" i="1">
                                      <a:solidFill>
                                        <a:schemeClr val="tx1"/>
                                      </a:solidFill>
                                      <a:latin typeface="Cambria Math" panose="02040503050406030204" pitchFamily="18" charset="0"/>
                                    </a:rPr>
                                    <m:t>𝑚</m:t>
                                  </m:r>
                                  <m:r>
                                    <a:rPr lang="nl-NL" i="1">
                                      <a:solidFill>
                                        <a:schemeClr val="tx1"/>
                                      </a:solidFill>
                                      <a:latin typeface="Cambria Math" panose="02040503050406030204" pitchFamily="18" charset="0"/>
                                    </a:rPr>
                                    <m:t>1</m:t>
                                  </m:r>
                                </m:sub>
                              </m:sSub>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𝑏</m:t>
                                  </m:r>
                                </m:e>
                                <m:sub>
                                  <m:r>
                                    <a:rPr lang="nl-NL" i="1">
                                      <a:solidFill>
                                        <a:schemeClr val="tx1"/>
                                      </a:solidFill>
                                      <a:latin typeface="Cambria Math" panose="02040503050406030204" pitchFamily="18" charset="0"/>
                                    </a:rPr>
                                    <m:t>11</m:t>
                                  </m:r>
                                </m:sub>
                              </m:sSub>
                              <m:r>
                                <a:rPr lang="nl-NL" i="1">
                                  <a:solidFill>
                                    <a:schemeClr val="tx1"/>
                                  </a:solidFill>
                                  <a:latin typeface="Cambria Math" panose="02040503050406030204" pitchFamily="18" charset="0"/>
                                </a:rPr>
                                <m:t>+…+</m:t>
                              </m:r>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𝑎</m:t>
                                  </m:r>
                                </m:e>
                                <m:sub>
                                  <m:r>
                                    <a:rPr lang="nl-NL" i="1">
                                      <a:solidFill>
                                        <a:schemeClr val="tx1"/>
                                      </a:solidFill>
                                      <a:latin typeface="Cambria Math" panose="02040503050406030204" pitchFamily="18" charset="0"/>
                                    </a:rPr>
                                    <m:t>𝑚𝑛</m:t>
                                  </m:r>
                                </m:sub>
                              </m:sSub>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𝑏</m:t>
                                  </m:r>
                                </m:e>
                                <m:sub>
                                  <m:r>
                                    <a:rPr lang="nl-NL" i="1">
                                      <a:solidFill>
                                        <a:schemeClr val="tx1"/>
                                      </a:solidFill>
                                      <a:latin typeface="Cambria Math" panose="02040503050406030204" pitchFamily="18" charset="0"/>
                                    </a:rPr>
                                    <m:t>𝑛</m:t>
                                  </m:r>
                                  <m:r>
                                    <a:rPr lang="nl-NL" i="1">
                                      <a:solidFill>
                                        <a:schemeClr val="tx1"/>
                                      </a:solidFill>
                                      <a:latin typeface="Cambria Math" panose="02040503050406030204" pitchFamily="18" charset="0"/>
                                    </a:rPr>
                                    <m:t>1</m:t>
                                  </m:r>
                                </m:sub>
                              </m:sSub>
                            </m:e>
                            <m:e>
                              <m:r>
                                <a:rPr lang="nl-NL" i="1">
                                  <a:solidFill>
                                    <a:schemeClr val="tx1"/>
                                  </a:solidFill>
                                  <a:latin typeface="Cambria Math" panose="02040503050406030204" pitchFamily="18" charset="0"/>
                                </a:rPr>
                                <m:t>⋯</m:t>
                              </m:r>
                            </m:e>
                            <m:e>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𝑎</m:t>
                                  </m:r>
                                </m:e>
                                <m:sub>
                                  <m:r>
                                    <a:rPr lang="nl-NL" i="1">
                                      <a:solidFill>
                                        <a:schemeClr val="tx1"/>
                                      </a:solidFill>
                                      <a:latin typeface="Cambria Math" panose="02040503050406030204" pitchFamily="18" charset="0"/>
                                    </a:rPr>
                                    <m:t>𝑚</m:t>
                                  </m:r>
                                  <m:r>
                                    <a:rPr lang="nl-NL" i="1">
                                      <a:solidFill>
                                        <a:schemeClr val="tx1"/>
                                      </a:solidFill>
                                      <a:latin typeface="Cambria Math" panose="02040503050406030204" pitchFamily="18" charset="0"/>
                                    </a:rPr>
                                    <m:t>1</m:t>
                                  </m:r>
                                </m:sub>
                              </m:sSub>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𝑏</m:t>
                                  </m:r>
                                </m:e>
                                <m:sub>
                                  <m:r>
                                    <a:rPr lang="nl-NL" i="1">
                                      <a:solidFill>
                                        <a:schemeClr val="tx1"/>
                                      </a:solidFill>
                                      <a:latin typeface="Cambria Math" panose="02040503050406030204" pitchFamily="18" charset="0"/>
                                    </a:rPr>
                                    <m:t>1</m:t>
                                  </m:r>
                                  <m:r>
                                    <a:rPr lang="nl-NL" i="1">
                                      <a:solidFill>
                                        <a:schemeClr val="tx1"/>
                                      </a:solidFill>
                                      <a:latin typeface="Cambria Math" panose="02040503050406030204" pitchFamily="18" charset="0"/>
                                    </a:rPr>
                                    <m:t>𝑝</m:t>
                                  </m:r>
                                </m:sub>
                              </m:sSub>
                              <m:r>
                                <a:rPr lang="nl-NL" i="1">
                                  <a:solidFill>
                                    <a:schemeClr val="tx1"/>
                                  </a:solidFill>
                                  <a:latin typeface="Cambria Math" panose="02040503050406030204" pitchFamily="18" charset="0"/>
                                </a:rPr>
                                <m:t>+…+</m:t>
                              </m:r>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𝑎</m:t>
                                  </m:r>
                                </m:e>
                                <m:sub>
                                  <m:r>
                                    <a:rPr lang="nl-NL" i="1">
                                      <a:solidFill>
                                        <a:schemeClr val="tx1"/>
                                      </a:solidFill>
                                      <a:latin typeface="Cambria Math" panose="02040503050406030204" pitchFamily="18" charset="0"/>
                                    </a:rPr>
                                    <m:t>𝑚𝑛</m:t>
                                  </m:r>
                                </m:sub>
                              </m:sSub>
                              <m:sSub>
                                <m:sSubPr>
                                  <m:ctrlPr>
                                    <a:rPr lang="nl-NL" i="1">
                                      <a:solidFill>
                                        <a:schemeClr val="tx1"/>
                                      </a:solidFill>
                                      <a:latin typeface="Cambria Math" panose="02040503050406030204" pitchFamily="18" charset="0"/>
                                    </a:rPr>
                                  </m:ctrlPr>
                                </m:sSubPr>
                                <m:e>
                                  <m:r>
                                    <a:rPr lang="nl-NL" i="1">
                                      <a:solidFill>
                                        <a:schemeClr val="tx1"/>
                                      </a:solidFill>
                                      <a:latin typeface="Cambria Math" panose="02040503050406030204" pitchFamily="18" charset="0"/>
                                    </a:rPr>
                                    <m:t>𝑏</m:t>
                                  </m:r>
                                </m:e>
                                <m:sub>
                                  <m:r>
                                    <a:rPr lang="nl-NL" i="1">
                                      <a:solidFill>
                                        <a:schemeClr val="tx1"/>
                                      </a:solidFill>
                                      <a:latin typeface="Cambria Math" panose="02040503050406030204" pitchFamily="18" charset="0"/>
                                    </a:rPr>
                                    <m:t>𝑛𝑝</m:t>
                                  </m:r>
                                </m:sub>
                              </m:sSub>
                            </m:e>
                          </m:mr>
                        </m:m>
                      </m:e>
                    </m:d>
                  </m:oMath>
                </a14:m>
                <a:r>
                  <a:rPr lang="nl-NL" dirty="0">
                    <a:solidFill>
                      <a:schemeClr val="tx1"/>
                    </a:solidFill>
                  </a:rPr>
                  <a:t> </a:t>
                </a:r>
              </a:p>
              <a:p>
                <a:pPr lvl="3"/>
                <a:r>
                  <a:rPr lang="nl-NL" dirty="0">
                    <a:solidFill>
                      <a:schemeClr val="tx1"/>
                    </a:solidFill>
                  </a:rPr>
                  <a:t>Met dimensies </a:t>
                </a:r>
                <a14:m>
                  <m:oMath xmlns:m="http://schemas.openxmlformats.org/officeDocument/2006/math">
                    <m:r>
                      <a:rPr lang="nl-NL" i="1">
                        <a:solidFill>
                          <a:schemeClr val="tx1"/>
                        </a:solidFill>
                        <a:latin typeface="Cambria Math" panose="02040503050406030204" pitchFamily="18" charset="0"/>
                      </a:rPr>
                      <m:t>𝐴</m:t>
                    </m:r>
                    <m:r>
                      <a:rPr lang="nl-NL" i="1">
                        <a:solidFill>
                          <a:schemeClr val="tx1"/>
                        </a:solidFill>
                        <a:latin typeface="Cambria Math" panose="02040503050406030204" pitchFamily="18" charset="0"/>
                      </a:rPr>
                      <m:t>=</m:t>
                    </m:r>
                    <m:r>
                      <a:rPr lang="nl-NL" i="1">
                        <a:solidFill>
                          <a:schemeClr val="tx1"/>
                        </a:solidFill>
                        <a:latin typeface="Cambria Math" panose="02040503050406030204" pitchFamily="18" charset="0"/>
                      </a:rPr>
                      <m:t>𝑀</m:t>
                    </m:r>
                    <m:r>
                      <a:rPr lang="nl-NL" i="1">
                        <a:solidFill>
                          <a:schemeClr val="tx1"/>
                        </a:solidFill>
                        <a:latin typeface="Cambria Math" panose="02040503050406030204" pitchFamily="18" charset="0"/>
                      </a:rPr>
                      <m:t>×</m:t>
                    </m:r>
                    <m:r>
                      <a:rPr lang="nl-NL" i="1">
                        <a:solidFill>
                          <a:schemeClr val="tx1"/>
                        </a:solidFill>
                        <a:latin typeface="Cambria Math" panose="02040503050406030204" pitchFamily="18" charset="0"/>
                      </a:rPr>
                      <m:t>𝑁</m:t>
                    </m:r>
                  </m:oMath>
                </a14:m>
                <a:r>
                  <a:rPr lang="nl-NL" dirty="0">
                    <a:solidFill>
                      <a:schemeClr val="tx1"/>
                    </a:solidFill>
                  </a:rPr>
                  <a:t>, </a:t>
                </a:r>
                <a14:m>
                  <m:oMath xmlns:m="http://schemas.openxmlformats.org/officeDocument/2006/math">
                    <m:r>
                      <a:rPr lang="nl-NL" i="1">
                        <a:solidFill>
                          <a:schemeClr val="tx1"/>
                        </a:solidFill>
                        <a:latin typeface="Cambria Math" panose="02040503050406030204" pitchFamily="18" charset="0"/>
                      </a:rPr>
                      <m:t>𝐵</m:t>
                    </m:r>
                    <m:r>
                      <a:rPr lang="nl-NL" i="1">
                        <a:solidFill>
                          <a:schemeClr val="tx1"/>
                        </a:solidFill>
                        <a:latin typeface="Cambria Math" panose="02040503050406030204" pitchFamily="18" charset="0"/>
                      </a:rPr>
                      <m:t>=</m:t>
                    </m:r>
                    <m:r>
                      <a:rPr lang="nl-NL" i="1">
                        <a:solidFill>
                          <a:schemeClr val="tx1"/>
                        </a:solidFill>
                        <a:latin typeface="Cambria Math" panose="02040503050406030204" pitchFamily="18" charset="0"/>
                      </a:rPr>
                      <m:t>𝑁</m:t>
                    </m:r>
                    <m:r>
                      <a:rPr lang="nl-NL" i="1">
                        <a:solidFill>
                          <a:schemeClr val="tx1"/>
                        </a:solidFill>
                        <a:latin typeface="Cambria Math" panose="02040503050406030204" pitchFamily="18" charset="0"/>
                      </a:rPr>
                      <m:t>×</m:t>
                    </m:r>
                    <m:r>
                      <a:rPr lang="nl-NL" i="1">
                        <a:solidFill>
                          <a:schemeClr val="tx1"/>
                        </a:solidFill>
                        <a:latin typeface="Cambria Math" panose="02040503050406030204" pitchFamily="18" charset="0"/>
                      </a:rPr>
                      <m:t>𝑃</m:t>
                    </m:r>
                  </m:oMath>
                </a14:m>
                <a:r>
                  <a:rPr lang="nl-NL" dirty="0">
                    <a:solidFill>
                      <a:schemeClr val="tx1"/>
                    </a:solidFill>
                  </a:rPr>
                  <a:t> en dus </a:t>
                </a:r>
                <a14:m>
                  <m:oMath xmlns:m="http://schemas.openxmlformats.org/officeDocument/2006/math">
                    <m:r>
                      <a:rPr lang="en-US" b="0" i="1" smtClean="0">
                        <a:solidFill>
                          <a:schemeClr val="tx1"/>
                        </a:solidFill>
                        <a:latin typeface="Cambria Math" panose="02040503050406030204" pitchFamily="18" charset="0"/>
                      </a:rPr>
                      <m:t>𝐴𝐵</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𝑀</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𝑃</m:t>
                    </m:r>
                  </m:oMath>
                </a14:m>
                <a:endParaRPr lang="nl-NL" dirty="0">
                  <a:solidFill>
                    <a:schemeClr val="tx1"/>
                  </a:solidFill>
                </a:endParaRPr>
              </a:p>
              <a:p>
                <a:pPr lvl="2"/>
                <a:r>
                  <a:rPr lang="nl-NL" b="1" dirty="0" err="1">
                    <a:solidFill>
                      <a:schemeClr val="tx1"/>
                    </a:solidFill>
                  </a:rPr>
                  <a:t>Numpy</a:t>
                </a:r>
                <a:r>
                  <a:rPr lang="nl-NL" b="1" dirty="0">
                    <a:solidFill>
                      <a:schemeClr val="tx1"/>
                    </a:solidFill>
                  </a:rPr>
                  <a:t>: </a:t>
                </a:r>
                <a:r>
                  <a:rPr lang="nl-NL" dirty="0">
                    <a:solidFill>
                      <a:schemeClr val="tx1"/>
                    </a:solidFill>
                    <a:latin typeface="Courier New" panose="02070309020205020404" pitchFamily="49" charset="0"/>
                    <a:cs typeface="Courier New" panose="02070309020205020404" pitchFamily="49" charset="0"/>
                  </a:rPr>
                  <a:t>dot()</a:t>
                </a:r>
                <a:r>
                  <a:rPr lang="nl-NL" dirty="0">
                    <a:solidFill>
                      <a:schemeClr val="tx1"/>
                    </a:solidFill>
                    <a:latin typeface="+mn-lt"/>
                    <a:cs typeface="Courier New" panose="02070309020205020404" pitchFamily="49" charset="0"/>
                  </a:rPr>
                  <a:t> </a:t>
                </a:r>
                <a:r>
                  <a:rPr lang="nl-NL" dirty="0">
                    <a:solidFill>
                      <a:schemeClr val="tx1"/>
                    </a:solidFill>
                  </a:rPr>
                  <a:t>(1- of meer D) en </a:t>
                </a:r>
                <a:r>
                  <a:rPr lang="nl-NL" dirty="0" err="1">
                    <a:solidFill>
                      <a:schemeClr val="tx1"/>
                    </a:solidFill>
                    <a:latin typeface="Courier New" panose="02070309020205020404" pitchFamily="49" charset="0"/>
                    <a:cs typeface="Courier New" panose="02070309020205020404" pitchFamily="49" charset="0"/>
                  </a:rPr>
                  <a:t>matmul</a:t>
                </a:r>
                <a:r>
                  <a:rPr lang="nl-NL" dirty="0">
                    <a:solidFill>
                      <a:schemeClr val="tx1"/>
                    </a:solidFill>
                    <a:latin typeface="Courier New" panose="02070309020205020404" pitchFamily="49" charset="0"/>
                    <a:cs typeface="Courier New" panose="02070309020205020404" pitchFamily="49" charset="0"/>
                  </a:rPr>
                  <a:t>()</a:t>
                </a:r>
                <a:r>
                  <a:rPr lang="nl-NL" dirty="0">
                    <a:solidFill>
                      <a:schemeClr val="tx1"/>
                    </a:solidFill>
                  </a:rPr>
                  <a:t> of </a:t>
                </a:r>
                <a:r>
                  <a:rPr lang="nl-NL" dirty="0">
                    <a:solidFill>
                      <a:schemeClr val="tx1"/>
                    </a:solidFill>
                    <a:latin typeface="Courier New" panose="02070309020205020404" pitchFamily="49" charset="0"/>
                    <a:cs typeface="Courier New" panose="02070309020205020404" pitchFamily="49" charset="0"/>
                  </a:rPr>
                  <a:t>A @ B </a:t>
                </a:r>
                <a:r>
                  <a:rPr lang="nl-NL" dirty="0">
                    <a:solidFill>
                      <a:schemeClr val="tx1"/>
                    </a:solidFill>
                  </a:rPr>
                  <a:t>(2- of meer D)</a:t>
                </a:r>
                <a:endParaRPr lang="nl-NL" dirty="0">
                  <a:solidFill>
                    <a:schemeClr val="tx1"/>
                  </a:solidFill>
                  <a:latin typeface="Courier New" panose="02070309020205020404" pitchFamily="49" charset="0"/>
                  <a:cs typeface="Courier New" panose="02070309020205020404" pitchFamily="49" charset="0"/>
                </a:endParaRPr>
              </a:p>
              <a:p>
                <a:pPr lvl="1"/>
                <a:endParaRPr lang="nl-NL" dirty="0"/>
              </a:p>
              <a:p>
                <a:r>
                  <a:rPr lang="nl-NL" dirty="0" err="1"/>
                  <a:t>Elementsgewijs</a:t>
                </a:r>
                <a:r>
                  <a:rPr lang="nl-NL" dirty="0"/>
                  <a:t> product</a:t>
                </a:r>
                <a:r>
                  <a:rPr lang="nl-NL" dirty="0">
                    <a:sym typeface="Wingdings" pitchFamily="2" charset="2"/>
                  </a:rPr>
                  <a:t> (</a:t>
                </a:r>
                <a:r>
                  <a:rPr lang="nl-NL" dirty="0" err="1">
                    <a:sym typeface="Wingdings" pitchFamily="2" charset="2"/>
                  </a:rPr>
                  <a:t>Hadamard</a:t>
                </a:r>
                <a:r>
                  <a:rPr lang="nl-NL" dirty="0">
                    <a:sym typeface="Wingdings" pitchFamily="2" charset="2"/>
                  </a:rPr>
                  <a:t>-product):</a:t>
                </a:r>
              </a:p>
              <a:p>
                <a:pPr lvl="2"/>
                <a14:m>
                  <m:oMath xmlns:m="http://schemas.openxmlformats.org/officeDocument/2006/math">
                    <m:r>
                      <m:rPr>
                        <m:sty m:val="p"/>
                      </m:rPr>
                      <a:rPr lang="nl-NL">
                        <a:latin typeface="Cambria Math" panose="02040503050406030204" pitchFamily="18" charset="0"/>
                      </a:rPr>
                      <m:t>A</m:t>
                    </m:r>
                    <m:r>
                      <a:rPr lang="en-US" b="0" i="1" smtClean="0">
                        <a:latin typeface="Cambria Math" panose="02040503050406030204" pitchFamily="18" charset="0"/>
                      </a:rPr>
                      <m:t>∘</m:t>
                    </m:r>
                    <m:r>
                      <m:rPr>
                        <m:sty m:val="p"/>
                      </m:rPr>
                      <a:rPr lang="nl-NL">
                        <a:latin typeface="Cambria Math" panose="02040503050406030204" pitchFamily="18" charset="0"/>
                      </a:rPr>
                      <m:t>B</m:t>
                    </m:r>
                    <m:r>
                      <a:rPr lang="nl-NL">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3"/>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brk m:alnAt="7"/>
                                    </m:rPr>
                                    <a:rPr lang="nl-NL" i="1">
                                      <a:latin typeface="Cambria Math" panose="02040503050406030204" pitchFamily="18" charset="0"/>
                                    </a:rPr>
                                    <m:t>𝑎</m:t>
                                  </m:r>
                                </m:e>
                                <m:sub>
                                  <m:r>
                                    <m:rPr>
                                      <m:brk m:alnAt="7"/>
                                    </m:rPr>
                                    <a:rPr lang="nl-NL" i="1">
                                      <a:latin typeface="Cambria Math" panose="02040503050406030204" pitchFamily="18" charset="0"/>
                                    </a:rPr>
                                    <m:t>1</m:t>
                                  </m:r>
                                  <m:r>
                                    <a:rPr lang="nl-NL" i="1">
                                      <a:latin typeface="Cambria Math" panose="02040503050406030204" pitchFamily="18" charset="0"/>
                                    </a:rPr>
                                    <m:t>1</m:t>
                                  </m:r>
                                </m:sub>
                              </m:sSub>
                              <m:r>
                                <a:rPr lang="en-US" b="0" i="1" smtClean="0">
                                  <a:latin typeface="Cambria Math" panose="02040503050406030204" pitchFamily="18" charset="0"/>
                                </a:rPr>
                                <m:t>×</m:t>
                              </m:r>
                              <m:sSub>
                                <m:sSubPr>
                                  <m:ctrlPr>
                                    <a:rPr lang="nl-NL" i="1">
                                      <a:latin typeface="Cambria Math" panose="02040503050406030204" pitchFamily="18" charset="0"/>
                                    </a:rPr>
                                  </m:ctrlPr>
                                </m:sSubPr>
                                <m:e>
                                  <m:r>
                                    <m:rPr>
                                      <m:brk m:alnAt="7"/>
                                    </m:rPr>
                                    <a:rPr lang="nl-NL" i="1">
                                      <a:latin typeface="Cambria Math" panose="02040503050406030204" pitchFamily="18" charset="0"/>
                                    </a:rPr>
                                    <m:t>𝑏</m:t>
                                  </m:r>
                                </m:e>
                                <m:sub>
                                  <m:r>
                                    <m:rPr>
                                      <m:brk m:alnAt="7"/>
                                    </m:rPr>
                                    <a:rPr lang="nl-NL" i="1">
                                      <a:latin typeface="Cambria Math" panose="02040503050406030204" pitchFamily="18" charset="0"/>
                                    </a:rPr>
                                    <m:t>1</m:t>
                                  </m:r>
                                  <m:r>
                                    <a:rPr lang="nl-NL" i="1">
                                      <a:latin typeface="Cambria Math" panose="02040503050406030204" pitchFamily="18" charset="0"/>
                                    </a:rPr>
                                    <m:t>1</m:t>
                                  </m:r>
                                </m:sub>
                              </m:sSub>
                            </m:e>
                            <m:e>
                              <m:r>
                                <a:rPr lang="nl-NL" i="1">
                                  <a:latin typeface="Cambria Math" panose="02040503050406030204" pitchFamily="18" charset="0"/>
                                </a:rPr>
                                <m:t>⋯</m:t>
                              </m:r>
                            </m:e>
                            <m:e>
                              <m:sSub>
                                <m:sSubPr>
                                  <m:ctrlPr>
                                    <a:rPr lang="nl-NL" i="1">
                                      <a:latin typeface="Cambria Math" panose="02040503050406030204" pitchFamily="18" charset="0"/>
                                    </a:rPr>
                                  </m:ctrlPr>
                                </m:sSubPr>
                                <m:e>
                                  <m:r>
                                    <a:rPr lang="nl-NL" i="1">
                                      <a:latin typeface="Cambria Math" panose="02040503050406030204" pitchFamily="18" charset="0"/>
                                    </a:rPr>
                                    <m:t>𝑎</m:t>
                                  </m:r>
                                </m:e>
                                <m:sub>
                                  <m:r>
                                    <a:rPr lang="nl-NL" i="1">
                                      <a:latin typeface="Cambria Math" panose="02040503050406030204" pitchFamily="18" charset="0"/>
                                    </a:rPr>
                                    <m:t>1</m:t>
                                  </m:r>
                                  <m:r>
                                    <a:rPr lang="nl-NL" i="1">
                                      <a:latin typeface="Cambria Math" panose="02040503050406030204" pitchFamily="18" charset="0"/>
                                    </a:rPr>
                                    <m:t>𝑛</m:t>
                                  </m:r>
                                </m:sub>
                              </m:sSub>
                              <m:sSub>
                                <m:sSubPr>
                                  <m:ctrlPr>
                                    <a:rPr lang="nl-NL" i="1">
                                      <a:latin typeface="Cambria Math" panose="02040503050406030204" pitchFamily="18" charset="0"/>
                                    </a:rPr>
                                  </m:ctrlPr>
                                </m:sSubPr>
                                <m:e>
                                  <m:r>
                                    <a:rPr lang="nl-NL" i="1">
                                      <a:latin typeface="Cambria Math" panose="02040503050406030204" pitchFamily="18" charset="0"/>
                                    </a:rPr>
                                    <m:t>𝑏</m:t>
                                  </m:r>
                                </m:e>
                                <m:sub>
                                  <m:r>
                                    <a:rPr lang="en-US" b="0" i="1" smtClean="0">
                                      <a:latin typeface="Cambria Math" panose="02040503050406030204" pitchFamily="18" charset="0"/>
                                    </a:rPr>
                                    <m:t>1</m:t>
                                  </m:r>
                                  <m:r>
                                    <a:rPr lang="en-US" b="0" i="1" smtClean="0">
                                      <a:latin typeface="Cambria Math" panose="02040503050406030204" pitchFamily="18" charset="0"/>
                                    </a:rPr>
                                    <m:t>𝑛</m:t>
                                  </m:r>
                                </m:sub>
                              </m:sSub>
                            </m:e>
                          </m:mr>
                          <m:mr>
                            <m:e>
                              <m:r>
                                <a:rPr lang="nl-NL" i="1">
                                  <a:latin typeface="Cambria Math" panose="02040503050406030204" pitchFamily="18" charset="0"/>
                                </a:rPr>
                                <m:t>⋮</m:t>
                              </m:r>
                            </m:e>
                            <m:e>
                              <m:r>
                                <a:rPr lang="nl-NL" i="1">
                                  <a:latin typeface="Cambria Math" panose="02040503050406030204" pitchFamily="18" charset="0"/>
                                </a:rPr>
                                <m:t>⋱</m:t>
                              </m:r>
                            </m:e>
                            <m:e>
                              <m:r>
                                <a:rPr lang="nl-NL" i="1">
                                  <a:latin typeface="Cambria Math" panose="02040503050406030204" pitchFamily="18" charset="0"/>
                                </a:rPr>
                                <m:t>⋮</m:t>
                              </m:r>
                            </m:e>
                          </m:mr>
                          <m:mr>
                            <m:e>
                              <m:sSub>
                                <m:sSubPr>
                                  <m:ctrlPr>
                                    <a:rPr lang="nl-NL" i="1">
                                      <a:latin typeface="Cambria Math" panose="02040503050406030204" pitchFamily="18" charset="0"/>
                                    </a:rPr>
                                  </m:ctrlPr>
                                </m:sSubPr>
                                <m:e>
                                  <m:r>
                                    <a:rPr lang="nl-NL" i="1">
                                      <a:latin typeface="Cambria Math" panose="02040503050406030204" pitchFamily="18" charset="0"/>
                                    </a:rPr>
                                    <m:t>𝑎</m:t>
                                  </m:r>
                                </m:e>
                                <m:sub>
                                  <m:r>
                                    <a:rPr lang="nl-NL" i="1">
                                      <a:latin typeface="Cambria Math" panose="02040503050406030204" pitchFamily="18" charset="0"/>
                                    </a:rPr>
                                    <m:t>𝑚</m:t>
                                  </m:r>
                                  <m:r>
                                    <a:rPr lang="nl-NL" i="1">
                                      <a:latin typeface="Cambria Math" panose="02040503050406030204" pitchFamily="18" charset="0"/>
                                    </a:rPr>
                                    <m:t>1</m:t>
                                  </m:r>
                                </m:sub>
                              </m:sSub>
                              <m:r>
                                <a:rPr lang="en-US" b="0" i="1" smtClean="0">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𝑏</m:t>
                                  </m:r>
                                </m:e>
                                <m:sub>
                                  <m:r>
                                    <a:rPr lang="nl-NL" i="1">
                                      <a:latin typeface="Cambria Math" panose="02040503050406030204" pitchFamily="18" charset="0"/>
                                    </a:rPr>
                                    <m:t>11</m:t>
                                  </m:r>
                                </m:sub>
                              </m:sSub>
                            </m:e>
                            <m:e>
                              <m:r>
                                <a:rPr lang="nl-NL" i="1">
                                  <a:latin typeface="Cambria Math" panose="02040503050406030204" pitchFamily="18" charset="0"/>
                                </a:rPr>
                                <m:t>⋯</m:t>
                              </m:r>
                            </m:e>
                            <m:e>
                              <m:sSub>
                                <m:sSubPr>
                                  <m:ctrlPr>
                                    <a:rPr lang="nl-NL" i="1">
                                      <a:latin typeface="Cambria Math" panose="02040503050406030204" pitchFamily="18" charset="0"/>
                                    </a:rPr>
                                  </m:ctrlPr>
                                </m:sSubPr>
                                <m:e>
                                  <m:r>
                                    <a:rPr lang="nl-NL" i="1">
                                      <a:latin typeface="Cambria Math" panose="02040503050406030204" pitchFamily="18" charset="0"/>
                                    </a:rPr>
                                    <m:t>𝑎</m:t>
                                  </m:r>
                                </m:e>
                                <m:sub>
                                  <m:r>
                                    <a:rPr lang="nl-NL" i="1">
                                      <a:latin typeface="Cambria Math" panose="02040503050406030204" pitchFamily="18" charset="0"/>
                                    </a:rPr>
                                    <m:t>𝑚</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𝑏</m:t>
                                  </m:r>
                                </m:e>
                                <m:sub>
                                  <m:r>
                                    <a:rPr lang="en-US" b="0" i="1" smtClean="0">
                                      <a:latin typeface="Cambria Math" panose="02040503050406030204" pitchFamily="18" charset="0"/>
                                    </a:rPr>
                                    <m:t>𝑚</m:t>
                                  </m:r>
                                  <m:r>
                                    <a:rPr lang="en-US" b="0" i="1" smtClean="0">
                                      <a:latin typeface="Cambria Math" panose="02040503050406030204" pitchFamily="18" charset="0"/>
                                    </a:rPr>
                                    <m:t>1</m:t>
                                  </m:r>
                                </m:sub>
                              </m:sSub>
                            </m:e>
                          </m:mr>
                        </m:m>
                      </m:e>
                    </m:d>
                  </m:oMath>
                </a14:m>
                <a:r>
                  <a:rPr lang="nl-NL" dirty="0"/>
                  <a:t> </a:t>
                </a:r>
              </a:p>
              <a:p>
                <a:pPr lvl="2"/>
                <a:r>
                  <a:rPr lang="nl-NL" dirty="0"/>
                  <a:t>Matrices van dezelfde vorm</a:t>
                </a:r>
              </a:p>
              <a:p>
                <a:pPr lvl="2"/>
                <a:r>
                  <a:rPr lang="nl-NL" b="1" dirty="0" err="1"/>
                  <a:t>Numpy</a:t>
                </a:r>
                <a:r>
                  <a:rPr lang="nl-NL" b="1" dirty="0"/>
                  <a:t>: </a:t>
                </a:r>
                <a:r>
                  <a:rPr lang="nl-NL" dirty="0" err="1">
                    <a:latin typeface="Courier New" panose="02070309020205020404" pitchFamily="49" charset="0"/>
                    <a:cs typeface="Courier New" panose="02070309020205020404" pitchFamily="49" charset="0"/>
                  </a:rPr>
                  <a:t>multiply</a:t>
                </a:r>
                <a:r>
                  <a:rPr lang="nl-NL" dirty="0">
                    <a:latin typeface="Courier New" panose="02070309020205020404" pitchFamily="49" charset="0"/>
                    <a:cs typeface="Courier New" panose="02070309020205020404" pitchFamily="49" charset="0"/>
                  </a:rPr>
                  <a:t>()</a:t>
                </a:r>
                <a:r>
                  <a:rPr lang="nl-NL" dirty="0"/>
                  <a:t> of </a:t>
                </a:r>
                <a:r>
                  <a:rPr lang="nl-NL" dirty="0">
                    <a:latin typeface="Courier New" panose="02070309020205020404" pitchFamily="49" charset="0"/>
                    <a:cs typeface="Courier New" panose="02070309020205020404" pitchFamily="49" charset="0"/>
                  </a:rPr>
                  <a:t>A * B</a:t>
                </a:r>
              </a:p>
              <a:p>
                <a:pPr lvl="2"/>
                <a:r>
                  <a:rPr lang="nl-NL" dirty="0"/>
                  <a:t>Heeft geen geometrische interpretatie, veel gebruikt voor afbeeldingen of AI-modellen</a:t>
                </a:r>
              </a:p>
              <a:p>
                <a:pPr lvl="2"/>
                <a:endParaRPr lang="nl-NL" dirty="0"/>
              </a:p>
              <a:p>
                <a:pPr lvl="2"/>
                <a:endParaRPr lang="nl-NL" dirty="0"/>
              </a:p>
            </p:txBody>
          </p:sp>
        </mc:Choice>
        <mc:Fallback xmlns="">
          <p:sp>
            <p:nvSpPr>
              <p:cNvPr id="2" name="Content Placeholder 1">
                <a:extLst>
                  <a:ext uri="{FF2B5EF4-FFF2-40B4-BE49-F238E27FC236}">
                    <a16:creationId xmlns:a16="http://schemas.microsoft.com/office/drawing/2014/main" id="{0A6225C6-2727-91E4-1100-69B5133339FE}"/>
                  </a:ext>
                </a:extLst>
              </p:cNvPr>
              <p:cNvSpPr>
                <a:spLocks noGrp="1" noRot="1" noChangeAspect="1" noMove="1" noResize="1" noEditPoints="1" noAdjustHandles="1" noChangeArrowheads="1" noChangeShapeType="1" noTextEdit="1"/>
              </p:cNvSpPr>
              <p:nvPr>
                <p:ph idx="1"/>
              </p:nvPr>
            </p:nvSpPr>
            <p:spPr>
              <a:blipFill>
                <a:blip r:embed="rId2"/>
                <a:stretch>
                  <a:fillRect l="-386" t="-204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C613CD2-F707-E69E-3F29-45C5A1FB31B1}"/>
              </a:ext>
            </a:extLst>
          </p:cNvPr>
          <p:cNvSpPr>
            <a:spLocks noGrp="1"/>
          </p:cNvSpPr>
          <p:nvPr>
            <p:ph type="sldNum" sz="quarter" idx="12"/>
          </p:nvPr>
        </p:nvSpPr>
        <p:spPr/>
        <p:txBody>
          <a:bodyPr/>
          <a:lstStyle/>
          <a:p>
            <a:fld id="{D270EDC2-4F5E-5547-954F-5222C286AC2A}" type="slidenum">
              <a:rPr lang="en-BE" smtClean="0"/>
              <a:t>21</a:t>
            </a:fld>
            <a:endParaRPr lang="en-BE"/>
          </a:p>
        </p:txBody>
      </p:sp>
      <p:sp>
        <p:nvSpPr>
          <p:cNvPr id="4" name="Title 3">
            <a:extLst>
              <a:ext uri="{FF2B5EF4-FFF2-40B4-BE49-F238E27FC236}">
                <a16:creationId xmlns:a16="http://schemas.microsoft.com/office/drawing/2014/main" id="{75EF668B-7BB0-8551-1AFA-BB010648BE84}"/>
              </a:ext>
            </a:extLst>
          </p:cNvPr>
          <p:cNvSpPr>
            <a:spLocks noGrp="1"/>
          </p:cNvSpPr>
          <p:nvPr>
            <p:ph type="title"/>
          </p:nvPr>
        </p:nvSpPr>
        <p:spPr/>
        <p:txBody>
          <a:bodyPr/>
          <a:lstStyle/>
          <a:p>
            <a:r>
              <a:rPr lang="nl-NL" dirty="0"/>
              <a:t>Matrices vermenigvuldigen - </a:t>
            </a:r>
            <a:r>
              <a:rPr lang="nl-NL" dirty="0" err="1"/>
              <a:t>recap</a:t>
            </a:r>
            <a:endParaRPr lang="nl-NL" dirty="0"/>
          </a:p>
        </p:txBody>
      </p:sp>
    </p:spTree>
    <p:extLst>
      <p:ext uri="{BB962C8B-B14F-4D97-AF65-F5344CB8AC3E}">
        <p14:creationId xmlns:p14="http://schemas.microsoft.com/office/powerpoint/2010/main" val="354162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D17253-A7A7-9F40-BE5D-E79AD8883BD8}"/>
              </a:ext>
            </a:extLst>
          </p:cNvPr>
          <p:cNvSpPr>
            <a:spLocks noGrp="1"/>
          </p:cNvSpPr>
          <p:nvPr>
            <p:ph type="sldNum" sz="quarter" idx="12"/>
          </p:nvPr>
        </p:nvSpPr>
        <p:spPr/>
        <p:txBody>
          <a:bodyPr/>
          <a:lstStyle/>
          <a:p>
            <a:fld id="{D270EDC2-4F5E-5547-954F-5222C286AC2A}" type="slidenum">
              <a:rPr lang="nl-NL" smtClean="0"/>
              <a:t>22</a:t>
            </a:fld>
            <a:endParaRPr lang="nl-NL" dirty="0"/>
          </a:p>
        </p:txBody>
      </p:sp>
      <p:sp>
        <p:nvSpPr>
          <p:cNvPr id="2" name="Title 1">
            <a:extLst>
              <a:ext uri="{FF2B5EF4-FFF2-40B4-BE49-F238E27FC236}">
                <a16:creationId xmlns:a16="http://schemas.microsoft.com/office/drawing/2014/main" id="{AB6ADCDC-FA2B-0D40-8B81-7B58A1415126}"/>
              </a:ext>
            </a:extLst>
          </p:cNvPr>
          <p:cNvSpPr>
            <a:spLocks noGrp="1"/>
          </p:cNvSpPr>
          <p:nvPr>
            <p:ph type="title"/>
          </p:nvPr>
        </p:nvSpPr>
        <p:spPr/>
        <p:txBody>
          <a:bodyPr/>
          <a:lstStyle/>
          <a:p>
            <a:r>
              <a:rPr lang="nl-NL" dirty="0"/>
              <a:t>Matrixproduct - voorbeelden</a:t>
            </a:r>
          </a:p>
        </p:txBody>
      </p:sp>
      <p:sp>
        <p:nvSpPr>
          <p:cNvPr id="5" name="Rectangle 4">
            <a:extLst>
              <a:ext uri="{FF2B5EF4-FFF2-40B4-BE49-F238E27FC236}">
                <a16:creationId xmlns:a16="http://schemas.microsoft.com/office/drawing/2014/main" id="{BEC9B920-F3E6-0847-AC2A-F5511BA3DEDC}"/>
              </a:ext>
            </a:extLst>
          </p:cNvPr>
          <p:cNvSpPr/>
          <p:nvPr/>
        </p:nvSpPr>
        <p:spPr>
          <a:xfrm>
            <a:off x="165100" y="2857500"/>
            <a:ext cx="6794500" cy="2159000"/>
          </a:xfrm>
          <a:prstGeom prst="rect">
            <a:avLst/>
          </a:prstGeom>
          <a:ln>
            <a:solidFill>
              <a:schemeClr val="tx1"/>
            </a:solidFill>
          </a:ln>
        </p:spPr>
        <p:txBody>
          <a:bodyPr wrap="square">
            <a:spAutoFit/>
          </a:bodyPr>
          <a:lstStyle/>
          <a:p>
            <a:r>
              <a:rPr lang="nl-NL" sz="1400" dirty="0"/>
              <a:t>mat_A = np.array([[</a:t>
            </a:r>
            <a:r>
              <a:rPr lang="nl-NL" sz="1400" dirty="0">
                <a:solidFill>
                  <a:srgbClr val="6897BB"/>
                </a:solidFill>
              </a:rPr>
              <a:t>1, 2, 3</a:t>
            </a:r>
            <a:r>
              <a:rPr lang="nl-NL" sz="1400" dirty="0"/>
              <a:t>], [</a:t>
            </a:r>
            <a:r>
              <a:rPr lang="nl-NL" sz="1400" dirty="0">
                <a:solidFill>
                  <a:srgbClr val="6897BB"/>
                </a:solidFill>
              </a:rPr>
              <a:t>4, 5, 6</a:t>
            </a:r>
            <a:r>
              <a:rPr lang="nl-NL" sz="1400" dirty="0"/>
              <a:t>]])</a:t>
            </a:r>
          </a:p>
          <a:p>
            <a:r>
              <a:rPr lang="nl-NL" sz="1400" dirty="0"/>
              <a:t>mat_B = np.array([[</a:t>
            </a:r>
            <a:r>
              <a:rPr lang="nl-NL" sz="1400" dirty="0">
                <a:solidFill>
                  <a:srgbClr val="6897BB"/>
                </a:solidFill>
              </a:rPr>
              <a:t>7, 8</a:t>
            </a:r>
            <a:r>
              <a:rPr lang="nl-NL" sz="1400" dirty="0"/>
              <a:t>], [</a:t>
            </a:r>
            <a:r>
              <a:rPr lang="nl-NL" sz="1400" dirty="0">
                <a:solidFill>
                  <a:srgbClr val="6897BB"/>
                </a:solidFill>
              </a:rPr>
              <a:t>9, 10</a:t>
            </a:r>
            <a:r>
              <a:rPr lang="nl-NL" sz="1400" dirty="0"/>
              <a:t>], [</a:t>
            </a:r>
            <a:r>
              <a:rPr lang="nl-NL" sz="1400" dirty="0">
                <a:solidFill>
                  <a:srgbClr val="6897BB"/>
                </a:solidFill>
              </a:rPr>
              <a:t>11, 12</a:t>
            </a:r>
            <a:r>
              <a:rPr lang="nl-NL" sz="1400" dirty="0"/>
              <a:t>]])</a:t>
            </a:r>
          </a:p>
          <a:p>
            <a:r>
              <a:rPr lang="nl-NL" sz="1400" dirty="0">
                <a:solidFill>
                  <a:srgbClr val="8888C6"/>
                </a:solidFill>
              </a:rPr>
              <a:t>print</a:t>
            </a:r>
            <a:r>
              <a:rPr lang="nl-NL" sz="1400" dirty="0"/>
              <a:t>(</a:t>
            </a:r>
            <a:r>
              <a:rPr lang="nl-NL" sz="1400" dirty="0">
                <a:solidFill>
                  <a:srgbClr val="6A8759"/>
                </a:solidFill>
              </a:rPr>
              <a:t>'A @ B:'</a:t>
            </a:r>
            <a:r>
              <a:rPr lang="nl-NL" sz="1400" dirty="0">
                <a:solidFill>
                  <a:srgbClr val="CC7832"/>
                </a:solidFill>
              </a:rPr>
              <a:t>, </a:t>
            </a:r>
            <a:r>
              <a:rPr lang="nl-NL" sz="1400" dirty="0"/>
              <a:t>mat_A @ mat_B)</a:t>
            </a:r>
          </a:p>
          <a:p>
            <a:endParaRPr lang="nl-NL" sz="1400" dirty="0"/>
          </a:p>
          <a:p>
            <a:r>
              <a:rPr lang="nl-NL" sz="1400" dirty="0">
                <a:solidFill>
                  <a:srgbClr val="8888C6"/>
                </a:solidFill>
              </a:rPr>
              <a:t>print</a:t>
            </a:r>
            <a:r>
              <a:rPr lang="nl-NL" sz="1400" dirty="0"/>
              <a:t>(</a:t>
            </a:r>
            <a:r>
              <a:rPr lang="nl-NL" sz="1400" dirty="0">
                <a:solidFill>
                  <a:srgbClr val="6A8759"/>
                </a:solidFill>
              </a:rPr>
              <a:t>'Scalair product:'</a:t>
            </a:r>
            <a:r>
              <a:rPr lang="nl-NL" sz="1400" dirty="0">
                <a:solidFill>
                  <a:srgbClr val="CC7832"/>
                </a:solidFill>
              </a:rPr>
              <a:t>, </a:t>
            </a:r>
            <a:r>
              <a:rPr lang="nl-NL" sz="1400" dirty="0"/>
              <a:t>np.dot([</a:t>
            </a:r>
            <a:r>
              <a:rPr lang="nl-NL" sz="1400" dirty="0">
                <a:solidFill>
                  <a:srgbClr val="6897BB"/>
                </a:solidFill>
              </a:rPr>
              <a:t>1, 2, 3</a:t>
            </a:r>
            <a:r>
              <a:rPr lang="nl-NL" sz="1400" dirty="0"/>
              <a:t>], [</a:t>
            </a:r>
            <a:r>
              <a:rPr lang="nl-NL" sz="1400" dirty="0">
                <a:solidFill>
                  <a:srgbClr val="6897BB"/>
                </a:solidFill>
              </a:rPr>
              <a:t>4, 5, 6</a:t>
            </a:r>
            <a:r>
              <a:rPr lang="nl-NL" sz="1400" dirty="0"/>
              <a:t>]))</a:t>
            </a:r>
          </a:p>
          <a:p>
            <a:r>
              <a:rPr lang="nl-NL" sz="1400" dirty="0"/>
              <a:t>aantallen = np.array([[</a:t>
            </a:r>
            <a:r>
              <a:rPr lang="nl-NL" sz="1400" dirty="0">
                <a:solidFill>
                  <a:srgbClr val="6897BB"/>
                </a:solidFill>
              </a:rPr>
              <a:t>10, 5, 2</a:t>
            </a:r>
            <a:r>
              <a:rPr lang="nl-NL" sz="1400" dirty="0"/>
              <a:t>], [</a:t>
            </a:r>
            <a:r>
              <a:rPr lang="nl-NL" sz="1400" dirty="0">
                <a:solidFill>
                  <a:srgbClr val="6897BB"/>
                </a:solidFill>
              </a:rPr>
              <a:t>3, 8, 6</a:t>
            </a:r>
            <a:r>
              <a:rPr lang="nl-NL" sz="1400" dirty="0"/>
              <a:t>]])</a:t>
            </a:r>
          </a:p>
          <a:p>
            <a:r>
              <a:rPr lang="nl-NL" sz="1400" dirty="0"/>
              <a:t>prijzen = np.array([</a:t>
            </a:r>
            <a:r>
              <a:rPr lang="nl-NL" sz="1400" dirty="0">
                <a:solidFill>
                  <a:srgbClr val="6897BB"/>
                </a:solidFill>
              </a:rPr>
              <a:t>2.5, 4.0, 10.0</a:t>
            </a:r>
            <a:r>
              <a:rPr lang="nl-NL" sz="1400" dirty="0"/>
              <a:t>])</a:t>
            </a:r>
          </a:p>
          <a:p>
            <a:r>
              <a:rPr lang="nl-NL" sz="1400" dirty="0">
                <a:solidFill>
                  <a:srgbClr val="8888C6"/>
                </a:solidFill>
              </a:rPr>
              <a:t>print</a:t>
            </a:r>
            <a:r>
              <a:rPr lang="nl-NL" sz="1400" dirty="0"/>
              <a:t>(</a:t>
            </a:r>
            <a:r>
              <a:rPr lang="nl-NL" sz="1400" dirty="0">
                <a:solidFill>
                  <a:srgbClr val="6A8759"/>
                </a:solidFill>
              </a:rPr>
              <a:t>'Omzet per winkel:'</a:t>
            </a:r>
            <a:r>
              <a:rPr lang="nl-NL" sz="1400" dirty="0">
                <a:solidFill>
                  <a:srgbClr val="CC7832"/>
                </a:solidFill>
              </a:rPr>
              <a:t>, </a:t>
            </a:r>
            <a:r>
              <a:rPr lang="nl-NL" sz="1400" dirty="0"/>
              <a:t>aantallen @ prijzen)</a:t>
            </a:r>
          </a:p>
          <a:p>
            <a:r>
              <a:rPr lang="nl-NL" sz="1400" dirty="0">
                <a:solidFill>
                  <a:srgbClr val="8888C6"/>
                </a:solidFill>
              </a:rPr>
              <a:t>print</a:t>
            </a:r>
            <a:r>
              <a:rPr lang="nl-NL" sz="1400" dirty="0"/>
              <a:t>(mat_B @ mat_B)</a:t>
            </a:r>
          </a:p>
        </p:txBody>
      </p:sp>
      <p:sp>
        <p:nvSpPr>
          <p:cNvPr id="6" name="Rectangle 5">
            <a:extLst>
              <a:ext uri="{FF2B5EF4-FFF2-40B4-BE49-F238E27FC236}">
                <a16:creationId xmlns:a16="http://schemas.microsoft.com/office/drawing/2014/main" id="{9A6DF2FC-6132-E644-8B32-18CF8C021800}"/>
              </a:ext>
            </a:extLst>
          </p:cNvPr>
          <p:cNvSpPr/>
          <p:nvPr/>
        </p:nvSpPr>
        <p:spPr>
          <a:xfrm>
            <a:off x="7289800" y="2857500"/>
            <a:ext cx="4737100" cy="2159000"/>
          </a:xfrm>
          <a:prstGeom prst="rect">
            <a:avLst/>
          </a:prstGeom>
          <a:ln>
            <a:solidFill>
              <a:schemeClr val="tx1"/>
            </a:solidFill>
          </a:ln>
        </p:spPr>
        <p:txBody>
          <a:bodyPr wrap="square">
            <a:spAutoFit/>
          </a:bodyPr>
          <a:lstStyle/>
          <a:p>
            <a:endParaRPr lang="nl-NL" sz="1400" dirty="0"/>
          </a:p>
          <a:p>
            <a:endParaRPr lang="nl-NL" sz="1400" dirty="0"/>
          </a:p>
          <a:p>
            <a:r>
              <a:rPr lang="nl-NL" sz="1400" dirty="0"/>
              <a:t>A @ B: [[ 58  64]</a:t>
            </a:r>
          </a:p>
          <a:p>
            <a:r>
              <a:rPr lang="nl-NL" sz="1400" dirty="0"/>
              <a:t>  [139 154]]</a:t>
            </a:r>
          </a:p>
          <a:p>
            <a:r>
              <a:rPr lang="nl-NL" sz="1400" dirty="0"/>
              <a:t>Scalair product: 32</a:t>
            </a:r>
          </a:p>
          <a:p>
            <a:endParaRPr lang="nl-NL" sz="1400" dirty="0"/>
          </a:p>
          <a:p>
            <a:endParaRPr lang="nl-NL" sz="1400" dirty="0"/>
          </a:p>
          <a:p>
            <a:r>
              <a:rPr lang="nl-NL" sz="1400" dirty="0"/>
              <a:t>Omzet per winkel: [65.  99.5]</a:t>
            </a:r>
          </a:p>
          <a:p>
            <a:r>
              <a:rPr lang="nl-NL" sz="1400" dirty="0">
                <a:solidFill>
                  <a:srgbClr val="C00000"/>
                </a:solidFill>
              </a:rPr>
              <a:t>ValueError: matmul: … (size 3 is different from 2)</a:t>
            </a:r>
          </a:p>
        </p:txBody>
      </p:sp>
      <p:sp>
        <p:nvSpPr>
          <p:cNvPr id="7" name="TextBox 6">
            <a:extLst>
              <a:ext uri="{FF2B5EF4-FFF2-40B4-BE49-F238E27FC236}">
                <a16:creationId xmlns:a16="http://schemas.microsoft.com/office/drawing/2014/main" id="{28B16FA2-9727-DA45-A5F2-A401243F8849}"/>
              </a:ext>
            </a:extLst>
          </p:cNvPr>
          <p:cNvSpPr txBox="1"/>
          <p:nvPr/>
        </p:nvSpPr>
        <p:spPr>
          <a:xfrm>
            <a:off x="7289800" y="2489200"/>
            <a:ext cx="1054100" cy="368300"/>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0D441BD2-B671-F745-8642-2C5864662EB5}"/>
              </a:ext>
            </a:extLst>
          </p:cNvPr>
          <p:cNvSpPr txBox="1"/>
          <p:nvPr/>
        </p:nvSpPr>
        <p:spPr>
          <a:xfrm>
            <a:off x="165100" y="2489200"/>
            <a:ext cx="952500" cy="368300"/>
          </a:xfrm>
          <a:prstGeom prst="rect">
            <a:avLst/>
          </a:prstGeom>
          <a:noFill/>
        </p:spPr>
        <p:txBody>
          <a:bodyPr wrap="square" rtlCol="0">
            <a:spAutoFit/>
          </a:bodyPr>
          <a:lstStyle/>
          <a:p>
            <a:r>
              <a:rPr lang="nl-NL" dirty="0"/>
              <a:t>Code:</a:t>
            </a:r>
          </a:p>
        </p:txBody>
      </p:sp>
      <p:sp>
        <p:nvSpPr>
          <p:cNvPr id="31" name="TextBox 31"/>
          <p:cNvSpPr txBox="1"/>
          <p:nvPr/>
        </p:nvSpPr>
        <p:spPr>
          <a:xfrm>
            <a:off x="165100" y="1320800"/>
            <a:ext cx="5532412" cy="369332"/>
          </a:xfrm>
          <a:prstGeom prst="rect">
            <a:avLst/>
          </a:prstGeom>
          <a:noFill/>
        </p:spPr>
        <p:txBody>
          <a:bodyPr wrap="none" rtlCol="0">
            <a:spAutoFit/>
          </a:bodyPr>
          <a:lstStyle/>
          <a:p>
            <a:r>
              <a:rPr lang="nl-NL" dirty="0"/>
              <a:t>Handmatig: rij van A x kolom van B, daarna optellen:</a:t>
            </a:r>
          </a:p>
        </p:txBody>
      </p:sp>
      <mc:AlternateContent xmlns:mc="http://schemas.openxmlformats.org/markup-compatibility/2006" xmlns:a14="http://schemas.microsoft.com/office/drawing/2010/main">
        <mc:Choice Requires="a14">
          <p:sp>
            <p:nvSpPr>
              <p:cNvPr id="30" name="Vergelijking"/>
              <p:cNvSpPr txBox="1"/>
              <p:nvPr/>
            </p:nvSpPr>
            <p:spPr>
              <a:xfrm>
                <a:off x="165100" y="1651000"/>
                <a:ext cx="11861800" cy="787400"/>
              </a:xfrm>
              <a:prstGeom prst="rect">
                <a:avLst/>
              </a:prstGeom>
              <a:noFill/>
            </p:spPr>
            <p:txBody>
              <a:bodyPr wrap="square" rtlCol="0" anchor="ctr">
                <a:noAutofit/>
              </a:bodyPr>
              <a:lstStyle/>
              <a:p>
                <a:pPr/>
                <a14:m>
                  <m:oMathPara xmlns:m="http://schemas.openxmlformats.org/officeDocument/2006/math">
                    <m:oMath>
                      <m:r>
                        <m:rPr>
                          <m:sty m:val="p"/>
                        </m:rPr>
                        <a:rPr lang="nl-NL" sz="1600" i="0">
                          <a:latin typeface="Cambria Math" panose="02040503050406030204" pitchFamily="18" charset="0"/>
                        </a:rPr>
                        <m:t>AB</m:t>
                      </m:r>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3"/>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1</m:t>
                                </m:r>
                              </m:e>
                              <m:e>
                                <m:r>
                                  <a:rPr lang="nl-NL" sz="1600" i="0">
                                    <a:latin typeface="Cambria Math" panose="02040503050406030204" pitchFamily="18" charset="0"/>
                                  </a:rPr>
                                  <m:t>2</m:t>
                                </m:r>
                              </m:e>
                              <m:e>
                                <m:r>
                                  <a:rPr lang="nl-NL" sz="1600" i="0">
                                    <a:latin typeface="Cambria Math" panose="02040503050406030204" pitchFamily="18" charset="0"/>
                                  </a:rPr>
                                  <m:t>3</m:t>
                                </m:r>
                              </m:e>
                            </m:mr>
                            <m:mr>
                              <m:e>
                                <m:r>
                                  <a:rPr lang="nl-NL" sz="1600" i="0">
                                    <a:latin typeface="Cambria Math" panose="02040503050406030204" pitchFamily="18" charset="0"/>
                                  </a:rPr>
                                  <m:t>4</m:t>
                                </m:r>
                              </m:e>
                              <m:e>
                                <m:r>
                                  <a:rPr lang="nl-NL" sz="1600" i="0">
                                    <a:latin typeface="Cambria Math" panose="02040503050406030204" pitchFamily="18" charset="0"/>
                                  </a:rPr>
                                  <m:t>5</m:t>
                                </m:r>
                              </m:e>
                              <m:e>
                                <m:r>
                                  <a:rPr lang="nl-NL" sz="1600" i="0">
                                    <a:latin typeface="Cambria Math" panose="02040503050406030204" pitchFamily="18" charset="0"/>
                                  </a:rPr>
                                  <m:t>6</m:t>
                                </m:r>
                              </m:e>
                            </m:mr>
                          </m:m>
                        </m:e>
                      </m:d>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7</m:t>
                                </m:r>
                              </m:e>
                              <m:e>
                                <m:r>
                                  <a:rPr lang="nl-NL" sz="1600" i="0">
                                    <a:latin typeface="Cambria Math" panose="02040503050406030204" pitchFamily="18" charset="0"/>
                                  </a:rPr>
                                  <m:t>8</m:t>
                                </m:r>
                              </m:e>
                            </m:mr>
                            <m:mr>
                              <m:e>
                                <m:r>
                                  <a:rPr lang="nl-NL" sz="1600" i="0">
                                    <a:latin typeface="Cambria Math" panose="02040503050406030204" pitchFamily="18" charset="0"/>
                                  </a:rPr>
                                  <m:t>9</m:t>
                                </m:r>
                              </m:e>
                              <m:e>
                                <m:r>
                                  <a:rPr lang="nl-NL" sz="1600" i="0">
                                    <a:latin typeface="Cambria Math" panose="02040503050406030204" pitchFamily="18" charset="0"/>
                                  </a:rPr>
                                  <m:t>10</m:t>
                                </m:r>
                              </m:e>
                            </m:mr>
                            <m:mr>
                              <m:e>
                                <m:r>
                                  <a:rPr lang="nl-NL" sz="1600" i="0">
                                    <a:latin typeface="Cambria Math" panose="02040503050406030204" pitchFamily="18" charset="0"/>
                                  </a:rPr>
                                  <m:t>11</m:t>
                                </m:r>
                              </m:e>
                              <m:e>
                                <m:r>
                                  <a:rPr lang="nl-NL" sz="1600" i="0">
                                    <a:latin typeface="Cambria Math" panose="02040503050406030204" pitchFamily="18" charset="0"/>
                                  </a:rPr>
                                  <m:t>12</m:t>
                                </m:r>
                              </m:e>
                            </m:mr>
                          </m:m>
                        </m:e>
                      </m:d>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1·7+2·9+3·11</m:t>
                                </m:r>
                              </m:e>
                              <m:e>
                                <m:r>
                                  <a:rPr lang="nl-NL" sz="1600" i="0">
                                    <a:latin typeface="Cambria Math" panose="02040503050406030204" pitchFamily="18" charset="0"/>
                                  </a:rPr>
                                  <m:t>1·8+2·10+3·12</m:t>
                                </m:r>
                              </m:e>
                            </m:mr>
                            <m:mr>
                              <m:e>
                                <m:r>
                                  <a:rPr lang="nl-NL" sz="1600" i="0">
                                    <a:latin typeface="Cambria Math" panose="02040503050406030204" pitchFamily="18" charset="0"/>
                                  </a:rPr>
                                  <m:t>4·7+5·9+6·11</m:t>
                                </m:r>
                              </m:e>
                              <m:e>
                                <m:r>
                                  <a:rPr lang="nl-NL" sz="1600" i="0">
                                    <a:latin typeface="Cambria Math" panose="02040503050406030204" pitchFamily="18" charset="0"/>
                                  </a:rPr>
                                  <m:t>4·8+5·10+6·12</m:t>
                                </m:r>
                              </m:e>
                            </m:mr>
                          </m:m>
                        </m:e>
                      </m:d>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58</m:t>
                                </m:r>
                              </m:e>
                              <m:e>
                                <m:r>
                                  <a:rPr lang="nl-NL" sz="1600" i="0">
                                    <a:latin typeface="Cambria Math" panose="02040503050406030204" pitchFamily="18" charset="0"/>
                                  </a:rPr>
                                  <m:t>64</m:t>
                                </m:r>
                              </m:e>
                            </m:mr>
                            <m:mr>
                              <m:e>
                                <m:r>
                                  <a:rPr lang="nl-NL" sz="1600" i="0">
                                    <a:latin typeface="Cambria Math" panose="02040503050406030204" pitchFamily="18" charset="0"/>
                                  </a:rPr>
                                  <m:t>139</m:t>
                                </m:r>
                              </m:e>
                              <m:e>
                                <m:r>
                                  <a:rPr lang="nl-NL" sz="1600" i="0">
                                    <a:latin typeface="Cambria Math" panose="02040503050406030204" pitchFamily="18" charset="0"/>
                                  </a:rPr>
                                  <m:t>154</m:t>
                                </m:r>
                              </m:e>
                            </m:mr>
                          </m:m>
                        </m:e>
                      </m:d>
                    </m:oMath>
                  </m:oMathPara>
                </a14:m>
                <a:endParaRPr/>
              </a:p>
            </p:txBody>
          </p:sp>
        </mc:Choice>
        <mc:Fallback xmlns="">
          <p:sp>
            <p:nvSpPr>
              <p:cNvPr id="30" name="Vergelijking"/>
              <p:cNvSpPr txBox="1">
                <a:spLocks noRot="1" noChangeAspect="1" noMove="1" noResize="1" noEditPoints="1" noAdjustHandles="1" noChangeArrowheads="1" noChangeShapeType="1" noTextEdit="1"/>
              </p:cNvSpPr>
              <p:nvPr/>
            </p:nvSpPr>
            <p:spPr>
              <a:xfrm>
                <a:off x="165100" y="1651000"/>
                <a:ext cx="11861800" cy="787400"/>
              </a:xfrm>
              <a:prstGeom prst="rect">
                <a:avLst/>
              </a:prstGeom>
              <a:blipFill>
                <a:blip r:embed="rId3"/>
                <a:stretch>
                  <a:fillRect/>
                </a:stretch>
              </a:blipFill>
            </p:spPr>
            <p:txBody>
              <a:bodyPr/>
              <a:lstStyle/>
              <a:p>
                <a:r>
                  <a:rPr lang="en-US">
                    <a:noFill/>
                  </a:rPr>
                  <a:t> </a:t>
                </a:r>
              </a:p>
            </p:txBody>
          </p:sp>
        </mc:Fallback>
      </mc:AlternateContent>
      <p:sp>
        <p:nvSpPr>
          <p:cNvPr id="32" name="TextBox 32"/>
          <p:cNvSpPr txBox="1"/>
          <p:nvPr/>
        </p:nvSpPr>
        <p:spPr>
          <a:xfrm>
            <a:off x="165100" y="5283200"/>
            <a:ext cx="4000500" cy="523220"/>
          </a:xfrm>
          <a:prstGeom prst="rect">
            <a:avLst/>
          </a:prstGeom>
          <a:noFill/>
        </p:spPr>
        <p:txBody>
          <a:bodyPr wrap="square" rtlCol="0">
            <a:spAutoFit/>
          </a:bodyPr>
          <a:lstStyle/>
          <a:p>
            <a:r>
              <a:rPr lang="nl-NL" sz="1400" dirty="0"/>
              <a:t>(2x3) @ (3x2) = (2x2): #kolommen A = #rijen B</a:t>
            </a:r>
          </a:p>
        </p:txBody>
      </p:sp>
      <mc:AlternateContent xmlns:mc="http://schemas.openxmlformats.org/markup-compatibility/2006" xmlns:a14="http://schemas.microsoft.com/office/drawing/2010/main">
        <mc:Choice Requires="a14">
          <p:sp>
            <p:nvSpPr>
              <p:cNvPr id="33" name="TextBox 33"/>
              <p:cNvSpPr txBox="1"/>
              <p:nvPr/>
            </p:nvSpPr>
            <p:spPr>
              <a:xfrm>
                <a:off x="4191000" y="5283200"/>
                <a:ext cx="3683000" cy="523220"/>
              </a:xfrm>
              <a:prstGeom prst="rect">
                <a:avLst/>
              </a:prstGeom>
              <a:noFill/>
            </p:spPr>
            <p:txBody>
              <a:bodyPr wrap="square" rtlCol="0">
                <a:spAutoFit/>
              </a:bodyPr>
              <a:lstStyle/>
              <a:p>
                <a:r>
                  <a:rPr lang="nl-NL" sz="1400" dirty="0"/>
                  <a:t>Toepassing: rij = winkel, kolom = product, dus omzet per winkel = </a:t>
                </a:r>
                <a14:m>
                  <m:oMath xmlns:m="http://schemas.openxmlformats.org/officeDocument/2006/math">
                    <m:r>
                      <m:rPr>
                        <m:sty m:val="p"/>
                      </m:rPr>
                      <a:rPr lang="nl-NL" sz="1400" i="0" dirty="0" smtClean="0">
                        <a:latin typeface="Cambria Math" panose="02040503050406030204" pitchFamily="18" charset="0"/>
                      </a:rPr>
                      <m:t>Σ</m:t>
                    </m:r>
                  </m:oMath>
                </a14:m>
                <a:r>
                  <a:rPr lang="nl-NL" sz="1400" dirty="0"/>
                  <a:t> aantal × prijs</a:t>
                </a:r>
              </a:p>
            </p:txBody>
          </p:sp>
        </mc:Choice>
        <mc:Fallback xmlns="">
          <p:sp>
            <p:nvSpPr>
              <p:cNvPr id="33" name="TextBox 33"/>
              <p:cNvSpPr txBox="1">
                <a:spLocks noRot="1" noChangeAspect="1" noMove="1" noResize="1" noEditPoints="1" noAdjustHandles="1" noChangeArrowheads="1" noChangeShapeType="1" noTextEdit="1"/>
              </p:cNvSpPr>
              <p:nvPr/>
            </p:nvSpPr>
            <p:spPr>
              <a:xfrm>
                <a:off x="4191000" y="5283200"/>
                <a:ext cx="3683000" cy="523220"/>
              </a:xfrm>
              <a:prstGeom prst="rect">
                <a:avLst/>
              </a:prstGeom>
              <a:blipFill>
                <a:blip r:embed="rId4"/>
                <a:stretch>
                  <a:fillRect l="-687" t="-2439" b="-12195"/>
                </a:stretch>
              </a:blipFill>
            </p:spPr>
            <p:txBody>
              <a:bodyPr/>
              <a:lstStyle/>
              <a:p>
                <a:r>
                  <a:rPr lang="en-BE">
                    <a:noFill/>
                  </a:rPr>
                  <a:t> </a:t>
                </a:r>
              </a:p>
            </p:txBody>
          </p:sp>
        </mc:Fallback>
      </mc:AlternateContent>
      <p:sp>
        <p:nvSpPr>
          <p:cNvPr id="34" name="TextBox 34"/>
          <p:cNvSpPr txBox="1"/>
          <p:nvPr/>
        </p:nvSpPr>
        <p:spPr>
          <a:xfrm>
            <a:off x="8128000" y="5283200"/>
            <a:ext cx="3898900" cy="762000"/>
          </a:xfrm>
          <a:prstGeom prst="rect">
            <a:avLst/>
          </a:prstGeom>
          <a:noFill/>
        </p:spPr>
        <p:txBody>
          <a:bodyPr wrap="square" rtlCol="0">
            <a:spAutoFit/>
          </a:bodyPr>
          <a:lstStyle/>
          <a:p>
            <a:r>
              <a:rPr lang="nl-NL" sz="1400" dirty="0"/>
              <a:t>(3x2) @ (3x2): 2 kolommen ≠ 3 rijen, dus geen matrixproduct mogelijk</a:t>
            </a:r>
          </a:p>
        </p:txBody>
      </p:sp>
      <p:cxnSp>
        <p:nvCxnSpPr>
          <p:cNvPr id="60" name="Arrow 60"/>
          <p:cNvCxnSpPr/>
          <p:nvPr/>
        </p:nvCxnSpPr>
        <p:spPr>
          <a:xfrm flipH="1" flipV="1">
            <a:off x="3873500" y="4572000"/>
            <a:ext cx="1206500" cy="71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695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D17253-A7A7-9F40-BE5D-E79AD8883BD8}"/>
              </a:ext>
            </a:extLst>
          </p:cNvPr>
          <p:cNvSpPr>
            <a:spLocks noGrp="1"/>
          </p:cNvSpPr>
          <p:nvPr>
            <p:ph type="sldNum" sz="quarter" idx="12"/>
          </p:nvPr>
        </p:nvSpPr>
        <p:spPr/>
        <p:txBody>
          <a:bodyPr/>
          <a:lstStyle/>
          <a:p>
            <a:fld id="{D270EDC2-4F5E-5547-954F-5222C286AC2A}" type="slidenum">
              <a:rPr lang="nl-NL" smtClean="0"/>
              <a:t>23</a:t>
            </a:fld>
            <a:endParaRPr lang="nl-NL" dirty="0"/>
          </a:p>
        </p:txBody>
      </p:sp>
      <p:sp>
        <p:nvSpPr>
          <p:cNvPr id="2" name="Title 1">
            <a:extLst>
              <a:ext uri="{FF2B5EF4-FFF2-40B4-BE49-F238E27FC236}">
                <a16:creationId xmlns:a16="http://schemas.microsoft.com/office/drawing/2014/main" id="{AB6ADCDC-FA2B-0D40-8B81-7B58A1415126}"/>
              </a:ext>
            </a:extLst>
          </p:cNvPr>
          <p:cNvSpPr>
            <a:spLocks noGrp="1"/>
          </p:cNvSpPr>
          <p:nvPr>
            <p:ph type="title"/>
          </p:nvPr>
        </p:nvSpPr>
        <p:spPr/>
        <p:txBody>
          <a:bodyPr/>
          <a:lstStyle/>
          <a:p>
            <a:r>
              <a:rPr lang="nl-NL" dirty="0"/>
              <a:t>Elementsgewijs product - voorbeelden</a:t>
            </a:r>
          </a:p>
        </p:txBody>
      </p:sp>
      <p:sp>
        <p:nvSpPr>
          <p:cNvPr id="5" name="Rectangle 4">
            <a:extLst>
              <a:ext uri="{FF2B5EF4-FFF2-40B4-BE49-F238E27FC236}">
                <a16:creationId xmlns:a16="http://schemas.microsoft.com/office/drawing/2014/main" id="{BEC9B920-F3E6-0847-AC2A-F5511BA3DEDC}"/>
              </a:ext>
            </a:extLst>
          </p:cNvPr>
          <p:cNvSpPr/>
          <p:nvPr/>
        </p:nvSpPr>
        <p:spPr>
          <a:xfrm>
            <a:off x="165100" y="2857500"/>
            <a:ext cx="6794500" cy="2413000"/>
          </a:xfrm>
          <a:prstGeom prst="rect">
            <a:avLst/>
          </a:prstGeom>
          <a:ln>
            <a:solidFill>
              <a:schemeClr val="tx1"/>
            </a:solidFill>
          </a:ln>
        </p:spPr>
        <p:txBody>
          <a:bodyPr wrap="square">
            <a:spAutoFit/>
          </a:bodyPr>
          <a:lstStyle/>
          <a:p>
            <a:r>
              <a:rPr lang="nl-NL" sz="1400" dirty="0"/>
              <a:t>mat_A = np.array([[</a:t>
            </a:r>
            <a:r>
              <a:rPr lang="nl-NL" sz="1400" dirty="0">
                <a:solidFill>
                  <a:srgbClr val="6897BB"/>
                </a:solidFill>
              </a:rPr>
              <a:t>1, 2</a:t>
            </a:r>
            <a:r>
              <a:rPr lang="nl-NL" sz="1400" dirty="0"/>
              <a:t>], [</a:t>
            </a:r>
            <a:r>
              <a:rPr lang="nl-NL" sz="1400" dirty="0">
                <a:solidFill>
                  <a:srgbClr val="6897BB"/>
                </a:solidFill>
              </a:rPr>
              <a:t>3, 4</a:t>
            </a:r>
            <a:r>
              <a:rPr lang="nl-NL" sz="1400" dirty="0"/>
              <a:t>]])</a:t>
            </a:r>
          </a:p>
          <a:p>
            <a:r>
              <a:rPr lang="nl-NL" sz="1400" dirty="0"/>
              <a:t>mat_B = np.array([[</a:t>
            </a:r>
            <a:r>
              <a:rPr lang="nl-NL" sz="1400" dirty="0">
                <a:solidFill>
                  <a:srgbClr val="6897BB"/>
                </a:solidFill>
              </a:rPr>
              <a:t>5, 6</a:t>
            </a:r>
            <a:r>
              <a:rPr lang="nl-NL" sz="1400" dirty="0"/>
              <a:t>], [</a:t>
            </a:r>
            <a:r>
              <a:rPr lang="nl-NL" sz="1400" dirty="0">
                <a:solidFill>
                  <a:srgbClr val="6897BB"/>
                </a:solidFill>
              </a:rPr>
              <a:t>7, 8</a:t>
            </a:r>
            <a:r>
              <a:rPr lang="nl-NL" sz="1400" dirty="0"/>
              <a:t>]])</a:t>
            </a:r>
          </a:p>
          <a:p>
            <a:r>
              <a:rPr lang="nl-NL" sz="1400" dirty="0">
                <a:solidFill>
                  <a:srgbClr val="8888C6"/>
                </a:solidFill>
              </a:rPr>
              <a:t>print</a:t>
            </a:r>
            <a:r>
              <a:rPr lang="nl-NL" sz="1400" dirty="0"/>
              <a:t>(</a:t>
            </a:r>
            <a:r>
              <a:rPr lang="nl-NL" sz="1400" dirty="0">
                <a:solidFill>
                  <a:srgbClr val="6A8759"/>
                </a:solidFill>
              </a:rPr>
              <a:t>'A * B:'</a:t>
            </a:r>
            <a:r>
              <a:rPr lang="nl-NL" sz="1400" dirty="0">
                <a:solidFill>
                  <a:srgbClr val="CC7832"/>
                </a:solidFill>
              </a:rPr>
              <a:t>, </a:t>
            </a:r>
            <a:r>
              <a:rPr lang="nl-NL" sz="1400" dirty="0"/>
              <a:t>mat_A * mat_B)</a:t>
            </a:r>
          </a:p>
          <a:p>
            <a:endParaRPr lang="nl-NL" sz="1400" dirty="0"/>
          </a:p>
          <a:p>
            <a:r>
              <a:rPr lang="nl-NL" sz="1400" dirty="0">
                <a:solidFill>
                  <a:srgbClr val="8888C6"/>
                </a:solidFill>
              </a:rPr>
              <a:t>print</a:t>
            </a:r>
            <a:r>
              <a:rPr lang="nl-NL" sz="1400" dirty="0"/>
              <a:t>(</a:t>
            </a:r>
            <a:r>
              <a:rPr lang="nl-NL" sz="1400" dirty="0">
                <a:solidFill>
                  <a:srgbClr val="6A8759"/>
                </a:solidFill>
              </a:rPr>
              <a:t>'A @ B:'</a:t>
            </a:r>
            <a:r>
              <a:rPr lang="nl-NL" sz="1400" dirty="0">
                <a:solidFill>
                  <a:srgbClr val="CC7832"/>
                </a:solidFill>
              </a:rPr>
              <a:t>, </a:t>
            </a:r>
            <a:r>
              <a:rPr lang="nl-NL" sz="1400" dirty="0"/>
              <a:t>mat_A @ mat_B)</a:t>
            </a:r>
          </a:p>
          <a:p>
            <a:endParaRPr lang="nl-NL" sz="1400" dirty="0"/>
          </a:p>
          <a:p>
            <a:r>
              <a:rPr lang="nl-NL" sz="1400" dirty="0"/>
              <a:t>beeld = np.array([[</a:t>
            </a:r>
            <a:r>
              <a:rPr lang="nl-NL" sz="1400" dirty="0">
                <a:solidFill>
                  <a:srgbClr val="6897BB"/>
                </a:solidFill>
              </a:rPr>
              <a:t>200, 50, 120</a:t>
            </a:r>
            <a:r>
              <a:rPr lang="nl-NL" sz="1400" dirty="0"/>
              <a:t>], [</a:t>
            </a:r>
            <a:r>
              <a:rPr lang="nl-NL" sz="1400" dirty="0">
                <a:solidFill>
                  <a:srgbClr val="6897BB"/>
                </a:solidFill>
              </a:rPr>
              <a:t>30, 255, 90</a:t>
            </a:r>
            <a:r>
              <a:rPr lang="nl-NL" sz="1400" dirty="0"/>
              <a:t>]])</a:t>
            </a:r>
          </a:p>
          <a:p>
            <a:r>
              <a:rPr lang="nl-NL" sz="1400" dirty="0"/>
              <a:t>masker = np.array([[</a:t>
            </a:r>
            <a:r>
              <a:rPr lang="nl-NL" sz="1400" dirty="0">
                <a:solidFill>
                  <a:srgbClr val="6897BB"/>
                </a:solidFill>
              </a:rPr>
              <a:t>1, 0, 1</a:t>
            </a:r>
            <a:r>
              <a:rPr lang="nl-NL" sz="1400" dirty="0"/>
              <a:t>], [</a:t>
            </a:r>
            <a:r>
              <a:rPr lang="nl-NL" sz="1400" dirty="0">
                <a:solidFill>
                  <a:srgbClr val="6897BB"/>
                </a:solidFill>
              </a:rPr>
              <a:t>0, 1, 0</a:t>
            </a:r>
            <a:r>
              <a:rPr lang="nl-NL" sz="1400" dirty="0"/>
              <a:t>]])</a:t>
            </a:r>
          </a:p>
          <a:p>
            <a:r>
              <a:rPr lang="nl-NL" sz="1400" dirty="0">
                <a:solidFill>
                  <a:srgbClr val="8888C6"/>
                </a:solidFill>
              </a:rPr>
              <a:t>print</a:t>
            </a:r>
            <a:r>
              <a:rPr lang="nl-NL" sz="1400" dirty="0"/>
              <a:t>(</a:t>
            </a:r>
            <a:r>
              <a:rPr lang="nl-NL" sz="1400" dirty="0">
                <a:solidFill>
                  <a:srgbClr val="6A8759"/>
                </a:solidFill>
              </a:rPr>
              <a:t>'Gemaskeerd beeld:'</a:t>
            </a:r>
            <a:r>
              <a:rPr lang="nl-NL" sz="1400" dirty="0">
                <a:solidFill>
                  <a:srgbClr val="CC7832"/>
                </a:solidFill>
              </a:rPr>
              <a:t>, </a:t>
            </a:r>
            <a:r>
              <a:rPr lang="nl-NL" sz="1400" dirty="0"/>
              <a:t>beeld * masker)</a:t>
            </a:r>
          </a:p>
          <a:p>
            <a:endParaRPr lang="nl-NL" sz="1400" dirty="0"/>
          </a:p>
          <a:p>
            <a:r>
              <a:rPr lang="nl-NL" sz="1400" dirty="0">
                <a:solidFill>
                  <a:srgbClr val="8888C6"/>
                </a:solidFill>
              </a:rPr>
              <a:t>print</a:t>
            </a:r>
            <a:r>
              <a:rPr lang="nl-NL" sz="1400" dirty="0"/>
              <a:t>(mat_A * beeld)</a:t>
            </a:r>
          </a:p>
        </p:txBody>
      </p:sp>
      <p:sp>
        <p:nvSpPr>
          <p:cNvPr id="6" name="Rectangle 5">
            <a:extLst>
              <a:ext uri="{FF2B5EF4-FFF2-40B4-BE49-F238E27FC236}">
                <a16:creationId xmlns:a16="http://schemas.microsoft.com/office/drawing/2014/main" id="{9A6DF2FC-6132-E644-8B32-18CF8C021800}"/>
              </a:ext>
            </a:extLst>
          </p:cNvPr>
          <p:cNvSpPr/>
          <p:nvPr/>
        </p:nvSpPr>
        <p:spPr>
          <a:xfrm>
            <a:off x="7289800" y="2857500"/>
            <a:ext cx="4737100" cy="2413000"/>
          </a:xfrm>
          <a:prstGeom prst="rect">
            <a:avLst/>
          </a:prstGeom>
          <a:ln>
            <a:solidFill>
              <a:schemeClr val="tx1"/>
            </a:solidFill>
          </a:ln>
        </p:spPr>
        <p:txBody>
          <a:bodyPr wrap="square">
            <a:spAutoFit/>
          </a:bodyPr>
          <a:lstStyle/>
          <a:p>
            <a:endParaRPr lang="nl-NL" sz="1400" dirty="0"/>
          </a:p>
          <a:p>
            <a:endParaRPr lang="nl-NL" sz="1400" dirty="0"/>
          </a:p>
          <a:p>
            <a:r>
              <a:rPr lang="nl-NL" sz="1400" dirty="0"/>
              <a:t>A * B: [[ 5 12]</a:t>
            </a:r>
          </a:p>
          <a:p>
            <a:r>
              <a:rPr lang="nl-NL" sz="1400" dirty="0"/>
              <a:t>  [21 32]]</a:t>
            </a:r>
          </a:p>
          <a:p>
            <a:r>
              <a:rPr lang="nl-NL" sz="1400" dirty="0"/>
              <a:t>A @ B: [[19 22]</a:t>
            </a:r>
          </a:p>
          <a:p>
            <a:r>
              <a:rPr lang="nl-NL" sz="1400" dirty="0"/>
              <a:t>  [43 50]]</a:t>
            </a:r>
          </a:p>
          <a:p>
            <a:endParaRPr lang="nl-NL" sz="1400" dirty="0"/>
          </a:p>
          <a:p>
            <a:endParaRPr lang="nl-NL" sz="1400" dirty="0"/>
          </a:p>
          <a:p>
            <a:r>
              <a:rPr lang="nl-NL" sz="1400" dirty="0"/>
              <a:t>Gemaskeerd beeld: [[200   0 120]</a:t>
            </a:r>
          </a:p>
          <a:p>
            <a:r>
              <a:rPr lang="nl-NL" sz="1400" dirty="0"/>
              <a:t>  [  0 255   0]]</a:t>
            </a:r>
          </a:p>
          <a:p>
            <a:r>
              <a:rPr lang="nl-NL" sz="1400" dirty="0">
                <a:solidFill>
                  <a:srgbClr val="C00000"/>
                </a:solidFill>
              </a:rPr>
              <a:t>ValueError: … broadcast … (2,2) (2,3)</a:t>
            </a:r>
          </a:p>
        </p:txBody>
      </p:sp>
      <p:sp>
        <p:nvSpPr>
          <p:cNvPr id="7" name="TextBox 6">
            <a:extLst>
              <a:ext uri="{FF2B5EF4-FFF2-40B4-BE49-F238E27FC236}">
                <a16:creationId xmlns:a16="http://schemas.microsoft.com/office/drawing/2014/main" id="{28B16FA2-9727-DA45-A5F2-A401243F8849}"/>
              </a:ext>
            </a:extLst>
          </p:cNvPr>
          <p:cNvSpPr txBox="1"/>
          <p:nvPr/>
        </p:nvSpPr>
        <p:spPr>
          <a:xfrm>
            <a:off x="7289800" y="2489200"/>
            <a:ext cx="1054100" cy="368300"/>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0D441BD2-B671-F745-8642-2C5864662EB5}"/>
              </a:ext>
            </a:extLst>
          </p:cNvPr>
          <p:cNvSpPr txBox="1"/>
          <p:nvPr/>
        </p:nvSpPr>
        <p:spPr>
          <a:xfrm>
            <a:off x="165100" y="2489200"/>
            <a:ext cx="952500" cy="368300"/>
          </a:xfrm>
          <a:prstGeom prst="rect">
            <a:avLst/>
          </a:prstGeom>
          <a:noFill/>
        </p:spPr>
        <p:txBody>
          <a:bodyPr wrap="square" rtlCol="0">
            <a:spAutoFit/>
          </a:bodyPr>
          <a:lstStyle/>
          <a:p>
            <a:r>
              <a:rPr lang="nl-NL" dirty="0"/>
              <a:t>Code:</a:t>
            </a:r>
          </a:p>
        </p:txBody>
      </p:sp>
      <p:sp>
        <p:nvSpPr>
          <p:cNvPr id="31" name="TextBox 31"/>
          <p:cNvSpPr txBox="1"/>
          <p:nvPr/>
        </p:nvSpPr>
        <p:spPr>
          <a:xfrm>
            <a:off x="165100" y="1320800"/>
            <a:ext cx="7084119" cy="369332"/>
          </a:xfrm>
          <a:prstGeom prst="rect">
            <a:avLst/>
          </a:prstGeom>
          <a:noFill/>
        </p:spPr>
        <p:txBody>
          <a:bodyPr wrap="none" rtlCol="0">
            <a:spAutoFit/>
          </a:bodyPr>
          <a:lstStyle/>
          <a:p>
            <a:r>
              <a:rPr lang="nl-NL" dirty="0"/>
              <a:t>Handmatig: elk element van A x het element op dezelfde plaats in B</a:t>
            </a:r>
          </a:p>
        </p:txBody>
      </p:sp>
      <mc:AlternateContent xmlns:mc="http://schemas.openxmlformats.org/markup-compatibility/2006" xmlns:a14="http://schemas.microsoft.com/office/drawing/2010/main">
        <mc:Choice Requires="a14">
          <p:sp>
            <p:nvSpPr>
              <p:cNvPr id="30" name="Vergelijking"/>
              <p:cNvSpPr txBox="1"/>
              <p:nvPr/>
            </p:nvSpPr>
            <p:spPr>
              <a:xfrm>
                <a:off x="165100" y="1651000"/>
                <a:ext cx="11861800" cy="787400"/>
              </a:xfrm>
              <a:prstGeom prst="rect">
                <a:avLst/>
              </a:prstGeom>
              <a:noFill/>
            </p:spPr>
            <p:txBody>
              <a:bodyPr wrap="square" rtlCol="0" anchor="ctr">
                <a:noAutofit/>
              </a:bodyPr>
              <a:lstStyle/>
              <a:p>
                <a:pPr/>
                <a14:m>
                  <m:oMathPara xmlns:m="http://schemas.openxmlformats.org/officeDocument/2006/math">
                    <m:oMath>
                      <m:r>
                        <m:rPr>
                          <m:sty m:val="p"/>
                        </m:rPr>
                        <a:rPr lang="nl-NL" sz="1600" i="0">
                          <a:latin typeface="Cambria Math" panose="02040503050406030204" pitchFamily="18" charset="0"/>
                        </a:rPr>
                        <m:t>A</m:t>
                      </m:r>
                      <m:r>
                        <a:rPr lang="nl-NL" sz="1600" i="0">
                          <a:latin typeface="Cambria Math" panose="02040503050406030204" pitchFamily="18" charset="0"/>
                        </a:rPr>
                        <m:t>∘</m:t>
                      </m:r>
                      <m:r>
                        <m:rPr>
                          <m:sty m:val="p"/>
                        </m:rPr>
                        <a:rPr lang="nl-NL" sz="1600" i="0">
                          <a:latin typeface="Cambria Math" panose="02040503050406030204" pitchFamily="18" charset="0"/>
                        </a:rPr>
                        <m:t>B</m:t>
                      </m:r>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1</m:t>
                                </m:r>
                              </m:e>
                              <m:e>
                                <m:r>
                                  <a:rPr lang="nl-NL" sz="1600" i="0">
                                    <a:latin typeface="Cambria Math" panose="02040503050406030204" pitchFamily="18" charset="0"/>
                                  </a:rPr>
                                  <m:t>2</m:t>
                                </m:r>
                              </m:e>
                            </m:mr>
                            <m:mr>
                              <m:e>
                                <m:r>
                                  <a:rPr lang="nl-NL" sz="1600" i="0">
                                    <a:latin typeface="Cambria Math" panose="02040503050406030204" pitchFamily="18" charset="0"/>
                                  </a:rPr>
                                  <m:t>3</m:t>
                                </m:r>
                              </m:e>
                              <m:e>
                                <m:r>
                                  <a:rPr lang="nl-NL" sz="1600" i="0">
                                    <a:latin typeface="Cambria Math" panose="02040503050406030204" pitchFamily="18" charset="0"/>
                                  </a:rPr>
                                  <m:t>4</m:t>
                                </m:r>
                              </m:e>
                            </m:mr>
                          </m:m>
                        </m:e>
                      </m:d>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5</m:t>
                                </m:r>
                              </m:e>
                              <m:e>
                                <m:r>
                                  <a:rPr lang="nl-NL" sz="1600" i="0">
                                    <a:latin typeface="Cambria Math" panose="02040503050406030204" pitchFamily="18" charset="0"/>
                                  </a:rPr>
                                  <m:t>6</m:t>
                                </m:r>
                              </m:e>
                            </m:mr>
                            <m:mr>
                              <m:e>
                                <m:r>
                                  <a:rPr lang="nl-NL" sz="1600" i="0">
                                    <a:latin typeface="Cambria Math" panose="02040503050406030204" pitchFamily="18" charset="0"/>
                                  </a:rPr>
                                  <m:t>7</m:t>
                                </m:r>
                              </m:e>
                              <m:e>
                                <m:r>
                                  <a:rPr lang="nl-NL" sz="1600" i="0">
                                    <a:latin typeface="Cambria Math" panose="02040503050406030204" pitchFamily="18" charset="0"/>
                                  </a:rPr>
                                  <m:t>8</m:t>
                                </m:r>
                              </m:e>
                            </m:mr>
                          </m:m>
                        </m:e>
                      </m:d>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1×5</m:t>
                                </m:r>
                              </m:e>
                              <m:e>
                                <m:r>
                                  <a:rPr lang="nl-NL" sz="1600" i="0">
                                    <a:latin typeface="Cambria Math" panose="02040503050406030204" pitchFamily="18" charset="0"/>
                                  </a:rPr>
                                  <m:t>2×6</m:t>
                                </m:r>
                              </m:e>
                            </m:mr>
                            <m:mr>
                              <m:e>
                                <m:r>
                                  <a:rPr lang="nl-NL" sz="1600" i="0">
                                    <a:latin typeface="Cambria Math" panose="02040503050406030204" pitchFamily="18" charset="0"/>
                                  </a:rPr>
                                  <m:t>3×7</m:t>
                                </m:r>
                              </m:e>
                              <m:e>
                                <m:r>
                                  <a:rPr lang="nl-NL" sz="1600" i="0">
                                    <a:latin typeface="Cambria Math" panose="02040503050406030204" pitchFamily="18" charset="0"/>
                                  </a:rPr>
                                  <m:t>4×8</m:t>
                                </m:r>
                              </m:e>
                            </m:mr>
                          </m:m>
                        </m:e>
                      </m:d>
                      <m:r>
                        <a:rPr lang="nl-NL" sz="1600" i="0">
                          <a:latin typeface="Cambria Math" panose="02040503050406030204" pitchFamily="18" charset="0"/>
                        </a:rPr>
                        <m:t>=</m:t>
                      </m:r>
                      <m:d>
                        <m:dPr>
                          <m:begChr m:val="["/>
                          <m:endChr m:val="]"/>
                          <m:ctrlPr>
                            <a:rPr lang="nl-NL" sz="1600" i="1">
                              <a:latin typeface="Cambria Math" panose="02040503050406030204" pitchFamily="18" charset="0"/>
                            </a:rPr>
                          </m:ctrlPr>
                        </m:dPr>
                        <m:e>
                          <m:m>
                            <m:mPr>
                              <m:mcs>
                                <m:mc>
                                  <m:mcPr>
                                    <m:count m:val="2"/>
                                    <m:mcJc m:val="center"/>
                                  </m:mcPr>
                                </m:mc>
                              </m:mcs>
                              <m:ctrlPr>
                                <a:rPr lang="nl-NL" sz="1600" i="1">
                                  <a:latin typeface="Cambria Math" panose="02040503050406030204" pitchFamily="18" charset="0"/>
                                </a:rPr>
                              </m:ctrlPr>
                            </m:mPr>
                            <m:mr>
                              <m:e>
                                <m:r>
                                  <a:rPr lang="nl-NL" sz="1600" i="0">
                                    <a:latin typeface="Cambria Math" panose="02040503050406030204" pitchFamily="18" charset="0"/>
                                  </a:rPr>
                                  <m:t>5</m:t>
                                </m:r>
                              </m:e>
                              <m:e>
                                <m:r>
                                  <a:rPr lang="nl-NL" sz="1600" i="0">
                                    <a:latin typeface="Cambria Math" panose="02040503050406030204" pitchFamily="18" charset="0"/>
                                  </a:rPr>
                                  <m:t>12</m:t>
                                </m:r>
                              </m:e>
                            </m:mr>
                            <m:mr>
                              <m:e>
                                <m:r>
                                  <a:rPr lang="nl-NL" sz="1600" i="0">
                                    <a:latin typeface="Cambria Math" panose="02040503050406030204" pitchFamily="18" charset="0"/>
                                  </a:rPr>
                                  <m:t>21</m:t>
                                </m:r>
                              </m:e>
                              <m:e>
                                <m:r>
                                  <a:rPr lang="nl-NL" sz="1600" i="0">
                                    <a:latin typeface="Cambria Math" panose="02040503050406030204" pitchFamily="18" charset="0"/>
                                  </a:rPr>
                                  <m:t>32</m:t>
                                </m:r>
                              </m:e>
                            </m:mr>
                          </m:m>
                        </m:e>
                      </m:d>
                    </m:oMath>
                  </m:oMathPara>
                </a14:m>
                <a:endParaRPr/>
              </a:p>
            </p:txBody>
          </p:sp>
        </mc:Choice>
        <mc:Fallback xmlns="">
          <p:sp>
            <p:nvSpPr>
              <p:cNvPr id="30" name="Vergelijking"/>
              <p:cNvSpPr txBox="1">
                <a:spLocks noRot="1" noChangeAspect="1" noMove="1" noResize="1" noEditPoints="1" noAdjustHandles="1" noChangeArrowheads="1" noChangeShapeType="1" noTextEdit="1"/>
              </p:cNvSpPr>
              <p:nvPr/>
            </p:nvSpPr>
            <p:spPr>
              <a:xfrm>
                <a:off x="165100" y="1651000"/>
                <a:ext cx="11861800" cy="787400"/>
              </a:xfrm>
              <a:prstGeom prst="rect">
                <a:avLst/>
              </a:prstGeom>
              <a:blipFill>
                <a:blip r:embed="rId3"/>
                <a:stretch>
                  <a:fillRect/>
                </a:stretch>
              </a:blipFill>
            </p:spPr>
            <p:txBody>
              <a:bodyPr/>
              <a:lstStyle/>
              <a:p>
                <a:r>
                  <a:rPr lang="en-US">
                    <a:noFill/>
                  </a:rPr>
                  <a:t> </a:t>
                </a:r>
              </a:p>
            </p:txBody>
          </p:sp>
        </mc:Fallback>
      </mc:AlternateContent>
      <p:sp>
        <p:nvSpPr>
          <p:cNvPr id="32" name="TextBox 32"/>
          <p:cNvSpPr txBox="1"/>
          <p:nvPr/>
        </p:nvSpPr>
        <p:spPr>
          <a:xfrm>
            <a:off x="165100" y="5435600"/>
            <a:ext cx="3810000" cy="571500"/>
          </a:xfrm>
          <a:prstGeom prst="rect">
            <a:avLst/>
          </a:prstGeom>
          <a:noFill/>
        </p:spPr>
        <p:txBody>
          <a:bodyPr wrap="square" rtlCol="0">
            <a:spAutoFit/>
          </a:bodyPr>
          <a:lstStyle/>
          <a:p>
            <a:r>
              <a:rPr lang="nl-NL" sz="1400" dirty="0"/>
              <a:t>Zelfde matrices, ander resultaat: * werkt per element, @ is rij × kolom</a:t>
            </a:r>
          </a:p>
        </p:txBody>
      </p:sp>
      <p:sp>
        <p:nvSpPr>
          <p:cNvPr id="33" name="TextBox 33"/>
          <p:cNvSpPr txBox="1"/>
          <p:nvPr/>
        </p:nvSpPr>
        <p:spPr>
          <a:xfrm>
            <a:off x="4191000" y="5435600"/>
            <a:ext cx="3683000" cy="571500"/>
          </a:xfrm>
          <a:prstGeom prst="rect">
            <a:avLst/>
          </a:prstGeom>
          <a:noFill/>
        </p:spPr>
        <p:txBody>
          <a:bodyPr wrap="square" rtlCol="0">
            <a:spAutoFit/>
          </a:bodyPr>
          <a:lstStyle/>
          <a:p>
            <a:r>
              <a:rPr lang="nl-NL" sz="1400" dirty="0"/>
              <a:t>Toepassing: masker (0/1) zet pixels uit, bv. de achtergrond wegfilteren</a:t>
            </a:r>
          </a:p>
        </p:txBody>
      </p:sp>
      <p:sp>
        <p:nvSpPr>
          <p:cNvPr id="34" name="TextBox 34"/>
          <p:cNvSpPr txBox="1"/>
          <p:nvPr/>
        </p:nvSpPr>
        <p:spPr>
          <a:xfrm>
            <a:off x="8128000" y="5435600"/>
            <a:ext cx="3898900" cy="571500"/>
          </a:xfrm>
          <a:prstGeom prst="rect">
            <a:avLst/>
          </a:prstGeom>
          <a:noFill/>
        </p:spPr>
        <p:txBody>
          <a:bodyPr wrap="square" rtlCol="0">
            <a:spAutoFit/>
          </a:bodyPr>
          <a:lstStyle/>
          <a:p>
            <a:r>
              <a:rPr lang="nl-NL" sz="1400" dirty="0"/>
              <a:t>Vormen (2x2) en (2x3) passen niet: geen elementsgewijs product</a:t>
            </a:r>
          </a:p>
        </p:txBody>
      </p:sp>
      <p:cxnSp>
        <p:nvCxnSpPr>
          <p:cNvPr id="60" name="Arrow 60"/>
          <p:cNvCxnSpPr/>
          <p:nvPr/>
        </p:nvCxnSpPr>
        <p:spPr>
          <a:xfrm flipH="1" flipV="1">
            <a:off x="3683000" y="4826000"/>
            <a:ext cx="1651000" cy="58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42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D17253-A7A7-9F40-BE5D-E79AD8883BD8}"/>
              </a:ext>
            </a:extLst>
          </p:cNvPr>
          <p:cNvSpPr>
            <a:spLocks noGrp="1"/>
          </p:cNvSpPr>
          <p:nvPr>
            <p:ph type="sldNum" sz="quarter" idx="12"/>
          </p:nvPr>
        </p:nvSpPr>
        <p:spPr/>
        <p:txBody>
          <a:bodyPr/>
          <a:lstStyle/>
          <a:p>
            <a:fld id="{D270EDC2-4F5E-5547-954F-5222C286AC2A}" type="slidenum">
              <a:rPr lang="nl-NL" smtClean="0"/>
              <a:t>24</a:t>
            </a:fld>
            <a:endParaRPr lang="nl-NL" dirty="0"/>
          </a:p>
        </p:txBody>
      </p:sp>
      <p:sp>
        <p:nvSpPr>
          <p:cNvPr id="2" name="Title 1">
            <a:extLst>
              <a:ext uri="{FF2B5EF4-FFF2-40B4-BE49-F238E27FC236}">
                <a16:creationId xmlns:a16="http://schemas.microsoft.com/office/drawing/2014/main" id="{AB6ADCDC-FA2B-0D40-8B81-7B58A1415126}"/>
              </a:ext>
            </a:extLst>
          </p:cNvPr>
          <p:cNvSpPr>
            <a:spLocks noGrp="1"/>
          </p:cNvSpPr>
          <p:nvPr>
            <p:ph type="title"/>
          </p:nvPr>
        </p:nvSpPr>
        <p:spPr/>
        <p:txBody>
          <a:bodyPr/>
          <a:lstStyle/>
          <a:p>
            <a:r>
              <a:rPr lang="nl-NL" dirty="0"/>
              <a:t>Matrix operaties - vermenigvuldigen</a:t>
            </a:r>
          </a:p>
        </p:txBody>
      </p:sp>
      <p:sp>
        <p:nvSpPr>
          <p:cNvPr id="5" name="Rectangle 4">
            <a:extLst>
              <a:ext uri="{FF2B5EF4-FFF2-40B4-BE49-F238E27FC236}">
                <a16:creationId xmlns:a16="http://schemas.microsoft.com/office/drawing/2014/main" id="{BEC9B920-F3E6-0847-AC2A-F5511BA3DEDC}"/>
              </a:ext>
            </a:extLst>
          </p:cNvPr>
          <p:cNvSpPr/>
          <p:nvPr/>
        </p:nvSpPr>
        <p:spPr>
          <a:xfrm>
            <a:off x="165652" y="2427167"/>
            <a:ext cx="6791739" cy="2462213"/>
          </a:xfrm>
          <a:prstGeom prst="rect">
            <a:avLst/>
          </a:prstGeom>
          <a:ln>
            <a:solidFill>
              <a:schemeClr val="tx1"/>
            </a:solidFill>
          </a:ln>
        </p:spPr>
        <p:txBody>
          <a:bodyPr wrap="square">
            <a:spAutoFit/>
          </a:bodyPr>
          <a:lstStyle/>
          <a:p>
            <a:r>
              <a:rPr lang="nl-NL" sz="1400" dirty="0">
                <a:solidFill>
                  <a:srgbClr val="8888C6"/>
                </a:solidFill>
              </a:rPr>
              <a:t>print</a:t>
            </a:r>
            <a:r>
              <a:rPr lang="nl-NL" sz="1400" dirty="0"/>
              <a:t>(</a:t>
            </a:r>
            <a:r>
              <a:rPr lang="nl-NL" sz="1400" dirty="0">
                <a:solidFill>
                  <a:srgbClr val="6A8759"/>
                </a:solidFill>
              </a:rPr>
              <a:t>‘Elements-</a:t>
            </a:r>
            <a:r>
              <a:rPr lang="nl-NL" sz="1400" dirty="0" err="1">
                <a:solidFill>
                  <a:srgbClr val="6A8759"/>
                </a:solidFill>
              </a:rPr>
              <a:t>gewijze</a:t>
            </a:r>
            <a:r>
              <a:rPr lang="nl-NL" sz="1400" dirty="0">
                <a:solidFill>
                  <a:srgbClr val="6A8759"/>
                </a:solidFill>
              </a:rPr>
              <a:t> vermenigvuldiging 1 &amp; 2:'</a:t>
            </a:r>
            <a:r>
              <a:rPr lang="nl-NL" sz="1400" dirty="0">
                <a:solidFill>
                  <a:srgbClr val="CC7832"/>
                </a:solidFill>
              </a:rPr>
              <a:t>, </a:t>
            </a:r>
            <a:r>
              <a:rPr lang="nl-NL" sz="1400" dirty="0"/>
              <a:t>mat_1 * mat_2)</a:t>
            </a:r>
          </a:p>
          <a:p>
            <a:endParaRPr lang="nl-NL" sz="1400" dirty="0"/>
          </a:p>
          <a:p>
            <a:br>
              <a:rPr lang="nl-NL" sz="1400" dirty="0"/>
            </a:br>
            <a:r>
              <a:rPr lang="nl-NL" sz="1400" dirty="0">
                <a:solidFill>
                  <a:srgbClr val="8888C6"/>
                </a:solidFill>
              </a:rPr>
              <a:t>print</a:t>
            </a:r>
            <a:r>
              <a:rPr lang="nl-NL" sz="1400" dirty="0"/>
              <a:t>(</a:t>
            </a:r>
            <a:r>
              <a:rPr lang="nl-NL" sz="1400" dirty="0">
                <a:solidFill>
                  <a:srgbClr val="6A8759"/>
                </a:solidFill>
              </a:rPr>
              <a:t>‘Matrix product 1 &amp; 2:'</a:t>
            </a:r>
            <a:r>
              <a:rPr lang="nl-NL" sz="1400" dirty="0">
                <a:solidFill>
                  <a:srgbClr val="CC7832"/>
                </a:solidFill>
              </a:rPr>
              <a:t>, </a:t>
            </a:r>
            <a:r>
              <a:rPr lang="nl-NL" sz="1400" dirty="0" err="1"/>
              <a:t>np.dot</a:t>
            </a:r>
            <a:r>
              <a:rPr lang="nl-NL" sz="1400" dirty="0"/>
              <a:t>(mat_1</a:t>
            </a:r>
            <a:r>
              <a:rPr lang="nl-NL" sz="1400" dirty="0">
                <a:solidFill>
                  <a:srgbClr val="CC7832"/>
                </a:solidFill>
              </a:rPr>
              <a:t>, </a:t>
            </a:r>
            <a:r>
              <a:rPr lang="nl-NL" sz="1400" dirty="0"/>
              <a:t>mat_2))</a:t>
            </a:r>
            <a:br>
              <a:rPr lang="nl-NL" sz="1400" dirty="0"/>
            </a:br>
            <a:r>
              <a:rPr lang="nl-NL" sz="1400" dirty="0">
                <a:solidFill>
                  <a:srgbClr val="8888C6"/>
                </a:solidFill>
              </a:rPr>
              <a:t>print</a:t>
            </a:r>
            <a:r>
              <a:rPr lang="nl-NL" sz="1400" dirty="0"/>
              <a:t>(</a:t>
            </a:r>
            <a:r>
              <a:rPr lang="nl-NL" sz="1400" dirty="0">
                <a:solidFill>
                  <a:srgbClr val="6A8759"/>
                </a:solidFill>
              </a:rPr>
              <a:t>'Elements-</a:t>
            </a:r>
            <a:r>
              <a:rPr lang="nl-NL" sz="1400" dirty="0" err="1">
                <a:solidFill>
                  <a:srgbClr val="6A8759"/>
                </a:solidFill>
              </a:rPr>
              <a:t>gewijze</a:t>
            </a:r>
            <a:r>
              <a:rPr lang="nl-NL" sz="1400" dirty="0">
                <a:solidFill>
                  <a:srgbClr val="6A8759"/>
                </a:solidFill>
              </a:rPr>
              <a:t> vermenigvuldiging 1 &amp; 2:'</a:t>
            </a:r>
            <a:r>
              <a:rPr lang="nl-NL" sz="1400" dirty="0">
                <a:solidFill>
                  <a:srgbClr val="CC7832"/>
                </a:solidFill>
              </a:rPr>
              <a:t>, </a:t>
            </a:r>
            <a:r>
              <a:rPr lang="nl-NL" sz="1400" dirty="0" err="1"/>
              <a:t>np.multiply</a:t>
            </a:r>
            <a:r>
              <a:rPr lang="nl-NL" sz="1400" dirty="0"/>
              <a:t>(mat_1</a:t>
            </a:r>
            <a:r>
              <a:rPr lang="nl-NL" sz="1400" dirty="0">
                <a:solidFill>
                  <a:srgbClr val="CC7832"/>
                </a:solidFill>
              </a:rPr>
              <a:t>, </a:t>
            </a:r>
            <a:r>
              <a:rPr lang="nl-NL" sz="1400" dirty="0"/>
              <a:t>mat_2))</a:t>
            </a:r>
          </a:p>
          <a:p>
            <a:endParaRPr lang="nl-NL" sz="1400" dirty="0"/>
          </a:p>
          <a:p>
            <a:br>
              <a:rPr lang="nl-NL" sz="1400" dirty="0"/>
            </a:br>
            <a:r>
              <a:rPr lang="nl-NL" sz="1400" dirty="0">
                <a:solidFill>
                  <a:srgbClr val="8888C6"/>
                </a:solidFill>
              </a:rPr>
              <a:t>print</a:t>
            </a:r>
            <a:r>
              <a:rPr lang="nl-NL" sz="1400" dirty="0"/>
              <a:t>(</a:t>
            </a:r>
            <a:r>
              <a:rPr lang="nl-NL" sz="1400" dirty="0">
                <a:solidFill>
                  <a:srgbClr val="6A8759"/>
                </a:solidFill>
              </a:rPr>
              <a:t>‘Matrix product 1 &amp; 3:'</a:t>
            </a:r>
            <a:r>
              <a:rPr lang="nl-NL" sz="1400" dirty="0">
                <a:solidFill>
                  <a:srgbClr val="CC7832"/>
                </a:solidFill>
              </a:rPr>
              <a:t>, </a:t>
            </a:r>
            <a:r>
              <a:rPr lang="nl-NL" sz="1400" dirty="0" err="1"/>
              <a:t>np.dot</a:t>
            </a:r>
            <a:r>
              <a:rPr lang="nl-NL" sz="1400" dirty="0"/>
              <a:t>(mat_1</a:t>
            </a:r>
            <a:r>
              <a:rPr lang="nl-NL" sz="1400" dirty="0">
                <a:solidFill>
                  <a:srgbClr val="CC7832"/>
                </a:solidFill>
              </a:rPr>
              <a:t>, </a:t>
            </a:r>
            <a:r>
              <a:rPr lang="nl-NL" sz="1400" dirty="0"/>
              <a:t>mat_3))</a:t>
            </a:r>
          </a:p>
          <a:p>
            <a:endParaRPr lang="nl-NL" sz="1400" dirty="0"/>
          </a:p>
          <a:p>
            <a:br>
              <a:rPr lang="nl-NL" sz="1400" dirty="0"/>
            </a:br>
            <a:r>
              <a:rPr lang="nl-NL" sz="1400" dirty="0">
                <a:solidFill>
                  <a:srgbClr val="8888C6"/>
                </a:solidFill>
              </a:rPr>
              <a:t>print</a:t>
            </a:r>
            <a:r>
              <a:rPr lang="nl-NL" sz="1400" dirty="0"/>
              <a:t>(</a:t>
            </a:r>
            <a:r>
              <a:rPr lang="nl-NL" sz="1400" dirty="0">
                <a:solidFill>
                  <a:srgbClr val="6A8759"/>
                </a:solidFill>
              </a:rPr>
              <a:t>'Elements-</a:t>
            </a:r>
            <a:r>
              <a:rPr lang="nl-NL" sz="1400" dirty="0" err="1">
                <a:solidFill>
                  <a:srgbClr val="6A8759"/>
                </a:solidFill>
              </a:rPr>
              <a:t>gewijze</a:t>
            </a:r>
            <a:r>
              <a:rPr lang="nl-NL" sz="1400" dirty="0">
                <a:solidFill>
                  <a:srgbClr val="6A8759"/>
                </a:solidFill>
              </a:rPr>
              <a:t> vermenigvuldiging 1 &amp; 3:'</a:t>
            </a:r>
            <a:r>
              <a:rPr lang="nl-NL" sz="1400" dirty="0">
                <a:solidFill>
                  <a:srgbClr val="CC7832"/>
                </a:solidFill>
              </a:rPr>
              <a:t>, </a:t>
            </a:r>
            <a:r>
              <a:rPr lang="nl-NL" sz="1400" dirty="0" err="1"/>
              <a:t>np.multiply</a:t>
            </a:r>
            <a:r>
              <a:rPr lang="nl-NL" sz="1400" dirty="0"/>
              <a:t>(mat_1</a:t>
            </a:r>
            <a:r>
              <a:rPr lang="nl-NL" sz="1400" dirty="0">
                <a:solidFill>
                  <a:srgbClr val="CC7832"/>
                </a:solidFill>
              </a:rPr>
              <a:t>, </a:t>
            </a:r>
            <a:r>
              <a:rPr lang="nl-NL" sz="1400" dirty="0"/>
              <a:t>mat_3))</a:t>
            </a:r>
          </a:p>
        </p:txBody>
      </p:sp>
      <p:sp>
        <p:nvSpPr>
          <p:cNvPr id="6" name="Rectangle 5">
            <a:extLst>
              <a:ext uri="{FF2B5EF4-FFF2-40B4-BE49-F238E27FC236}">
                <a16:creationId xmlns:a16="http://schemas.microsoft.com/office/drawing/2014/main" id="{9A6DF2FC-6132-E644-8B32-18CF8C021800}"/>
              </a:ext>
            </a:extLst>
          </p:cNvPr>
          <p:cNvSpPr/>
          <p:nvPr/>
        </p:nvSpPr>
        <p:spPr>
          <a:xfrm>
            <a:off x="7292009" y="2427167"/>
            <a:ext cx="4734339" cy="2893100"/>
          </a:xfrm>
          <a:prstGeom prst="rect">
            <a:avLst/>
          </a:prstGeom>
          <a:ln>
            <a:solidFill>
              <a:schemeClr val="tx1"/>
            </a:solidFill>
          </a:ln>
        </p:spPr>
        <p:txBody>
          <a:bodyPr wrap="square">
            <a:spAutoFit/>
          </a:bodyPr>
          <a:lstStyle/>
          <a:p>
            <a:r>
              <a:rPr lang="nl-NL" sz="1400" dirty="0"/>
              <a:t>Elements-</a:t>
            </a:r>
            <a:r>
              <a:rPr lang="nl-NL" sz="1400" dirty="0" err="1"/>
              <a:t>gewijze</a:t>
            </a:r>
            <a:r>
              <a:rPr lang="nl-NL" sz="1400" dirty="0"/>
              <a:t> vermenigvuldiging 1 &amp; 2: [[ 4 15 18]</a:t>
            </a:r>
          </a:p>
          <a:p>
            <a:r>
              <a:rPr lang="nl-NL" sz="1400" dirty="0"/>
              <a:t> [16 25 36]</a:t>
            </a:r>
          </a:p>
          <a:p>
            <a:r>
              <a:rPr lang="nl-NL" sz="1400" dirty="0"/>
              <a:t> [28 40 54]]</a:t>
            </a:r>
          </a:p>
          <a:p>
            <a:r>
              <a:rPr lang="nl-NL" sz="1400" dirty="0"/>
              <a:t>Matrix product 1 &amp; 2: [ 37  77 122]</a:t>
            </a:r>
          </a:p>
          <a:p>
            <a:r>
              <a:rPr lang="nl-NL" sz="1400" dirty="0"/>
              <a:t>Elements-</a:t>
            </a:r>
            <a:r>
              <a:rPr lang="nl-NL" sz="1400" dirty="0" err="1"/>
              <a:t>gewijze</a:t>
            </a:r>
            <a:r>
              <a:rPr lang="nl-NL" sz="1400" dirty="0"/>
              <a:t> vermenigvuldiging 1 &amp; 2: [[ 4 15 18]</a:t>
            </a:r>
          </a:p>
          <a:p>
            <a:r>
              <a:rPr lang="nl-NL" sz="1400" dirty="0"/>
              <a:t> [16 25 36]</a:t>
            </a:r>
          </a:p>
          <a:p>
            <a:r>
              <a:rPr lang="nl-NL" sz="1400" dirty="0"/>
              <a:t> [28 40 54]]</a:t>
            </a:r>
          </a:p>
          <a:p>
            <a:r>
              <a:rPr lang="nl-NL" sz="1400" dirty="0"/>
              <a:t>Matrix product 1 &amp; 3: [[23 10 16]</a:t>
            </a:r>
          </a:p>
          <a:p>
            <a:r>
              <a:rPr lang="nl-NL" sz="1400" dirty="0"/>
              <a:t> [55 22 33]</a:t>
            </a:r>
          </a:p>
          <a:p>
            <a:r>
              <a:rPr lang="nl-NL" sz="1400" dirty="0"/>
              <a:t> [88 34 51]]</a:t>
            </a:r>
          </a:p>
          <a:p>
            <a:r>
              <a:rPr lang="nl-NL" sz="1400" dirty="0"/>
              <a:t>Elements-</a:t>
            </a:r>
            <a:r>
              <a:rPr lang="nl-NL" sz="1400" dirty="0" err="1"/>
              <a:t>gewijze</a:t>
            </a:r>
            <a:r>
              <a:rPr lang="nl-NL" sz="1400" dirty="0"/>
              <a:t> vermenigvuldiging 1 &amp; 3: [[ 5  3  3]</a:t>
            </a:r>
          </a:p>
          <a:p>
            <a:r>
              <a:rPr lang="nl-NL" sz="1400" dirty="0"/>
              <a:t> [ 4  0  6]</a:t>
            </a:r>
          </a:p>
          <a:p>
            <a:r>
              <a:rPr lang="nl-NL" sz="1400" dirty="0"/>
              <a:t> [35 24 36]]</a:t>
            </a:r>
          </a:p>
        </p:txBody>
      </p:sp>
      <p:sp>
        <p:nvSpPr>
          <p:cNvPr id="7" name="TextBox 6">
            <a:extLst>
              <a:ext uri="{FF2B5EF4-FFF2-40B4-BE49-F238E27FC236}">
                <a16:creationId xmlns:a16="http://schemas.microsoft.com/office/drawing/2014/main" id="{28B16FA2-9727-DA45-A5F2-A401243F8849}"/>
              </a:ext>
            </a:extLst>
          </p:cNvPr>
          <p:cNvSpPr txBox="1"/>
          <p:nvPr/>
        </p:nvSpPr>
        <p:spPr>
          <a:xfrm>
            <a:off x="7292009" y="2057835"/>
            <a:ext cx="1054133"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0D441BD2-B671-F745-8642-2C5864662EB5}"/>
              </a:ext>
            </a:extLst>
          </p:cNvPr>
          <p:cNvSpPr txBox="1"/>
          <p:nvPr/>
        </p:nvSpPr>
        <p:spPr>
          <a:xfrm>
            <a:off x="165652" y="2057835"/>
            <a:ext cx="946404" cy="369332"/>
          </a:xfrm>
          <a:prstGeom prst="rect">
            <a:avLst/>
          </a:prstGeom>
          <a:noFill/>
        </p:spPr>
        <p:txBody>
          <a:bodyPr wrap="square" rtlCol="0">
            <a:spAutoFit/>
          </a:bodyPr>
          <a:lstStyle/>
          <a:p>
            <a:r>
              <a:rPr lang="nl-NL" dirty="0"/>
              <a:t>Code:</a:t>
            </a:r>
          </a:p>
        </p:txBody>
      </p:sp>
      <p:sp>
        <p:nvSpPr>
          <p:cNvPr id="9" name="TextBox 8">
            <a:extLst>
              <a:ext uri="{FF2B5EF4-FFF2-40B4-BE49-F238E27FC236}">
                <a16:creationId xmlns:a16="http://schemas.microsoft.com/office/drawing/2014/main" id="{19408F02-8403-474D-B13C-21FE7DBE4F4C}"/>
              </a:ext>
            </a:extLst>
          </p:cNvPr>
          <p:cNvSpPr txBox="1"/>
          <p:nvPr/>
        </p:nvSpPr>
        <p:spPr>
          <a:xfrm>
            <a:off x="900000" y="5027636"/>
            <a:ext cx="4091609" cy="954107"/>
          </a:xfrm>
          <a:prstGeom prst="rect">
            <a:avLst/>
          </a:prstGeom>
          <a:noFill/>
        </p:spPr>
        <p:txBody>
          <a:bodyPr wrap="square" rtlCol="0">
            <a:spAutoFit/>
          </a:bodyPr>
          <a:lstStyle/>
          <a:p>
            <a:r>
              <a:rPr lang="nl-NL" sz="1400" dirty="0"/>
              <a:t>Merk op dat de verschillende methodes andere uitkomsten hebben en wederom automatisch de juiste interpretaties hebben naar gelang de vorm van de matrices</a:t>
            </a:r>
          </a:p>
        </p:txBody>
      </p:sp>
      <p:sp>
        <p:nvSpPr>
          <p:cNvPr id="10" name="Rectangle 9">
            <a:extLst>
              <a:ext uri="{FF2B5EF4-FFF2-40B4-BE49-F238E27FC236}">
                <a16:creationId xmlns:a16="http://schemas.microsoft.com/office/drawing/2014/main" id="{9349C634-0578-5444-8D55-8FD37C2E895C}"/>
              </a:ext>
            </a:extLst>
          </p:cNvPr>
          <p:cNvSpPr/>
          <p:nvPr/>
        </p:nvSpPr>
        <p:spPr>
          <a:xfrm>
            <a:off x="8883398" y="95071"/>
            <a:ext cx="2196546" cy="1754326"/>
          </a:xfrm>
          <a:prstGeom prst="rect">
            <a:avLst/>
          </a:prstGeom>
          <a:ln>
            <a:solidFill>
              <a:schemeClr val="tx1"/>
            </a:solidFill>
          </a:ln>
        </p:spPr>
        <p:txBody>
          <a:bodyPr wrap="square">
            <a:spAutoFit/>
          </a:bodyPr>
          <a:lstStyle/>
          <a:p>
            <a:r>
              <a:rPr lang="nl-NL" sz="1200" dirty="0"/>
              <a:t>mat_1 = </a:t>
            </a:r>
            <a:r>
              <a:rPr lang="nl-NL" sz="1200" dirty="0" err="1"/>
              <a:t>np.array</a:t>
            </a:r>
            <a:r>
              <a:rPr lang="nl-NL" sz="1200" dirty="0"/>
              <a:t>([</a:t>
            </a:r>
            <a:br>
              <a:rPr lang="nl-NL" sz="1200" dirty="0"/>
            </a:br>
            <a:r>
              <a:rPr lang="nl-NL" sz="1200" dirty="0"/>
              <a:t>    [</a:t>
            </a:r>
            <a:r>
              <a:rPr lang="nl-NL" sz="1200" dirty="0">
                <a:solidFill>
                  <a:srgbClr val="6897BB"/>
                </a:solidFill>
              </a:rPr>
              <a:t>1</a:t>
            </a:r>
            <a:r>
              <a:rPr lang="nl-NL" sz="1200" dirty="0">
                <a:solidFill>
                  <a:srgbClr val="CC7832"/>
                </a:solidFill>
              </a:rPr>
              <a:t>, </a:t>
            </a:r>
            <a:r>
              <a:rPr lang="nl-NL" sz="1200" dirty="0">
                <a:solidFill>
                  <a:srgbClr val="6897BB"/>
                </a:solidFill>
              </a:rPr>
              <a:t>3</a:t>
            </a:r>
            <a:r>
              <a:rPr lang="nl-NL" sz="1200" dirty="0">
                <a:solidFill>
                  <a:srgbClr val="CC7832"/>
                </a:solidFill>
              </a:rPr>
              <a:t>, </a:t>
            </a:r>
            <a:r>
              <a:rPr lang="nl-NL" sz="1200" dirty="0">
                <a:solidFill>
                  <a:srgbClr val="6897BB"/>
                </a:solidFill>
              </a:rPr>
              <a:t>3</a:t>
            </a:r>
            <a:r>
              <a:rPr lang="nl-NL" sz="1200" dirty="0"/>
              <a:t>]</a:t>
            </a:r>
            <a:r>
              <a:rPr lang="nl-NL" sz="1200" dirty="0">
                <a:solidFill>
                  <a:srgbClr val="CC7832"/>
                </a:solidFill>
              </a:rPr>
              <a:t>,</a:t>
            </a:r>
            <a:br>
              <a:rPr lang="nl-NL" sz="1200" dirty="0">
                <a:solidFill>
                  <a:srgbClr val="CC7832"/>
                </a:solidFill>
              </a:rPr>
            </a:br>
            <a:r>
              <a:rPr lang="nl-NL" sz="1200" dirty="0">
                <a:solidFill>
                  <a:srgbClr val="CC7832"/>
                </a:solidFill>
              </a:rPr>
              <a:t>    </a:t>
            </a:r>
            <a:r>
              <a:rPr lang="nl-NL" sz="1200" dirty="0"/>
              <a:t>[</a:t>
            </a:r>
            <a:r>
              <a:rPr lang="nl-NL" sz="1200" dirty="0">
                <a:solidFill>
                  <a:srgbClr val="6897BB"/>
                </a:solidFill>
              </a:rPr>
              <a:t>4</a:t>
            </a:r>
            <a:r>
              <a:rPr lang="nl-NL" sz="1200" dirty="0">
                <a:solidFill>
                  <a:srgbClr val="CC7832"/>
                </a:solidFill>
              </a:rPr>
              <a:t>, </a:t>
            </a:r>
            <a:r>
              <a:rPr lang="nl-NL" sz="1200" dirty="0">
                <a:solidFill>
                  <a:srgbClr val="6897BB"/>
                </a:solidFill>
              </a:rPr>
              <a:t>5</a:t>
            </a:r>
            <a:r>
              <a:rPr lang="nl-NL" sz="1200" dirty="0">
                <a:solidFill>
                  <a:srgbClr val="CC7832"/>
                </a:solidFill>
              </a:rPr>
              <a:t>, </a:t>
            </a:r>
            <a:r>
              <a:rPr lang="nl-NL" sz="1200" dirty="0">
                <a:solidFill>
                  <a:srgbClr val="6897BB"/>
                </a:solidFill>
              </a:rPr>
              <a:t>6</a:t>
            </a:r>
            <a:r>
              <a:rPr lang="nl-NL" sz="1200" dirty="0"/>
              <a:t>]</a:t>
            </a:r>
            <a:r>
              <a:rPr lang="nl-NL" sz="1200" dirty="0">
                <a:solidFill>
                  <a:srgbClr val="CC7832"/>
                </a:solidFill>
              </a:rPr>
              <a:t>,</a:t>
            </a:r>
            <a:br>
              <a:rPr lang="nl-NL" sz="1200" dirty="0">
                <a:solidFill>
                  <a:srgbClr val="CC7832"/>
                </a:solidFill>
              </a:rPr>
            </a:br>
            <a:r>
              <a:rPr lang="nl-NL" sz="1200" dirty="0">
                <a:solidFill>
                  <a:srgbClr val="CC7832"/>
                </a:solidFill>
              </a:rPr>
              <a:t>    </a:t>
            </a:r>
            <a:r>
              <a:rPr lang="nl-NL" sz="1200" dirty="0"/>
              <a:t>[</a:t>
            </a:r>
            <a:r>
              <a:rPr lang="nl-NL" sz="1200" dirty="0">
                <a:solidFill>
                  <a:srgbClr val="6897BB"/>
                </a:solidFill>
              </a:rPr>
              <a:t>7</a:t>
            </a:r>
            <a:r>
              <a:rPr lang="nl-NL" sz="1200" dirty="0">
                <a:solidFill>
                  <a:srgbClr val="CC7832"/>
                </a:solidFill>
              </a:rPr>
              <a:t>, </a:t>
            </a:r>
            <a:r>
              <a:rPr lang="nl-NL" sz="1200" dirty="0">
                <a:solidFill>
                  <a:srgbClr val="6897BB"/>
                </a:solidFill>
              </a:rPr>
              <a:t>8</a:t>
            </a:r>
            <a:r>
              <a:rPr lang="nl-NL" sz="1200" dirty="0">
                <a:solidFill>
                  <a:srgbClr val="CC7832"/>
                </a:solidFill>
              </a:rPr>
              <a:t>, </a:t>
            </a:r>
            <a:r>
              <a:rPr lang="nl-NL" sz="1200" dirty="0">
                <a:solidFill>
                  <a:srgbClr val="6897BB"/>
                </a:solidFill>
              </a:rPr>
              <a:t>9</a:t>
            </a:r>
            <a:r>
              <a:rPr lang="nl-NL" sz="1200" dirty="0"/>
              <a:t>]])</a:t>
            </a:r>
            <a:br>
              <a:rPr lang="nl-NL" sz="1200" dirty="0"/>
            </a:br>
            <a:r>
              <a:rPr lang="nl-NL" sz="1200" dirty="0"/>
              <a:t>mat_2 = </a:t>
            </a:r>
            <a:r>
              <a:rPr lang="nl-NL" sz="1200" dirty="0" err="1"/>
              <a:t>np.array</a:t>
            </a:r>
            <a:r>
              <a:rPr lang="nl-NL" sz="1200" dirty="0"/>
              <a:t>([</a:t>
            </a:r>
            <a:r>
              <a:rPr lang="nl-NL" sz="1200" dirty="0">
                <a:solidFill>
                  <a:srgbClr val="6897BB"/>
                </a:solidFill>
              </a:rPr>
              <a:t>4</a:t>
            </a:r>
            <a:r>
              <a:rPr lang="nl-NL" sz="1200" dirty="0">
                <a:solidFill>
                  <a:srgbClr val="CC7832"/>
                </a:solidFill>
              </a:rPr>
              <a:t>, </a:t>
            </a:r>
            <a:r>
              <a:rPr lang="nl-NL" sz="1200" dirty="0">
                <a:solidFill>
                  <a:srgbClr val="6897BB"/>
                </a:solidFill>
              </a:rPr>
              <a:t>5</a:t>
            </a:r>
            <a:r>
              <a:rPr lang="nl-NL" sz="1200" dirty="0">
                <a:solidFill>
                  <a:srgbClr val="CC7832"/>
                </a:solidFill>
              </a:rPr>
              <a:t>, </a:t>
            </a:r>
            <a:r>
              <a:rPr lang="nl-NL" sz="1200" dirty="0">
                <a:solidFill>
                  <a:srgbClr val="6897BB"/>
                </a:solidFill>
              </a:rPr>
              <a:t>6</a:t>
            </a:r>
            <a:r>
              <a:rPr lang="nl-NL" sz="1200" dirty="0"/>
              <a:t>])</a:t>
            </a:r>
            <a:br>
              <a:rPr lang="nl-NL" sz="1200" dirty="0"/>
            </a:br>
            <a:r>
              <a:rPr lang="nl-NL" sz="1200" dirty="0"/>
              <a:t>mat_3 = </a:t>
            </a:r>
            <a:r>
              <a:rPr lang="nl-NL" sz="1200" dirty="0" err="1"/>
              <a:t>np.array</a:t>
            </a:r>
            <a:r>
              <a:rPr lang="nl-NL" sz="1200" dirty="0"/>
              <a:t>([</a:t>
            </a:r>
            <a:br>
              <a:rPr lang="nl-NL" sz="1200" dirty="0"/>
            </a:br>
            <a:r>
              <a:rPr lang="nl-NL" sz="1200" dirty="0"/>
              <a:t>    [</a:t>
            </a:r>
            <a:r>
              <a:rPr lang="nl-NL" sz="1200" dirty="0">
                <a:solidFill>
                  <a:srgbClr val="6897BB"/>
                </a:solidFill>
              </a:rPr>
              <a:t>5</a:t>
            </a:r>
            <a:r>
              <a:rPr lang="nl-NL" sz="1200" dirty="0">
                <a:solidFill>
                  <a:srgbClr val="CC7832"/>
                </a:solidFill>
              </a:rPr>
              <a:t>, </a:t>
            </a:r>
            <a:r>
              <a:rPr lang="nl-NL" sz="1200" dirty="0">
                <a:solidFill>
                  <a:srgbClr val="6897BB"/>
                </a:solidFill>
              </a:rPr>
              <a:t>1</a:t>
            </a:r>
            <a:r>
              <a:rPr lang="nl-NL" sz="1200" dirty="0">
                <a:solidFill>
                  <a:srgbClr val="CC7832"/>
                </a:solidFill>
              </a:rPr>
              <a:t>, </a:t>
            </a:r>
            <a:r>
              <a:rPr lang="nl-NL" sz="1200" dirty="0">
                <a:solidFill>
                  <a:srgbClr val="6897BB"/>
                </a:solidFill>
              </a:rPr>
              <a:t>1</a:t>
            </a:r>
            <a:r>
              <a:rPr lang="nl-NL" sz="1200" dirty="0"/>
              <a:t>]</a:t>
            </a:r>
            <a:r>
              <a:rPr lang="nl-NL" sz="1200" dirty="0">
                <a:solidFill>
                  <a:srgbClr val="CC7832"/>
                </a:solidFill>
              </a:rPr>
              <a:t>,</a:t>
            </a:r>
            <a:br>
              <a:rPr lang="nl-NL" sz="1200" dirty="0">
                <a:solidFill>
                  <a:srgbClr val="CC7832"/>
                </a:solidFill>
              </a:rPr>
            </a:br>
            <a:r>
              <a:rPr lang="nl-NL" sz="1200" dirty="0">
                <a:solidFill>
                  <a:srgbClr val="CC7832"/>
                </a:solidFill>
              </a:rPr>
              <a:t>    </a:t>
            </a:r>
            <a:r>
              <a:rPr lang="nl-NL" sz="1200" dirty="0"/>
              <a:t>[</a:t>
            </a:r>
            <a:r>
              <a:rPr lang="nl-NL" sz="1200" dirty="0">
                <a:solidFill>
                  <a:srgbClr val="6897BB"/>
                </a:solidFill>
              </a:rPr>
              <a:t>1</a:t>
            </a:r>
            <a:r>
              <a:rPr lang="nl-NL" sz="1200" dirty="0">
                <a:solidFill>
                  <a:srgbClr val="CC7832"/>
                </a:solidFill>
              </a:rPr>
              <a:t>, </a:t>
            </a:r>
            <a:r>
              <a:rPr lang="nl-NL" sz="1200" dirty="0">
                <a:solidFill>
                  <a:srgbClr val="6897BB"/>
                </a:solidFill>
              </a:rPr>
              <a:t>0</a:t>
            </a:r>
            <a:r>
              <a:rPr lang="nl-NL" sz="1200" dirty="0">
                <a:solidFill>
                  <a:srgbClr val="CC7832"/>
                </a:solidFill>
              </a:rPr>
              <a:t>, </a:t>
            </a:r>
            <a:r>
              <a:rPr lang="nl-NL" sz="1200" dirty="0">
                <a:solidFill>
                  <a:srgbClr val="6897BB"/>
                </a:solidFill>
              </a:rPr>
              <a:t>1</a:t>
            </a:r>
            <a:r>
              <a:rPr lang="nl-NL" sz="1200" dirty="0"/>
              <a:t>]</a:t>
            </a:r>
            <a:r>
              <a:rPr lang="nl-NL" sz="1200" dirty="0">
                <a:solidFill>
                  <a:srgbClr val="CC7832"/>
                </a:solidFill>
              </a:rPr>
              <a:t>,</a:t>
            </a:r>
            <a:br>
              <a:rPr lang="nl-NL" sz="1200" dirty="0">
                <a:solidFill>
                  <a:srgbClr val="CC7832"/>
                </a:solidFill>
              </a:rPr>
            </a:br>
            <a:r>
              <a:rPr lang="nl-NL" sz="1200" dirty="0">
                <a:solidFill>
                  <a:srgbClr val="CC7832"/>
                </a:solidFill>
              </a:rPr>
              <a:t>    </a:t>
            </a:r>
            <a:r>
              <a:rPr lang="nl-NL" sz="1200" dirty="0"/>
              <a:t>[</a:t>
            </a:r>
            <a:r>
              <a:rPr lang="nl-NL" sz="1200" dirty="0">
                <a:solidFill>
                  <a:srgbClr val="6897BB"/>
                </a:solidFill>
              </a:rPr>
              <a:t>5</a:t>
            </a:r>
            <a:r>
              <a:rPr lang="nl-NL" sz="1200" dirty="0">
                <a:solidFill>
                  <a:srgbClr val="CC7832"/>
                </a:solidFill>
              </a:rPr>
              <a:t>, </a:t>
            </a:r>
            <a:r>
              <a:rPr lang="nl-NL" sz="1200" dirty="0">
                <a:solidFill>
                  <a:srgbClr val="6897BB"/>
                </a:solidFill>
              </a:rPr>
              <a:t>3</a:t>
            </a:r>
            <a:r>
              <a:rPr lang="nl-NL" sz="1200" dirty="0">
                <a:solidFill>
                  <a:srgbClr val="CC7832"/>
                </a:solidFill>
              </a:rPr>
              <a:t>, </a:t>
            </a:r>
            <a:r>
              <a:rPr lang="nl-NL" sz="1200" dirty="0">
                <a:solidFill>
                  <a:srgbClr val="6897BB"/>
                </a:solidFill>
              </a:rPr>
              <a:t>4</a:t>
            </a:r>
            <a:r>
              <a:rPr lang="nl-NL" sz="1200" dirty="0"/>
              <a:t>]])</a:t>
            </a:r>
          </a:p>
        </p:txBody>
      </p:sp>
      <p:cxnSp>
        <p:nvCxnSpPr>
          <p:cNvPr id="13" name="Straight Arrow Connector 12">
            <a:extLst>
              <a:ext uri="{FF2B5EF4-FFF2-40B4-BE49-F238E27FC236}">
                <a16:creationId xmlns:a16="http://schemas.microsoft.com/office/drawing/2014/main" id="{5D93F366-3085-0C22-3F6C-D85C1591BEBE}"/>
              </a:ext>
            </a:extLst>
          </p:cNvPr>
          <p:cNvCxnSpPr>
            <a:cxnSpLocks/>
          </p:cNvCxnSpPr>
          <p:nvPr/>
        </p:nvCxnSpPr>
        <p:spPr>
          <a:xfrm flipH="1" flipV="1">
            <a:off x="3139945" y="2081078"/>
            <a:ext cx="272511" cy="286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928B594-545F-8B75-565B-A664CBBD8573}"/>
              </a:ext>
            </a:extLst>
          </p:cNvPr>
          <p:cNvSpPr txBox="1"/>
          <p:nvPr/>
        </p:nvSpPr>
        <p:spPr>
          <a:xfrm>
            <a:off x="1704547" y="1564508"/>
            <a:ext cx="5086649" cy="523220"/>
          </a:xfrm>
          <a:prstGeom prst="rect">
            <a:avLst/>
          </a:prstGeom>
          <a:noFill/>
        </p:spPr>
        <p:txBody>
          <a:bodyPr wrap="none" rtlCol="0">
            <a:spAutoFit/>
          </a:bodyPr>
          <a:lstStyle/>
          <a:p>
            <a:r>
              <a:rPr lang="nl-NL" sz="1400" dirty="0"/>
              <a:t>(3x3) x </a:t>
            </a:r>
            <a:r>
              <a:rPr lang="nl-NL" sz="1400" dirty="0">
                <a:solidFill>
                  <a:srgbClr val="FF0000"/>
                </a:solidFill>
              </a:rPr>
              <a:t>(3,3) </a:t>
            </a:r>
            <a:r>
              <a:rPr lang="nl-NL" sz="1400" dirty="0"/>
              <a:t>= (3,3)</a:t>
            </a:r>
          </a:p>
          <a:p>
            <a:r>
              <a:rPr lang="nl-NL" sz="1400" dirty="0">
                <a:solidFill>
                  <a:srgbClr val="FF0000"/>
                </a:solidFill>
              </a:rPr>
              <a:t>mat_2 </a:t>
            </a:r>
            <a:r>
              <a:rPr lang="nl-NL" sz="1400" dirty="0"/>
              <a:t>wordt automatisch omgezet van vector naar 3x3-matrix</a:t>
            </a:r>
          </a:p>
        </p:txBody>
      </p:sp>
      <p:cxnSp>
        <p:nvCxnSpPr>
          <p:cNvPr id="15" name="Straight Arrow Connector 14">
            <a:extLst>
              <a:ext uri="{FF2B5EF4-FFF2-40B4-BE49-F238E27FC236}">
                <a16:creationId xmlns:a16="http://schemas.microsoft.com/office/drawing/2014/main" id="{B84200EA-A138-7FBB-B216-9D8C6921385B}"/>
              </a:ext>
            </a:extLst>
          </p:cNvPr>
          <p:cNvCxnSpPr>
            <a:cxnSpLocks/>
          </p:cNvCxnSpPr>
          <p:nvPr/>
        </p:nvCxnSpPr>
        <p:spPr>
          <a:xfrm flipV="1">
            <a:off x="3897309" y="2396390"/>
            <a:ext cx="1002683" cy="648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4803F52-47BC-0F94-D361-409CEAEE1280}"/>
              </a:ext>
            </a:extLst>
          </p:cNvPr>
          <p:cNvSpPr txBox="1"/>
          <p:nvPr/>
        </p:nvSpPr>
        <p:spPr>
          <a:xfrm>
            <a:off x="4812930" y="2088613"/>
            <a:ext cx="1678665" cy="307777"/>
          </a:xfrm>
          <a:prstGeom prst="rect">
            <a:avLst/>
          </a:prstGeom>
          <a:noFill/>
        </p:spPr>
        <p:txBody>
          <a:bodyPr wrap="none" rtlCol="0">
            <a:spAutoFit/>
          </a:bodyPr>
          <a:lstStyle/>
          <a:p>
            <a:r>
              <a:rPr lang="nl-NL" sz="1400" dirty="0"/>
              <a:t>(1x3) . (3,3) = (1,3)</a:t>
            </a:r>
          </a:p>
        </p:txBody>
      </p:sp>
    </p:spTree>
    <p:extLst>
      <p:ext uri="{BB962C8B-B14F-4D97-AF65-F5344CB8AC3E}">
        <p14:creationId xmlns:p14="http://schemas.microsoft.com/office/powerpoint/2010/main" val="828899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96FDAB-D345-4D4C-9864-25000301C751}"/>
              </a:ext>
            </a:extLst>
          </p:cNvPr>
          <p:cNvSpPr>
            <a:spLocks noGrp="1"/>
          </p:cNvSpPr>
          <p:nvPr>
            <p:ph type="sldNum" sz="quarter" idx="12"/>
          </p:nvPr>
        </p:nvSpPr>
        <p:spPr/>
        <p:txBody>
          <a:bodyPr/>
          <a:lstStyle/>
          <a:p>
            <a:fld id="{D270EDC2-4F5E-5547-954F-5222C286AC2A}" type="slidenum">
              <a:rPr lang="nl-NL" smtClean="0"/>
              <a:t>25</a:t>
            </a:fld>
            <a:endParaRPr lang="nl-NL" dirty="0"/>
          </a:p>
        </p:txBody>
      </p:sp>
      <p:sp>
        <p:nvSpPr>
          <p:cNvPr id="2" name="Title 1">
            <a:extLst>
              <a:ext uri="{FF2B5EF4-FFF2-40B4-BE49-F238E27FC236}">
                <a16:creationId xmlns:a16="http://schemas.microsoft.com/office/drawing/2014/main" id="{B3DC8CDC-A996-854D-8E2A-4998944D8FC8}"/>
              </a:ext>
            </a:extLst>
          </p:cNvPr>
          <p:cNvSpPr>
            <a:spLocks noGrp="1"/>
          </p:cNvSpPr>
          <p:nvPr>
            <p:ph type="title"/>
          </p:nvPr>
        </p:nvSpPr>
        <p:spPr/>
        <p:txBody>
          <a:bodyPr/>
          <a:lstStyle/>
          <a:p>
            <a:r>
              <a:rPr lang="nl-NL" dirty="0"/>
              <a:t>Matrices hervormen en samenvoegen</a:t>
            </a:r>
          </a:p>
        </p:txBody>
      </p:sp>
      <p:sp>
        <p:nvSpPr>
          <p:cNvPr id="5" name="Rectangle 4">
            <a:extLst>
              <a:ext uri="{FF2B5EF4-FFF2-40B4-BE49-F238E27FC236}">
                <a16:creationId xmlns:a16="http://schemas.microsoft.com/office/drawing/2014/main" id="{F544482C-B321-734A-835B-C499EF6BFBFD}"/>
              </a:ext>
            </a:extLst>
          </p:cNvPr>
          <p:cNvSpPr/>
          <p:nvPr/>
        </p:nvSpPr>
        <p:spPr>
          <a:xfrm>
            <a:off x="1510748" y="3129528"/>
            <a:ext cx="4585252" cy="1600438"/>
          </a:xfrm>
          <a:prstGeom prst="rect">
            <a:avLst/>
          </a:prstGeom>
          <a:ln>
            <a:solidFill>
              <a:schemeClr val="tx1"/>
            </a:solidFill>
          </a:ln>
        </p:spPr>
        <p:txBody>
          <a:bodyPr wrap="square">
            <a:spAutoFit/>
          </a:bodyPr>
          <a:lstStyle/>
          <a:p>
            <a:r>
              <a:rPr lang="nl-NL" sz="1400" dirty="0"/>
              <a:t>mat_1 = </a:t>
            </a:r>
            <a:r>
              <a:rPr lang="nl-NL" sz="1400" dirty="0" err="1"/>
              <a:t>np.array</a:t>
            </a:r>
            <a:r>
              <a:rPr lang="nl-NL" sz="1400" dirty="0"/>
              <a:t>([</a:t>
            </a:r>
            <a:r>
              <a:rPr lang="nl-NL" sz="1400" dirty="0">
                <a:solidFill>
                  <a:srgbClr val="6897BB"/>
                </a:solidFill>
              </a:rPr>
              <a:t>1</a:t>
            </a:r>
            <a:r>
              <a:rPr lang="nl-NL" sz="1400" dirty="0">
                <a:solidFill>
                  <a:srgbClr val="CC7832"/>
                </a:solidFill>
              </a:rPr>
              <a:t>, </a:t>
            </a:r>
            <a:r>
              <a:rPr lang="nl-NL" sz="1400" dirty="0">
                <a:solidFill>
                  <a:srgbClr val="6897BB"/>
                </a:solidFill>
              </a:rPr>
              <a:t>2</a:t>
            </a:r>
            <a:r>
              <a:rPr lang="nl-NL" sz="1400" dirty="0">
                <a:solidFill>
                  <a:srgbClr val="CC7832"/>
                </a:solidFill>
              </a:rPr>
              <a:t>, </a:t>
            </a:r>
            <a:r>
              <a:rPr lang="nl-NL" sz="1400" dirty="0">
                <a:solidFill>
                  <a:srgbClr val="6897BB"/>
                </a:solidFill>
              </a:rPr>
              <a:t>3</a:t>
            </a:r>
            <a:r>
              <a:rPr lang="nl-NL" sz="1400" dirty="0">
                <a:solidFill>
                  <a:srgbClr val="CC7832"/>
                </a:solidFill>
              </a:rPr>
              <a:t>, </a:t>
            </a:r>
            <a:r>
              <a:rPr lang="nl-NL" sz="1400" dirty="0">
                <a:solidFill>
                  <a:srgbClr val="6897BB"/>
                </a:solidFill>
              </a:rPr>
              <a:t>4</a:t>
            </a:r>
            <a:r>
              <a:rPr lang="nl-NL" sz="1400" dirty="0">
                <a:solidFill>
                  <a:srgbClr val="CC7832"/>
                </a:solidFill>
              </a:rPr>
              <a:t>, </a:t>
            </a:r>
            <a:r>
              <a:rPr lang="nl-NL" sz="1400" dirty="0">
                <a:solidFill>
                  <a:srgbClr val="6897BB"/>
                </a:solidFill>
              </a:rPr>
              <a:t>5</a:t>
            </a:r>
            <a:r>
              <a:rPr lang="nl-NL" sz="1400" dirty="0">
                <a:solidFill>
                  <a:srgbClr val="CC7832"/>
                </a:solidFill>
              </a:rPr>
              <a:t>, </a:t>
            </a:r>
            <a:r>
              <a:rPr lang="nl-NL" sz="1400" dirty="0">
                <a:solidFill>
                  <a:srgbClr val="6897BB"/>
                </a:solidFill>
              </a:rPr>
              <a:t>6</a:t>
            </a:r>
            <a:r>
              <a:rPr lang="nl-NL" sz="1400" dirty="0"/>
              <a:t>])</a:t>
            </a:r>
            <a:br>
              <a:rPr lang="nl-NL" sz="1400" dirty="0"/>
            </a:br>
            <a:r>
              <a:rPr lang="nl-NL" sz="1400" dirty="0"/>
              <a:t>mat_2 = </a:t>
            </a:r>
            <a:r>
              <a:rPr lang="nl-NL" sz="1400" dirty="0" err="1"/>
              <a:t>np.array</a:t>
            </a:r>
            <a:r>
              <a:rPr lang="nl-NL" sz="1400" dirty="0"/>
              <a:t>([</a:t>
            </a:r>
            <a:r>
              <a:rPr lang="nl-NL" sz="1400" dirty="0">
                <a:solidFill>
                  <a:srgbClr val="6897BB"/>
                </a:solidFill>
              </a:rPr>
              <a:t>7</a:t>
            </a:r>
            <a:r>
              <a:rPr lang="nl-NL" sz="1400" dirty="0">
                <a:solidFill>
                  <a:srgbClr val="CC7832"/>
                </a:solidFill>
              </a:rPr>
              <a:t>, </a:t>
            </a:r>
            <a:r>
              <a:rPr lang="nl-NL" sz="1400" dirty="0">
                <a:solidFill>
                  <a:srgbClr val="6897BB"/>
                </a:solidFill>
              </a:rPr>
              <a:t>8</a:t>
            </a:r>
            <a:r>
              <a:rPr lang="nl-NL" sz="1400" dirty="0">
                <a:solidFill>
                  <a:srgbClr val="CC7832"/>
                </a:solidFill>
              </a:rPr>
              <a:t>, </a:t>
            </a:r>
            <a:r>
              <a:rPr lang="nl-NL" sz="1400" dirty="0">
                <a:solidFill>
                  <a:srgbClr val="6897BB"/>
                </a:solidFill>
              </a:rPr>
              <a:t>9</a:t>
            </a:r>
            <a:r>
              <a:rPr lang="nl-NL" sz="1400" dirty="0">
                <a:solidFill>
                  <a:srgbClr val="CC7832"/>
                </a:solidFill>
              </a:rPr>
              <a:t>, </a:t>
            </a:r>
            <a:r>
              <a:rPr lang="nl-NL" sz="1400" dirty="0">
                <a:solidFill>
                  <a:srgbClr val="6897BB"/>
                </a:solidFill>
              </a:rPr>
              <a:t>10</a:t>
            </a:r>
            <a:r>
              <a:rPr lang="nl-NL" sz="1400" dirty="0">
                <a:solidFill>
                  <a:srgbClr val="CC7832"/>
                </a:solidFill>
              </a:rPr>
              <a:t>, </a:t>
            </a:r>
            <a:r>
              <a:rPr lang="nl-NL" sz="1400" dirty="0">
                <a:solidFill>
                  <a:srgbClr val="6897BB"/>
                </a:solidFill>
              </a:rPr>
              <a:t>11</a:t>
            </a:r>
            <a:r>
              <a:rPr lang="nl-NL" sz="1400" dirty="0">
                <a:solidFill>
                  <a:srgbClr val="CC7832"/>
                </a:solidFill>
              </a:rPr>
              <a:t>, </a:t>
            </a:r>
            <a:r>
              <a:rPr lang="nl-NL" sz="1400" dirty="0">
                <a:solidFill>
                  <a:srgbClr val="6897BB"/>
                </a:solidFill>
              </a:rPr>
              <a:t>12</a:t>
            </a:r>
            <a:r>
              <a:rPr lang="nl-NL" sz="1400" dirty="0"/>
              <a:t>])</a:t>
            </a:r>
            <a:br>
              <a:rPr lang="nl-NL" sz="1400" dirty="0"/>
            </a:br>
            <a:br>
              <a:rPr lang="nl-NL" sz="1400" dirty="0"/>
            </a:br>
            <a:r>
              <a:rPr lang="nl-NL" sz="1400" dirty="0">
                <a:solidFill>
                  <a:srgbClr val="8888C6"/>
                </a:solidFill>
              </a:rPr>
              <a:t>print</a:t>
            </a:r>
            <a:r>
              <a:rPr lang="nl-NL" sz="1400" dirty="0"/>
              <a:t>(</a:t>
            </a:r>
            <a:r>
              <a:rPr lang="nl-NL" sz="1400" dirty="0">
                <a:solidFill>
                  <a:srgbClr val="6A8759"/>
                </a:solidFill>
              </a:rPr>
              <a:t>‘Rij 1 als 1x6 matrix:'</a:t>
            </a:r>
            <a:r>
              <a:rPr lang="nl-NL" sz="1400" dirty="0">
                <a:solidFill>
                  <a:srgbClr val="CC7832"/>
                </a:solidFill>
              </a:rPr>
              <a:t>, </a:t>
            </a:r>
            <a:r>
              <a:rPr lang="nl-NL" sz="1400" dirty="0"/>
              <a:t>mat_1)</a:t>
            </a:r>
            <a:br>
              <a:rPr lang="nl-NL" sz="1400" dirty="0"/>
            </a:br>
            <a:r>
              <a:rPr lang="nl-NL" sz="1400" dirty="0">
                <a:solidFill>
                  <a:srgbClr val="8888C6"/>
                </a:solidFill>
              </a:rPr>
              <a:t>print</a:t>
            </a:r>
            <a:r>
              <a:rPr lang="nl-NL" sz="1400" dirty="0"/>
              <a:t>(</a:t>
            </a:r>
            <a:r>
              <a:rPr lang="nl-NL" sz="1400" dirty="0">
                <a:solidFill>
                  <a:srgbClr val="6A8759"/>
                </a:solidFill>
              </a:rPr>
              <a:t>'Rij 1 als 2x3 matrix:'</a:t>
            </a:r>
            <a:r>
              <a:rPr lang="nl-NL" sz="1400" dirty="0">
                <a:solidFill>
                  <a:srgbClr val="CC7832"/>
                </a:solidFill>
              </a:rPr>
              <a:t>, </a:t>
            </a:r>
            <a:r>
              <a:rPr lang="nl-NL" sz="1400" dirty="0" err="1"/>
              <a:t>np.reshape</a:t>
            </a:r>
            <a:r>
              <a:rPr lang="nl-NL" sz="1400" dirty="0"/>
              <a:t>(mat_1</a:t>
            </a:r>
            <a:r>
              <a:rPr lang="nl-NL" sz="1400" dirty="0">
                <a:solidFill>
                  <a:srgbClr val="CC7832"/>
                </a:solidFill>
              </a:rPr>
              <a:t>, </a:t>
            </a:r>
            <a:r>
              <a:rPr lang="nl-NL" sz="1400" dirty="0"/>
              <a:t>(</a:t>
            </a:r>
            <a:r>
              <a:rPr lang="nl-NL" sz="1400" dirty="0">
                <a:solidFill>
                  <a:srgbClr val="6897BB"/>
                </a:solidFill>
              </a:rPr>
              <a:t>2</a:t>
            </a:r>
            <a:r>
              <a:rPr lang="nl-NL" sz="1400" dirty="0">
                <a:solidFill>
                  <a:srgbClr val="CC7832"/>
                </a:solidFill>
              </a:rPr>
              <a:t>, </a:t>
            </a:r>
            <a:r>
              <a:rPr lang="nl-NL" sz="1400" dirty="0">
                <a:solidFill>
                  <a:srgbClr val="6897BB"/>
                </a:solidFill>
              </a:rPr>
              <a:t>3</a:t>
            </a:r>
            <a:r>
              <a:rPr lang="nl-NL" sz="1400" dirty="0"/>
              <a:t>)))</a:t>
            </a:r>
          </a:p>
          <a:p>
            <a:endParaRPr lang="nl-NL" sz="1400" dirty="0">
              <a:solidFill>
                <a:srgbClr val="8888C6"/>
              </a:solidFill>
            </a:endParaRPr>
          </a:p>
          <a:p>
            <a:r>
              <a:rPr lang="nl-NL" sz="1400" dirty="0">
                <a:solidFill>
                  <a:srgbClr val="8888C6"/>
                </a:solidFill>
              </a:rPr>
              <a:t>print</a:t>
            </a:r>
            <a:r>
              <a:rPr lang="nl-NL" sz="1400" dirty="0"/>
              <a:t>(</a:t>
            </a:r>
            <a:r>
              <a:rPr lang="nl-NL" sz="1400" dirty="0">
                <a:solidFill>
                  <a:srgbClr val="6A8759"/>
                </a:solidFill>
              </a:rPr>
              <a:t>'Rij 1 als 3x2 matrix:'</a:t>
            </a:r>
            <a:r>
              <a:rPr lang="nl-NL" sz="1400" dirty="0">
                <a:solidFill>
                  <a:srgbClr val="CC7832"/>
                </a:solidFill>
              </a:rPr>
              <a:t>, </a:t>
            </a:r>
            <a:r>
              <a:rPr lang="nl-NL" sz="1400" dirty="0" err="1"/>
              <a:t>np.reshape</a:t>
            </a:r>
            <a:r>
              <a:rPr lang="nl-NL" sz="1400" dirty="0"/>
              <a:t>(mat_1</a:t>
            </a:r>
            <a:r>
              <a:rPr lang="nl-NL" sz="1400" dirty="0">
                <a:solidFill>
                  <a:srgbClr val="CC7832"/>
                </a:solidFill>
              </a:rPr>
              <a:t>, </a:t>
            </a:r>
            <a:r>
              <a:rPr lang="nl-NL" sz="1400" dirty="0"/>
              <a:t>(</a:t>
            </a:r>
            <a:r>
              <a:rPr lang="nl-NL" sz="1400" dirty="0">
                <a:solidFill>
                  <a:srgbClr val="6897BB"/>
                </a:solidFill>
              </a:rPr>
              <a:t>3</a:t>
            </a:r>
            <a:r>
              <a:rPr lang="nl-NL" sz="1400" dirty="0">
                <a:solidFill>
                  <a:srgbClr val="CC7832"/>
                </a:solidFill>
              </a:rPr>
              <a:t>, </a:t>
            </a:r>
            <a:r>
              <a:rPr lang="nl-NL" sz="1400" dirty="0">
                <a:solidFill>
                  <a:srgbClr val="6897BB"/>
                </a:solidFill>
              </a:rPr>
              <a:t>2</a:t>
            </a:r>
            <a:r>
              <a:rPr lang="nl-NL" sz="1400" dirty="0"/>
              <a:t>)))</a:t>
            </a:r>
          </a:p>
        </p:txBody>
      </p:sp>
      <p:sp>
        <p:nvSpPr>
          <p:cNvPr id="6" name="Rectangle 5">
            <a:extLst>
              <a:ext uri="{FF2B5EF4-FFF2-40B4-BE49-F238E27FC236}">
                <a16:creationId xmlns:a16="http://schemas.microsoft.com/office/drawing/2014/main" id="{5117B60A-F18B-8E4A-A48B-1B2887C59034}"/>
              </a:ext>
            </a:extLst>
          </p:cNvPr>
          <p:cNvSpPr/>
          <p:nvPr/>
        </p:nvSpPr>
        <p:spPr>
          <a:xfrm>
            <a:off x="6571421" y="3129528"/>
            <a:ext cx="3546614" cy="2031325"/>
          </a:xfrm>
          <a:prstGeom prst="rect">
            <a:avLst/>
          </a:prstGeom>
          <a:ln>
            <a:solidFill>
              <a:schemeClr val="tx1"/>
            </a:solidFill>
          </a:ln>
        </p:spPr>
        <p:txBody>
          <a:bodyPr wrap="square">
            <a:spAutoFit/>
          </a:bodyPr>
          <a:lstStyle/>
          <a:p>
            <a:endParaRPr lang="nl-NL" sz="1400" dirty="0"/>
          </a:p>
          <a:p>
            <a:endParaRPr lang="nl-NL" sz="1400" dirty="0"/>
          </a:p>
          <a:p>
            <a:endParaRPr lang="nl-NL" sz="1400" dirty="0"/>
          </a:p>
          <a:p>
            <a:r>
              <a:rPr lang="nl-NL" sz="1400" dirty="0"/>
              <a:t>Rij 1 als 1x6 matrix: [1 2 3 4 5 6]</a:t>
            </a:r>
          </a:p>
          <a:p>
            <a:r>
              <a:rPr lang="nl-NL" sz="1400" dirty="0"/>
              <a:t>Rij 1 als 2x3 matrix: [[1 2 3]</a:t>
            </a:r>
          </a:p>
          <a:p>
            <a:r>
              <a:rPr lang="nl-NL" sz="1400" dirty="0"/>
              <a:t> [4 5 6]]</a:t>
            </a:r>
          </a:p>
          <a:p>
            <a:r>
              <a:rPr lang="nl-NL" sz="1400" dirty="0"/>
              <a:t>Rij 1 als 3x2 matrix: [[1 2]</a:t>
            </a:r>
          </a:p>
          <a:p>
            <a:r>
              <a:rPr lang="nl-NL" sz="1400" dirty="0"/>
              <a:t> [3 4]</a:t>
            </a:r>
          </a:p>
          <a:p>
            <a:r>
              <a:rPr lang="nl-NL" sz="1400" dirty="0"/>
              <a:t> [5 6]]</a:t>
            </a:r>
          </a:p>
        </p:txBody>
      </p:sp>
      <p:sp>
        <p:nvSpPr>
          <p:cNvPr id="9" name="TextBox 8">
            <a:extLst>
              <a:ext uri="{FF2B5EF4-FFF2-40B4-BE49-F238E27FC236}">
                <a16:creationId xmlns:a16="http://schemas.microsoft.com/office/drawing/2014/main" id="{7513B226-A3F1-AA47-B421-50200468904A}"/>
              </a:ext>
            </a:extLst>
          </p:cNvPr>
          <p:cNvSpPr txBox="1"/>
          <p:nvPr/>
        </p:nvSpPr>
        <p:spPr>
          <a:xfrm>
            <a:off x="6571421" y="2760196"/>
            <a:ext cx="1300732" cy="369332"/>
          </a:xfrm>
          <a:prstGeom prst="rect">
            <a:avLst/>
          </a:prstGeom>
          <a:noFill/>
        </p:spPr>
        <p:txBody>
          <a:bodyPr wrap="square" rtlCol="0">
            <a:spAutoFit/>
          </a:bodyPr>
          <a:lstStyle/>
          <a:p>
            <a:r>
              <a:rPr lang="nl-NL" dirty="0"/>
              <a:t>Output:</a:t>
            </a:r>
          </a:p>
        </p:txBody>
      </p:sp>
      <p:sp>
        <p:nvSpPr>
          <p:cNvPr id="10" name="TextBox 9">
            <a:extLst>
              <a:ext uri="{FF2B5EF4-FFF2-40B4-BE49-F238E27FC236}">
                <a16:creationId xmlns:a16="http://schemas.microsoft.com/office/drawing/2014/main" id="{54E69C3D-CAEC-B54D-9882-F49E4FABCA37}"/>
              </a:ext>
            </a:extLst>
          </p:cNvPr>
          <p:cNvSpPr txBox="1"/>
          <p:nvPr/>
        </p:nvSpPr>
        <p:spPr>
          <a:xfrm>
            <a:off x="1510748" y="2760196"/>
            <a:ext cx="1194881" cy="369332"/>
          </a:xfrm>
          <a:prstGeom prst="rect">
            <a:avLst/>
          </a:prstGeom>
          <a:noFill/>
        </p:spPr>
        <p:txBody>
          <a:bodyPr wrap="square" rtlCol="0">
            <a:spAutoFit/>
          </a:bodyPr>
          <a:lstStyle/>
          <a:p>
            <a:r>
              <a:rPr lang="nl-NL" dirty="0"/>
              <a:t>Code:</a:t>
            </a:r>
          </a:p>
        </p:txBody>
      </p:sp>
      <p:cxnSp>
        <p:nvCxnSpPr>
          <p:cNvPr id="11" name="Straight Arrow Connector 10">
            <a:extLst>
              <a:ext uri="{FF2B5EF4-FFF2-40B4-BE49-F238E27FC236}">
                <a16:creationId xmlns:a16="http://schemas.microsoft.com/office/drawing/2014/main" id="{0181128A-A69C-574A-8264-3299513F920D}"/>
              </a:ext>
            </a:extLst>
          </p:cNvPr>
          <p:cNvCxnSpPr>
            <a:cxnSpLocks/>
          </p:cNvCxnSpPr>
          <p:nvPr/>
        </p:nvCxnSpPr>
        <p:spPr>
          <a:xfrm flipV="1">
            <a:off x="4541389" y="2594774"/>
            <a:ext cx="1079191" cy="13349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8405E7A-A9C8-9943-8F5B-0560A8149378}"/>
              </a:ext>
            </a:extLst>
          </p:cNvPr>
          <p:cNvSpPr txBox="1"/>
          <p:nvPr/>
        </p:nvSpPr>
        <p:spPr>
          <a:xfrm>
            <a:off x="4689472" y="1856110"/>
            <a:ext cx="3016807" cy="738664"/>
          </a:xfrm>
          <a:prstGeom prst="rect">
            <a:avLst/>
          </a:prstGeom>
          <a:noFill/>
        </p:spPr>
        <p:txBody>
          <a:bodyPr wrap="square" rtlCol="0">
            <a:spAutoFit/>
          </a:bodyPr>
          <a:lstStyle/>
          <a:p>
            <a:r>
              <a:rPr lang="nl-NL" sz="1400" dirty="0"/>
              <a:t>Aanpassen van de vorm van de matrix van 1x6 naar 2x3 – de vorm wordt als </a:t>
            </a:r>
            <a:r>
              <a:rPr lang="nl-NL" sz="1400" dirty="0" err="1"/>
              <a:t>tuple</a:t>
            </a:r>
            <a:r>
              <a:rPr lang="nl-NL" sz="1400" dirty="0"/>
              <a:t> meegegeven</a:t>
            </a:r>
          </a:p>
        </p:txBody>
      </p:sp>
    </p:spTree>
    <p:extLst>
      <p:ext uri="{BB962C8B-B14F-4D97-AF65-F5344CB8AC3E}">
        <p14:creationId xmlns:p14="http://schemas.microsoft.com/office/powerpoint/2010/main" val="2361652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96FDAB-D345-4D4C-9864-25000301C751}"/>
              </a:ext>
            </a:extLst>
          </p:cNvPr>
          <p:cNvSpPr>
            <a:spLocks noGrp="1"/>
          </p:cNvSpPr>
          <p:nvPr>
            <p:ph type="sldNum" sz="quarter" idx="12"/>
          </p:nvPr>
        </p:nvSpPr>
        <p:spPr/>
        <p:txBody>
          <a:bodyPr/>
          <a:lstStyle/>
          <a:p>
            <a:fld id="{D270EDC2-4F5E-5547-954F-5222C286AC2A}" type="slidenum">
              <a:rPr lang="nl-NL" smtClean="0"/>
              <a:t>26</a:t>
            </a:fld>
            <a:endParaRPr lang="nl-NL" dirty="0"/>
          </a:p>
        </p:txBody>
      </p:sp>
      <p:sp>
        <p:nvSpPr>
          <p:cNvPr id="2" name="Title 1">
            <a:extLst>
              <a:ext uri="{FF2B5EF4-FFF2-40B4-BE49-F238E27FC236}">
                <a16:creationId xmlns:a16="http://schemas.microsoft.com/office/drawing/2014/main" id="{B3DC8CDC-A996-854D-8E2A-4998944D8FC8}"/>
              </a:ext>
            </a:extLst>
          </p:cNvPr>
          <p:cNvSpPr>
            <a:spLocks noGrp="1"/>
          </p:cNvSpPr>
          <p:nvPr>
            <p:ph type="title"/>
          </p:nvPr>
        </p:nvSpPr>
        <p:spPr/>
        <p:txBody>
          <a:bodyPr/>
          <a:lstStyle/>
          <a:p>
            <a:r>
              <a:rPr lang="nl-NL" dirty="0"/>
              <a:t>Matrices hervormen en samenvoegen</a:t>
            </a:r>
          </a:p>
        </p:txBody>
      </p:sp>
      <p:sp>
        <p:nvSpPr>
          <p:cNvPr id="9" name="TextBox 8">
            <a:extLst>
              <a:ext uri="{FF2B5EF4-FFF2-40B4-BE49-F238E27FC236}">
                <a16:creationId xmlns:a16="http://schemas.microsoft.com/office/drawing/2014/main" id="{4F9F8CA6-8DE8-3F49-B63F-19EDA7592011}"/>
              </a:ext>
            </a:extLst>
          </p:cNvPr>
          <p:cNvSpPr txBox="1"/>
          <p:nvPr/>
        </p:nvSpPr>
        <p:spPr>
          <a:xfrm>
            <a:off x="681644" y="3790427"/>
            <a:ext cx="1073739" cy="369332"/>
          </a:xfrm>
          <a:prstGeom prst="rect">
            <a:avLst/>
          </a:prstGeom>
          <a:noFill/>
        </p:spPr>
        <p:txBody>
          <a:bodyPr wrap="square" rtlCol="0">
            <a:spAutoFit/>
          </a:bodyPr>
          <a:lstStyle/>
          <a:p>
            <a:r>
              <a:rPr lang="nl-NL" dirty="0"/>
              <a:t>Output:</a:t>
            </a:r>
          </a:p>
        </p:txBody>
      </p:sp>
      <p:sp>
        <p:nvSpPr>
          <p:cNvPr id="10" name="TextBox 9">
            <a:extLst>
              <a:ext uri="{FF2B5EF4-FFF2-40B4-BE49-F238E27FC236}">
                <a16:creationId xmlns:a16="http://schemas.microsoft.com/office/drawing/2014/main" id="{3B80E2C4-246D-AC46-87FB-0B43F9827F89}"/>
              </a:ext>
            </a:extLst>
          </p:cNvPr>
          <p:cNvSpPr txBox="1"/>
          <p:nvPr/>
        </p:nvSpPr>
        <p:spPr>
          <a:xfrm>
            <a:off x="856952" y="1661885"/>
            <a:ext cx="918840" cy="369332"/>
          </a:xfrm>
          <a:prstGeom prst="rect">
            <a:avLst/>
          </a:prstGeom>
          <a:noFill/>
        </p:spPr>
        <p:txBody>
          <a:bodyPr wrap="square" rtlCol="0">
            <a:spAutoFit/>
          </a:bodyPr>
          <a:lstStyle/>
          <a:p>
            <a:r>
              <a:rPr lang="nl-NL" dirty="0"/>
              <a:t>Code:</a:t>
            </a:r>
          </a:p>
        </p:txBody>
      </p:sp>
      <p:sp>
        <p:nvSpPr>
          <p:cNvPr id="3" name="Rectangle 2">
            <a:extLst>
              <a:ext uri="{FF2B5EF4-FFF2-40B4-BE49-F238E27FC236}">
                <a16:creationId xmlns:a16="http://schemas.microsoft.com/office/drawing/2014/main" id="{3F4FF9F5-41CC-4B4C-A4FC-328F8ACC5A87}"/>
              </a:ext>
            </a:extLst>
          </p:cNvPr>
          <p:cNvSpPr/>
          <p:nvPr/>
        </p:nvSpPr>
        <p:spPr>
          <a:xfrm>
            <a:off x="1777449" y="1661885"/>
            <a:ext cx="8638761" cy="1384995"/>
          </a:xfrm>
          <a:prstGeom prst="rect">
            <a:avLst/>
          </a:prstGeom>
          <a:ln>
            <a:solidFill>
              <a:schemeClr val="tx1"/>
            </a:solidFill>
          </a:ln>
        </p:spPr>
        <p:txBody>
          <a:bodyPr wrap="square">
            <a:spAutoFit/>
          </a:bodyPr>
          <a:lstStyle/>
          <a:p>
            <a:r>
              <a:rPr lang="nl-NL" sz="1400" dirty="0"/>
              <a:t>mat_1_2x3 = </a:t>
            </a:r>
            <a:r>
              <a:rPr lang="nl-NL" sz="1400" dirty="0" err="1"/>
              <a:t>np.reshape</a:t>
            </a:r>
            <a:r>
              <a:rPr lang="nl-NL" sz="1400" dirty="0"/>
              <a:t>(mat_1</a:t>
            </a:r>
            <a:r>
              <a:rPr lang="nl-NL" sz="1400" dirty="0">
                <a:solidFill>
                  <a:srgbClr val="CC7832"/>
                </a:solidFill>
              </a:rPr>
              <a:t>, </a:t>
            </a:r>
            <a:r>
              <a:rPr lang="nl-NL" sz="1400" dirty="0"/>
              <a:t>(</a:t>
            </a:r>
            <a:r>
              <a:rPr lang="nl-NL" sz="1400" dirty="0">
                <a:solidFill>
                  <a:srgbClr val="6897BB"/>
                </a:solidFill>
              </a:rPr>
              <a:t>2</a:t>
            </a:r>
            <a:r>
              <a:rPr lang="nl-NL" sz="1400" dirty="0">
                <a:solidFill>
                  <a:srgbClr val="CC7832"/>
                </a:solidFill>
              </a:rPr>
              <a:t>, </a:t>
            </a:r>
            <a:r>
              <a:rPr lang="nl-NL" sz="1400" dirty="0">
                <a:solidFill>
                  <a:srgbClr val="6897BB"/>
                </a:solidFill>
              </a:rPr>
              <a:t>3</a:t>
            </a:r>
            <a:r>
              <a:rPr lang="nl-NL" sz="1400" dirty="0"/>
              <a:t>))</a:t>
            </a:r>
            <a:br>
              <a:rPr lang="nl-NL" sz="1400" dirty="0"/>
            </a:br>
            <a:r>
              <a:rPr lang="nl-NL" sz="1400" dirty="0"/>
              <a:t>mat_2_2x3 = </a:t>
            </a:r>
            <a:r>
              <a:rPr lang="nl-NL" sz="1400" dirty="0" err="1"/>
              <a:t>np.reshape</a:t>
            </a:r>
            <a:r>
              <a:rPr lang="nl-NL" sz="1400" dirty="0"/>
              <a:t>(mat_2</a:t>
            </a:r>
            <a:r>
              <a:rPr lang="nl-NL" sz="1400" dirty="0">
                <a:solidFill>
                  <a:srgbClr val="CC7832"/>
                </a:solidFill>
              </a:rPr>
              <a:t>, </a:t>
            </a:r>
            <a:r>
              <a:rPr lang="nl-NL" sz="1400" dirty="0"/>
              <a:t>(</a:t>
            </a:r>
            <a:r>
              <a:rPr lang="nl-NL" sz="1400" dirty="0">
                <a:solidFill>
                  <a:srgbClr val="6897BB"/>
                </a:solidFill>
              </a:rPr>
              <a:t>2</a:t>
            </a:r>
            <a:r>
              <a:rPr lang="nl-NL" sz="1400" dirty="0">
                <a:solidFill>
                  <a:srgbClr val="CC7832"/>
                </a:solidFill>
              </a:rPr>
              <a:t>, </a:t>
            </a:r>
            <a:r>
              <a:rPr lang="nl-NL" sz="1400" dirty="0">
                <a:solidFill>
                  <a:srgbClr val="6897BB"/>
                </a:solidFill>
              </a:rPr>
              <a:t>3</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'Samengevoegd langs de horizontale dimensie:'</a:t>
            </a:r>
            <a:r>
              <a:rPr lang="nl-NL" sz="1400" dirty="0">
                <a:solidFill>
                  <a:srgbClr val="CC7832"/>
                </a:solidFill>
              </a:rPr>
              <a:t>, </a:t>
            </a:r>
            <a:r>
              <a:rPr lang="nl-NL" sz="1400" dirty="0" err="1"/>
              <a:t>np.concatenate</a:t>
            </a:r>
            <a:r>
              <a:rPr lang="nl-NL" sz="1400" dirty="0"/>
              <a:t>((mat_1</a:t>
            </a:r>
            <a:r>
              <a:rPr lang="nl-NL" sz="1400" dirty="0">
                <a:solidFill>
                  <a:srgbClr val="CC7832"/>
                </a:solidFill>
              </a:rPr>
              <a:t>, </a:t>
            </a:r>
            <a:r>
              <a:rPr lang="nl-NL" sz="1400" dirty="0"/>
              <a:t>mat_2)</a:t>
            </a:r>
            <a:r>
              <a:rPr lang="nl-NL" sz="1400" dirty="0">
                <a:solidFill>
                  <a:srgbClr val="CC7832"/>
                </a:solidFill>
              </a:rPr>
              <a:t>, </a:t>
            </a:r>
            <a:r>
              <a:rPr lang="nl-NL" sz="1400" dirty="0" err="1">
                <a:solidFill>
                  <a:srgbClr val="AA4926"/>
                </a:solidFill>
              </a:rPr>
              <a:t>axis</a:t>
            </a:r>
            <a:r>
              <a:rPr lang="nl-NL" sz="1400" dirty="0"/>
              <a:t>=</a:t>
            </a:r>
            <a:r>
              <a:rPr lang="nl-NL" sz="1400" dirty="0">
                <a:solidFill>
                  <a:srgbClr val="6897BB"/>
                </a:solidFill>
              </a:rPr>
              <a:t>0</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'Samengevoegd langs de horizontale/rij dimensie:'</a:t>
            </a:r>
            <a:r>
              <a:rPr lang="nl-NL" sz="1400" dirty="0">
                <a:solidFill>
                  <a:srgbClr val="CC7832"/>
                </a:solidFill>
              </a:rPr>
              <a:t>, </a:t>
            </a:r>
            <a:r>
              <a:rPr lang="nl-NL" sz="1400" dirty="0" err="1"/>
              <a:t>np.concatenate</a:t>
            </a:r>
            <a:r>
              <a:rPr lang="nl-NL" sz="1400" dirty="0"/>
              <a:t>((mat_1_2x3</a:t>
            </a:r>
            <a:r>
              <a:rPr lang="nl-NL" sz="1400" dirty="0">
                <a:solidFill>
                  <a:srgbClr val="CC7832"/>
                </a:solidFill>
              </a:rPr>
              <a:t>, </a:t>
            </a:r>
            <a:r>
              <a:rPr lang="nl-NL" sz="1400" dirty="0"/>
              <a:t>mat_2_2x3)</a:t>
            </a:r>
            <a:r>
              <a:rPr lang="nl-NL" sz="1400" dirty="0">
                <a:solidFill>
                  <a:srgbClr val="CC7832"/>
                </a:solidFill>
              </a:rPr>
              <a:t>, </a:t>
            </a:r>
            <a:r>
              <a:rPr lang="nl-NL" sz="1400" dirty="0" err="1">
                <a:solidFill>
                  <a:srgbClr val="AA4926"/>
                </a:solidFill>
              </a:rPr>
              <a:t>axis</a:t>
            </a:r>
            <a:r>
              <a:rPr lang="nl-NL" sz="1400" dirty="0"/>
              <a:t>=</a:t>
            </a:r>
            <a:r>
              <a:rPr lang="nl-NL" sz="1400" dirty="0">
                <a:solidFill>
                  <a:srgbClr val="6897BB"/>
                </a:solidFill>
              </a:rPr>
              <a:t>0</a:t>
            </a:r>
            <a:r>
              <a:rPr lang="nl-NL" sz="1400" dirty="0"/>
              <a:t>))</a:t>
            </a:r>
          </a:p>
          <a:p>
            <a:r>
              <a:rPr lang="nl-NL" sz="1400" dirty="0">
                <a:solidFill>
                  <a:srgbClr val="8888C6"/>
                </a:solidFill>
              </a:rPr>
              <a:t>print</a:t>
            </a:r>
            <a:r>
              <a:rPr lang="nl-NL" sz="1400" dirty="0"/>
              <a:t>(</a:t>
            </a:r>
            <a:r>
              <a:rPr lang="nl-NL" sz="1400" dirty="0">
                <a:solidFill>
                  <a:srgbClr val="6A8759"/>
                </a:solidFill>
              </a:rPr>
              <a:t>'Samengevoegd langs de verticale/kolom dimensie:'</a:t>
            </a:r>
            <a:r>
              <a:rPr lang="nl-NL" sz="1400" dirty="0">
                <a:solidFill>
                  <a:srgbClr val="CC7832"/>
                </a:solidFill>
              </a:rPr>
              <a:t>, </a:t>
            </a:r>
            <a:r>
              <a:rPr lang="nl-NL" sz="1400" dirty="0" err="1"/>
              <a:t>np.concatenate</a:t>
            </a:r>
            <a:r>
              <a:rPr lang="nl-NL" sz="1400" dirty="0"/>
              <a:t>((mat_1_2x3</a:t>
            </a:r>
            <a:r>
              <a:rPr lang="nl-NL" sz="1400" dirty="0">
                <a:solidFill>
                  <a:srgbClr val="CC7832"/>
                </a:solidFill>
              </a:rPr>
              <a:t>, </a:t>
            </a:r>
            <a:r>
              <a:rPr lang="nl-NL" sz="1400" dirty="0"/>
              <a:t>mat_2_2x3)</a:t>
            </a:r>
            <a:r>
              <a:rPr lang="nl-NL" sz="1400" dirty="0">
                <a:solidFill>
                  <a:srgbClr val="CC7832"/>
                </a:solidFill>
              </a:rPr>
              <a:t>, </a:t>
            </a:r>
            <a:r>
              <a:rPr lang="nl-NL" sz="1400" dirty="0" err="1">
                <a:solidFill>
                  <a:srgbClr val="AA4926"/>
                </a:solidFill>
              </a:rPr>
              <a:t>axis</a:t>
            </a:r>
            <a:r>
              <a:rPr lang="nl-NL" sz="1400" dirty="0"/>
              <a:t>=</a:t>
            </a:r>
            <a:r>
              <a:rPr lang="nl-NL" sz="1400" dirty="0">
                <a:solidFill>
                  <a:srgbClr val="6897BB"/>
                </a:solidFill>
              </a:rPr>
              <a:t>1</a:t>
            </a:r>
            <a:r>
              <a:rPr lang="nl-NL" sz="1400" dirty="0"/>
              <a:t>))</a:t>
            </a:r>
          </a:p>
        </p:txBody>
      </p:sp>
      <p:sp>
        <p:nvSpPr>
          <p:cNvPr id="11" name="Rectangle 10">
            <a:extLst>
              <a:ext uri="{FF2B5EF4-FFF2-40B4-BE49-F238E27FC236}">
                <a16:creationId xmlns:a16="http://schemas.microsoft.com/office/drawing/2014/main" id="{283CB6FF-1230-7941-BED0-5D7FC657A5AD}"/>
              </a:ext>
            </a:extLst>
          </p:cNvPr>
          <p:cNvSpPr/>
          <p:nvPr/>
        </p:nvSpPr>
        <p:spPr>
          <a:xfrm>
            <a:off x="1777449" y="3790427"/>
            <a:ext cx="8638760" cy="1600438"/>
          </a:xfrm>
          <a:prstGeom prst="rect">
            <a:avLst/>
          </a:prstGeom>
          <a:ln>
            <a:solidFill>
              <a:schemeClr val="tx1"/>
            </a:solidFill>
          </a:ln>
        </p:spPr>
        <p:txBody>
          <a:bodyPr wrap="square">
            <a:spAutoFit/>
          </a:bodyPr>
          <a:lstStyle/>
          <a:p>
            <a:r>
              <a:rPr lang="nl-NL" sz="1400" dirty="0"/>
              <a:t>Samengevoegd langs de horizontale dimensie: [ 1  2  3  4  5  6  7  8  9 10 11 12]</a:t>
            </a:r>
          </a:p>
          <a:p>
            <a:r>
              <a:rPr lang="nl-NL" sz="1400" dirty="0"/>
              <a:t>Samengevoegd langs de horizontale/rij dimensie: [[ 1  2  3]</a:t>
            </a:r>
          </a:p>
          <a:p>
            <a:r>
              <a:rPr lang="nl-NL" sz="1400" dirty="0"/>
              <a:t> [ 4  5  6]</a:t>
            </a:r>
          </a:p>
          <a:p>
            <a:r>
              <a:rPr lang="nl-NL" sz="1400" dirty="0"/>
              <a:t> [ 7  8  9]</a:t>
            </a:r>
          </a:p>
          <a:p>
            <a:r>
              <a:rPr lang="nl-NL" sz="1400" dirty="0"/>
              <a:t> [10 11 12]]</a:t>
            </a:r>
          </a:p>
          <a:p>
            <a:r>
              <a:rPr lang="nl-NL" sz="1400" dirty="0"/>
              <a:t>Samengevoegd langs de verticale/kolom dimensie: [[ 1  2  3  7  8  9]</a:t>
            </a:r>
          </a:p>
          <a:p>
            <a:r>
              <a:rPr lang="nl-NL" sz="1400" dirty="0"/>
              <a:t> [ 4  5  6 10 11 12]]</a:t>
            </a:r>
          </a:p>
        </p:txBody>
      </p:sp>
      <p:sp>
        <p:nvSpPr>
          <p:cNvPr id="12" name="Rectangle 11">
            <a:extLst>
              <a:ext uri="{FF2B5EF4-FFF2-40B4-BE49-F238E27FC236}">
                <a16:creationId xmlns:a16="http://schemas.microsoft.com/office/drawing/2014/main" id="{9FE39609-74E6-DF40-A182-C78024584699}"/>
              </a:ext>
            </a:extLst>
          </p:cNvPr>
          <p:cNvSpPr/>
          <p:nvPr/>
        </p:nvSpPr>
        <p:spPr>
          <a:xfrm>
            <a:off x="9296399" y="62314"/>
            <a:ext cx="2895601" cy="461665"/>
          </a:xfrm>
          <a:prstGeom prst="rect">
            <a:avLst/>
          </a:prstGeom>
        </p:spPr>
        <p:txBody>
          <a:bodyPr wrap="square">
            <a:spAutoFit/>
          </a:bodyPr>
          <a:lstStyle/>
          <a:p>
            <a:r>
              <a:rPr lang="nl-NL" sz="1200" dirty="0"/>
              <a:t>mat_1 = </a:t>
            </a:r>
            <a:r>
              <a:rPr lang="nl-NL" sz="1200" dirty="0" err="1"/>
              <a:t>np.array</a:t>
            </a:r>
            <a:r>
              <a:rPr lang="nl-NL" sz="1200" dirty="0"/>
              <a:t>([</a:t>
            </a:r>
            <a:r>
              <a:rPr lang="nl-NL" sz="1200" dirty="0">
                <a:solidFill>
                  <a:srgbClr val="6897BB"/>
                </a:solidFill>
              </a:rPr>
              <a:t>1</a:t>
            </a:r>
            <a:r>
              <a:rPr lang="nl-NL" sz="1200" dirty="0">
                <a:solidFill>
                  <a:srgbClr val="CC7832"/>
                </a:solidFill>
              </a:rPr>
              <a:t>, </a:t>
            </a:r>
            <a:r>
              <a:rPr lang="nl-NL" sz="1200" dirty="0">
                <a:solidFill>
                  <a:srgbClr val="6897BB"/>
                </a:solidFill>
              </a:rPr>
              <a:t>2</a:t>
            </a:r>
            <a:r>
              <a:rPr lang="nl-NL" sz="1200" dirty="0">
                <a:solidFill>
                  <a:srgbClr val="CC7832"/>
                </a:solidFill>
              </a:rPr>
              <a:t>, </a:t>
            </a:r>
            <a:r>
              <a:rPr lang="nl-NL" sz="1200" dirty="0">
                <a:solidFill>
                  <a:srgbClr val="6897BB"/>
                </a:solidFill>
              </a:rPr>
              <a:t>3</a:t>
            </a:r>
            <a:r>
              <a:rPr lang="nl-NL" sz="1200" dirty="0">
                <a:solidFill>
                  <a:srgbClr val="CC7832"/>
                </a:solidFill>
              </a:rPr>
              <a:t>, </a:t>
            </a:r>
            <a:r>
              <a:rPr lang="nl-NL" sz="1200" dirty="0">
                <a:solidFill>
                  <a:srgbClr val="6897BB"/>
                </a:solidFill>
              </a:rPr>
              <a:t>4</a:t>
            </a:r>
            <a:r>
              <a:rPr lang="nl-NL" sz="1200" dirty="0">
                <a:solidFill>
                  <a:srgbClr val="CC7832"/>
                </a:solidFill>
              </a:rPr>
              <a:t>, </a:t>
            </a:r>
            <a:r>
              <a:rPr lang="nl-NL" sz="1200" dirty="0">
                <a:solidFill>
                  <a:srgbClr val="6897BB"/>
                </a:solidFill>
              </a:rPr>
              <a:t>5</a:t>
            </a:r>
            <a:r>
              <a:rPr lang="nl-NL" sz="1200" dirty="0">
                <a:solidFill>
                  <a:srgbClr val="CC7832"/>
                </a:solidFill>
              </a:rPr>
              <a:t>, </a:t>
            </a:r>
            <a:r>
              <a:rPr lang="nl-NL" sz="1200" dirty="0">
                <a:solidFill>
                  <a:srgbClr val="6897BB"/>
                </a:solidFill>
              </a:rPr>
              <a:t>6</a:t>
            </a:r>
            <a:r>
              <a:rPr lang="nl-NL" sz="1200" dirty="0"/>
              <a:t>])</a:t>
            </a:r>
            <a:br>
              <a:rPr lang="nl-NL" sz="1200" dirty="0"/>
            </a:br>
            <a:r>
              <a:rPr lang="nl-NL" sz="1200" dirty="0"/>
              <a:t>mat_2 = </a:t>
            </a:r>
            <a:r>
              <a:rPr lang="nl-NL" sz="1200" dirty="0" err="1"/>
              <a:t>np.array</a:t>
            </a:r>
            <a:r>
              <a:rPr lang="nl-NL" sz="1200" dirty="0"/>
              <a:t>([</a:t>
            </a:r>
            <a:r>
              <a:rPr lang="nl-NL" sz="1200" dirty="0">
                <a:solidFill>
                  <a:srgbClr val="6897BB"/>
                </a:solidFill>
              </a:rPr>
              <a:t>7</a:t>
            </a:r>
            <a:r>
              <a:rPr lang="nl-NL" sz="1200" dirty="0">
                <a:solidFill>
                  <a:srgbClr val="CC7832"/>
                </a:solidFill>
              </a:rPr>
              <a:t>, </a:t>
            </a:r>
            <a:r>
              <a:rPr lang="nl-NL" sz="1200" dirty="0">
                <a:solidFill>
                  <a:srgbClr val="6897BB"/>
                </a:solidFill>
              </a:rPr>
              <a:t>8</a:t>
            </a:r>
            <a:r>
              <a:rPr lang="nl-NL" sz="1200" dirty="0">
                <a:solidFill>
                  <a:srgbClr val="CC7832"/>
                </a:solidFill>
              </a:rPr>
              <a:t>, </a:t>
            </a:r>
            <a:r>
              <a:rPr lang="nl-NL" sz="1200" dirty="0">
                <a:solidFill>
                  <a:srgbClr val="6897BB"/>
                </a:solidFill>
              </a:rPr>
              <a:t>9</a:t>
            </a:r>
            <a:r>
              <a:rPr lang="nl-NL" sz="1200" dirty="0">
                <a:solidFill>
                  <a:srgbClr val="CC7832"/>
                </a:solidFill>
              </a:rPr>
              <a:t>, </a:t>
            </a:r>
            <a:r>
              <a:rPr lang="nl-NL" sz="1200" dirty="0">
                <a:solidFill>
                  <a:srgbClr val="6897BB"/>
                </a:solidFill>
              </a:rPr>
              <a:t>10</a:t>
            </a:r>
            <a:r>
              <a:rPr lang="nl-NL" sz="1200" dirty="0">
                <a:solidFill>
                  <a:srgbClr val="CC7832"/>
                </a:solidFill>
              </a:rPr>
              <a:t>, </a:t>
            </a:r>
            <a:r>
              <a:rPr lang="nl-NL" sz="1200" dirty="0">
                <a:solidFill>
                  <a:srgbClr val="6897BB"/>
                </a:solidFill>
              </a:rPr>
              <a:t>11</a:t>
            </a:r>
            <a:r>
              <a:rPr lang="nl-NL" sz="1200" dirty="0">
                <a:solidFill>
                  <a:srgbClr val="CC7832"/>
                </a:solidFill>
              </a:rPr>
              <a:t>, </a:t>
            </a:r>
            <a:r>
              <a:rPr lang="nl-NL" sz="1200" dirty="0">
                <a:solidFill>
                  <a:srgbClr val="6897BB"/>
                </a:solidFill>
              </a:rPr>
              <a:t>12</a:t>
            </a:r>
            <a:r>
              <a:rPr lang="nl-NL" sz="1200" dirty="0"/>
              <a:t>])</a:t>
            </a:r>
          </a:p>
        </p:txBody>
      </p:sp>
    </p:spTree>
    <p:extLst>
      <p:ext uri="{BB962C8B-B14F-4D97-AF65-F5344CB8AC3E}">
        <p14:creationId xmlns:p14="http://schemas.microsoft.com/office/powerpoint/2010/main" val="3322319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CBA8F1-A9C8-FA7E-D73A-63F906B7C9E7}"/>
              </a:ext>
            </a:extLst>
          </p:cNvPr>
          <p:cNvSpPr>
            <a:spLocks noGrp="1"/>
          </p:cNvSpPr>
          <p:nvPr>
            <p:ph idx="1"/>
          </p:nvPr>
        </p:nvSpPr>
        <p:spPr/>
        <p:txBody>
          <a:bodyPr/>
          <a:lstStyle/>
          <a:p>
            <a:r>
              <a:rPr lang="nl-NL" dirty="0"/>
              <a:t>Via de </a:t>
            </a:r>
            <a:r>
              <a:rPr lang="nl-NL" dirty="0" err="1">
                <a:latin typeface="Courier New" panose="02070309020205020404" pitchFamily="49" charset="0"/>
                <a:cs typeface="Courier New" panose="02070309020205020404" pitchFamily="49" charset="0"/>
              </a:rPr>
              <a:t>np.sort</a:t>
            </a:r>
            <a:r>
              <a:rPr lang="nl-NL" dirty="0">
                <a:latin typeface="Courier New" panose="02070309020205020404" pitchFamily="49" charset="0"/>
                <a:cs typeface="Courier New" panose="02070309020205020404" pitchFamily="49" charset="0"/>
              </a:rPr>
              <a:t>()</a:t>
            </a:r>
            <a:r>
              <a:rPr lang="nl-NL" dirty="0"/>
              <a:t> functie (is niet de gewone ingebouwde </a:t>
            </a:r>
            <a:r>
              <a:rPr lang="nl-NL" dirty="0" err="1">
                <a:latin typeface="Courier New" panose="02070309020205020404" pitchFamily="49" charset="0"/>
                <a:cs typeface="Courier New" panose="02070309020205020404" pitchFamily="49" charset="0"/>
              </a:rPr>
              <a:t>sort</a:t>
            </a:r>
            <a:r>
              <a:rPr lang="nl-NL" dirty="0">
                <a:latin typeface="Courier New" panose="02070309020205020404" pitchFamily="49" charset="0"/>
                <a:cs typeface="Courier New" panose="02070309020205020404" pitchFamily="49" charset="0"/>
              </a:rPr>
              <a:t>()</a:t>
            </a:r>
            <a:r>
              <a:rPr lang="nl-NL" dirty="0"/>
              <a:t>-functie)</a:t>
            </a:r>
          </a:p>
          <a:p>
            <a:r>
              <a:rPr lang="nl-NL" dirty="0"/>
              <a:t>Werkt langs de assen:</a:t>
            </a:r>
          </a:p>
          <a:p>
            <a:endParaRPr lang="nl-NL" dirty="0"/>
          </a:p>
        </p:txBody>
      </p:sp>
      <p:sp>
        <p:nvSpPr>
          <p:cNvPr id="3" name="Slide Number Placeholder 2">
            <a:extLst>
              <a:ext uri="{FF2B5EF4-FFF2-40B4-BE49-F238E27FC236}">
                <a16:creationId xmlns:a16="http://schemas.microsoft.com/office/drawing/2014/main" id="{6AD4A826-6B8F-82D3-9890-D597A52F3CE4}"/>
              </a:ext>
            </a:extLst>
          </p:cNvPr>
          <p:cNvSpPr>
            <a:spLocks noGrp="1"/>
          </p:cNvSpPr>
          <p:nvPr>
            <p:ph type="sldNum" sz="quarter" idx="12"/>
          </p:nvPr>
        </p:nvSpPr>
        <p:spPr/>
        <p:txBody>
          <a:bodyPr/>
          <a:lstStyle/>
          <a:p>
            <a:fld id="{D270EDC2-4F5E-5547-954F-5222C286AC2A}" type="slidenum">
              <a:rPr lang="nl-NL" smtClean="0"/>
              <a:t>27</a:t>
            </a:fld>
            <a:endParaRPr lang="nl-NL" dirty="0"/>
          </a:p>
        </p:txBody>
      </p:sp>
      <p:sp>
        <p:nvSpPr>
          <p:cNvPr id="4" name="Title 3">
            <a:extLst>
              <a:ext uri="{FF2B5EF4-FFF2-40B4-BE49-F238E27FC236}">
                <a16:creationId xmlns:a16="http://schemas.microsoft.com/office/drawing/2014/main" id="{6A9DE8DF-EC96-E71A-67B7-A91AF1122373}"/>
              </a:ext>
            </a:extLst>
          </p:cNvPr>
          <p:cNvSpPr>
            <a:spLocks noGrp="1"/>
          </p:cNvSpPr>
          <p:nvPr>
            <p:ph type="title"/>
          </p:nvPr>
        </p:nvSpPr>
        <p:spPr/>
        <p:txBody>
          <a:bodyPr/>
          <a:lstStyle/>
          <a:p>
            <a:r>
              <a:rPr lang="nl-NL" dirty="0"/>
              <a:t>Sorteren</a:t>
            </a:r>
          </a:p>
        </p:txBody>
      </p:sp>
      <p:sp>
        <p:nvSpPr>
          <p:cNvPr id="5" name="Rectangle 1">
            <a:extLst>
              <a:ext uri="{FF2B5EF4-FFF2-40B4-BE49-F238E27FC236}">
                <a16:creationId xmlns:a16="http://schemas.microsoft.com/office/drawing/2014/main" id="{2AA4EE16-319A-AF87-2FB6-432F6A0509F9}"/>
              </a:ext>
            </a:extLst>
          </p:cNvPr>
          <p:cNvSpPr>
            <a:spLocks noChangeArrowheads="1"/>
          </p:cNvSpPr>
          <p:nvPr/>
        </p:nvSpPr>
        <p:spPr bwMode="auto">
          <a:xfrm>
            <a:off x="598047" y="3190551"/>
            <a:ext cx="4438902" cy="267765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80808"/>
                </a:solidFill>
                <a:effectLst/>
                <a:latin typeface="JetBrains Mono"/>
              </a:rPr>
              <a:t>mat_1 = </a:t>
            </a:r>
            <a:r>
              <a:rPr kumimoji="0" lang="nl-NL" sz="1400" b="0" i="0" u="none" strike="noStrike" cap="none" normalizeH="0" baseline="0" dirty="0" err="1">
                <a:ln>
                  <a:noFill/>
                </a:ln>
                <a:solidFill>
                  <a:srgbClr val="080808"/>
                </a:solidFill>
                <a:effectLst/>
                <a:latin typeface="JetBrains Mono"/>
              </a:rPr>
              <a:t>np.array</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4</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8</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9</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8</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7</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7</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arr1 = </a:t>
            </a:r>
            <a:r>
              <a:rPr kumimoji="0" lang="nl-NL" sz="1400" b="0" i="0" u="none" strike="noStrike" cap="none" normalizeH="0" baseline="0" dirty="0" err="1">
                <a:ln>
                  <a:noFill/>
                </a:ln>
                <a:solidFill>
                  <a:srgbClr val="080808"/>
                </a:solidFill>
                <a:effectLst/>
                <a:latin typeface="JetBrains Mono"/>
              </a:rPr>
              <a:t>np.sort</a:t>
            </a:r>
            <a:r>
              <a:rPr kumimoji="0" lang="nl-NL" sz="1400" b="0" i="0" u="none" strike="noStrike" cap="none" normalizeH="0" baseline="0" dirty="0">
                <a:ln>
                  <a:noFill/>
                </a:ln>
                <a:solidFill>
                  <a:srgbClr val="080808"/>
                </a:solidFill>
                <a:effectLst/>
                <a:latin typeface="JetBrains Mono"/>
              </a:rPr>
              <a:t>(mat_1, </a:t>
            </a:r>
            <a:r>
              <a:rPr kumimoji="0" lang="nl-NL" sz="1400" b="0" i="0" u="none" strike="noStrike" cap="none" normalizeH="0" baseline="0" dirty="0" err="1">
                <a:ln>
                  <a:noFill/>
                </a:ln>
                <a:solidFill>
                  <a:srgbClr val="660099"/>
                </a:solidFill>
                <a:effectLst/>
                <a:latin typeface="JetBrains Mono"/>
              </a:rPr>
              <a:t>axis</a:t>
            </a:r>
            <a:r>
              <a:rPr kumimoji="0" lang="nl-NL" sz="1400" b="0" i="0" u="none" strike="noStrike" cap="none" normalizeH="0" baseline="0" dirty="0">
                <a:ln>
                  <a:noFill/>
                </a:ln>
                <a:solidFill>
                  <a:srgbClr val="660099"/>
                </a:solidFill>
                <a:effectLst/>
                <a:latin typeface="JetBrains Mono"/>
              </a:rPr>
              <a:t> </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0</a:t>
            </a:r>
            <a:r>
              <a:rPr kumimoji="0" lang="nl-NL" sz="1400" b="0" i="0" u="none" strike="noStrike" cap="none" normalizeH="0" baseline="0" dirty="0">
                <a:ln>
                  <a:noFill/>
                </a:ln>
                <a:solidFill>
                  <a:srgbClr val="080808"/>
                </a:solidFill>
                <a:effectLst/>
                <a:latin typeface="JetBrains Mono"/>
              </a:rPr>
              <a:t>)   </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'Gesorteerd langs de rijen (per kolom):'</a:t>
            </a:r>
            <a:r>
              <a:rPr kumimoji="0" lang="nl-NL" sz="1400" b="0" i="0" u="none" strike="noStrike" cap="none" normalizeH="0" baseline="0" dirty="0">
                <a:ln>
                  <a:noFill/>
                </a:ln>
                <a:solidFill>
                  <a:srgbClr val="080808"/>
                </a:solidFill>
                <a:effectLst/>
                <a:latin typeface="JetBrains Mono"/>
              </a:rPr>
              <a:t>, arr1)</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arr2 = </a:t>
            </a:r>
            <a:r>
              <a:rPr kumimoji="0" lang="nl-NL" sz="1400" b="0" i="0" u="none" strike="noStrike" cap="none" normalizeH="0" baseline="0" dirty="0" err="1">
                <a:ln>
                  <a:noFill/>
                </a:ln>
                <a:solidFill>
                  <a:srgbClr val="080808"/>
                </a:solidFill>
                <a:effectLst/>
                <a:latin typeface="JetBrains Mono"/>
              </a:rPr>
              <a:t>np.sort</a:t>
            </a:r>
            <a:r>
              <a:rPr kumimoji="0" lang="nl-NL" sz="1400" b="0" i="0" u="none" strike="noStrike" cap="none" normalizeH="0" baseline="0" dirty="0">
                <a:ln>
                  <a:noFill/>
                </a:ln>
                <a:solidFill>
                  <a:srgbClr val="080808"/>
                </a:solidFill>
                <a:effectLst/>
                <a:latin typeface="JetBrains Mono"/>
              </a:rPr>
              <a:t>(mat_1, </a:t>
            </a:r>
            <a:r>
              <a:rPr kumimoji="0" lang="nl-NL" sz="1400" b="0" i="0" u="none" strike="noStrike" cap="none" normalizeH="0" baseline="0" dirty="0" err="1">
                <a:ln>
                  <a:noFill/>
                </a:ln>
                <a:solidFill>
                  <a:srgbClr val="660099"/>
                </a:solidFill>
                <a:effectLst/>
                <a:latin typeface="JetBrains Mono"/>
              </a:rPr>
              <a:t>axis</a:t>
            </a:r>
            <a:r>
              <a:rPr kumimoji="0" lang="nl-NL" sz="1400" b="0" i="0" u="none" strike="noStrike" cap="none" normalizeH="0" baseline="0" dirty="0">
                <a:ln>
                  <a:noFill/>
                </a:ln>
                <a:solidFill>
                  <a:srgbClr val="660099"/>
                </a:solidFill>
                <a:effectLst/>
                <a:latin typeface="JetBrains Mono"/>
              </a:rPr>
              <a:t> </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a:t>
            </a:r>
            <a:r>
              <a:rPr kumimoji="0" lang="nl-NL" sz="1400" b="0" i="0" u="none" strike="noStrike" cap="none" normalizeH="0" baseline="0" dirty="0">
                <a:ln>
                  <a:noFill/>
                </a:ln>
                <a:solidFill>
                  <a:srgbClr val="080808"/>
                </a:solidFill>
                <a:effectLst/>
                <a:latin typeface="JetBrains Mono"/>
              </a:rPr>
              <a:t>)   </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'Gesorteerd langs de kolommen (per rij):'</a:t>
            </a:r>
            <a:r>
              <a:rPr kumimoji="0" lang="nl-NL" sz="1400" b="0" i="0" u="none" strike="noStrike" cap="none" normalizeH="0" baseline="0" dirty="0">
                <a:ln>
                  <a:noFill/>
                </a:ln>
                <a:solidFill>
                  <a:srgbClr val="080808"/>
                </a:solidFill>
                <a:effectLst/>
                <a:latin typeface="JetBrains Mono"/>
              </a:rPr>
              <a:t>, arr2)</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arr3 = </a:t>
            </a:r>
            <a:r>
              <a:rPr kumimoji="0" lang="nl-NL" sz="1400" b="0" i="0" u="none" strike="noStrike" cap="none" normalizeH="0" baseline="0" dirty="0" err="1">
                <a:ln>
                  <a:noFill/>
                </a:ln>
                <a:solidFill>
                  <a:srgbClr val="080808"/>
                </a:solidFill>
                <a:effectLst/>
                <a:latin typeface="JetBrains Mono"/>
              </a:rPr>
              <a:t>np.sort</a:t>
            </a:r>
            <a:r>
              <a:rPr kumimoji="0" lang="nl-NL" sz="1400" b="0" i="0" u="none" strike="noStrike" cap="none" normalizeH="0" baseline="0" dirty="0">
                <a:ln>
                  <a:noFill/>
                </a:ln>
                <a:solidFill>
                  <a:srgbClr val="080808"/>
                </a:solidFill>
                <a:effectLst/>
                <a:latin typeface="JetBrains Mono"/>
              </a:rPr>
              <a:t>(mat_1, </a:t>
            </a:r>
            <a:r>
              <a:rPr kumimoji="0" lang="nl-NL" sz="1400" b="0" i="0" u="none" strike="noStrike" cap="none" normalizeH="0" baseline="0" dirty="0" err="1">
                <a:ln>
                  <a:noFill/>
                </a:ln>
                <a:solidFill>
                  <a:srgbClr val="660099"/>
                </a:solidFill>
                <a:effectLst/>
                <a:latin typeface="JetBrains Mono"/>
              </a:rPr>
              <a:t>axis</a:t>
            </a:r>
            <a:r>
              <a:rPr kumimoji="0" lang="nl-NL" sz="1400" b="0" i="0" u="none" strike="noStrike" cap="none" normalizeH="0" baseline="0" dirty="0">
                <a:ln>
                  <a:noFill/>
                </a:ln>
                <a:solidFill>
                  <a:srgbClr val="660099"/>
                </a:solidFill>
                <a:effectLst/>
                <a:latin typeface="JetBrains Mono"/>
              </a:rPr>
              <a:t> </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0033B3"/>
                </a:solidFill>
                <a:effectLst/>
                <a:latin typeface="JetBrains Mono"/>
              </a:rPr>
              <a:t>None</a:t>
            </a:r>
            <a:r>
              <a:rPr kumimoji="0" lang="nl-NL" sz="1400" b="0" i="0" u="none" strike="noStrike" cap="none" normalizeH="0" baseline="0" dirty="0">
                <a:ln>
                  <a:noFill/>
                </a:ln>
                <a:solidFill>
                  <a:srgbClr val="080808"/>
                </a:solidFill>
                <a:effectLst/>
                <a:latin typeface="JetBrains Mono"/>
              </a:rPr>
              <a:t>)    </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00080"/>
                </a:solidFill>
                <a:effectLst/>
                <a:latin typeface="JetBrains Mono"/>
              </a:rPr>
              <a:t>print</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067D17"/>
                </a:solidFill>
                <a:effectLst/>
                <a:latin typeface="JetBrains Mono"/>
              </a:rPr>
              <a:t>'Gesorteerd zonder as:'</a:t>
            </a:r>
            <a:r>
              <a:rPr kumimoji="0" lang="nl-NL" sz="1400" b="0" i="0" u="none" strike="noStrike" cap="none" normalizeH="0" baseline="0" dirty="0">
                <a:ln>
                  <a:noFill/>
                </a:ln>
                <a:solidFill>
                  <a:srgbClr val="080808"/>
                </a:solidFill>
                <a:effectLst/>
                <a:latin typeface="JetBrains Mono"/>
              </a:rPr>
              <a:t>, arr3)</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98FDB48E-7A74-8111-DF85-17C85ABE617B}"/>
              </a:ext>
            </a:extLst>
          </p:cNvPr>
          <p:cNvSpPr>
            <a:spLocks noChangeArrowheads="1"/>
          </p:cNvSpPr>
          <p:nvPr/>
        </p:nvSpPr>
        <p:spPr bwMode="auto">
          <a:xfrm>
            <a:off x="5920962" y="4175436"/>
            <a:ext cx="4835472" cy="169277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Gesorteerd langs de rijen (per kolom):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[[ 0 -2 3]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[ 4 3 7]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[ 9 5 7]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[10 8 8]]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Gesorteerd langs de kolommen (per rij):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[[ 3 3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[ 4 5 8]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[ 7 8 9]</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[-2 0 7]]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Gesorteerd zonder as: [-2 0 3 3 4 5 7 7 8 8 9 10]</a:t>
            </a:r>
            <a:r>
              <a:rPr kumimoji="0" lang="nl-NL" sz="400" b="0" i="0" u="none" strike="noStrike" cap="none" normalizeH="0" baseline="0" dirty="0">
                <a:ln>
                  <a:noFill/>
                </a:ln>
                <a:solidFill>
                  <a:schemeClr val="tx1"/>
                </a:solidFill>
                <a:effectLst/>
              </a:rPr>
              <a:t> </a:t>
            </a:r>
            <a:endParaRPr kumimoji="0" lang="nl-NL"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E40ED89-E490-92A3-8BC8-2AD18BD97E83}"/>
              </a:ext>
            </a:extLst>
          </p:cNvPr>
          <p:cNvSpPr txBox="1"/>
          <p:nvPr/>
        </p:nvSpPr>
        <p:spPr>
          <a:xfrm>
            <a:off x="5850328" y="3806104"/>
            <a:ext cx="1073739"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5BCEA97E-7272-10B8-A099-52454ED50FDC}"/>
              </a:ext>
            </a:extLst>
          </p:cNvPr>
          <p:cNvSpPr txBox="1"/>
          <p:nvPr/>
        </p:nvSpPr>
        <p:spPr>
          <a:xfrm>
            <a:off x="574800" y="2821219"/>
            <a:ext cx="918840" cy="369332"/>
          </a:xfrm>
          <a:prstGeom prst="rect">
            <a:avLst/>
          </a:prstGeom>
          <a:noFill/>
        </p:spPr>
        <p:txBody>
          <a:bodyPr wrap="square" rtlCol="0">
            <a:spAutoFit/>
          </a:bodyPr>
          <a:lstStyle/>
          <a:p>
            <a:r>
              <a:rPr lang="nl-NL" dirty="0"/>
              <a:t>Code:</a:t>
            </a:r>
          </a:p>
        </p:txBody>
      </p:sp>
      <p:sp>
        <p:nvSpPr>
          <p:cNvPr id="9" name="TextBox 8">
            <a:extLst>
              <a:ext uri="{FF2B5EF4-FFF2-40B4-BE49-F238E27FC236}">
                <a16:creationId xmlns:a16="http://schemas.microsoft.com/office/drawing/2014/main" id="{21432962-476F-C688-BFCF-A2F72984EDD1}"/>
              </a:ext>
            </a:extLst>
          </p:cNvPr>
          <p:cNvSpPr txBox="1"/>
          <p:nvPr/>
        </p:nvSpPr>
        <p:spPr>
          <a:xfrm>
            <a:off x="6924067" y="117036"/>
            <a:ext cx="5672991" cy="954107"/>
          </a:xfrm>
          <a:prstGeom prst="rect">
            <a:avLst/>
          </a:prstGeom>
          <a:noFill/>
        </p:spPr>
        <p:txBody>
          <a:bodyPr wrap="square" rtlCol="0">
            <a:spAutoFit/>
          </a:bodyPr>
          <a:lstStyle/>
          <a:p>
            <a:r>
              <a:rPr lang="nl-NL" sz="1400" dirty="0"/>
              <a:t>Toepassingen:</a:t>
            </a:r>
          </a:p>
          <a:p>
            <a:pPr marL="285750" indent="-285750">
              <a:buFontTx/>
              <a:buChar char="-"/>
            </a:pPr>
            <a:r>
              <a:rPr lang="nl-NL" sz="1400" dirty="0" err="1">
                <a:latin typeface="Courier New" panose="02070309020205020404" pitchFamily="49" charset="0"/>
                <a:cs typeface="Courier New" panose="02070309020205020404" pitchFamily="49" charset="0"/>
              </a:rPr>
              <a:t>sort</a:t>
            </a:r>
            <a:r>
              <a:rPr lang="nl-NL" sz="1400" dirty="0">
                <a:latin typeface="Courier New" panose="02070309020205020404" pitchFamily="49" charset="0"/>
                <a:cs typeface="Courier New" panose="02070309020205020404" pitchFamily="49" charset="0"/>
              </a:rPr>
              <a:t>(</a:t>
            </a:r>
            <a:r>
              <a:rPr lang="nl-NL" sz="1400" dirty="0" err="1">
                <a:latin typeface="Courier New" panose="02070309020205020404" pitchFamily="49" charset="0"/>
                <a:cs typeface="Courier New" panose="02070309020205020404" pitchFamily="49" charset="0"/>
              </a:rPr>
              <a:t>axis</a:t>
            </a:r>
            <a:r>
              <a:rPr lang="nl-NL" sz="1400" dirty="0">
                <a:latin typeface="Courier New" panose="02070309020205020404" pitchFamily="49" charset="0"/>
                <a:cs typeface="Courier New" panose="02070309020205020404" pitchFamily="49" charset="0"/>
              </a:rPr>
              <a:t>=0)</a:t>
            </a:r>
            <a:r>
              <a:rPr lang="nl-NL" sz="1400" dirty="0"/>
              <a:t>: sorteren van resultaten van verschillende vakken tegelijk</a:t>
            </a:r>
          </a:p>
          <a:p>
            <a:pPr marL="285750" indent="-285750">
              <a:buFontTx/>
              <a:buChar char="-"/>
            </a:pPr>
            <a:r>
              <a:rPr lang="nl-NL" sz="1400" dirty="0" err="1">
                <a:latin typeface="Courier New" panose="02070309020205020404" pitchFamily="49" charset="0"/>
                <a:cs typeface="Courier New" panose="02070309020205020404" pitchFamily="49" charset="0"/>
              </a:rPr>
              <a:t>sort</a:t>
            </a:r>
            <a:r>
              <a:rPr lang="nl-NL" sz="1400" dirty="0">
                <a:latin typeface="Courier New" panose="02070309020205020404" pitchFamily="49" charset="0"/>
                <a:cs typeface="Courier New" panose="02070309020205020404" pitchFamily="49" charset="0"/>
              </a:rPr>
              <a:t>(</a:t>
            </a:r>
            <a:r>
              <a:rPr lang="nl-NL" sz="1400" dirty="0" err="1">
                <a:latin typeface="Courier New" panose="02070309020205020404" pitchFamily="49" charset="0"/>
                <a:cs typeface="Courier New" panose="02070309020205020404" pitchFamily="49" charset="0"/>
              </a:rPr>
              <a:t>axis</a:t>
            </a:r>
            <a:r>
              <a:rPr lang="nl-NL" sz="1400" dirty="0">
                <a:latin typeface="Courier New" panose="02070309020205020404" pitchFamily="49" charset="0"/>
                <a:cs typeface="Courier New" panose="02070309020205020404" pitchFamily="49" charset="0"/>
              </a:rPr>
              <a:t>=1)</a:t>
            </a:r>
            <a:r>
              <a:rPr lang="nl-NL" sz="1400" dirty="0"/>
              <a:t>: sorteren van omsteltijd machines</a:t>
            </a:r>
          </a:p>
        </p:txBody>
      </p:sp>
    </p:spTree>
    <p:extLst>
      <p:ext uri="{BB962C8B-B14F-4D97-AF65-F5344CB8AC3E}">
        <p14:creationId xmlns:p14="http://schemas.microsoft.com/office/powerpoint/2010/main" val="3617487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D50FBF-B60E-C545-E61B-CE6FA4EAF2DD}"/>
              </a:ext>
            </a:extLst>
          </p:cNvPr>
          <p:cNvSpPr>
            <a:spLocks noGrp="1"/>
          </p:cNvSpPr>
          <p:nvPr>
            <p:ph idx="1"/>
          </p:nvPr>
        </p:nvSpPr>
        <p:spPr/>
        <p:txBody>
          <a:bodyPr/>
          <a:lstStyle/>
          <a:p>
            <a:r>
              <a:rPr lang="en-BE" dirty="0"/>
              <a:t>Je kan unieke elementen in een rij/matrix opvragen met </a:t>
            </a:r>
            <a:r>
              <a:rPr lang="en-BE" dirty="0">
                <a:latin typeface="Courier New" panose="02070309020205020404" pitchFamily="49" charset="0"/>
                <a:cs typeface="Courier New" panose="02070309020205020404" pitchFamily="49" charset="0"/>
              </a:rPr>
              <a:t>unique():</a:t>
            </a:r>
          </a:p>
        </p:txBody>
      </p:sp>
      <p:sp>
        <p:nvSpPr>
          <p:cNvPr id="3" name="Slide Number Placeholder 2">
            <a:extLst>
              <a:ext uri="{FF2B5EF4-FFF2-40B4-BE49-F238E27FC236}">
                <a16:creationId xmlns:a16="http://schemas.microsoft.com/office/drawing/2014/main" id="{D219A4DC-CC18-6BAB-D7E2-8E036BDAC201}"/>
              </a:ext>
            </a:extLst>
          </p:cNvPr>
          <p:cNvSpPr>
            <a:spLocks noGrp="1"/>
          </p:cNvSpPr>
          <p:nvPr>
            <p:ph type="sldNum" sz="quarter" idx="12"/>
          </p:nvPr>
        </p:nvSpPr>
        <p:spPr/>
        <p:txBody>
          <a:bodyPr/>
          <a:lstStyle/>
          <a:p>
            <a:fld id="{D270EDC2-4F5E-5547-954F-5222C286AC2A}" type="slidenum">
              <a:rPr lang="en-BE" smtClean="0"/>
              <a:t>28</a:t>
            </a:fld>
            <a:endParaRPr lang="en-BE"/>
          </a:p>
        </p:txBody>
      </p:sp>
      <p:sp>
        <p:nvSpPr>
          <p:cNvPr id="4" name="Title 3">
            <a:extLst>
              <a:ext uri="{FF2B5EF4-FFF2-40B4-BE49-F238E27FC236}">
                <a16:creationId xmlns:a16="http://schemas.microsoft.com/office/drawing/2014/main" id="{38FED1F1-78E6-9C16-6CDE-CB38095045C6}"/>
              </a:ext>
            </a:extLst>
          </p:cNvPr>
          <p:cNvSpPr>
            <a:spLocks noGrp="1"/>
          </p:cNvSpPr>
          <p:nvPr>
            <p:ph type="title"/>
          </p:nvPr>
        </p:nvSpPr>
        <p:spPr/>
        <p:txBody>
          <a:bodyPr/>
          <a:lstStyle/>
          <a:p>
            <a:r>
              <a:rPr lang="en-BE" dirty="0"/>
              <a:t>Unieke elementen zoeken</a:t>
            </a:r>
          </a:p>
        </p:txBody>
      </p:sp>
      <p:sp>
        <p:nvSpPr>
          <p:cNvPr id="6" name="TextBox 5">
            <a:extLst>
              <a:ext uri="{FF2B5EF4-FFF2-40B4-BE49-F238E27FC236}">
                <a16:creationId xmlns:a16="http://schemas.microsoft.com/office/drawing/2014/main" id="{CC3561E1-73C3-685D-B484-F5F33EB50185}"/>
              </a:ext>
            </a:extLst>
          </p:cNvPr>
          <p:cNvSpPr txBox="1"/>
          <p:nvPr/>
        </p:nvSpPr>
        <p:spPr>
          <a:xfrm>
            <a:off x="633419" y="3551544"/>
            <a:ext cx="5941336" cy="1921936"/>
          </a:xfrm>
          <a:prstGeom prst="rect">
            <a:avLst/>
          </a:prstGeom>
          <a:noFill/>
          <a:ln>
            <a:solidFill>
              <a:schemeClr val="accent1"/>
            </a:solidFill>
          </a:ln>
        </p:spPr>
        <p:txBody>
          <a:bodyPr wrap="square">
            <a:spAutoFit/>
          </a:bodyPr>
          <a:lstStyle/>
          <a:p>
            <a:pPr>
              <a:lnSpc>
                <a:spcPct val="125000"/>
              </a:lnSpc>
              <a:buNone/>
            </a:pPr>
            <a:r>
              <a:rPr lang="en-BE" sz="1200" b="0" dirty="0">
                <a:solidFill>
                  <a:srgbClr val="1F2328"/>
                </a:solidFill>
                <a:effectLst/>
                <a:latin typeface="Menlo" panose="020B0609030804020204" pitchFamily="49" charset="0"/>
              </a:rPr>
              <a:t>mat_uniek</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267F99"/>
                </a:solidFill>
                <a:effectLst/>
                <a:latin typeface="Menlo" panose="020B0609030804020204" pitchFamily="49" charset="0"/>
              </a:rPr>
              <a:t>np</a:t>
            </a:r>
            <a:r>
              <a:rPr lang="en-BE" sz="1200" b="0" dirty="0">
                <a:solidFill>
                  <a:srgbClr val="202020"/>
                </a:solidFill>
                <a:effectLst/>
                <a:latin typeface="Menlo" panose="020B0609030804020204" pitchFamily="49" charset="0"/>
              </a:rPr>
              <a:t>.</a:t>
            </a:r>
            <a:r>
              <a:rPr lang="en-BE" sz="1200" b="0" dirty="0">
                <a:solidFill>
                  <a:srgbClr val="8250DF"/>
                </a:solidFill>
                <a:effectLst/>
                <a:latin typeface="Menlo" panose="020B0609030804020204" pitchFamily="49" charset="0"/>
              </a:rPr>
              <a:t>array</a:t>
            </a:r>
            <a:r>
              <a:rPr lang="en-BE" sz="1200" b="0" dirty="0">
                <a:solidFill>
                  <a:srgbClr val="202020"/>
                </a:solidFill>
                <a:effectLst/>
                <a:latin typeface="Menlo" panose="020B0609030804020204" pitchFamily="49" charset="0"/>
              </a:rPr>
              <a:t>([</a:t>
            </a:r>
            <a:r>
              <a:rPr lang="en-BE" sz="1200" b="0" dirty="0">
                <a:solidFill>
                  <a:srgbClr val="098658"/>
                </a:solidFill>
                <a:effectLst/>
                <a:latin typeface="Menlo" panose="020B0609030804020204" pitchFamily="49" charset="0"/>
              </a:rPr>
              <a:t>1</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2</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2</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3</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3</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3</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4</a:t>
            </a:r>
            <a:r>
              <a:rPr lang="en-BE" sz="1200" b="0" dirty="0">
                <a:solidFill>
                  <a:srgbClr val="202020"/>
                </a:solidFill>
                <a:effectLst/>
                <a:latin typeface="Menlo" panose="020B0609030804020204" pitchFamily="49" charset="0"/>
              </a:rPr>
              <a:t>])</a:t>
            </a:r>
          </a:p>
          <a:p>
            <a:pPr>
              <a:lnSpc>
                <a:spcPct val="125000"/>
              </a:lnSpc>
              <a:buNone/>
            </a:pPr>
            <a:br>
              <a:rPr lang="en-BE" sz="1200" b="0" dirty="0">
                <a:solidFill>
                  <a:srgbClr val="202020"/>
                </a:solidFill>
                <a:effectLst/>
                <a:latin typeface="Menlo" panose="020B0609030804020204" pitchFamily="49" charset="0"/>
              </a:rPr>
            </a:br>
            <a:r>
              <a:rPr lang="en-BE" sz="1200" b="0" dirty="0">
                <a:solidFill>
                  <a:srgbClr val="1F2328"/>
                </a:solidFill>
                <a:effectLst/>
                <a:latin typeface="Menlo" panose="020B0609030804020204" pitchFamily="49" charset="0"/>
              </a:rPr>
              <a:t>waarden</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267F99"/>
                </a:solidFill>
                <a:effectLst/>
                <a:latin typeface="Menlo" panose="020B0609030804020204" pitchFamily="49" charset="0"/>
              </a:rPr>
              <a:t>np</a:t>
            </a:r>
            <a:r>
              <a:rPr lang="en-BE" sz="1200" b="0" dirty="0">
                <a:solidFill>
                  <a:srgbClr val="202020"/>
                </a:solidFill>
                <a:effectLst/>
                <a:latin typeface="Menlo" panose="020B0609030804020204" pitchFamily="49" charset="0"/>
              </a:rPr>
              <a:t>.</a:t>
            </a:r>
            <a:r>
              <a:rPr lang="en-BE" sz="1200" b="0" dirty="0">
                <a:solidFill>
                  <a:srgbClr val="8250DF"/>
                </a:solidFill>
                <a:effectLst/>
                <a:latin typeface="Menlo" panose="020B0609030804020204" pitchFamily="49" charset="0"/>
              </a:rPr>
              <a:t>unique</a:t>
            </a:r>
            <a:r>
              <a:rPr lang="en-BE" sz="1200" b="0" dirty="0">
                <a:solidFill>
                  <a:srgbClr val="202020"/>
                </a:solidFill>
                <a:effectLst/>
                <a:latin typeface="Menlo" panose="020B0609030804020204" pitchFamily="49" charset="0"/>
              </a:rPr>
              <a:t>(</a:t>
            </a:r>
            <a:r>
              <a:rPr lang="en-BE" sz="1200" b="0" dirty="0">
                <a:solidFill>
                  <a:srgbClr val="1F2328"/>
                </a:solidFill>
                <a:effectLst/>
                <a:latin typeface="Menlo" panose="020B0609030804020204" pitchFamily="49" charset="0"/>
              </a:rPr>
              <a:t>mat_uniek</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8250DF"/>
                </a:solidFill>
                <a:effectLst/>
                <a:latin typeface="Menlo" panose="020B0609030804020204" pitchFamily="49" charset="0"/>
              </a:rPr>
              <a:t>print</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'Unieke waarden:'</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waarden</a:t>
            </a:r>
            <a:r>
              <a:rPr lang="en-BE" sz="1200" b="0" dirty="0">
                <a:solidFill>
                  <a:srgbClr val="202020"/>
                </a:solidFill>
                <a:effectLst/>
                <a:latin typeface="Menlo" panose="020B0609030804020204" pitchFamily="49" charset="0"/>
              </a:rPr>
              <a:t>)</a:t>
            </a:r>
          </a:p>
          <a:p>
            <a:pPr>
              <a:lnSpc>
                <a:spcPct val="125000"/>
              </a:lnSpc>
              <a:buNone/>
            </a:pPr>
            <a:endParaRPr lang="en-BE" sz="1200" b="0" dirty="0">
              <a:solidFill>
                <a:srgbClr val="202020"/>
              </a:solidFill>
              <a:effectLst/>
              <a:latin typeface="Menlo" panose="020B0609030804020204" pitchFamily="49" charset="0"/>
            </a:endParaRPr>
          </a:p>
          <a:p>
            <a:pPr>
              <a:lnSpc>
                <a:spcPct val="125000"/>
              </a:lnSpc>
              <a:buNone/>
            </a:pPr>
            <a:r>
              <a:rPr lang="en-BE" sz="1200" b="0" dirty="0">
                <a:solidFill>
                  <a:srgbClr val="1F2328"/>
                </a:solidFill>
                <a:effectLst/>
                <a:latin typeface="Menlo" panose="020B0609030804020204" pitchFamily="49" charset="0"/>
              </a:rPr>
              <a:t>waarden</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aantallen</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267F99"/>
                </a:solidFill>
                <a:effectLst/>
                <a:latin typeface="Menlo" panose="020B0609030804020204" pitchFamily="49" charset="0"/>
              </a:rPr>
              <a:t>np</a:t>
            </a:r>
            <a:r>
              <a:rPr lang="en-BE" sz="1200" b="0" dirty="0">
                <a:solidFill>
                  <a:srgbClr val="202020"/>
                </a:solidFill>
                <a:effectLst/>
                <a:latin typeface="Menlo" panose="020B0609030804020204" pitchFamily="49" charset="0"/>
              </a:rPr>
              <a:t>.</a:t>
            </a:r>
            <a:r>
              <a:rPr lang="en-BE" sz="1200" b="0" dirty="0">
                <a:solidFill>
                  <a:srgbClr val="8250DF"/>
                </a:solidFill>
                <a:effectLst/>
                <a:latin typeface="Menlo" panose="020B0609030804020204" pitchFamily="49" charset="0"/>
              </a:rPr>
              <a:t>unique</a:t>
            </a:r>
            <a:r>
              <a:rPr lang="en-BE" sz="1200" b="0" dirty="0">
                <a:solidFill>
                  <a:srgbClr val="202020"/>
                </a:solidFill>
                <a:effectLst/>
                <a:latin typeface="Menlo" panose="020B0609030804020204" pitchFamily="49" charset="0"/>
              </a:rPr>
              <a:t>(</a:t>
            </a:r>
            <a:r>
              <a:rPr lang="en-BE" sz="1200" b="0" dirty="0">
                <a:solidFill>
                  <a:srgbClr val="1F2328"/>
                </a:solidFill>
                <a:effectLst/>
                <a:latin typeface="Menlo" panose="020B0609030804020204" pitchFamily="49" charset="0"/>
              </a:rPr>
              <a:t>mat_uniek</a:t>
            </a:r>
            <a:r>
              <a:rPr lang="en-BE" sz="1200" b="0" dirty="0">
                <a:solidFill>
                  <a:srgbClr val="202020"/>
                </a:solidFill>
                <a:effectLst/>
                <a:latin typeface="Menlo" panose="020B0609030804020204" pitchFamily="49" charset="0"/>
              </a:rPr>
              <a:t>, </a:t>
            </a:r>
            <a:r>
              <a:rPr lang="en-BE" sz="1200" b="0" dirty="0">
                <a:solidFill>
                  <a:srgbClr val="953800"/>
                </a:solidFill>
                <a:effectLst/>
                <a:latin typeface="Menlo" panose="020B0609030804020204" pitchFamily="49" charset="0"/>
              </a:rPr>
              <a:t>return_counts</a:t>
            </a:r>
            <a:r>
              <a:rPr lang="en-BE" sz="1200" b="0" dirty="0">
                <a:solidFill>
                  <a:srgbClr val="000000"/>
                </a:solidFill>
                <a:effectLst/>
                <a:latin typeface="Menlo" panose="020B0609030804020204" pitchFamily="49" charset="0"/>
              </a:rPr>
              <a:t>=</a:t>
            </a:r>
            <a:r>
              <a:rPr lang="en-BE" sz="1200" b="0" dirty="0">
                <a:solidFill>
                  <a:srgbClr val="0000FF"/>
                </a:solidFill>
                <a:effectLst/>
                <a:latin typeface="Menlo" panose="020B0609030804020204" pitchFamily="49" charset="0"/>
              </a:rPr>
              <a:t>True</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8250DF"/>
                </a:solidFill>
                <a:effectLst/>
                <a:latin typeface="Menlo" panose="020B0609030804020204" pitchFamily="49" charset="0"/>
              </a:rPr>
              <a:t>print</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'Unieke waarden:'</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waarden</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8250DF"/>
                </a:solidFill>
                <a:effectLst/>
                <a:latin typeface="Menlo" panose="020B0609030804020204" pitchFamily="49" charset="0"/>
              </a:rPr>
              <a:t>print</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'Aantal per waarde:'</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aantallen</a:t>
            </a:r>
            <a:r>
              <a:rPr lang="en-BE" sz="1200" b="0" dirty="0">
                <a:solidFill>
                  <a:srgbClr val="202020"/>
                </a:solidFill>
                <a:effectLst/>
                <a:latin typeface="Menlo" panose="020B0609030804020204" pitchFamily="49" charset="0"/>
              </a:rPr>
              <a:t>)</a:t>
            </a:r>
          </a:p>
        </p:txBody>
      </p:sp>
      <p:sp>
        <p:nvSpPr>
          <p:cNvPr id="10" name="TextBox 9">
            <a:extLst>
              <a:ext uri="{FF2B5EF4-FFF2-40B4-BE49-F238E27FC236}">
                <a16:creationId xmlns:a16="http://schemas.microsoft.com/office/drawing/2014/main" id="{A740AFD3-DA63-60BB-0CB0-2597F6686CF9}"/>
              </a:ext>
            </a:extLst>
          </p:cNvPr>
          <p:cNvSpPr txBox="1"/>
          <p:nvPr/>
        </p:nvSpPr>
        <p:spPr>
          <a:xfrm>
            <a:off x="7073774" y="4087508"/>
            <a:ext cx="3985788" cy="1384995"/>
          </a:xfrm>
          <a:prstGeom prst="rect">
            <a:avLst/>
          </a:prstGeom>
          <a:noFill/>
          <a:ln>
            <a:solidFill>
              <a:schemeClr val="accent1"/>
            </a:solidFill>
          </a:ln>
        </p:spPr>
        <p:txBody>
          <a:bodyPr wrap="square">
            <a:spAutoFit/>
          </a:bodyPr>
          <a:lstStyle/>
          <a:p>
            <a:r>
              <a:rPr lang="en-BE" sz="1200" b="0" i="0" dirty="0">
                <a:solidFill>
                  <a:srgbClr val="202020"/>
                </a:solidFill>
                <a:effectLst/>
                <a:latin typeface="Menlo" panose="020B0609030804020204" pitchFamily="49" charset="0"/>
              </a:rPr>
              <a:t>Unieke waarden: [1 2 3 4]</a:t>
            </a:r>
          </a:p>
          <a:p>
            <a:endParaRPr lang="en-BE" sz="1200" b="0" i="0" dirty="0">
              <a:solidFill>
                <a:srgbClr val="202020"/>
              </a:solidFill>
              <a:effectLst/>
              <a:latin typeface="Menlo" panose="020B0609030804020204" pitchFamily="49" charset="0"/>
            </a:endParaRPr>
          </a:p>
          <a:p>
            <a:endParaRPr lang="en-BE" sz="1200" dirty="0">
              <a:solidFill>
                <a:srgbClr val="202020"/>
              </a:solidFill>
              <a:latin typeface="Menlo" panose="020B0609030804020204" pitchFamily="49" charset="0"/>
            </a:endParaRPr>
          </a:p>
          <a:p>
            <a:endParaRPr lang="en-BE" sz="1200" b="0" i="0" dirty="0">
              <a:solidFill>
                <a:srgbClr val="202020"/>
              </a:solidFill>
              <a:effectLst/>
              <a:latin typeface="Menlo" panose="020B0609030804020204" pitchFamily="49" charset="0"/>
            </a:endParaRPr>
          </a:p>
          <a:p>
            <a:r>
              <a:rPr lang="en-BE" sz="1200" b="0" i="0" dirty="0">
                <a:solidFill>
                  <a:srgbClr val="202020"/>
                </a:solidFill>
                <a:effectLst/>
                <a:latin typeface="Menlo" panose="020B0609030804020204" pitchFamily="49" charset="0"/>
              </a:rPr>
              <a:t> </a:t>
            </a:r>
          </a:p>
          <a:p>
            <a:r>
              <a:rPr lang="en-BE" sz="1200" b="0" i="0" dirty="0">
                <a:solidFill>
                  <a:srgbClr val="202020"/>
                </a:solidFill>
                <a:effectLst/>
                <a:latin typeface="Menlo" panose="020B0609030804020204" pitchFamily="49" charset="0"/>
              </a:rPr>
              <a:t>Unieke waarden: [1 2 3 4] </a:t>
            </a:r>
          </a:p>
          <a:p>
            <a:r>
              <a:rPr lang="en-BE" sz="1200" b="0" i="0" dirty="0">
                <a:solidFill>
                  <a:srgbClr val="202020"/>
                </a:solidFill>
                <a:effectLst/>
                <a:latin typeface="Menlo" panose="020B0609030804020204" pitchFamily="49" charset="0"/>
              </a:rPr>
              <a:t>Aantal per waarde: [1 2 3 1]</a:t>
            </a:r>
            <a:endParaRPr lang="en-BE" sz="1200" dirty="0"/>
          </a:p>
        </p:txBody>
      </p:sp>
      <p:sp>
        <p:nvSpPr>
          <p:cNvPr id="11" name="TextBox 10">
            <a:extLst>
              <a:ext uri="{FF2B5EF4-FFF2-40B4-BE49-F238E27FC236}">
                <a16:creationId xmlns:a16="http://schemas.microsoft.com/office/drawing/2014/main" id="{94B93DAE-B901-4869-3EB4-E8B424051010}"/>
              </a:ext>
            </a:extLst>
          </p:cNvPr>
          <p:cNvSpPr txBox="1"/>
          <p:nvPr/>
        </p:nvSpPr>
        <p:spPr>
          <a:xfrm>
            <a:off x="7073774" y="3754360"/>
            <a:ext cx="1073739" cy="369332"/>
          </a:xfrm>
          <a:prstGeom prst="rect">
            <a:avLst/>
          </a:prstGeom>
          <a:noFill/>
        </p:spPr>
        <p:txBody>
          <a:bodyPr wrap="square" rtlCol="0">
            <a:spAutoFit/>
          </a:bodyPr>
          <a:lstStyle/>
          <a:p>
            <a:r>
              <a:rPr lang="nl-NL" dirty="0"/>
              <a:t>Output:</a:t>
            </a:r>
          </a:p>
        </p:txBody>
      </p:sp>
      <p:sp>
        <p:nvSpPr>
          <p:cNvPr id="12" name="TextBox 11">
            <a:extLst>
              <a:ext uri="{FF2B5EF4-FFF2-40B4-BE49-F238E27FC236}">
                <a16:creationId xmlns:a16="http://schemas.microsoft.com/office/drawing/2014/main" id="{839DF371-909F-F934-245F-EE67E47BB78D}"/>
              </a:ext>
            </a:extLst>
          </p:cNvPr>
          <p:cNvSpPr txBox="1"/>
          <p:nvPr/>
        </p:nvSpPr>
        <p:spPr>
          <a:xfrm>
            <a:off x="574800" y="3218396"/>
            <a:ext cx="918840" cy="369332"/>
          </a:xfrm>
          <a:prstGeom prst="rect">
            <a:avLst/>
          </a:prstGeom>
          <a:noFill/>
        </p:spPr>
        <p:txBody>
          <a:bodyPr wrap="square" rtlCol="0">
            <a:spAutoFit/>
          </a:bodyPr>
          <a:lstStyle/>
          <a:p>
            <a:r>
              <a:rPr lang="nl-NL" dirty="0"/>
              <a:t>Code:</a:t>
            </a:r>
          </a:p>
        </p:txBody>
      </p:sp>
    </p:spTree>
    <p:extLst>
      <p:ext uri="{BB962C8B-B14F-4D97-AF65-F5344CB8AC3E}">
        <p14:creationId xmlns:p14="http://schemas.microsoft.com/office/powerpoint/2010/main" val="3162696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a = np.array([[1, 2], [3, 4]])</a:t>
            </a:r>
          </a:p>
          <a:p>
            <a:pPr marL="0" indent="0">
              <a:lnSpc>
                <a:spcPts val="2400"/>
              </a:lnSpc>
              <a:spcBef>
                <a:spcPts val="0"/>
              </a:spcBef>
              <a:spcAft>
                <a:spcPts val="0"/>
              </a:spcAft>
              <a:buNone/>
            </a:pPr>
            <a:r>
              <a:rPr lang="nl-NL" sz="2000" dirty="0">
                <a:latin typeface="Consolas"/>
                <a:cs typeface="Consolas"/>
              </a:rPr>
              <a:t>b = np.array([[1, 0], [0, 1]])</a:t>
            </a:r>
          </a:p>
          <a:p>
            <a:pPr marL="0" indent="0">
              <a:lnSpc>
                <a:spcPts val="2400"/>
              </a:lnSpc>
              <a:spcBef>
                <a:spcPts val="0"/>
              </a:spcBef>
              <a:spcAft>
                <a:spcPts val="0"/>
              </a:spcAft>
              <a:buNone/>
            </a:pPr>
            <a:r>
              <a:rPr lang="nl-NL" sz="2000" dirty="0">
                <a:latin typeface="Consolas"/>
                <a:cs typeface="Consolas"/>
              </a:rPr>
              <a:t>print(a * b)</a:t>
            </a:r>
          </a:p>
          <a:p>
            <a:pPr marL="0" indent="0">
              <a:lnSpc>
                <a:spcPts val="2400"/>
              </a:lnSpc>
              <a:spcBef>
                <a:spcPts val="0"/>
              </a:spcBef>
              <a:spcAft>
                <a:spcPts val="0"/>
              </a:spcAft>
              <a:buNone/>
            </a:pPr>
            <a:r>
              <a:rPr lang="nl-NL" sz="2000" dirty="0">
                <a:latin typeface="Consolas"/>
                <a:cs typeface="Consolas"/>
              </a:rPr>
              <a:t>print(a @ b)</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r = np.arange(6)</a:t>
            </a:r>
          </a:p>
          <a:p>
            <a:pPr marL="0" indent="0">
              <a:lnSpc>
                <a:spcPts val="2400"/>
              </a:lnSpc>
              <a:spcBef>
                <a:spcPts val="0"/>
              </a:spcBef>
              <a:spcAft>
                <a:spcPts val="0"/>
              </a:spcAft>
              <a:buNone/>
            </a:pPr>
            <a:r>
              <a:rPr lang="nl-NL" sz="2000" dirty="0">
                <a:latin typeface="Consolas"/>
                <a:cs typeface="Consolas"/>
              </a:rPr>
              <a:t>print(r.reshape((3, 2)).shape)</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m = np.array([[3, 7, 2], [9, 1, 8]])</a:t>
            </a:r>
          </a:p>
          <a:p>
            <a:pPr marL="0" indent="0">
              <a:lnSpc>
                <a:spcPts val="2400"/>
              </a:lnSpc>
              <a:spcBef>
                <a:spcPts val="0"/>
              </a:spcBef>
              <a:spcAft>
                <a:spcPts val="0"/>
              </a:spcAft>
              <a:buNone/>
            </a:pPr>
            <a:r>
              <a:rPr lang="nl-NL" sz="2000" dirty="0">
                <a:latin typeface="Consolas"/>
                <a:cs typeface="Consolas"/>
              </a:rPr>
              <a:t>print(np.sort(m, axis=1))</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p:txBody>
      </p:sp>
      <p:sp>
        <p:nvSpPr>
          <p:cNvPr id="3" name="Title 2"/>
          <p:cNvSpPr>
            <a:spLocks noGrp="1"/>
          </p:cNvSpPr>
          <p:nvPr>
            <p:ph type="title"/>
          </p:nvPr>
        </p:nvSpPr>
        <p:spPr/>
        <p:txBody>
          <a:bodyPr/>
          <a:lstStyle/>
          <a:p>
            <a:r>
              <a:t>Oefening 1B.3: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29</a:t>
            </a:fld>
            <a:endParaRPr lang="nl-NL"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0CB71F-6144-40C2-59E0-4A2EADCC7A96}"/>
              </a:ext>
            </a:extLst>
          </p:cNvPr>
          <p:cNvSpPr>
            <a:spLocks noGrp="1"/>
          </p:cNvSpPr>
          <p:nvPr>
            <p:ph idx="1"/>
          </p:nvPr>
        </p:nvSpPr>
        <p:spPr/>
        <p:txBody>
          <a:bodyPr/>
          <a:lstStyle/>
          <a:p>
            <a:r>
              <a:rPr lang="nl-NL" dirty="0"/>
              <a:t>Eenvoudige manier - geef conditie mee als index:</a:t>
            </a:r>
          </a:p>
          <a:p>
            <a:pPr lvl="1"/>
            <a:r>
              <a:rPr lang="nl-NL" sz="2000" dirty="0"/>
              <a:t>In de achtergrond zal de conditie de juiste indices berekenen die moeten behouden worden</a:t>
            </a:r>
          </a:p>
          <a:p>
            <a:r>
              <a:rPr lang="nl-NL" dirty="0"/>
              <a:t>Of gebruik van </a:t>
            </a:r>
            <a:r>
              <a:rPr lang="nl-NL" dirty="0" err="1">
                <a:latin typeface="Courier New" panose="02070309020205020404" pitchFamily="49" charset="0"/>
                <a:cs typeface="Courier New" panose="02070309020205020404" pitchFamily="49" charset="0"/>
              </a:rPr>
              <a:t>where</a:t>
            </a:r>
            <a:r>
              <a:rPr lang="nl-NL" dirty="0">
                <a:latin typeface="Courier New" panose="02070309020205020404" pitchFamily="49" charset="0"/>
                <a:cs typeface="Courier New" panose="02070309020205020404" pitchFamily="49" charset="0"/>
              </a:rPr>
              <a:t>(arg1, arg2, arg3)</a:t>
            </a:r>
            <a:r>
              <a:rPr lang="nl-NL" dirty="0"/>
              <a:t>:</a:t>
            </a:r>
          </a:p>
          <a:p>
            <a:pPr lvl="1"/>
            <a:r>
              <a:rPr lang="nl-NL" sz="2000" dirty="0">
                <a:latin typeface="Courier New" panose="02070309020205020404" pitchFamily="49" charset="0"/>
                <a:cs typeface="Courier New" panose="02070309020205020404" pitchFamily="49" charset="0"/>
              </a:rPr>
              <a:t>arg1</a:t>
            </a:r>
            <a:r>
              <a:rPr lang="nl-NL" sz="2000" dirty="0"/>
              <a:t>: een conditie</a:t>
            </a:r>
          </a:p>
          <a:p>
            <a:pPr lvl="1"/>
            <a:r>
              <a:rPr lang="nl-NL" sz="2000" dirty="0">
                <a:latin typeface="Courier New" panose="02070309020205020404" pitchFamily="49" charset="0"/>
                <a:cs typeface="Courier New" panose="02070309020205020404" pitchFamily="49" charset="0"/>
              </a:rPr>
              <a:t>arg2/3</a:t>
            </a:r>
            <a:r>
              <a:rPr lang="nl-NL" sz="2000" dirty="0"/>
              <a:t> (optioneel): de waardes indien voldaan/niet voldaan</a:t>
            </a:r>
          </a:p>
          <a:p>
            <a:pPr lvl="1"/>
            <a:r>
              <a:rPr lang="nl-NL" sz="2000" dirty="0"/>
              <a:t>Indien </a:t>
            </a:r>
            <a:r>
              <a:rPr lang="nl-NL" sz="2000" dirty="0">
                <a:latin typeface="Courier New" panose="02070309020205020404" pitchFamily="49" charset="0"/>
                <a:cs typeface="Courier New" panose="02070309020205020404" pitchFamily="49" charset="0"/>
              </a:rPr>
              <a:t>arg2/3</a:t>
            </a:r>
            <a:r>
              <a:rPr lang="nl-NL" sz="2000" dirty="0"/>
              <a:t> niet meegegeven:</a:t>
            </a:r>
          </a:p>
          <a:p>
            <a:pPr lvl="2"/>
            <a:r>
              <a:rPr lang="nl-NL" sz="1600" dirty="0"/>
              <a:t>Je krijgt de indices van de elementen die voldoen aan de conditie</a:t>
            </a:r>
          </a:p>
          <a:p>
            <a:pPr lvl="2"/>
            <a:r>
              <a:rPr lang="nl-NL" sz="1600" dirty="0"/>
              <a:t>Kunnen uit de matrix gehaald worden via </a:t>
            </a:r>
            <a:r>
              <a:rPr lang="nl-NL" sz="1600" dirty="0">
                <a:latin typeface="Courier New" panose="02070309020205020404" pitchFamily="49" charset="0"/>
                <a:cs typeface="Courier New" panose="02070309020205020404" pitchFamily="49" charset="0"/>
              </a:rPr>
              <a:t>take()</a:t>
            </a:r>
          </a:p>
          <a:p>
            <a:pPr lvl="2"/>
            <a:endParaRPr lang="nl-NL" sz="1600" dirty="0">
              <a:latin typeface="Courier New" panose="02070309020205020404" pitchFamily="49" charset="0"/>
              <a:cs typeface="Courier New" panose="02070309020205020404" pitchFamily="49" charset="0"/>
            </a:endParaRPr>
          </a:p>
        </p:txBody>
      </p:sp>
      <p:sp>
        <p:nvSpPr>
          <p:cNvPr id="3" name="Slide Number Placeholder 2">
            <a:extLst>
              <a:ext uri="{FF2B5EF4-FFF2-40B4-BE49-F238E27FC236}">
                <a16:creationId xmlns:a16="http://schemas.microsoft.com/office/drawing/2014/main" id="{7AD24BF0-A8FB-AA0E-D790-FF271A45EF6E}"/>
              </a:ext>
            </a:extLst>
          </p:cNvPr>
          <p:cNvSpPr>
            <a:spLocks noGrp="1"/>
          </p:cNvSpPr>
          <p:nvPr>
            <p:ph type="sldNum" sz="quarter" idx="12"/>
          </p:nvPr>
        </p:nvSpPr>
        <p:spPr/>
        <p:txBody>
          <a:bodyPr/>
          <a:lstStyle/>
          <a:p>
            <a:fld id="{D270EDC2-4F5E-5547-954F-5222C286AC2A}" type="slidenum">
              <a:rPr lang="nl-NL" smtClean="0"/>
              <a:t>30</a:t>
            </a:fld>
            <a:endParaRPr lang="nl-NL" dirty="0"/>
          </a:p>
        </p:txBody>
      </p:sp>
      <p:sp>
        <p:nvSpPr>
          <p:cNvPr id="4" name="Title 3">
            <a:extLst>
              <a:ext uri="{FF2B5EF4-FFF2-40B4-BE49-F238E27FC236}">
                <a16:creationId xmlns:a16="http://schemas.microsoft.com/office/drawing/2014/main" id="{395A240B-28F0-8FBA-0A60-C3293F598BF0}"/>
              </a:ext>
            </a:extLst>
          </p:cNvPr>
          <p:cNvSpPr>
            <a:spLocks noGrp="1"/>
          </p:cNvSpPr>
          <p:nvPr>
            <p:ph type="title"/>
          </p:nvPr>
        </p:nvSpPr>
        <p:spPr/>
        <p:txBody>
          <a:bodyPr/>
          <a:lstStyle/>
          <a:p>
            <a:r>
              <a:rPr lang="nl-NL" dirty="0"/>
              <a:t>Filteren</a:t>
            </a:r>
          </a:p>
        </p:txBody>
      </p:sp>
    </p:spTree>
    <p:extLst>
      <p:ext uri="{BB962C8B-B14F-4D97-AF65-F5344CB8AC3E}">
        <p14:creationId xmlns:p14="http://schemas.microsoft.com/office/powerpoint/2010/main" val="1325260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8DC3CB-552D-1C1D-EB87-17AEFDFA5665}"/>
              </a:ext>
            </a:extLst>
          </p:cNvPr>
          <p:cNvSpPr>
            <a:spLocks noGrp="1"/>
          </p:cNvSpPr>
          <p:nvPr>
            <p:ph type="sldNum" sz="quarter" idx="12"/>
          </p:nvPr>
        </p:nvSpPr>
        <p:spPr/>
        <p:txBody>
          <a:bodyPr/>
          <a:lstStyle/>
          <a:p>
            <a:fld id="{D270EDC2-4F5E-5547-954F-5222C286AC2A}" type="slidenum">
              <a:rPr lang="en-BE" smtClean="0"/>
              <a:t>31</a:t>
            </a:fld>
            <a:endParaRPr lang="en-BE"/>
          </a:p>
        </p:txBody>
      </p:sp>
      <p:sp>
        <p:nvSpPr>
          <p:cNvPr id="4" name="Title 3">
            <a:extLst>
              <a:ext uri="{FF2B5EF4-FFF2-40B4-BE49-F238E27FC236}">
                <a16:creationId xmlns:a16="http://schemas.microsoft.com/office/drawing/2014/main" id="{5A738AE0-4D76-CD02-79D8-A3DC02F247E2}"/>
              </a:ext>
            </a:extLst>
          </p:cNvPr>
          <p:cNvSpPr>
            <a:spLocks noGrp="1"/>
          </p:cNvSpPr>
          <p:nvPr>
            <p:ph type="title"/>
          </p:nvPr>
        </p:nvSpPr>
        <p:spPr/>
        <p:txBody>
          <a:bodyPr/>
          <a:lstStyle/>
          <a:p>
            <a:r>
              <a:rPr lang="en-BE" dirty="0"/>
              <a:t>Voorbeeld condities</a:t>
            </a:r>
          </a:p>
        </p:txBody>
      </p:sp>
      <p:sp>
        <p:nvSpPr>
          <p:cNvPr id="6" name="TextBox 5">
            <a:extLst>
              <a:ext uri="{FF2B5EF4-FFF2-40B4-BE49-F238E27FC236}">
                <a16:creationId xmlns:a16="http://schemas.microsoft.com/office/drawing/2014/main" id="{0F63EF8C-AB3E-163F-BD2B-396EAFCC771D}"/>
              </a:ext>
            </a:extLst>
          </p:cNvPr>
          <p:cNvSpPr txBox="1"/>
          <p:nvPr/>
        </p:nvSpPr>
        <p:spPr>
          <a:xfrm>
            <a:off x="521583" y="2849137"/>
            <a:ext cx="5897324" cy="1687898"/>
          </a:xfrm>
          <a:prstGeom prst="rect">
            <a:avLst/>
          </a:prstGeom>
          <a:noFill/>
          <a:ln>
            <a:solidFill>
              <a:schemeClr val="accent1"/>
            </a:solidFill>
          </a:ln>
        </p:spPr>
        <p:txBody>
          <a:bodyPr wrap="square">
            <a:spAutoFit/>
          </a:bodyPr>
          <a:lstStyle/>
          <a:p>
            <a:pPr>
              <a:lnSpc>
                <a:spcPct val="125000"/>
              </a:lnSpc>
              <a:buNone/>
            </a:pPr>
            <a:r>
              <a:rPr lang="en-BE" sz="1200" b="0" dirty="0">
                <a:solidFill>
                  <a:srgbClr val="8250DF"/>
                </a:solidFill>
                <a:effectLst/>
                <a:latin typeface="Menlo" panose="020B0609030804020204" pitchFamily="49" charset="0"/>
              </a:rPr>
              <a:t>print</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'Booleaans masker:'</a:t>
            </a:r>
            <a:r>
              <a:rPr lang="en-BE" sz="1200" b="0" dirty="0">
                <a:solidFill>
                  <a:srgbClr val="202020"/>
                </a:solidFill>
                <a:effectLst/>
                <a:latin typeface="Menlo" panose="020B0609030804020204" pitchFamily="49" charset="0"/>
              </a:rPr>
              <a:t>, </a:t>
            </a:r>
            <a:r>
              <a:rPr lang="en-BE" sz="1200" b="0" dirty="0">
                <a:solidFill>
                  <a:srgbClr val="00B0F0"/>
                </a:solidFill>
                <a:effectLst/>
                <a:latin typeface="Menlo" panose="020B0609030804020204" pitchFamily="49" charset="0"/>
              </a:rPr>
              <a:t>mat_filter &gt; </a:t>
            </a:r>
            <a:r>
              <a:rPr lang="en-BE" sz="1200" b="0" dirty="0">
                <a:solidFill>
                  <a:srgbClr val="098658"/>
                </a:solidFill>
                <a:effectLst/>
                <a:latin typeface="Menlo" panose="020B0609030804020204" pitchFamily="49" charset="0"/>
              </a:rPr>
              <a:t>2</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8250DF"/>
                </a:solidFill>
                <a:effectLst/>
                <a:latin typeface="Menlo" panose="020B0609030804020204" pitchFamily="49" charset="0"/>
              </a:rPr>
              <a:t>print</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'Enkel de elementen &gt; 2:'</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mat_filter</a:t>
            </a:r>
            <a:r>
              <a:rPr lang="en-BE" sz="1200" b="0" dirty="0">
                <a:solidFill>
                  <a:srgbClr val="202020"/>
                </a:solidFill>
                <a:effectLst/>
                <a:latin typeface="Menlo" panose="020B0609030804020204" pitchFamily="49" charset="0"/>
              </a:rPr>
              <a:t>[</a:t>
            </a:r>
            <a:r>
              <a:rPr lang="en-BE" sz="1200" b="0" dirty="0">
                <a:solidFill>
                  <a:srgbClr val="1F2328"/>
                </a:solidFill>
                <a:effectLst/>
                <a:latin typeface="Menlo" panose="020B0609030804020204" pitchFamily="49" charset="0"/>
              </a:rPr>
              <a:t>mat_filter</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&gt;</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2</a:t>
            </a:r>
            <a:r>
              <a:rPr lang="en-BE" sz="1200" b="0" dirty="0">
                <a:solidFill>
                  <a:srgbClr val="202020"/>
                </a:solidFill>
                <a:effectLst/>
                <a:latin typeface="Menlo" panose="020B0609030804020204" pitchFamily="49" charset="0"/>
              </a:rPr>
              <a:t>])</a:t>
            </a:r>
          </a:p>
          <a:p>
            <a:pPr>
              <a:lnSpc>
                <a:spcPct val="125000"/>
              </a:lnSpc>
              <a:buNone/>
            </a:pPr>
            <a:br>
              <a:rPr lang="en-BE" sz="1200" b="0" dirty="0">
                <a:solidFill>
                  <a:srgbClr val="202020"/>
                </a:solidFill>
                <a:effectLst/>
                <a:latin typeface="Menlo" panose="020B0609030804020204" pitchFamily="49" charset="0"/>
              </a:rPr>
            </a:br>
            <a:endParaRPr lang="en-BE" sz="1200" b="0" dirty="0">
              <a:solidFill>
                <a:srgbClr val="202020"/>
              </a:solidFill>
              <a:effectLst/>
              <a:latin typeface="Menlo" panose="020B0609030804020204" pitchFamily="49" charset="0"/>
            </a:endParaRPr>
          </a:p>
          <a:p>
            <a:pPr>
              <a:lnSpc>
                <a:spcPct val="125000"/>
              </a:lnSpc>
              <a:buNone/>
            </a:pPr>
            <a:r>
              <a:rPr lang="en-BE" sz="1200" b="0" dirty="0">
                <a:solidFill>
                  <a:srgbClr val="1F2328"/>
                </a:solidFill>
                <a:effectLst/>
                <a:latin typeface="Menlo" panose="020B0609030804020204" pitchFamily="49" charset="0"/>
              </a:rPr>
              <a:t>mat_filter_kopie</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mat_filter</a:t>
            </a:r>
            <a:r>
              <a:rPr lang="en-BE" sz="1200" b="0" dirty="0">
                <a:solidFill>
                  <a:srgbClr val="202020"/>
                </a:solidFill>
                <a:effectLst/>
                <a:latin typeface="Menlo" panose="020B0609030804020204" pitchFamily="49" charset="0"/>
              </a:rPr>
              <a:t>.</a:t>
            </a:r>
            <a:r>
              <a:rPr lang="en-BE" sz="1200" b="0" dirty="0">
                <a:solidFill>
                  <a:srgbClr val="8250DF"/>
                </a:solidFill>
                <a:effectLst/>
                <a:latin typeface="Menlo" panose="020B0609030804020204" pitchFamily="49" charset="0"/>
              </a:rPr>
              <a:t>copy</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1F2328"/>
                </a:solidFill>
                <a:effectLst/>
                <a:latin typeface="Menlo" panose="020B0609030804020204" pitchFamily="49" charset="0"/>
              </a:rPr>
              <a:t>mat_filter_kopie</a:t>
            </a:r>
            <a:r>
              <a:rPr lang="en-BE" sz="1200" b="0" dirty="0">
                <a:solidFill>
                  <a:srgbClr val="202020"/>
                </a:solidFill>
                <a:effectLst/>
                <a:latin typeface="Menlo" panose="020B0609030804020204" pitchFamily="49" charset="0"/>
              </a:rPr>
              <a:t>[</a:t>
            </a:r>
            <a:r>
              <a:rPr lang="en-BE" sz="1200" b="0" dirty="0">
                <a:solidFill>
                  <a:srgbClr val="1F2328"/>
                </a:solidFill>
                <a:effectLst/>
                <a:latin typeface="Menlo" panose="020B0609030804020204" pitchFamily="49" charset="0"/>
              </a:rPr>
              <a:t>mat_filter_kopie</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&gt;</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2</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0</a:t>
            </a:r>
            <a:endParaRPr lang="en-BE" sz="1200" b="0" dirty="0">
              <a:solidFill>
                <a:srgbClr val="202020"/>
              </a:solidFill>
              <a:effectLst/>
              <a:latin typeface="Menlo" panose="020B0609030804020204" pitchFamily="49" charset="0"/>
            </a:endParaRPr>
          </a:p>
          <a:p>
            <a:pPr>
              <a:lnSpc>
                <a:spcPct val="125000"/>
              </a:lnSpc>
              <a:buNone/>
            </a:pPr>
            <a:r>
              <a:rPr lang="en-BE" sz="1200" b="0" dirty="0">
                <a:solidFill>
                  <a:srgbClr val="8250DF"/>
                </a:solidFill>
                <a:effectLst/>
                <a:latin typeface="Menlo" panose="020B0609030804020204" pitchFamily="49" charset="0"/>
              </a:rPr>
              <a:t>print</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'Elementen &gt; 2 vervangen door 0:'</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mat_filter_kopie</a:t>
            </a:r>
            <a:r>
              <a:rPr lang="en-BE" sz="1200" b="0" dirty="0">
                <a:solidFill>
                  <a:srgbClr val="202020"/>
                </a:solidFill>
                <a:effectLst/>
                <a:latin typeface="Menlo" panose="020B0609030804020204" pitchFamily="49" charset="0"/>
              </a:rPr>
              <a:t>)</a:t>
            </a:r>
          </a:p>
        </p:txBody>
      </p:sp>
      <p:sp>
        <p:nvSpPr>
          <p:cNvPr id="8" name="TextBox 7">
            <a:extLst>
              <a:ext uri="{FF2B5EF4-FFF2-40B4-BE49-F238E27FC236}">
                <a16:creationId xmlns:a16="http://schemas.microsoft.com/office/drawing/2014/main" id="{8BC91170-7903-3F84-3FC4-57E8F523DBCB}"/>
              </a:ext>
            </a:extLst>
          </p:cNvPr>
          <p:cNvSpPr txBox="1"/>
          <p:nvPr/>
        </p:nvSpPr>
        <p:spPr>
          <a:xfrm>
            <a:off x="6540751" y="2838387"/>
            <a:ext cx="5406805" cy="1754326"/>
          </a:xfrm>
          <a:prstGeom prst="rect">
            <a:avLst/>
          </a:prstGeom>
          <a:noFill/>
          <a:ln>
            <a:solidFill>
              <a:schemeClr val="accent1"/>
            </a:solidFill>
          </a:ln>
        </p:spPr>
        <p:txBody>
          <a:bodyPr wrap="square">
            <a:spAutoFit/>
          </a:bodyPr>
          <a:lstStyle/>
          <a:p>
            <a:r>
              <a:rPr lang="en-BE" sz="1200" b="0" i="0" dirty="0">
                <a:solidFill>
                  <a:srgbClr val="202020"/>
                </a:solidFill>
                <a:effectLst/>
                <a:latin typeface="Menlo" panose="020B0609030804020204" pitchFamily="49" charset="0"/>
              </a:rPr>
              <a:t>Booleaans masker: [[</a:t>
            </a:r>
            <a:r>
              <a:rPr lang="en-BE" sz="1200" b="0" i="0" dirty="0">
                <a:solidFill>
                  <a:srgbClr val="FF0000"/>
                </a:solidFill>
                <a:effectLst/>
                <a:latin typeface="Menlo" panose="020B0609030804020204" pitchFamily="49" charset="0"/>
              </a:rPr>
              <a:t>False</a:t>
            </a:r>
            <a:r>
              <a:rPr lang="en-BE" sz="1200" b="0" i="0" dirty="0">
                <a:solidFill>
                  <a:srgbClr val="202020"/>
                </a:solidFill>
                <a:effectLst/>
                <a:latin typeface="Menlo" panose="020B0609030804020204" pitchFamily="49" charset="0"/>
              </a:rPr>
              <a:t> </a:t>
            </a:r>
            <a:r>
              <a:rPr lang="en-BE" sz="1200" b="0" i="0" dirty="0">
                <a:solidFill>
                  <a:srgbClr val="FF0000"/>
                </a:solidFill>
                <a:effectLst/>
                <a:latin typeface="Menlo" panose="020B0609030804020204" pitchFamily="49" charset="0"/>
              </a:rPr>
              <a:t>False</a:t>
            </a:r>
            <a:r>
              <a:rPr lang="en-BE" sz="1200" b="0" i="0" dirty="0">
                <a:solidFill>
                  <a:srgbClr val="202020"/>
                </a:solidFill>
                <a:effectLst/>
                <a:latin typeface="Menlo" panose="020B0609030804020204" pitchFamily="49" charset="0"/>
              </a:rPr>
              <a:t> </a:t>
            </a:r>
            <a:r>
              <a:rPr lang="en-BE" sz="1200" b="0" i="0" dirty="0">
                <a:solidFill>
                  <a:srgbClr val="00B050"/>
                </a:solidFill>
                <a:effectLst/>
                <a:latin typeface="Menlo" panose="020B0609030804020204" pitchFamily="49" charset="0"/>
              </a:rPr>
              <a:t>True</a:t>
            </a:r>
            <a:r>
              <a:rPr lang="en-BE" sz="1200" b="0" i="0" dirty="0">
                <a:solidFill>
                  <a:srgbClr val="202020"/>
                </a:solidFill>
                <a:effectLst/>
                <a:latin typeface="Menlo" panose="020B0609030804020204" pitchFamily="49" charset="0"/>
              </a:rPr>
              <a:t>] [ </a:t>
            </a:r>
            <a:r>
              <a:rPr lang="en-BE" sz="1200" b="0" i="0" dirty="0">
                <a:solidFill>
                  <a:srgbClr val="00B050"/>
                </a:solidFill>
                <a:effectLst/>
                <a:latin typeface="Menlo" panose="020B0609030804020204" pitchFamily="49" charset="0"/>
              </a:rPr>
              <a:t>True True True</a:t>
            </a:r>
            <a:r>
              <a:rPr lang="en-BE" sz="1200" b="0" i="0" dirty="0">
                <a:solidFill>
                  <a:srgbClr val="202020"/>
                </a:solidFill>
                <a:effectLst/>
                <a:latin typeface="Menlo" panose="020B0609030804020204" pitchFamily="49" charset="0"/>
              </a:rPr>
              <a:t>]] </a:t>
            </a:r>
          </a:p>
          <a:p>
            <a:r>
              <a:rPr lang="en-BE" sz="1200" b="0" i="0" dirty="0">
                <a:solidFill>
                  <a:srgbClr val="202020"/>
                </a:solidFill>
                <a:effectLst/>
                <a:latin typeface="Menlo" panose="020B0609030804020204" pitchFamily="49" charset="0"/>
              </a:rPr>
              <a:t>Enkel de elementen &gt; 2: [3 4 5 6] </a:t>
            </a:r>
          </a:p>
          <a:p>
            <a:endParaRPr lang="en-BE" sz="1200" b="0" i="0" dirty="0">
              <a:solidFill>
                <a:srgbClr val="202020"/>
              </a:solidFill>
              <a:effectLst/>
              <a:latin typeface="Menlo" panose="020B0609030804020204" pitchFamily="49" charset="0"/>
            </a:endParaRPr>
          </a:p>
          <a:p>
            <a:endParaRPr lang="en-BE" sz="1200" dirty="0">
              <a:solidFill>
                <a:srgbClr val="202020"/>
              </a:solidFill>
              <a:latin typeface="Menlo" panose="020B0609030804020204" pitchFamily="49" charset="0"/>
            </a:endParaRPr>
          </a:p>
          <a:p>
            <a:endParaRPr lang="en-BE" sz="1200" b="0" i="0" dirty="0">
              <a:solidFill>
                <a:srgbClr val="202020"/>
              </a:solidFill>
              <a:effectLst/>
              <a:latin typeface="Menlo" panose="020B0609030804020204" pitchFamily="49" charset="0"/>
            </a:endParaRPr>
          </a:p>
          <a:p>
            <a:endParaRPr lang="en-BE" sz="1200" dirty="0">
              <a:solidFill>
                <a:srgbClr val="202020"/>
              </a:solidFill>
              <a:latin typeface="Menlo" panose="020B0609030804020204" pitchFamily="49" charset="0"/>
            </a:endParaRPr>
          </a:p>
          <a:p>
            <a:endParaRPr lang="en-BE" sz="1200" b="0" i="0" dirty="0">
              <a:solidFill>
                <a:srgbClr val="202020"/>
              </a:solidFill>
              <a:effectLst/>
              <a:latin typeface="Menlo" panose="020B0609030804020204" pitchFamily="49" charset="0"/>
            </a:endParaRPr>
          </a:p>
          <a:p>
            <a:endParaRPr lang="en-BE" sz="1200" b="0" i="0" dirty="0">
              <a:solidFill>
                <a:srgbClr val="202020"/>
              </a:solidFill>
              <a:effectLst/>
              <a:latin typeface="Menlo" panose="020B0609030804020204" pitchFamily="49" charset="0"/>
            </a:endParaRPr>
          </a:p>
          <a:p>
            <a:r>
              <a:rPr lang="en-BE" sz="1200" b="0" i="0" dirty="0">
                <a:solidFill>
                  <a:srgbClr val="202020"/>
                </a:solidFill>
                <a:effectLst/>
                <a:latin typeface="Menlo" panose="020B0609030804020204" pitchFamily="49" charset="0"/>
              </a:rPr>
              <a:t>Elementen &gt; 2 vervangen door 0: [[1 2 0] [0 0 0]]</a:t>
            </a:r>
            <a:endParaRPr lang="en-BE" sz="1200" dirty="0"/>
          </a:p>
        </p:txBody>
      </p:sp>
      <p:sp>
        <p:nvSpPr>
          <p:cNvPr id="14" name="TextBox 13">
            <a:extLst>
              <a:ext uri="{FF2B5EF4-FFF2-40B4-BE49-F238E27FC236}">
                <a16:creationId xmlns:a16="http://schemas.microsoft.com/office/drawing/2014/main" id="{03D2E5B8-B0B3-47BC-2A83-0BF7B00B8505}"/>
              </a:ext>
            </a:extLst>
          </p:cNvPr>
          <p:cNvSpPr txBox="1"/>
          <p:nvPr/>
        </p:nvSpPr>
        <p:spPr>
          <a:xfrm>
            <a:off x="4497309" y="2146657"/>
            <a:ext cx="6097508" cy="369332"/>
          </a:xfrm>
          <a:prstGeom prst="rect">
            <a:avLst/>
          </a:prstGeom>
          <a:noFill/>
        </p:spPr>
        <p:txBody>
          <a:bodyPr wrap="square">
            <a:spAutoFit/>
          </a:bodyPr>
          <a:lstStyle/>
          <a:p>
            <a:r>
              <a:rPr lang="en-BE" sz="1800" b="0" i="0" dirty="0">
                <a:solidFill>
                  <a:srgbClr val="202020"/>
                </a:solidFill>
                <a:effectLst/>
                <a:latin typeface="Menlo" panose="020B0609030804020204" pitchFamily="49" charset="0"/>
              </a:rPr>
              <a:t>array([[</a:t>
            </a:r>
            <a:r>
              <a:rPr lang="en-BE" sz="1800" b="0" i="0" dirty="0">
                <a:solidFill>
                  <a:srgbClr val="FF0000"/>
                </a:solidFill>
                <a:effectLst/>
                <a:latin typeface="Menlo" panose="020B0609030804020204" pitchFamily="49" charset="0"/>
              </a:rPr>
              <a:t>1</a:t>
            </a:r>
            <a:r>
              <a:rPr lang="en-BE" sz="1800" b="0" i="0" dirty="0">
                <a:solidFill>
                  <a:srgbClr val="202020"/>
                </a:solidFill>
                <a:effectLst/>
                <a:latin typeface="Menlo" panose="020B0609030804020204" pitchFamily="49" charset="0"/>
              </a:rPr>
              <a:t>, </a:t>
            </a:r>
            <a:r>
              <a:rPr lang="en-BE" sz="1800" b="0" i="0" dirty="0">
                <a:solidFill>
                  <a:srgbClr val="FF0000"/>
                </a:solidFill>
                <a:effectLst/>
                <a:latin typeface="Menlo" panose="020B0609030804020204" pitchFamily="49" charset="0"/>
              </a:rPr>
              <a:t>2</a:t>
            </a:r>
            <a:r>
              <a:rPr lang="en-BE" sz="1800" b="0" i="0" dirty="0">
                <a:solidFill>
                  <a:srgbClr val="202020"/>
                </a:solidFill>
                <a:effectLst/>
                <a:latin typeface="Menlo" panose="020B0609030804020204" pitchFamily="49" charset="0"/>
              </a:rPr>
              <a:t>, </a:t>
            </a:r>
            <a:r>
              <a:rPr lang="en-BE" sz="1800" b="0" i="0" dirty="0">
                <a:solidFill>
                  <a:srgbClr val="00B050"/>
                </a:solidFill>
                <a:effectLst/>
                <a:latin typeface="Menlo" panose="020B0609030804020204" pitchFamily="49" charset="0"/>
              </a:rPr>
              <a:t>3</a:t>
            </a:r>
            <a:r>
              <a:rPr lang="en-BE" sz="1800" b="0" i="0" dirty="0">
                <a:solidFill>
                  <a:srgbClr val="202020"/>
                </a:solidFill>
                <a:effectLst/>
                <a:latin typeface="Menlo" panose="020B0609030804020204" pitchFamily="49" charset="0"/>
              </a:rPr>
              <a:t>], [</a:t>
            </a:r>
            <a:r>
              <a:rPr lang="en-BE" sz="1800" b="0" i="0" dirty="0">
                <a:solidFill>
                  <a:srgbClr val="00B050"/>
                </a:solidFill>
                <a:effectLst/>
                <a:latin typeface="Menlo" panose="020B0609030804020204" pitchFamily="49" charset="0"/>
              </a:rPr>
              <a:t>4</a:t>
            </a:r>
            <a:r>
              <a:rPr lang="en-BE" sz="1800" b="0" i="0" dirty="0">
                <a:solidFill>
                  <a:srgbClr val="202020"/>
                </a:solidFill>
                <a:effectLst/>
                <a:latin typeface="Menlo" panose="020B0609030804020204" pitchFamily="49" charset="0"/>
              </a:rPr>
              <a:t>, </a:t>
            </a:r>
            <a:r>
              <a:rPr lang="en-BE" sz="1800" b="0" i="0" dirty="0">
                <a:solidFill>
                  <a:srgbClr val="00B050"/>
                </a:solidFill>
                <a:effectLst/>
                <a:latin typeface="Menlo" panose="020B0609030804020204" pitchFamily="49" charset="0"/>
              </a:rPr>
              <a:t>5</a:t>
            </a:r>
            <a:r>
              <a:rPr lang="en-BE" sz="1800" b="0" i="0" dirty="0">
                <a:solidFill>
                  <a:srgbClr val="202020"/>
                </a:solidFill>
                <a:effectLst/>
                <a:latin typeface="Menlo" panose="020B0609030804020204" pitchFamily="49" charset="0"/>
              </a:rPr>
              <a:t>, </a:t>
            </a:r>
            <a:r>
              <a:rPr lang="en-BE" sz="1800" b="0" i="0" dirty="0">
                <a:solidFill>
                  <a:srgbClr val="00B050"/>
                </a:solidFill>
                <a:effectLst/>
                <a:latin typeface="Menlo" panose="020B0609030804020204" pitchFamily="49" charset="0"/>
              </a:rPr>
              <a:t>6</a:t>
            </a:r>
            <a:r>
              <a:rPr lang="en-BE" sz="1800" b="0" i="0" dirty="0">
                <a:solidFill>
                  <a:srgbClr val="202020"/>
                </a:solidFill>
                <a:effectLst/>
                <a:latin typeface="Menlo" panose="020B0609030804020204" pitchFamily="49" charset="0"/>
              </a:rPr>
              <a:t>]])</a:t>
            </a:r>
            <a:endParaRPr lang="en-BE" dirty="0"/>
          </a:p>
        </p:txBody>
      </p:sp>
      <p:sp>
        <p:nvSpPr>
          <p:cNvPr id="15" name="TextBox 14">
            <a:extLst>
              <a:ext uri="{FF2B5EF4-FFF2-40B4-BE49-F238E27FC236}">
                <a16:creationId xmlns:a16="http://schemas.microsoft.com/office/drawing/2014/main" id="{4BF65197-2F97-69AB-A493-0DFB5EB41811}"/>
              </a:ext>
            </a:extLst>
          </p:cNvPr>
          <p:cNvSpPr txBox="1"/>
          <p:nvPr/>
        </p:nvSpPr>
        <p:spPr>
          <a:xfrm>
            <a:off x="10995661" y="2469055"/>
            <a:ext cx="1073739" cy="369332"/>
          </a:xfrm>
          <a:prstGeom prst="rect">
            <a:avLst/>
          </a:prstGeom>
          <a:noFill/>
        </p:spPr>
        <p:txBody>
          <a:bodyPr wrap="square" rtlCol="0">
            <a:spAutoFit/>
          </a:bodyPr>
          <a:lstStyle/>
          <a:p>
            <a:r>
              <a:rPr lang="nl-NL" dirty="0"/>
              <a:t>Output:</a:t>
            </a:r>
          </a:p>
        </p:txBody>
      </p:sp>
      <p:sp>
        <p:nvSpPr>
          <p:cNvPr id="16" name="TextBox 15">
            <a:extLst>
              <a:ext uri="{FF2B5EF4-FFF2-40B4-BE49-F238E27FC236}">
                <a16:creationId xmlns:a16="http://schemas.microsoft.com/office/drawing/2014/main" id="{EB7EF2E8-AF8E-6EBE-B612-447489667FF1}"/>
              </a:ext>
            </a:extLst>
          </p:cNvPr>
          <p:cNvSpPr txBox="1"/>
          <p:nvPr/>
        </p:nvSpPr>
        <p:spPr>
          <a:xfrm>
            <a:off x="521583" y="2479805"/>
            <a:ext cx="918840" cy="369332"/>
          </a:xfrm>
          <a:prstGeom prst="rect">
            <a:avLst/>
          </a:prstGeom>
          <a:noFill/>
        </p:spPr>
        <p:txBody>
          <a:bodyPr wrap="square" rtlCol="0">
            <a:spAutoFit/>
          </a:bodyPr>
          <a:lstStyle/>
          <a:p>
            <a:r>
              <a:rPr lang="nl-NL" dirty="0"/>
              <a:t>Code:</a:t>
            </a:r>
          </a:p>
        </p:txBody>
      </p:sp>
      <p:sp>
        <p:nvSpPr>
          <p:cNvPr id="2" name="TextBox 1">
            <a:extLst>
              <a:ext uri="{FF2B5EF4-FFF2-40B4-BE49-F238E27FC236}">
                <a16:creationId xmlns:a16="http://schemas.microsoft.com/office/drawing/2014/main" id="{4D5B06AA-BDA8-DB7E-864E-AF81A4E55C1D}"/>
              </a:ext>
            </a:extLst>
          </p:cNvPr>
          <p:cNvSpPr txBox="1"/>
          <p:nvPr/>
        </p:nvSpPr>
        <p:spPr>
          <a:xfrm>
            <a:off x="2921619" y="1454927"/>
            <a:ext cx="3757483" cy="369332"/>
          </a:xfrm>
          <a:prstGeom prst="rect">
            <a:avLst/>
          </a:prstGeom>
          <a:noFill/>
        </p:spPr>
        <p:txBody>
          <a:bodyPr wrap="square" rtlCol="0">
            <a:spAutoFit/>
          </a:bodyPr>
          <a:lstStyle/>
          <a:p>
            <a:r>
              <a:rPr lang="en-US" dirty="0">
                <a:solidFill>
                  <a:srgbClr val="00B0F0"/>
                </a:solidFill>
              </a:rPr>
              <a:t>De filter </a:t>
            </a:r>
            <a:r>
              <a:rPr lang="en-US" dirty="0" err="1">
                <a:solidFill>
                  <a:srgbClr val="00B0F0"/>
                </a:solidFill>
              </a:rPr>
              <a:t>conditie</a:t>
            </a:r>
            <a:endParaRPr lang="en-US" dirty="0">
              <a:solidFill>
                <a:srgbClr val="00B0F0"/>
              </a:solidFill>
            </a:endParaRPr>
          </a:p>
        </p:txBody>
      </p:sp>
      <p:cxnSp>
        <p:nvCxnSpPr>
          <p:cNvPr id="7" name="Straight Arrow Connector 6">
            <a:extLst>
              <a:ext uri="{FF2B5EF4-FFF2-40B4-BE49-F238E27FC236}">
                <a16:creationId xmlns:a16="http://schemas.microsoft.com/office/drawing/2014/main" id="{1CDF9F94-32B7-C869-8A99-D7DB08135D44}"/>
              </a:ext>
            </a:extLst>
          </p:cNvPr>
          <p:cNvCxnSpPr/>
          <p:nvPr/>
        </p:nvCxnSpPr>
        <p:spPr>
          <a:xfrm flipV="1">
            <a:off x="2608310" y="1824259"/>
            <a:ext cx="721112" cy="96086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AB5B449-4412-4C98-F52E-3B4B1DC42F74}"/>
              </a:ext>
            </a:extLst>
          </p:cNvPr>
          <p:cNvSpPr txBox="1"/>
          <p:nvPr/>
        </p:nvSpPr>
        <p:spPr>
          <a:xfrm>
            <a:off x="3201618" y="4817327"/>
            <a:ext cx="5788764" cy="1200329"/>
          </a:xfrm>
          <a:prstGeom prst="rect">
            <a:avLst/>
          </a:prstGeom>
          <a:noFill/>
        </p:spPr>
        <p:txBody>
          <a:bodyPr wrap="none" rtlCol="0">
            <a:spAutoFit/>
          </a:bodyPr>
          <a:lstStyle/>
          <a:p>
            <a:r>
              <a:rPr lang="en-US" dirty="0"/>
              <a:t>Filter-</a:t>
            </a:r>
            <a:r>
              <a:rPr lang="en-US" dirty="0" err="1"/>
              <a:t>condities</a:t>
            </a:r>
            <a:r>
              <a:rPr lang="en-US" dirty="0"/>
              <a:t> </a:t>
            </a:r>
            <a:r>
              <a:rPr lang="en-US" dirty="0" err="1"/>
              <a:t>kunnen</a:t>
            </a:r>
            <a:r>
              <a:rPr lang="en-US" dirty="0"/>
              <a:t> </a:t>
            </a:r>
            <a:r>
              <a:rPr lang="en-US" dirty="0" err="1"/>
              <a:t>aan</a:t>
            </a:r>
            <a:r>
              <a:rPr lang="en-US" dirty="0"/>
              <a:t> </a:t>
            </a:r>
            <a:r>
              <a:rPr lang="en-US" dirty="0" err="1"/>
              <a:t>elkaar</a:t>
            </a:r>
            <a:r>
              <a:rPr lang="en-US" dirty="0"/>
              <a:t> </a:t>
            </a:r>
            <a:r>
              <a:rPr lang="en-US" dirty="0" err="1"/>
              <a:t>geplakt</a:t>
            </a:r>
            <a:r>
              <a:rPr lang="en-US" dirty="0"/>
              <a:t> </a:t>
            </a:r>
            <a:r>
              <a:rPr lang="en-US" dirty="0" err="1"/>
              <a:t>worden</a:t>
            </a:r>
            <a:r>
              <a:rPr lang="en-US" dirty="0"/>
              <a:t> met:</a:t>
            </a:r>
          </a:p>
          <a:p>
            <a:r>
              <a:rPr lang="en-US" dirty="0">
                <a:latin typeface="Courier New" panose="02070309020205020404" pitchFamily="49" charset="0"/>
                <a:cs typeface="Courier New" panose="02070309020205020404" pitchFamily="49" charset="0"/>
              </a:rPr>
              <a:t>&amp;</a:t>
            </a:r>
            <a:r>
              <a:rPr lang="en-US" dirty="0"/>
              <a:t>	(</a:t>
            </a:r>
            <a:r>
              <a:rPr lang="en-US" dirty="0" err="1"/>
              <a:t>niet</a:t>
            </a:r>
            <a:r>
              <a:rPr lang="en-US" dirty="0"/>
              <a:t> </a:t>
            </a:r>
            <a:r>
              <a:rPr lang="en-US" dirty="0">
                <a:latin typeface="Courier New" panose="02070309020205020404" pitchFamily="49" charset="0"/>
                <a:cs typeface="Courier New" panose="02070309020205020404" pitchFamily="49" charset="0"/>
              </a:rPr>
              <a:t>and</a:t>
            </a:r>
            <a:r>
              <a:rPr lang="en-US" dirty="0"/>
              <a:t>)</a:t>
            </a:r>
          </a:p>
          <a:p>
            <a:r>
              <a:rPr lang="en-US" dirty="0">
                <a:latin typeface="Courier New" panose="02070309020205020404" pitchFamily="49" charset="0"/>
                <a:cs typeface="Courier New" panose="02070309020205020404" pitchFamily="49" charset="0"/>
              </a:rPr>
              <a:t>|</a:t>
            </a:r>
            <a:r>
              <a:rPr lang="en-US" dirty="0"/>
              <a:t> 	(</a:t>
            </a:r>
            <a:r>
              <a:rPr lang="en-US" dirty="0" err="1"/>
              <a:t>niet</a:t>
            </a:r>
            <a:r>
              <a:rPr lang="en-US" dirty="0"/>
              <a:t> </a:t>
            </a:r>
            <a:r>
              <a:rPr lang="en-US" dirty="0">
                <a:latin typeface="Courier New" panose="02070309020205020404" pitchFamily="49" charset="0"/>
                <a:cs typeface="Courier New" panose="02070309020205020404" pitchFamily="49" charset="0"/>
              </a:rPr>
              <a:t>or</a:t>
            </a:r>
            <a:r>
              <a:rPr lang="en-US" dirty="0"/>
              <a:t>)</a:t>
            </a:r>
          </a:p>
          <a:p>
            <a:r>
              <a:rPr lang="en-US" dirty="0"/>
              <a:t>Dit is </a:t>
            </a:r>
            <a:r>
              <a:rPr lang="en-US" dirty="0" err="1"/>
              <a:t>ook</a:t>
            </a:r>
            <a:r>
              <a:rPr lang="en-US" dirty="0"/>
              <a:t> zo </a:t>
            </a:r>
            <a:r>
              <a:rPr lang="en-US" dirty="0" err="1"/>
              <a:t>bij</a:t>
            </a:r>
            <a:r>
              <a:rPr lang="en-US" dirty="0"/>
              <a:t> pandas (</a:t>
            </a:r>
            <a:r>
              <a:rPr lang="en-US" dirty="0" err="1"/>
              <a:t>zie</a:t>
            </a:r>
            <a:r>
              <a:rPr lang="en-US" dirty="0"/>
              <a:t> later)</a:t>
            </a:r>
          </a:p>
        </p:txBody>
      </p:sp>
    </p:spTree>
    <p:extLst>
      <p:ext uri="{BB962C8B-B14F-4D97-AF65-F5344CB8AC3E}">
        <p14:creationId xmlns:p14="http://schemas.microsoft.com/office/powerpoint/2010/main" val="1075053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A8ACB0-18EF-246C-DEE6-AF02D58C0177}"/>
              </a:ext>
            </a:extLst>
          </p:cNvPr>
          <p:cNvSpPr>
            <a:spLocks noGrp="1"/>
          </p:cNvSpPr>
          <p:nvPr>
            <p:ph type="sldNum" sz="quarter" idx="12"/>
          </p:nvPr>
        </p:nvSpPr>
        <p:spPr/>
        <p:txBody>
          <a:bodyPr/>
          <a:lstStyle/>
          <a:p>
            <a:fld id="{D270EDC2-4F5E-5547-954F-5222C286AC2A}" type="slidenum">
              <a:rPr lang="nl-NL" smtClean="0"/>
              <a:t>32</a:t>
            </a:fld>
            <a:endParaRPr lang="nl-NL" dirty="0"/>
          </a:p>
        </p:txBody>
      </p:sp>
      <p:sp>
        <p:nvSpPr>
          <p:cNvPr id="4" name="Title 3">
            <a:extLst>
              <a:ext uri="{FF2B5EF4-FFF2-40B4-BE49-F238E27FC236}">
                <a16:creationId xmlns:a16="http://schemas.microsoft.com/office/drawing/2014/main" id="{477243BA-EFB1-74AE-70EF-26A96423F6E4}"/>
              </a:ext>
            </a:extLst>
          </p:cNvPr>
          <p:cNvSpPr>
            <a:spLocks noGrp="1"/>
          </p:cNvSpPr>
          <p:nvPr>
            <p:ph type="title"/>
          </p:nvPr>
        </p:nvSpPr>
        <p:spPr/>
        <p:txBody>
          <a:bodyPr/>
          <a:lstStyle/>
          <a:p>
            <a:r>
              <a:rPr lang="nl-NL" dirty="0"/>
              <a:t>Voorbeeld </a:t>
            </a:r>
            <a:r>
              <a:rPr lang="nl-NL" dirty="0" err="1">
                <a:latin typeface="Courier New" panose="02070309020205020404" pitchFamily="49" charset="0"/>
                <a:cs typeface="Courier New" panose="02070309020205020404" pitchFamily="49" charset="0"/>
              </a:rPr>
              <a:t>where</a:t>
            </a:r>
            <a:r>
              <a:rPr lang="nl-NL" dirty="0">
                <a:latin typeface="Courier New" panose="02070309020205020404" pitchFamily="49" charset="0"/>
                <a:cs typeface="Courier New" panose="02070309020205020404" pitchFamily="49" charset="0"/>
              </a:rPr>
              <a:t>()</a:t>
            </a:r>
          </a:p>
        </p:txBody>
      </p:sp>
      <p:sp>
        <p:nvSpPr>
          <p:cNvPr id="5" name="Rectangle 1">
            <a:extLst>
              <a:ext uri="{FF2B5EF4-FFF2-40B4-BE49-F238E27FC236}">
                <a16:creationId xmlns:a16="http://schemas.microsoft.com/office/drawing/2014/main" id="{8FAFEEB5-B5F5-D25E-078D-979CFD5145F0}"/>
              </a:ext>
            </a:extLst>
          </p:cNvPr>
          <p:cNvSpPr>
            <a:spLocks noChangeArrowheads="1"/>
          </p:cNvSpPr>
          <p:nvPr/>
        </p:nvSpPr>
        <p:spPr bwMode="auto">
          <a:xfrm>
            <a:off x="435051" y="2413337"/>
            <a:ext cx="4121452" cy="20313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80808"/>
                </a:solidFill>
                <a:effectLst/>
                <a:latin typeface="JetBrains Mono"/>
              </a:rPr>
              <a:t>mat_1 = </a:t>
            </a:r>
            <a:r>
              <a:rPr kumimoji="0" lang="nl-NL" sz="1400" b="0" i="0" u="none" strike="noStrike" cap="none" normalizeH="0" baseline="0" dirty="0" err="1">
                <a:ln>
                  <a:noFill/>
                </a:ln>
                <a:solidFill>
                  <a:srgbClr val="080808"/>
                </a:solidFill>
                <a:effectLst/>
                <a:latin typeface="JetBrains Mono"/>
              </a:rPr>
              <a:t>np.array</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4</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5</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6</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mat_1 = </a:t>
            </a:r>
            <a:r>
              <a:rPr kumimoji="0" lang="nl-NL" sz="1400" b="0" i="0" u="none" strike="noStrike" cap="none" normalizeH="0" baseline="0" dirty="0" err="1">
                <a:ln>
                  <a:noFill/>
                </a:ln>
                <a:solidFill>
                  <a:srgbClr val="080808"/>
                </a:solidFill>
                <a:effectLst/>
                <a:latin typeface="JetBrains Mono"/>
              </a:rPr>
              <a:t>np.reshape</a:t>
            </a:r>
            <a:r>
              <a:rPr kumimoji="0" lang="nl-NL" sz="1400" b="0" i="0" u="none" strike="noStrike" cap="none" normalizeH="0" baseline="0" dirty="0">
                <a:ln>
                  <a:noFill/>
                </a:ln>
                <a:solidFill>
                  <a:srgbClr val="080808"/>
                </a:solidFill>
                <a:effectLst/>
                <a:latin typeface="JetBrains Mono"/>
              </a:rPr>
              <a:t>(mat_1, (</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3</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mat_1</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err="1">
                <a:ln>
                  <a:noFill/>
                </a:ln>
                <a:solidFill>
                  <a:srgbClr val="080808"/>
                </a:solidFill>
                <a:effectLst/>
                <a:latin typeface="JetBrains Mono"/>
              </a:rPr>
              <a:t>nieuwe_mat</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np.where</a:t>
            </a:r>
            <a:r>
              <a:rPr kumimoji="0" lang="nl-NL" sz="1400" b="0" i="0" u="none" strike="noStrike" cap="none" normalizeH="0" baseline="0" dirty="0">
                <a:ln>
                  <a:noFill/>
                </a:ln>
                <a:solidFill>
                  <a:srgbClr val="080808"/>
                </a:solidFill>
                <a:effectLst/>
                <a:latin typeface="JetBrains Mono"/>
              </a:rPr>
              <a:t>(mat_1 &gt; </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 -</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err="1">
                <a:ln>
                  <a:noFill/>
                </a:ln>
                <a:solidFill>
                  <a:srgbClr val="080808"/>
                </a:solidFill>
                <a:effectLst/>
                <a:latin typeface="JetBrains Mono"/>
              </a:rPr>
              <a:t>nieuwe_mat</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err="1">
                <a:ln>
                  <a:noFill/>
                </a:ln>
                <a:solidFill>
                  <a:srgbClr val="080808"/>
                </a:solidFill>
                <a:effectLst/>
                <a:latin typeface="JetBrains Mono"/>
              </a:rPr>
              <a:t>nieuwe_mat</a:t>
            </a:r>
            <a:r>
              <a:rPr kumimoji="0" lang="nl-NL" sz="1400" b="0" i="0" u="none" strike="noStrike" cap="none" normalizeH="0" baseline="0" dirty="0">
                <a:ln>
                  <a:noFill/>
                </a:ln>
                <a:solidFill>
                  <a:srgbClr val="080808"/>
                </a:solidFill>
                <a:effectLst/>
                <a:latin typeface="JetBrains Mono"/>
              </a:rPr>
              <a:t> = </a:t>
            </a:r>
            <a:r>
              <a:rPr kumimoji="0" lang="nl-NL" sz="1400" b="0" i="0" u="none" strike="noStrike" cap="none" normalizeH="0" baseline="0" dirty="0" err="1">
                <a:ln>
                  <a:noFill/>
                </a:ln>
                <a:solidFill>
                  <a:srgbClr val="080808"/>
                </a:solidFill>
                <a:effectLst/>
                <a:latin typeface="JetBrains Mono"/>
              </a:rPr>
              <a:t>np.where</a:t>
            </a:r>
            <a:r>
              <a:rPr kumimoji="0" lang="nl-NL" sz="1400" b="0" i="0" u="none" strike="noStrike" cap="none" normalizeH="0" baseline="0" dirty="0">
                <a:ln>
                  <a:noFill/>
                </a:ln>
                <a:solidFill>
                  <a:srgbClr val="080808"/>
                </a:solidFill>
                <a:effectLst/>
                <a:latin typeface="JetBrains Mono"/>
              </a:rPr>
              <a:t>(mat_1 &gt; </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 mat_1, </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err="1">
                <a:ln>
                  <a:noFill/>
                </a:ln>
                <a:solidFill>
                  <a:srgbClr val="080808"/>
                </a:solidFill>
                <a:effectLst/>
                <a:latin typeface="JetBrains Mono"/>
              </a:rPr>
              <a:t>nieuwe_mat</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946FD686-BDC9-B42F-63FD-56F175567487}"/>
              </a:ext>
            </a:extLst>
          </p:cNvPr>
          <p:cNvSpPr>
            <a:spLocks noChangeArrowheads="1"/>
          </p:cNvSpPr>
          <p:nvPr/>
        </p:nvSpPr>
        <p:spPr bwMode="auto">
          <a:xfrm>
            <a:off x="5956516" y="2413337"/>
            <a:ext cx="1961626" cy="50783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 2, 3],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[4, 5, 6]])</a:t>
            </a:r>
            <a:r>
              <a:rPr kumimoji="0" lang="nl-NL" sz="600" b="0" i="0" u="none" strike="noStrike" cap="none" normalizeH="0" baseline="0" dirty="0">
                <a:ln>
                  <a:noFill/>
                </a:ln>
                <a:solidFill>
                  <a:schemeClr val="tx1"/>
                </a:solidFill>
                <a:effectLst/>
              </a:rPr>
              <a:t> </a:t>
            </a:r>
            <a:endParaRPr kumimoji="0" lang="nl-NL" sz="24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B2E421DC-E7B6-ED4E-99DF-29FF9FE14D29}"/>
              </a:ext>
            </a:extLst>
          </p:cNvPr>
          <p:cNvSpPr>
            <a:spLocks noChangeArrowheads="1"/>
          </p:cNvSpPr>
          <p:nvPr/>
        </p:nvSpPr>
        <p:spPr bwMode="auto">
          <a:xfrm>
            <a:off x="5956517" y="3226870"/>
            <a:ext cx="1961626" cy="50783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-10, -10,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[10, 10, 10]])</a:t>
            </a:r>
            <a:r>
              <a:rPr kumimoji="0" lang="nl-NL" sz="600" b="0" i="0" u="none" strike="noStrike" cap="none" normalizeH="0" baseline="0" dirty="0">
                <a:ln>
                  <a:noFill/>
                </a:ln>
                <a:solidFill>
                  <a:schemeClr val="tx1"/>
                </a:solidFill>
                <a:effectLst/>
              </a:rPr>
              <a:t> </a:t>
            </a:r>
            <a:endParaRPr kumimoji="0" lang="nl-NL" sz="24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1CEBBB45-5825-026E-1150-169879DFF55E}"/>
              </a:ext>
            </a:extLst>
          </p:cNvPr>
          <p:cNvSpPr>
            <a:spLocks noChangeArrowheads="1"/>
          </p:cNvSpPr>
          <p:nvPr/>
        </p:nvSpPr>
        <p:spPr bwMode="auto">
          <a:xfrm>
            <a:off x="5956516" y="3936831"/>
            <a:ext cx="1961626" cy="50783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[10, 10, 3],</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[ 4, 5, 6]])</a:t>
            </a:r>
            <a:r>
              <a:rPr kumimoji="0" lang="nl-NL" sz="600" b="0" i="0" u="none" strike="noStrike" cap="none" normalizeH="0" baseline="0" dirty="0">
                <a:ln>
                  <a:noFill/>
                </a:ln>
                <a:solidFill>
                  <a:schemeClr val="tx1"/>
                </a:solidFill>
                <a:effectLst/>
              </a:rPr>
              <a:t> </a:t>
            </a:r>
            <a:endParaRPr kumimoji="0" lang="nl-NL" sz="2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A2F00EC-CA60-D88B-E5A8-2F04550C0764}"/>
              </a:ext>
            </a:extLst>
          </p:cNvPr>
          <p:cNvSpPr txBox="1"/>
          <p:nvPr/>
        </p:nvSpPr>
        <p:spPr>
          <a:xfrm>
            <a:off x="5956516" y="2019094"/>
            <a:ext cx="1073739" cy="369332"/>
          </a:xfrm>
          <a:prstGeom prst="rect">
            <a:avLst/>
          </a:prstGeom>
          <a:noFill/>
        </p:spPr>
        <p:txBody>
          <a:bodyPr wrap="square" rtlCol="0">
            <a:spAutoFit/>
          </a:bodyPr>
          <a:lstStyle/>
          <a:p>
            <a:r>
              <a:rPr lang="nl-NL" dirty="0"/>
              <a:t>Output:</a:t>
            </a:r>
          </a:p>
        </p:txBody>
      </p:sp>
      <p:sp>
        <p:nvSpPr>
          <p:cNvPr id="10" name="TextBox 9">
            <a:extLst>
              <a:ext uri="{FF2B5EF4-FFF2-40B4-BE49-F238E27FC236}">
                <a16:creationId xmlns:a16="http://schemas.microsoft.com/office/drawing/2014/main" id="{6E320403-7D8F-A40F-B090-9A805362390E}"/>
              </a:ext>
            </a:extLst>
          </p:cNvPr>
          <p:cNvSpPr txBox="1"/>
          <p:nvPr/>
        </p:nvSpPr>
        <p:spPr>
          <a:xfrm>
            <a:off x="328041" y="2044005"/>
            <a:ext cx="918840" cy="369332"/>
          </a:xfrm>
          <a:prstGeom prst="rect">
            <a:avLst/>
          </a:prstGeom>
          <a:noFill/>
        </p:spPr>
        <p:txBody>
          <a:bodyPr wrap="square" rtlCol="0">
            <a:spAutoFit/>
          </a:bodyPr>
          <a:lstStyle/>
          <a:p>
            <a:r>
              <a:rPr lang="nl-NL" dirty="0"/>
              <a:t>Code:</a:t>
            </a:r>
          </a:p>
        </p:txBody>
      </p:sp>
      <p:sp>
        <p:nvSpPr>
          <p:cNvPr id="11" name="TextBox 10">
            <a:extLst>
              <a:ext uri="{FF2B5EF4-FFF2-40B4-BE49-F238E27FC236}">
                <a16:creationId xmlns:a16="http://schemas.microsoft.com/office/drawing/2014/main" id="{1798CDB1-941F-4B9B-340D-1913525363E7}"/>
              </a:ext>
            </a:extLst>
          </p:cNvPr>
          <p:cNvSpPr txBox="1"/>
          <p:nvPr/>
        </p:nvSpPr>
        <p:spPr>
          <a:xfrm>
            <a:off x="8229600" y="3167389"/>
            <a:ext cx="3277892" cy="523220"/>
          </a:xfrm>
          <a:prstGeom prst="rect">
            <a:avLst/>
          </a:prstGeom>
          <a:noFill/>
        </p:spPr>
        <p:txBody>
          <a:bodyPr wrap="square" rtlCol="0">
            <a:spAutoFit/>
          </a:bodyPr>
          <a:lstStyle/>
          <a:p>
            <a:r>
              <a:rPr lang="nl-NL" sz="1400" dirty="0"/>
              <a:t>Voorbeeld: dit wordt </a:t>
            </a:r>
            <a:r>
              <a:rPr lang="nl-NL" sz="1400" dirty="0" err="1"/>
              <a:t>oa</a:t>
            </a:r>
            <a:r>
              <a:rPr lang="nl-NL" sz="1400" dirty="0"/>
              <a:t>. gebruikt om afbeeldingen in te kleuren </a:t>
            </a:r>
          </a:p>
        </p:txBody>
      </p:sp>
      <p:cxnSp>
        <p:nvCxnSpPr>
          <p:cNvPr id="12" name="Straight Arrow Connector 11">
            <a:extLst>
              <a:ext uri="{FF2B5EF4-FFF2-40B4-BE49-F238E27FC236}">
                <a16:creationId xmlns:a16="http://schemas.microsoft.com/office/drawing/2014/main" id="{BA6186AA-2918-65DA-5009-3B2B44C4FA3C}"/>
              </a:ext>
            </a:extLst>
          </p:cNvPr>
          <p:cNvCxnSpPr>
            <a:cxnSpLocks/>
          </p:cNvCxnSpPr>
          <p:nvPr/>
        </p:nvCxnSpPr>
        <p:spPr>
          <a:xfrm>
            <a:off x="3464188" y="4217868"/>
            <a:ext cx="743602" cy="8965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18521AC-DB2B-1AD8-55F3-52D8975B2052}"/>
              </a:ext>
            </a:extLst>
          </p:cNvPr>
          <p:cNvSpPr txBox="1"/>
          <p:nvPr/>
        </p:nvSpPr>
        <p:spPr>
          <a:xfrm>
            <a:off x="3643336" y="5114441"/>
            <a:ext cx="4067071" cy="738664"/>
          </a:xfrm>
          <a:prstGeom prst="rect">
            <a:avLst/>
          </a:prstGeom>
          <a:noFill/>
        </p:spPr>
        <p:txBody>
          <a:bodyPr wrap="square" rtlCol="0">
            <a:spAutoFit/>
          </a:bodyPr>
          <a:lstStyle/>
          <a:p>
            <a:r>
              <a:rPr lang="nl-NL" sz="1400" dirty="0">
                <a:latin typeface="Courier New" panose="02070309020205020404" pitchFamily="49" charset="0"/>
                <a:cs typeface="Courier New" panose="02070309020205020404" pitchFamily="49" charset="0"/>
              </a:rPr>
              <a:t>mat_1</a:t>
            </a:r>
            <a:r>
              <a:rPr lang="nl-NL" sz="1400" dirty="0"/>
              <a:t> duidt hier aan dat we de originele elementen willen behouden als ze voldoen aan de conditie</a:t>
            </a:r>
          </a:p>
        </p:txBody>
      </p:sp>
    </p:spTree>
    <p:extLst>
      <p:ext uri="{BB962C8B-B14F-4D97-AF65-F5344CB8AC3E}">
        <p14:creationId xmlns:p14="http://schemas.microsoft.com/office/powerpoint/2010/main" val="38015427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DE3BBE-7B68-9486-694D-20744BA52746}"/>
              </a:ext>
            </a:extLst>
          </p:cNvPr>
          <p:cNvSpPr>
            <a:spLocks noGrp="1"/>
          </p:cNvSpPr>
          <p:nvPr>
            <p:ph type="sldNum" sz="quarter" idx="12"/>
          </p:nvPr>
        </p:nvSpPr>
        <p:spPr/>
        <p:txBody>
          <a:bodyPr/>
          <a:lstStyle/>
          <a:p>
            <a:fld id="{D270EDC2-4F5E-5547-954F-5222C286AC2A}" type="slidenum">
              <a:rPr lang="nl-NL" smtClean="0"/>
              <a:t>33</a:t>
            </a:fld>
            <a:endParaRPr lang="nl-NL" dirty="0"/>
          </a:p>
        </p:txBody>
      </p:sp>
      <p:sp>
        <p:nvSpPr>
          <p:cNvPr id="4" name="Title 3">
            <a:extLst>
              <a:ext uri="{FF2B5EF4-FFF2-40B4-BE49-F238E27FC236}">
                <a16:creationId xmlns:a16="http://schemas.microsoft.com/office/drawing/2014/main" id="{DBC34C43-F402-672B-2EB5-67E4D6A375A3}"/>
              </a:ext>
            </a:extLst>
          </p:cNvPr>
          <p:cNvSpPr>
            <a:spLocks noGrp="1"/>
          </p:cNvSpPr>
          <p:nvPr>
            <p:ph type="title"/>
          </p:nvPr>
        </p:nvSpPr>
        <p:spPr/>
        <p:txBody>
          <a:bodyPr/>
          <a:lstStyle/>
          <a:p>
            <a:r>
              <a:rPr lang="nl-NL" dirty="0"/>
              <a:t>Voorbeeld </a:t>
            </a:r>
            <a:r>
              <a:rPr lang="nl-NL" dirty="0">
                <a:latin typeface="Courier New" panose="02070309020205020404" pitchFamily="49" charset="0"/>
                <a:cs typeface="Courier New" panose="02070309020205020404" pitchFamily="49" charset="0"/>
              </a:rPr>
              <a:t>take()</a:t>
            </a:r>
          </a:p>
        </p:txBody>
      </p:sp>
      <p:sp>
        <p:nvSpPr>
          <p:cNvPr id="5" name="Rectangle 1">
            <a:extLst>
              <a:ext uri="{FF2B5EF4-FFF2-40B4-BE49-F238E27FC236}">
                <a16:creationId xmlns:a16="http://schemas.microsoft.com/office/drawing/2014/main" id="{56BA8E5D-5E05-686C-FB7C-AD3C44044682}"/>
              </a:ext>
            </a:extLst>
          </p:cNvPr>
          <p:cNvSpPr>
            <a:spLocks noChangeArrowheads="1"/>
          </p:cNvSpPr>
          <p:nvPr/>
        </p:nvSpPr>
        <p:spPr bwMode="auto">
          <a:xfrm>
            <a:off x="576000" y="2107992"/>
            <a:ext cx="4150983" cy="267765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80808"/>
                </a:solidFill>
                <a:effectLst/>
                <a:latin typeface="JetBrains Mono"/>
              </a:rPr>
              <a:t>mat_2 = </a:t>
            </a:r>
            <a:r>
              <a:rPr kumimoji="0" lang="nl-NL" sz="1400" b="0" i="0" u="none" strike="noStrike" cap="none" normalizeH="0" baseline="0" dirty="0" err="1">
                <a:ln>
                  <a:noFill/>
                </a:ln>
                <a:solidFill>
                  <a:srgbClr val="080808"/>
                </a:solidFill>
                <a:effectLst/>
                <a:latin typeface="JetBrains Mono"/>
              </a:rPr>
              <a:t>np.array</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7</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8</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9</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10</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11</a:t>
            </a:r>
            <a:r>
              <a:rPr kumimoji="0" lang="nl-NL" sz="1400" b="0" i="0" u="none" strike="noStrike" cap="none" normalizeH="0" baseline="0" dirty="0">
                <a:ln>
                  <a:noFill/>
                </a:ln>
                <a:solidFill>
                  <a:srgbClr val="080808"/>
                </a:solidFill>
                <a:effectLst/>
                <a:latin typeface="JetBrains Mono"/>
              </a:rPr>
              <a:t>,</a:t>
            </a:r>
            <a:r>
              <a:rPr kumimoji="0" lang="nl-NL" sz="1400" b="0" i="0" u="none" strike="noStrike" cap="none" normalizeH="0" baseline="0" dirty="0">
                <a:ln>
                  <a:noFill/>
                </a:ln>
                <a:solidFill>
                  <a:srgbClr val="1750EB"/>
                </a:solidFill>
                <a:effectLst/>
                <a:latin typeface="JetBrains Mono"/>
              </a:rPr>
              <a:t>12</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indices_mat_2 = </a:t>
            </a:r>
            <a:r>
              <a:rPr kumimoji="0" lang="nl-NL" sz="1400" b="0" i="0" u="none" strike="noStrike" cap="none" normalizeH="0" baseline="0" dirty="0" err="1">
                <a:ln>
                  <a:noFill/>
                </a:ln>
                <a:solidFill>
                  <a:srgbClr val="080808"/>
                </a:solidFill>
                <a:effectLst/>
                <a:latin typeface="JetBrains Mono"/>
              </a:rPr>
              <a:t>np.where</a:t>
            </a:r>
            <a:r>
              <a:rPr kumimoji="0" lang="nl-NL" sz="1400" b="0" i="0" u="none" strike="noStrike" cap="none" normalizeH="0" baseline="0" dirty="0">
                <a:ln>
                  <a:noFill/>
                </a:ln>
                <a:solidFill>
                  <a:srgbClr val="080808"/>
                </a:solidFill>
                <a:effectLst/>
                <a:latin typeface="JetBrains Mono"/>
              </a:rPr>
              <a:t>(mat_2 &gt; </a:t>
            </a:r>
            <a:r>
              <a:rPr kumimoji="0" lang="nl-NL" sz="1400" b="0" i="0" u="none" strike="noStrike" cap="none" normalizeH="0" baseline="0" dirty="0">
                <a:ln>
                  <a:noFill/>
                </a:ln>
                <a:solidFill>
                  <a:srgbClr val="1750EB"/>
                </a:solidFill>
                <a:effectLst/>
                <a:latin typeface="JetBrains Mono"/>
              </a:rPr>
              <a:t>8</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indices_mat_2</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nieuwe_mat_2 = </a:t>
            </a:r>
            <a:r>
              <a:rPr kumimoji="0" lang="nl-NL" sz="1400" b="0" i="0" u="none" strike="noStrike" cap="none" normalizeH="0" baseline="0" dirty="0" err="1">
                <a:ln>
                  <a:noFill/>
                </a:ln>
                <a:solidFill>
                  <a:srgbClr val="080808"/>
                </a:solidFill>
                <a:effectLst/>
                <a:latin typeface="JetBrains Mono"/>
              </a:rPr>
              <a:t>np.take</a:t>
            </a:r>
            <a:r>
              <a:rPr kumimoji="0" lang="nl-NL" sz="1400" b="0" i="0" u="none" strike="noStrike" cap="none" normalizeH="0" baseline="0" dirty="0">
                <a:ln>
                  <a:noFill/>
                </a:ln>
                <a:solidFill>
                  <a:srgbClr val="080808"/>
                </a:solidFill>
                <a:effectLst/>
                <a:latin typeface="JetBrains Mono"/>
              </a:rPr>
              <a:t>(mat_2, indices_mat_2)</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nieuwe_mat_2</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indices_mat_1 = </a:t>
            </a:r>
            <a:r>
              <a:rPr kumimoji="0" lang="nl-NL" sz="1400" b="0" i="0" u="none" strike="noStrike" cap="none" normalizeH="0" baseline="0" dirty="0" err="1">
                <a:ln>
                  <a:noFill/>
                </a:ln>
                <a:solidFill>
                  <a:srgbClr val="080808"/>
                </a:solidFill>
                <a:effectLst/>
                <a:latin typeface="JetBrains Mono"/>
              </a:rPr>
              <a:t>np.where</a:t>
            </a:r>
            <a:r>
              <a:rPr kumimoji="0" lang="nl-NL" sz="1400" b="0" i="0" u="none" strike="noStrike" cap="none" normalizeH="0" baseline="0" dirty="0">
                <a:ln>
                  <a:noFill/>
                </a:ln>
                <a:solidFill>
                  <a:srgbClr val="080808"/>
                </a:solidFill>
                <a:effectLst/>
                <a:latin typeface="JetBrains Mono"/>
              </a:rPr>
              <a:t>(mat_1 &gt; </a:t>
            </a:r>
            <a:r>
              <a:rPr kumimoji="0" lang="nl-NL" sz="1400" b="0" i="0" u="none" strike="noStrike" cap="none" normalizeH="0" baseline="0" dirty="0">
                <a:ln>
                  <a:noFill/>
                </a:ln>
                <a:solidFill>
                  <a:srgbClr val="1750EB"/>
                </a:solidFill>
                <a:effectLst/>
                <a:latin typeface="JetBrains Mono"/>
              </a:rPr>
              <a:t>2</a:t>
            </a:r>
            <a:r>
              <a:rPr kumimoji="0" lang="nl-NL" sz="1400" b="0" i="0" u="none" strike="noStrike" cap="none" normalizeH="0" baseline="0" dirty="0">
                <a:ln>
                  <a:noFill/>
                </a:ln>
                <a:solidFill>
                  <a:srgbClr val="080808"/>
                </a:solidFill>
                <a:effectLst/>
                <a:latin typeface="JetBrains Mono"/>
              </a:rPr>
              <a:t>)</a:t>
            </a: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080808"/>
                </a:solidFill>
                <a:effectLst/>
                <a:latin typeface="JetBrains Mono"/>
              </a:rPr>
              <a:t>indices_mat_1</a:t>
            </a:r>
            <a:br>
              <a:rPr kumimoji="0" lang="nl-NL" sz="1400" b="0" i="0" u="none" strike="noStrike" cap="none" normalizeH="0" baseline="0" dirty="0">
                <a:ln>
                  <a:noFill/>
                </a:ln>
                <a:solidFill>
                  <a:srgbClr val="080808"/>
                </a:solidFill>
                <a:effectLst/>
                <a:latin typeface="JetBrains Mono"/>
              </a:rPr>
            </a:br>
            <a:br>
              <a:rPr kumimoji="0" lang="nl-NL" sz="1400" b="0" i="0" u="none" strike="noStrike" cap="none" normalizeH="0" baseline="0" dirty="0">
                <a:ln>
                  <a:noFill/>
                </a:ln>
                <a:solidFill>
                  <a:srgbClr val="080808"/>
                </a:solidFill>
                <a:effectLst/>
                <a:latin typeface="JetBrains Mono"/>
              </a:rPr>
            </a:br>
            <a:r>
              <a:rPr kumimoji="0" lang="nl-NL" sz="1400" b="0" i="0" u="none" strike="noStrike" cap="none" normalizeH="0" baseline="0" dirty="0">
                <a:ln>
                  <a:noFill/>
                </a:ln>
                <a:solidFill>
                  <a:srgbClr val="FF0000"/>
                </a:solidFill>
                <a:effectLst/>
                <a:latin typeface="JetBrains Mono"/>
              </a:rPr>
              <a:t>nieuwe_mat_1 = </a:t>
            </a:r>
            <a:r>
              <a:rPr kumimoji="0" lang="nl-NL" sz="1400" b="0" i="0" u="none" strike="noStrike" cap="none" normalizeH="0" baseline="0" dirty="0" err="1">
                <a:ln>
                  <a:noFill/>
                </a:ln>
                <a:solidFill>
                  <a:srgbClr val="FF0000"/>
                </a:solidFill>
                <a:effectLst/>
                <a:latin typeface="JetBrains Mono"/>
              </a:rPr>
              <a:t>np.take</a:t>
            </a:r>
            <a:r>
              <a:rPr kumimoji="0" lang="nl-NL" sz="1400" b="0" i="0" u="none" strike="noStrike" cap="none" normalizeH="0" baseline="0" dirty="0">
                <a:ln>
                  <a:noFill/>
                </a:ln>
                <a:solidFill>
                  <a:srgbClr val="FF0000"/>
                </a:solidFill>
                <a:effectLst/>
                <a:latin typeface="JetBrains Mono"/>
              </a:rPr>
              <a:t>(mat_1, indices_mat_1)</a:t>
            </a:r>
            <a:br>
              <a:rPr kumimoji="0" lang="nl-NL" sz="1400" b="0" i="0" u="none" strike="noStrike" cap="none" normalizeH="0" baseline="0" dirty="0">
                <a:ln>
                  <a:noFill/>
                </a:ln>
                <a:solidFill>
                  <a:srgbClr val="FF0000"/>
                </a:solidFill>
                <a:effectLst/>
                <a:latin typeface="JetBrains Mono"/>
              </a:rPr>
            </a:br>
            <a:r>
              <a:rPr kumimoji="0" lang="nl-NL" sz="1400" b="0" i="0" u="none" strike="noStrike" cap="none" normalizeH="0" baseline="0" dirty="0">
                <a:ln>
                  <a:noFill/>
                </a:ln>
                <a:solidFill>
                  <a:srgbClr val="FF0000"/>
                </a:solidFill>
                <a:effectLst/>
                <a:latin typeface="JetBrains Mono"/>
              </a:rPr>
              <a:t>nieuwe_mat_1</a:t>
            </a:r>
            <a:endParaRPr kumimoji="0" lang="nl-NL" sz="3600" b="0" i="0" u="none" strike="noStrike" cap="none" normalizeH="0" baseline="0" dirty="0">
              <a:ln>
                <a:noFill/>
              </a:ln>
              <a:solidFill>
                <a:srgbClr val="FF0000"/>
              </a:solidFill>
              <a:effectLst/>
              <a:latin typeface="Arial" panose="020B0604020202020204" pitchFamily="34" charset="0"/>
            </a:endParaRPr>
          </a:p>
        </p:txBody>
      </p:sp>
      <p:sp>
        <p:nvSpPr>
          <p:cNvPr id="6" name="Rectangle 2">
            <a:extLst>
              <a:ext uri="{FF2B5EF4-FFF2-40B4-BE49-F238E27FC236}">
                <a16:creationId xmlns:a16="http://schemas.microsoft.com/office/drawing/2014/main" id="{CA697DD4-474C-C0C5-8025-923E1ACA8DCE}"/>
              </a:ext>
            </a:extLst>
          </p:cNvPr>
          <p:cNvSpPr>
            <a:spLocks noChangeArrowheads="1"/>
          </p:cNvSpPr>
          <p:nvPr/>
        </p:nvSpPr>
        <p:spPr bwMode="auto">
          <a:xfrm>
            <a:off x="5566130" y="2333195"/>
            <a:ext cx="4705630" cy="24622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(array([2, 3, 4, 5], </a:t>
            </a:r>
            <a:r>
              <a:rPr kumimoji="0" lang="nl-NL"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dtype</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=int64),)</a:t>
            </a:r>
            <a:r>
              <a:rPr kumimoji="0" lang="nl-NL" sz="900" b="0" i="0" u="none" strike="noStrike" cap="none" normalizeH="0" baseline="0" dirty="0">
                <a:ln>
                  <a:noFill/>
                </a:ln>
                <a:solidFill>
                  <a:schemeClr val="tx1"/>
                </a:solidFill>
                <a:effectLst/>
              </a:rPr>
              <a:t> </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9618EA2E-6815-B1AB-3B16-B1F14F0FAC60}"/>
              </a:ext>
            </a:extLst>
          </p:cNvPr>
          <p:cNvSpPr>
            <a:spLocks noChangeArrowheads="1"/>
          </p:cNvSpPr>
          <p:nvPr/>
        </p:nvSpPr>
        <p:spPr bwMode="auto">
          <a:xfrm>
            <a:off x="5566130" y="3034704"/>
            <a:ext cx="4626244" cy="24622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array([[ 9, 10, 11, 12]])</a:t>
            </a:r>
            <a:r>
              <a:rPr kumimoji="0" lang="nl-NL" sz="900" b="0" i="0" u="none" strike="noStrike" cap="none" normalizeH="0" baseline="0" dirty="0">
                <a:ln>
                  <a:noFill/>
                </a:ln>
                <a:solidFill>
                  <a:schemeClr val="tx1"/>
                </a:solidFill>
                <a:effectLst/>
              </a:rPr>
              <a:t> </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771507CD-480B-3853-0847-D391E2EB6F49}"/>
              </a:ext>
            </a:extLst>
          </p:cNvPr>
          <p:cNvSpPr>
            <a:spLocks noChangeArrowheads="1"/>
          </p:cNvSpPr>
          <p:nvPr/>
        </p:nvSpPr>
        <p:spPr bwMode="auto">
          <a:xfrm>
            <a:off x="5566130" y="3697652"/>
            <a:ext cx="5866109" cy="49244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(array([</a:t>
            </a:r>
            <a:r>
              <a:rPr kumimoji="0" lang="nl-NL" sz="16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0</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FFC000"/>
                </a:solidFill>
                <a:effectLst/>
                <a:latin typeface="Courier New" panose="02070309020205020404" pitchFamily="49" charset="0"/>
                <a:cs typeface="Courier New" panose="02070309020205020404" pitchFamily="49" charset="0"/>
              </a:rPr>
              <a:t>1</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00B0F0"/>
                </a:solidFill>
                <a:effectLst/>
                <a:latin typeface="Courier New" panose="02070309020205020404" pitchFamily="49" charset="0"/>
                <a:cs typeface="Courier New" panose="02070309020205020404" pitchFamily="49" charset="0"/>
              </a:rPr>
              <a:t>1</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7030A0"/>
                </a:solidFill>
                <a:effectLst/>
                <a:latin typeface="Courier New" panose="02070309020205020404" pitchFamily="49" charset="0"/>
                <a:cs typeface="Courier New" panose="02070309020205020404" pitchFamily="49" charset="0"/>
              </a:rPr>
              <a:t>1</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dtype</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=int64), array([</a:t>
            </a:r>
            <a:r>
              <a:rPr kumimoji="0" lang="nl-NL" sz="16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2</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FFC000"/>
                </a:solidFill>
                <a:effectLst/>
                <a:latin typeface="Courier New" panose="02070309020205020404" pitchFamily="49" charset="0"/>
                <a:cs typeface="Courier New" panose="02070309020205020404" pitchFamily="49" charset="0"/>
              </a:rPr>
              <a:t>0</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00B0F0"/>
                </a:solidFill>
                <a:effectLst/>
                <a:latin typeface="Courier New" panose="02070309020205020404" pitchFamily="49" charset="0"/>
                <a:cs typeface="Courier New" panose="02070309020205020404" pitchFamily="49" charset="0"/>
              </a:rPr>
              <a:t>1</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a:ln>
                  <a:noFill/>
                </a:ln>
                <a:solidFill>
                  <a:srgbClr val="7030A0"/>
                </a:solidFill>
                <a:effectLst/>
                <a:latin typeface="Courier New" panose="02070309020205020404" pitchFamily="49" charset="0"/>
                <a:cs typeface="Courier New" panose="02070309020205020404" pitchFamily="49" charset="0"/>
              </a:rPr>
              <a:t>2</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dtype</a:t>
            </a:r>
            <a:r>
              <a:rPr kumimoji="0" lang="nl-NL"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=int64))</a:t>
            </a:r>
            <a:r>
              <a:rPr kumimoji="0" lang="nl-NL" sz="900" b="0" i="0" u="none" strike="noStrike" cap="none" normalizeH="0" baseline="0" dirty="0">
                <a:ln>
                  <a:noFill/>
                </a:ln>
                <a:solidFill>
                  <a:schemeClr val="tx1"/>
                </a:solidFill>
                <a:effectLst/>
              </a:rPr>
              <a:t> </a:t>
            </a:r>
            <a:endParaRPr kumimoji="0" lang="nl-NL" sz="3600" b="0" i="0" u="none" strike="noStrike" cap="none" normalizeH="0" baseline="0" dirty="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042A0D87-1C1A-B39D-C58E-2A2D9DC141F1}"/>
              </a:ext>
            </a:extLst>
          </p:cNvPr>
          <p:cNvSpPr>
            <a:spLocks noChangeArrowheads="1"/>
          </p:cNvSpPr>
          <p:nvPr/>
        </p:nvSpPr>
        <p:spPr bwMode="auto">
          <a:xfrm>
            <a:off x="9290947" y="790872"/>
            <a:ext cx="1961626" cy="64633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mat_1 = array([</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[1, 2, </a:t>
            </a:r>
            <a:r>
              <a:rPr kumimoji="0" lang="nl-NL" sz="1400" b="0"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3</a:t>
            </a: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nl-NL" sz="1400" b="0" i="0" u="none" strike="noStrike" cap="none" normalizeH="0" baseline="0" dirty="0">
                <a:ln>
                  <a:noFill/>
                </a:ln>
                <a:solidFill>
                  <a:srgbClr val="FFC000"/>
                </a:solidFill>
                <a:effectLst/>
                <a:latin typeface="Courier New" panose="02070309020205020404" pitchFamily="49" charset="0"/>
                <a:cs typeface="Courier New" panose="02070309020205020404" pitchFamily="49" charset="0"/>
              </a:rPr>
              <a:t>4</a:t>
            </a: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400" b="0" i="0" u="none" strike="noStrike" cap="none" normalizeH="0" baseline="0" dirty="0">
                <a:ln>
                  <a:noFill/>
                </a:ln>
                <a:solidFill>
                  <a:srgbClr val="00B0F0"/>
                </a:solidFill>
                <a:effectLst/>
                <a:latin typeface="Courier New" panose="02070309020205020404" pitchFamily="49" charset="0"/>
                <a:cs typeface="Courier New" panose="02070309020205020404" pitchFamily="49" charset="0"/>
              </a:rPr>
              <a:t>5</a:t>
            </a: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nl-NL" sz="1400" b="0" i="0" u="none" strike="noStrike" cap="none" normalizeH="0" baseline="0" dirty="0">
                <a:ln>
                  <a:noFill/>
                </a:ln>
                <a:solidFill>
                  <a:srgbClr val="7030A0"/>
                </a:solidFill>
                <a:effectLst/>
                <a:latin typeface="Courier New" panose="02070309020205020404" pitchFamily="49" charset="0"/>
                <a:cs typeface="Courier New" panose="02070309020205020404" pitchFamily="49" charset="0"/>
              </a:rPr>
              <a:t>6</a:t>
            </a:r>
            <a:r>
              <a:rPr kumimoji="0" lang="nl-NL"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nl-NL" sz="800" b="0" i="0" u="none" strike="noStrike" cap="none" normalizeH="0" baseline="0" dirty="0">
                <a:ln>
                  <a:noFill/>
                </a:ln>
                <a:solidFill>
                  <a:schemeClr val="tx1"/>
                </a:solidFill>
                <a:effectLst/>
              </a:rPr>
              <a:t> </a:t>
            </a:r>
            <a:endParaRPr kumimoji="0" lang="nl-NL" sz="32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36D370AD-EE6E-8B32-7219-C4651F856E9F}"/>
              </a:ext>
            </a:extLst>
          </p:cNvPr>
          <p:cNvSpPr txBox="1"/>
          <p:nvPr/>
        </p:nvSpPr>
        <p:spPr>
          <a:xfrm>
            <a:off x="5566130" y="1710767"/>
            <a:ext cx="1073739" cy="369332"/>
          </a:xfrm>
          <a:prstGeom prst="rect">
            <a:avLst/>
          </a:prstGeom>
          <a:noFill/>
        </p:spPr>
        <p:txBody>
          <a:bodyPr wrap="square" rtlCol="0">
            <a:spAutoFit/>
          </a:bodyPr>
          <a:lstStyle/>
          <a:p>
            <a:r>
              <a:rPr lang="nl-NL" dirty="0"/>
              <a:t>Output:</a:t>
            </a:r>
          </a:p>
        </p:txBody>
      </p:sp>
      <p:sp>
        <p:nvSpPr>
          <p:cNvPr id="14" name="TextBox 13">
            <a:extLst>
              <a:ext uri="{FF2B5EF4-FFF2-40B4-BE49-F238E27FC236}">
                <a16:creationId xmlns:a16="http://schemas.microsoft.com/office/drawing/2014/main" id="{2AFD6BFA-2416-9D41-BDBC-44E816AEFC45}"/>
              </a:ext>
            </a:extLst>
          </p:cNvPr>
          <p:cNvSpPr txBox="1"/>
          <p:nvPr/>
        </p:nvSpPr>
        <p:spPr>
          <a:xfrm>
            <a:off x="576000" y="1717841"/>
            <a:ext cx="918840" cy="369332"/>
          </a:xfrm>
          <a:prstGeom prst="rect">
            <a:avLst/>
          </a:prstGeom>
          <a:noFill/>
        </p:spPr>
        <p:txBody>
          <a:bodyPr wrap="square" rtlCol="0">
            <a:spAutoFit/>
          </a:bodyPr>
          <a:lstStyle/>
          <a:p>
            <a:r>
              <a:rPr lang="nl-NL" dirty="0"/>
              <a:t>Code:</a:t>
            </a:r>
          </a:p>
        </p:txBody>
      </p:sp>
      <p:sp>
        <p:nvSpPr>
          <p:cNvPr id="15" name="TextBox 14">
            <a:extLst>
              <a:ext uri="{FF2B5EF4-FFF2-40B4-BE49-F238E27FC236}">
                <a16:creationId xmlns:a16="http://schemas.microsoft.com/office/drawing/2014/main" id="{BBA015B5-DC73-0D66-B355-73AF3AA5590A}"/>
              </a:ext>
            </a:extLst>
          </p:cNvPr>
          <p:cNvSpPr txBox="1"/>
          <p:nvPr/>
        </p:nvSpPr>
        <p:spPr>
          <a:xfrm flipH="1">
            <a:off x="3686530" y="5000554"/>
            <a:ext cx="4543070" cy="369332"/>
          </a:xfrm>
          <a:prstGeom prst="rect">
            <a:avLst/>
          </a:prstGeom>
          <a:noFill/>
        </p:spPr>
        <p:txBody>
          <a:bodyPr wrap="square" rtlCol="0">
            <a:spAutoFit/>
          </a:bodyPr>
          <a:lstStyle/>
          <a:p>
            <a:r>
              <a:rPr lang="nl-NL" dirty="0">
                <a:solidFill>
                  <a:srgbClr val="FF0000"/>
                </a:solidFill>
                <a:latin typeface="Courier New" panose="02070309020205020404" pitchFamily="49" charset="0"/>
                <a:cs typeface="Courier New" panose="02070309020205020404" pitchFamily="49" charset="0"/>
              </a:rPr>
              <a:t>take() </a:t>
            </a:r>
            <a:r>
              <a:rPr lang="nl-NL" dirty="0">
                <a:solidFill>
                  <a:srgbClr val="FF0000"/>
                </a:solidFill>
              </a:rPr>
              <a:t>werkt niet mooi met matrices</a:t>
            </a:r>
          </a:p>
        </p:txBody>
      </p:sp>
      <p:sp>
        <p:nvSpPr>
          <p:cNvPr id="16" name="Rectangle 8">
            <a:extLst>
              <a:ext uri="{FF2B5EF4-FFF2-40B4-BE49-F238E27FC236}">
                <a16:creationId xmlns:a16="http://schemas.microsoft.com/office/drawing/2014/main" id="{3AF26405-C034-96DD-E758-9F5E0D64475E}"/>
              </a:ext>
            </a:extLst>
          </p:cNvPr>
          <p:cNvSpPr>
            <a:spLocks noChangeArrowheads="1"/>
          </p:cNvSpPr>
          <p:nvPr/>
        </p:nvSpPr>
        <p:spPr bwMode="auto">
          <a:xfrm>
            <a:off x="5566130" y="4495021"/>
            <a:ext cx="5686443" cy="24622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600" b="0"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array([[1, 2, 2, 2], [3, 1, 2, 3]])</a:t>
            </a:r>
            <a:r>
              <a:rPr kumimoji="0" lang="nl-NL" sz="900" b="0" i="0" u="none" strike="noStrike" cap="none" normalizeH="0" baseline="0" dirty="0">
                <a:ln>
                  <a:noFill/>
                </a:ln>
                <a:solidFill>
                  <a:srgbClr val="FF0000"/>
                </a:solidFill>
                <a:effectLst/>
              </a:rPr>
              <a:t> </a:t>
            </a:r>
            <a:endParaRPr kumimoji="0" lang="nl-NL" sz="3600" b="0" i="0" u="none" strike="noStrike" cap="none" normalizeH="0" baseline="0" dirty="0">
              <a:ln>
                <a:noFill/>
              </a:ln>
              <a:solidFill>
                <a:srgbClr val="FF0000"/>
              </a:solidFill>
              <a:effectLst/>
              <a:latin typeface="Arial" panose="020B0604020202020204" pitchFamily="34" charset="0"/>
            </a:endParaRPr>
          </a:p>
        </p:txBody>
      </p:sp>
      <p:sp>
        <p:nvSpPr>
          <p:cNvPr id="2" name="TextBox 1">
            <a:extLst>
              <a:ext uri="{FF2B5EF4-FFF2-40B4-BE49-F238E27FC236}">
                <a16:creationId xmlns:a16="http://schemas.microsoft.com/office/drawing/2014/main" id="{6481F215-930A-44E0-FCF6-7938442B0675}"/>
              </a:ext>
            </a:extLst>
          </p:cNvPr>
          <p:cNvSpPr txBox="1"/>
          <p:nvPr/>
        </p:nvSpPr>
        <p:spPr>
          <a:xfrm>
            <a:off x="1910239" y="6344045"/>
            <a:ext cx="4185761" cy="369332"/>
          </a:xfrm>
          <a:prstGeom prst="rect">
            <a:avLst/>
          </a:prstGeom>
          <a:noFill/>
        </p:spPr>
        <p:txBody>
          <a:bodyPr wrap="none" rtlCol="0">
            <a:spAutoFit/>
          </a:bodyPr>
          <a:lstStyle/>
          <a:p>
            <a:r>
              <a:rPr lang="en-BE" dirty="0">
                <a:solidFill>
                  <a:schemeClr val="bg1"/>
                </a:solidFill>
              </a:rPr>
              <a:t>Geen examenleerstof, puur informatief</a:t>
            </a:r>
          </a:p>
        </p:txBody>
      </p:sp>
    </p:spTree>
    <p:extLst>
      <p:ext uri="{BB962C8B-B14F-4D97-AF65-F5344CB8AC3E}">
        <p14:creationId xmlns:p14="http://schemas.microsoft.com/office/powerpoint/2010/main" val="1282242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086827-2D3C-BFF7-58DF-1DDCEC5E6EFF}"/>
              </a:ext>
            </a:extLst>
          </p:cNvPr>
          <p:cNvSpPr>
            <a:spLocks noGrp="1"/>
          </p:cNvSpPr>
          <p:nvPr>
            <p:ph idx="1"/>
          </p:nvPr>
        </p:nvSpPr>
        <p:spPr>
          <a:xfrm>
            <a:off x="576000" y="1656000"/>
            <a:ext cx="4430566" cy="4464000"/>
          </a:xfrm>
        </p:spPr>
        <p:txBody>
          <a:bodyPr/>
          <a:lstStyle/>
          <a:p>
            <a:r>
              <a:rPr lang="en-BE" dirty="0"/>
              <a:t>Numpy is veel performanter dan standaard lijsten + for-lussen:</a:t>
            </a:r>
          </a:p>
        </p:txBody>
      </p:sp>
      <p:sp>
        <p:nvSpPr>
          <p:cNvPr id="3" name="Slide Number Placeholder 2">
            <a:extLst>
              <a:ext uri="{FF2B5EF4-FFF2-40B4-BE49-F238E27FC236}">
                <a16:creationId xmlns:a16="http://schemas.microsoft.com/office/drawing/2014/main" id="{8E53B289-DA22-3B3C-AB1B-997AE945D168}"/>
              </a:ext>
            </a:extLst>
          </p:cNvPr>
          <p:cNvSpPr>
            <a:spLocks noGrp="1"/>
          </p:cNvSpPr>
          <p:nvPr>
            <p:ph type="sldNum" sz="quarter" idx="12"/>
          </p:nvPr>
        </p:nvSpPr>
        <p:spPr/>
        <p:txBody>
          <a:bodyPr/>
          <a:lstStyle/>
          <a:p>
            <a:fld id="{D270EDC2-4F5E-5547-954F-5222C286AC2A}" type="slidenum">
              <a:rPr lang="en-BE" smtClean="0"/>
              <a:t>34</a:t>
            </a:fld>
            <a:endParaRPr lang="en-BE"/>
          </a:p>
        </p:txBody>
      </p:sp>
      <p:sp>
        <p:nvSpPr>
          <p:cNvPr id="4" name="Title 3">
            <a:extLst>
              <a:ext uri="{FF2B5EF4-FFF2-40B4-BE49-F238E27FC236}">
                <a16:creationId xmlns:a16="http://schemas.microsoft.com/office/drawing/2014/main" id="{6819F82B-0954-9080-39B6-D4D88F497C3C}"/>
              </a:ext>
            </a:extLst>
          </p:cNvPr>
          <p:cNvSpPr>
            <a:spLocks noGrp="1"/>
          </p:cNvSpPr>
          <p:nvPr>
            <p:ph type="title"/>
          </p:nvPr>
        </p:nvSpPr>
        <p:spPr/>
        <p:txBody>
          <a:bodyPr/>
          <a:lstStyle/>
          <a:p>
            <a:r>
              <a:rPr lang="en-BE" dirty="0"/>
              <a:t>Performantie</a:t>
            </a:r>
          </a:p>
        </p:txBody>
      </p:sp>
      <p:sp>
        <p:nvSpPr>
          <p:cNvPr id="8" name="TextBox 7">
            <a:extLst>
              <a:ext uri="{FF2B5EF4-FFF2-40B4-BE49-F238E27FC236}">
                <a16:creationId xmlns:a16="http://schemas.microsoft.com/office/drawing/2014/main" id="{FAE6CBBA-17FA-4F4F-D82D-2FE8EC6E5E15}"/>
              </a:ext>
            </a:extLst>
          </p:cNvPr>
          <p:cNvSpPr txBox="1"/>
          <p:nvPr/>
        </p:nvSpPr>
        <p:spPr>
          <a:xfrm>
            <a:off x="5397749" y="542499"/>
            <a:ext cx="5894720" cy="4097019"/>
          </a:xfrm>
          <a:prstGeom prst="rect">
            <a:avLst/>
          </a:prstGeom>
          <a:noFill/>
          <a:ln>
            <a:solidFill>
              <a:schemeClr val="accent1"/>
            </a:solidFill>
          </a:ln>
        </p:spPr>
        <p:txBody>
          <a:bodyPr wrap="square">
            <a:spAutoFit/>
          </a:bodyPr>
          <a:lstStyle/>
          <a:p>
            <a:pPr>
              <a:lnSpc>
                <a:spcPct val="125000"/>
              </a:lnSpc>
              <a:buNone/>
            </a:pPr>
            <a:r>
              <a:rPr lang="en-BE" sz="1100" b="0" dirty="0">
                <a:solidFill>
                  <a:srgbClr val="AF00DB"/>
                </a:solidFill>
                <a:effectLst/>
                <a:latin typeface="Menlo" panose="020B0609030804020204" pitchFamily="49" charset="0"/>
              </a:rPr>
              <a:t>import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time</a:t>
            </a:r>
            <a:endParaRPr lang="en-BE" sz="1100" b="0" dirty="0">
              <a:solidFill>
                <a:srgbClr val="202020"/>
              </a:solidFill>
              <a:effectLst/>
              <a:latin typeface="Menlo" panose="020B0609030804020204" pitchFamily="49" charset="0"/>
            </a:endParaRPr>
          </a:p>
          <a:p>
            <a:pPr>
              <a:lnSpc>
                <a:spcPct val="125000"/>
              </a:lnSpc>
              <a:buNone/>
            </a:pPr>
            <a:br>
              <a:rPr lang="en-BE" sz="1100" b="0" dirty="0">
                <a:solidFill>
                  <a:srgbClr val="202020"/>
                </a:solidFill>
                <a:effectLst/>
                <a:latin typeface="Menlo" panose="020B0609030804020204" pitchFamily="49" charset="0"/>
              </a:rPr>
            </a:br>
            <a:r>
              <a:rPr lang="en-BE" sz="1100" b="0" dirty="0">
                <a:solidFill>
                  <a:srgbClr val="1F2328"/>
                </a:solidFill>
                <a:effectLst/>
                <a:latin typeface="Menlo" panose="020B0609030804020204" pitchFamily="49" charset="0"/>
              </a:rPr>
              <a:t>n</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098658"/>
                </a:solidFill>
                <a:effectLst/>
                <a:latin typeface="Menlo" panose="020B0609030804020204" pitchFamily="49" charset="0"/>
              </a:rPr>
              <a:t>5_000_000</a:t>
            </a:r>
            <a:endParaRPr lang="en-BE" sz="1100" b="0" dirty="0">
              <a:solidFill>
                <a:srgbClr val="202020"/>
              </a:solidFill>
              <a:effectLst/>
              <a:latin typeface="Menlo" panose="020B0609030804020204" pitchFamily="49" charset="0"/>
            </a:endParaRPr>
          </a:p>
          <a:p>
            <a:pPr>
              <a:lnSpc>
                <a:spcPct val="125000"/>
              </a:lnSpc>
              <a:buNone/>
            </a:pPr>
            <a:r>
              <a:rPr lang="en-BE" sz="1100" b="0" dirty="0">
                <a:solidFill>
                  <a:srgbClr val="1F2328"/>
                </a:solidFill>
                <a:effectLst/>
                <a:latin typeface="Menlo" panose="020B0609030804020204" pitchFamily="49" charset="0"/>
              </a:rPr>
              <a:t>lijst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list</a:t>
            </a:r>
            <a:r>
              <a:rPr lang="en-BE" sz="1100" b="0" dirty="0">
                <a:solidFill>
                  <a:srgbClr val="202020"/>
                </a:solidFill>
                <a:effectLst/>
                <a:latin typeface="Menlo" panose="020B0609030804020204" pitchFamily="49" charset="0"/>
              </a:rPr>
              <a:t>(</a:t>
            </a:r>
            <a:r>
              <a:rPr lang="en-BE" sz="1100" b="0" dirty="0">
                <a:solidFill>
                  <a:srgbClr val="267F99"/>
                </a:solidFill>
                <a:effectLst/>
                <a:latin typeface="Menlo" panose="020B0609030804020204" pitchFamily="49" charset="0"/>
              </a:rPr>
              <a:t>range</a:t>
            </a:r>
            <a:r>
              <a:rPr lang="en-BE" sz="1100" b="0" dirty="0">
                <a:solidFill>
                  <a:srgbClr val="202020"/>
                </a:solidFill>
                <a:effectLst/>
                <a:latin typeface="Menlo" panose="020B0609030804020204" pitchFamily="49" charset="0"/>
              </a:rPr>
              <a:t>(</a:t>
            </a:r>
            <a:r>
              <a:rPr lang="en-BE" sz="1100" b="0" dirty="0">
                <a:solidFill>
                  <a:srgbClr val="1F2328"/>
                </a:solidFill>
                <a:effectLst/>
                <a:latin typeface="Menlo" panose="020B0609030804020204" pitchFamily="49" charset="0"/>
              </a:rPr>
              <a:t>n</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array</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np</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arange</a:t>
            </a:r>
            <a:r>
              <a:rPr lang="en-BE" sz="1100" b="0" dirty="0">
                <a:solidFill>
                  <a:srgbClr val="202020"/>
                </a:solidFill>
                <a:effectLst/>
                <a:latin typeface="Menlo" panose="020B0609030804020204" pitchFamily="49" charset="0"/>
              </a:rPr>
              <a:t>(</a:t>
            </a:r>
            <a:r>
              <a:rPr lang="en-BE" sz="1100" b="0" dirty="0">
                <a:solidFill>
                  <a:srgbClr val="1F2328"/>
                </a:solidFill>
                <a:effectLst/>
                <a:latin typeface="Menlo" panose="020B0609030804020204" pitchFamily="49" charset="0"/>
              </a:rPr>
              <a:t>n</a:t>
            </a:r>
            <a:r>
              <a:rPr lang="en-BE" sz="1100" b="0" dirty="0">
                <a:solidFill>
                  <a:srgbClr val="202020"/>
                </a:solidFill>
                <a:effectLst/>
                <a:latin typeface="Menlo" panose="020B0609030804020204" pitchFamily="49" charset="0"/>
              </a:rPr>
              <a:t>)</a:t>
            </a:r>
          </a:p>
          <a:p>
            <a:pPr>
              <a:lnSpc>
                <a:spcPct val="125000"/>
              </a:lnSpc>
              <a:buNone/>
            </a:pPr>
            <a:endParaRPr lang="en-BE" sz="1100" b="0" dirty="0">
              <a:solidFill>
                <a:srgbClr val="202020"/>
              </a:solidFill>
              <a:effectLst/>
              <a:latin typeface="Menlo" panose="020B0609030804020204" pitchFamily="49" charset="0"/>
            </a:endParaRPr>
          </a:p>
          <a:p>
            <a:pPr>
              <a:lnSpc>
                <a:spcPct val="125000"/>
              </a:lnSpc>
              <a:buNone/>
            </a:pPr>
            <a:r>
              <a:rPr lang="en-BE" sz="1100" b="0" dirty="0">
                <a:solidFill>
                  <a:srgbClr val="1F2328"/>
                </a:solidFill>
                <a:effectLst/>
                <a:latin typeface="Menlo" panose="020B0609030804020204" pitchFamily="49" charset="0"/>
              </a:rPr>
              <a:t>start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time</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time</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totaal_lijst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098658"/>
                </a:solidFill>
                <a:effectLst/>
                <a:latin typeface="Menlo" panose="020B0609030804020204" pitchFamily="49" charset="0"/>
              </a:rPr>
              <a:t>0</a:t>
            </a:r>
            <a:endParaRPr lang="en-BE" sz="1100" b="0" dirty="0">
              <a:solidFill>
                <a:srgbClr val="202020"/>
              </a:solidFill>
              <a:effectLst/>
              <a:latin typeface="Menlo" panose="020B0609030804020204" pitchFamily="49" charset="0"/>
            </a:endParaRPr>
          </a:p>
          <a:p>
            <a:pPr>
              <a:lnSpc>
                <a:spcPct val="125000"/>
              </a:lnSpc>
              <a:buNone/>
            </a:pPr>
            <a:r>
              <a:rPr lang="en-BE" sz="1100" b="0" dirty="0">
                <a:solidFill>
                  <a:srgbClr val="AF00DB"/>
                </a:solidFill>
                <a:effectLst/>
                <a:latin typeface="Menlo" panose="020B0609030804020204" pitchFamily="49" charset="0"/>
              </a:rPr>
              <a:t>for</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getal</a:t>
            </a:r>
            <a:r>
              <a:rPr lang="en-BE" sz="1100" b="0" dirty="0">
                <a:solidFill>
                  <a:srgbClr val="202020"/>
                </a:solidFill>
                <a:effectLst/>
                <a:latin typeface="Menlo" panose="020B0609030804020204" pitchFamily="49" charset="0"/>
              </a:rPr>
              <a:t> </a:t>
            </a:r>
            <a:r>
              <a:rPr lang="en-BE" sz="1100" b="0" dirty="0">
                <a:solidFill>
                  <a:srgbClr val="AF00DB"/>
                </a:solidFill>
                <a:effectLst/>
                <a:latin typeface="Menlo" panose="020B0609030804020204" pitchFamily="49" charset="0"/>
              </a:rPr>
              <a:t>in</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lijst</a:t>
            </a:r>
            <a:r>
              <a:rPr lang="en-BE" sz="1100" b="0" dirty="0">
                <a:solidFill>
                  <a:srgbClr val="202020"/>
                </a:solidFill>
                <a:effectLst/>
                <a:latin typeface="Menlo" panose="020B0609030804020204" pitchFamily="49" charset="0"/>
              </a:rPr>
              <a:t>:</a:t>
            </a:r>
          </a:p>
          <a:p>
            <a:pPr>
              <a:lnSpc>
                <a:spcPct val="125000"/>
              </a:lnSpc>
              <a:buNone/>
            </a:pPr>
            <a:r>
              <a:rPr lang="en-BE" sz="1100" dirty="0">
                <a:solidFill>
                  <a:srgbClr val="1F2328"/>
                </a:solidFill>
                <a:latin typeface="Menlo" panose="020B0609030804020204" pitchFamily="49" charset="0"/>
              </a:rPr>
              <a:t>	</a:t>
            </a:r>
            <a:r>
              <a:rPr lang="en-BE" sz="1100" b="0" dirty="0">
                <a:solidFill>
                  <a:srgbClr val="1F2328"/>
                </a:solidFill>
                <a:effectLst/>
                <a:latin typeface="Menlo" panose="020B0609030804020204" pitchFamily="49" charset="0"/>
              </a:rPr>
              <a:t>totaal_lijst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getal</a:t>
            </a:r>
            <a:endParaRPr lang="en-BE" sz="1100" b="0" dirty="0">
              <a:solidFill>
                <a:srgbClr val="202020"/>
              </a:solidFill>
              <a:effectLst/>
              <a:latin typeface="Menlo" panose="020B0609030804020204" pitchFamily="49" charset="0"/>
            </a:endParaRPr>
          </a:p>
          <a:p>
            <a:pPr>
              <a:lnSpc>
                <a:spcPct val="125000"/>
              </a:lnSpc>
              <a:buNone/>
            </a:pPr>
            <a:r>
              <a:rPr lang="en-BE" sz="1100" b="0" dirty="0">
                <a:solidFill>
                  <a:srgbClr val="1F2328"/>
                </a:solidFill>
                <a:effectLst/>
                <a:latin typeface="Menlo" panose="020B0609030804020204" pitchFamily="49" charset="0"/>
              </a:rPr>
              <a:t>tijd_lijst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time</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time</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start</a:t>
            </a:r>
            <a:endParaRPr lang="en-BE" sz="1100" b="0" dirty="0">
              <a:solidFill>
                <a:srgbClr val="202020"/>
              </a:solidFill>
              <a:effectLst/>
              <a:latin typeface="Menlo" panose="020B0609030804020204" pitchFamily="49" charset="0"/>
            </a:endParaRPr>
          </a:p>
          <a:p>
            <a:pPr>
              <a:lnSpc>
                <a:spcPct val="125000"/>
              </a:lnSpc>
              <a:buNone/>
            </a:pPr>
            <a:br>
              <a:rPr lang="en-BE" sz="1100" b="0" dirty="0">
                <a:solidFill>
                  <a:srgbClr val="202020"/>
                </a:solidFill>
                <a:effectLst/>
                <a:latin typeface="Menlo" panose="020B0609030804020204" pitchFamily="49" charset="0"/>
              </a:rPr>
            </a:br>
            <a:r>
              <a:rPr lang="en-BE" sz="1100" b="0" dirty="0">
                <a:solidFill>
                  <a:srgbClr val="1F2328"/>
                </a:solidFill>
                <a:effectLst/>
                <a:latin typeface="Menlo" panose="020B0609030804020204" pitchFamily="49" charset="0"/>
              </a:rPr>
              <a:t>start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time</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time</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totaal_array</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array</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sum</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tijd_array</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267F99"/>
                </a:solidFill>
                <a:effectLst/>
                <a:latin typeface="Menlo" panose="020B0609030804020204" pitchFamily="49" charset="0"/>
              </a:rPr>
              <a:t>time</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time</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start</a:t>
            </a:r>
            <a:endParaRPr lang="en-BE" sz="1100" b="0" dirty="0">
              <a:solidFill>
                <a:srgbClr val="202020"/>
              </a:solidFill>
              <a:effectLst/>
              <a:latin typeface="Menlo" panose="020B0609030804020204" pitchFamily="49" charset="0"/>
            </a:endParaRPr>
          </a:p>
          <a:p>
            <a:pPr>
              <a:lnSpc>
                <a:spcPct val="125000"/>
              </a:lnSpc>
              <a:buNone/>
            </a:pPr>
            <a:br>
              <a:rPr lang="en-BE" sz="1100" b="0" dirty="0">
                <a:solidFill>
                  <a:srgbClr val="202020"/>
                </a:solidFill>
                <a:effectLst/>
                <a:latin typeface="Menlo" panose="020B0609030804020204" pitchFamily="49" charset="0"/>
              </a:rPr>
            </a:br>
            <a:r>
              <a:rPr lang="en-BE" sz="1100" b="0" dirty="0">
                <a:solidFill>
                  <a:srgbClr val="8250DF"/>
                </a:solidFill>
                <a:effectLst/>
                <a:latin typeface="Menlo" panose="020B0609030804020204" pitchFamily="49" charset="0"/>
              </a:rPr>
              <a:t>print</a:t>
            </a:r>
            <a:r>
              <a:rPr lang="en-BE" sz="1100" b="0" dirty="0">
                <a:solidFill>
                  <a:srgbClr val="202020"/>
                </a:solidFill>
                <a:effectLst/>
                <a:latin typeface="Menlo" panose="020B0609030804020204" pitchFamily="49" charset="0"/>
              </a:rPr>
              <a:t>(</a:t>
            </a:r>
            <a:r>
              <a:rPr lang="en-BE" sz="1100" b="0" dirty="0">
                <a:solidFill>
                  <a:srgbClr val="CF222E"/>
                </a:solidFill>
                <a:effectLst/>
                <a:latin typeface="Menlo" panose="020B0609030804020204" pitchFamily="49" charset="0"/>
              </a:rPr>
              <a:t>f</a:t>
            </a:r>
            <a:r>
              <a:rPr lang="en-BE" sz="1100" b="0" dirty="0">
                <a:solidFill>
                  <a:srgbClr val="0A3069"/>
                </a:solidFill>
                <a:effectLst/>
                <a:latin typeface="Menlo" panose="020B0609030804020204" pitchFamily="49" charset="0"/>
              </a:rPr>
              <a:t>'Som met Python-lus: </a:t>
            </a:r>
            <a:r>
              <a:rPr lang="en-BE" sz="1100" b="0" dirty="0">
                <a:solidFill>
                  <a:srgbClr val="CF222E"/>
                </a:solidFill>
                <a:effectLst/>
                <a:latin typeface="Menlo" panose="020B0609030804020204" pitchFamily="49" charset="0"/>
              </a:rPr>
              <a:t>{</a:t>
            </a:r>
            <a:r>
              <a:rPr lang="en-BE" sz="1100" b="0" dirty="0">
                <a:solidFill>
                  <a:srgbClr val="1F2328"/>
                </a:solidFill>
                <a:effectLst/>
                <a:latin typeface="Menlo" panose="020B0609030804020204" pitchFamily="49" charset="0"/>
              </a:rPr>
              <a:t>totaal_lijst</a:t>
            </a:r>
            <a:r>
              <a:rPr lang="en-BE" sz="1100" b="0" dirty="0">
                <a:solidFill>
                  <a:srgbClr val="CF222E"/>
                </a:solidFill>
                <a:effectLst/>
                <a:latin typeface="Menlo" panose="020B0609030804020204" pitchFamily="49" charset="0"/>
              </a:rPr>
              <a:t>}</a:t>
            </a:r>
            <a:r>
              <a:rPr lang="en-BE" sz="1100" b="0" dirty="0">
                <a:solidFill>
                  <a:srgbClr val="0A3069"/>
                </a:solidFill>
                <a:effectLst/>
                <a:latin typeface="Menlo" panose="020B0609030804020204" pitchFamily="49" charset="0"/>
              </a:rPr>
              <a:t> in </a:t>
            </a:r>
            <a:r>
              <a:rPr lang="en-BE" sz="1100" b="0" dirty="0">
                <a:solidFill>
                  <a:srgbClr val="CF222E"/>
                </a:solidFill>
                <a:effectLst/>
                <a:latin typeface="Menlo" panose="020B0609030804020204" pitchFamily="49" charset="0"/>
              </a:rPr>
              <a:t>{</a:t>
            </a:r>
            <a:r>
              <a:rPr lang="en-BE" sz="1100" b="0" dirty="0">
                <a:solidFill>
                  <a:srgbClr val="1F2328"/>
                </a:solidFill>
                <a:effectLst/>
                <a:latin typeface="Menlo" panose="020B0609030804020204" pitchFamily="49" charset="0"/>
              </a:rPr>
              <a:t>tijd_lijst</a:t>
            </a:r>
            <a:r>
              <a:rPr lang="en-BE" sz="1100" b="0" dirty="0">
                <a:solidFill>
                  <a:srgbClr val="CF222E"/>
                </a:solidFill>
                <a:effectLst/>
                <a:latin typeface="Menlo" panose="020B0609030804020204" pitchFamily="49" charset="0"/>
              </a:rPr>
              <a:t>:.4f}</a:t>
            </a:r>
            <a:r>
              <a:rPr lang="en-BE" sz="1100" b="0" dirty="0">
                <a:solidFill>
                  <a:srgbClr val="0A3069"/>
                </a:solidFill>
                <a:effectLst/>
                <a:latin typeface="Menlo" panose="020B0609030804020204" pitchFamily="49" charset="0"/>
              </a:rPr>
              <a:t> seconden'</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8250DF"/>
                </a:solidFill>
                <a:effectLst/>
                <a:latin typeface="Menlo" panose="020B0609030804020204" pitchFamily="49" charset="0"/>
              </a:rPr>
              <a:t>print</a:t>
            </a:r>
            <a:r>
              <a:rPr lang="en-BE" sz="1100" b="0" dirty="0">
                <a:solidFill>
                  <a:srgbClr val="202020"/>
                </a:solidFill>
                <a:effectLst/>
                <a:latin typeface="Menlo" panose="020B0609030804020204" pitchFamily="49" charset="0"/>
              </a:rPr>
              <a:t>(</a:t>
            </a:r>
            <a:r>
              <a:rPr lang="en-BE" sz="1100" b="0" dirty="0">
                <a:solidFill>
                  <a:srgbClr val="CF222E"/>
                </a:solidFill>
                <a:effectLst/>
                <a:latin typeface="Menlo" panose="020B0609030804020204" pitchFamily="49" charset="0"/>
              </a:rPr>
              <a:t>f</a:t>
            </a:r>
            <a:r>
              <a:rPr lang="en-BE" sz="1100" b="0" dirty="0">
                <a:solidFill>
                  <a:srgbClr val="0A3069"/>
                </a:solidFill>
                <a:effectLst/>
                <a:latin typeface="Menlo" panose="020B0609030804020204" pitchFamily="49" charset="0"/>
              </a:rPr>
              <a:t>'Som met NumPy (gevectoriseerd): </a:t>
            </a:r>
            <a:r>
              <a:rPr lang="en-BE" sz="1100" b="0" dirty="0">
                <a:solidFill>
                  <a:srgbClr val="CF222E"/>
                </a:solidFill>
                <a:effectLst/>
                <a:latin typeface="Menlo" panose="020B0609030804020204" pitchFamily="49" charset="0"/>
              </a:rPr>
              <a:t>{</a:t>
            </a:r>
            <a:r>
              <a:rPr lang="en-BE" sz="1100" b="0" dirty="0">
                <a:solidFill>
                  <a:srgbClr val="1F2328"/>
                </a:solidFill>
                <a:effectLst/>
                <a:latin typeface="Menlo" panose="020B0609030804020204" pitchFamily="49" charset="0"/>
              </a:rPr>
              <a:t>totaal_array</a:t>
            </a:r>
            <a:r>
              <a:rPr lang="en-BE" sz="1100" b="0" dirty="0">
                <a:solidFill>
                  <a:srgbClr val="CF222E"/>
                </a:solidFill>
                <a:effectLst/>
                <a:latin typeface="Menlo" panose="020B0609030804020204" pitchFamily="49" charset="0"/>
              </a:rPr>
              <a:t>}</a:t>
            </a:r>
            <a:r>
              <a:rPr lang="en-BE" sz="1100" b="0" dirty="0">
                <a:solidFill>
                  <a:srgbClr val="0A3069"/>
                </a:solidFill>
                <a:effectLst/>
                <a:latin typeface="Menlo" panose="020B0609030804020204" pitchFamily="49" charset="0"/>
              </a:rPr>
              <a:t> in </a:t>
            </a:r>
            <a:r>
              <a:rPr lang="en-BE" sz="1100" b="0" dirty="0">
                <a:solidFill>
                  <a:srgbClr val="CF222E"/>
                </a:solidFill>
                <a:effectLst/>
                <a:latin typeface="Menlo" panose="020B0609030804020204" pitchFamily="49" charset="0"/>
              </a:rPr>
              <a:t>{</a:t>
            </a:r>
            <a:r>
              <a:rPr lang="en-BE" sz="1100" b="0" dirty="0">
                <a:solidFill>
                  <a:srgbClr val="1F2328"/>
                </a:solidFill>
                <a:effectLst/>
                <a:latin typeface="Menlo" panose="020B0609030804020204" pitchFamily="49" charset="0"/>
              </a:rPr>
              <a:t>tijd_array</a:t>
            </a:r>
            <a:r>
              <a:rPr lang="en-BE" sz="1100" b="0" dirty="0">
                <a:solidFill>
                  <a:srgbClr val="CF222E"/>
                </a:solidFill>
                <a:effectLst/>
                <a:latin typeface="Menlo" panose="020B0609030804020204" pitchFamily="49" charset="0"/>
              </a:rPr>
              <a:t>:.4f}</a:t>
            </a:r>
            <a:r>
              <a:rPr lang="en-BE" sz="1100" b="0" dirty="0">
                <a:solidFill>
                  <a:srgbClr val="0A3069"/>
                </a:solidFill>
                <a:effectLst/>
                <a:latin typeface="Menlo" panose="020B0609030804020204" pitchFamily="49" charset="0"/>
              </a:rPr>
              <a:t> seconden'</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8250DF"/>
                </a:solidFill>
                <a:effectLst/>
                <a:latin typeface="Menlo" panose="020B0609030804020204" pitchFamily="49" charset="0"/>
              </a:rPr>
              <a:t>print</a:t>
            </a:r>
            <a:r>
              <a:rPr lang="en-BE" sz="1100" b="0" dirty="0">
                <a:solidFill>
                  <a:srgbClr val="202020"/>
                </a:solidFill>
                <a:effectLst/>
                <a:latin typeface="Menlo" panose="020B0609030804020204" pitchFamily="49" charset="0"/>
              </a:rPr>
              <a:t>(</a:t>
            </a:r>
            <a:r>
              <a:rPr lang="en-BE" sz="1100" b="0" dirty="0">
                <a:solidFill>
                  <a:srgbClr val="CF222E"/>
                </a:solidFill>
                <a:effectLst/>
                <a:latin typeface="Menlo" panose="020B0609030804020204" pitchFamily="49" charset="0"/>
              </a:rPr>
              <a:t>f</a:t>
            </a:r>
            <a:r>
              <a:rPr lang="en-BE" sz="1100" b="0" dirty="0">
                <a:solidFill>
                  <a:srgbClr val="0A3069"/>
                </a:solidFill>
                <a:effectLst/>
                <a:latin typeface="Menlo" panose="020B0609030804020204" pitchFamily="49" charset="0"/>
              </a:rPr>
              <a:t>'NumPy is hier ongeveer </a:t>
            </a:r>
            <a:r>
              <a:rPr lang="en-BE" sz="1100" b="0" dirty="0">
                <a:solidFill>
                  <a:srgbClr val="CF222E"/>
                </a:solidFill>
                <a:effectLst/>
                <a:latin typeface="Menlo" panose="020B0609030804020204" pitchFamily="49" charset="0"/>
              </a:rPr>
              <a:t>{</a:t>
            </a:r>
            <a:r>
              <a:rPr lang="en-BE" sz="1100" b="0" dirty="0">
                <a:solidFill>
                  <a:srgbClr val="1F2328"/>
                </a:solidFill>
                <a:effectLst/>
                <a:latin typeface="Menlo" panose="020B0609030804020204" pitchFamily="49" charset="0"/>
              </a:rPr>
              <a:t>tijd_lijst</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tijd_array</a:t>
            </a:r>
            <a:r>
              <a:rPr lang="en-BE" sz="1100" b="0" dirty="0">
                <a:solidFill>
                  <a:srgbClr val="CF222E"/>
                </a:solidFill>
                <a:effectLst/>
                <a:latin typeface="Menlo" panose="020B0609030804020204" pitchFamily="49" charset="0"/>
              </a:rPr>
              <a:t>:.0f}</a:t>
            </a:r>
            <a:r>
              <a:rPr lang="en-BE" sz="1100" b="0" dirty="0">
                <a:solidFill>
                  <a:srgbClr val="0A3069"/>
                </a:solidFill>
                <a:effectLst/>
                <a:latin typeface="Menlo" panose="020B0609030804020204" pitchFamily="49" charset="0"/>
              </a:rPr>
              <a:t>x sneller'</a:t>
            </a:r>
            <a:r>
              <a:rPr lang="en-BE" sz="1100" b="0" dirty="0">
                <a:solidFill>
                  <a:srgbClr val="202020"/>
                </a:solidFill>
                <a:effectLst/>
                <a:latin typeface="Menlo" panose="020B0609030804020204" pitchFamily="49" charset="0"/>
              </a:rPr>
              <a:t>)</a:t>
            </a:r>
          </a:p>
        </p:txBody>
      </p:sp>
      <p:sp>
        <p:nvSpPr>
          <p:cNvPr id="12" name="TextBox 11">
            <a:extLst>
              <a:ext uri="{FF2B5EF4-FFF2-40B4-BE49-F238E27FC236}">
                <a16:creationId xmlns:a16="http://schemas.microsoft.com/office/drawing/2014/main" id="{933F10A3-44DF-83C1-5B53-D782C70A0523}"/>
              </a:ext>
            </a:extLst>
          </p:cNvPr>
          <p:cNvSpPr txBox="1"/>
          <p:nvPr/>
        </p:nvSpPr>
        <p:spPr>
          <a:xfrm>
            <a:off x="5397750" y="5145065"/>
            <a:ext cx="5894720" cy="646331"/>
          </a:xfrm>
          <a:prstGeom prst="rect">
            <a:avLst/>
          </a:prstGeom>
          <a:noFill/>
          <a:ln>
            <a:solidFill>
              <a:schemeClr val="accent1"/>
            </a:solidFill>
          </a:ln>
        </p:spPr>
        <p:txBody>
          <a:bodyPr wrap="square">
            <a:spAutoFit/>
          </a:bodyPr>
          <a:lstStyle/>
          <a:p>
            <a:r>
              <a:rPr lang="en-BE" sz="1200" b="0" i="0" dirty="0">
                <a:solidFill>
                  <a:srgbClr val="202020"/>
                </a:solidFill>
                <a:effectLst/>
                <a:latin typeface="Menlo" panose="020B0609030804020204" pitchFamily="49" charset="0"/>
              </a:rPr>
              <a:t>Som met Python-lus: 12499997500000 in 0.2113 seconden </a:t>
            </a:r>
          </a:p>
          <a:p>
            <a:r>
              <a:rPr lang="en-BE" sz="1200" b="0" i="0" dirty="0">
                <a:solidFill>
                  <a:srgbClr val="202020"/>
                </a:solidFill>
                <a:effectLst/>
                <a:latin typeface="Menlo" panose="020B0609030804020204" pitchFamily="49" charset="0"/>
              </a:rPr>
              <a:t>Som met NumPy (gevectoriseerd): 12499997500000 in 0.0029 seconden </a:t>
            </a:r>
          </a:p>
          <a:p>
            <a:r>
              <a:rPr lang="en-BE" sz="1200" b="0" i="0" dirty="0">
                <a:solidFill>
                  <a:srgbClr val="202020"/>
                </a:solidFill>
                <a:effectLst/>
                <a:latin typeface="Menlo" panose="020B0609030804020204" pitchFamily="49" charset="0"/>
              </a:rPr>
              <a:t>NumPy is hier ongeveer 72x sneller</a:t>
            </a:r>
            <a:endParaRPr lang="en-BE" sz="1200" dirty="0"/>
          </a:p>
        </p:txBody>
      </p:sp>
    </p:spTree>
    <p:extLst>
      <p:ext uri="{BB962C8B-B14F-4D97-AF65-F5344CB8AC3E}">
        <p14:creationId xmlns:p14="http://schemas.microsoft.com/office/powerpoint/2010/main" val="3962590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r = np.array([4, 9, 1, 7, 3])</a:t>
            </a:r>
          </a:p>
          <a:p>
            <a:pPr marL="0" indent="0">
              <a:lnSpc>
                <a:spcPts val="2400"/>
              </a:lnSpc>
              <a:spcBef>
                <a:spcPts val="0"/>
              </a:spcBef>
              <a:spcAft>
                <a:spcPts val="0"/>
              </a:spcAft>
              <a:buNone/>
            </a:pPr>
            <a:r>
              <a:rPr lang="nl-NL" sz="2000" dirty="0">
                <a:latin typeface="Consolas"/>
                <a:cs typeface="Consolas"/>
              </a:rPr>
              <a:t>print(r &gt; 3)</a:t>
            </a:r>
          </a:p>
          <a:p>
            <a:pPr marL="0" indent="0">
              <a:lnSpc>
                <a:spcPts val="2400"/>
              </a:lnSpc>
              <a:spcBef>
                <a:spcPts val="0"/>
              </a:spcBef>
              <a:spcAft>
                <a:spcPts val="0"/>
              </a:spcAft>
              <a:buNone/>
            </a:pPr>
            <a:r>
              <a:rPr lang="nl-NL" sz="2000" dirty="0">
                <a:latin typeface="Consolas"/>
                <a:cs typeface="Consolas"/>
              </a:rPr>
              <a:t>print(r[r &gt; 3])</a:t>
            </a:r>
          </a:p>
          <a:p>
            <a:pPr marL="0" indent="0">
              <a:lnSpc>
                <a:spcPts val="2400"/>
              </a:lnSpc>
              <a:spcBef>
                <a:spcPts val="0"/>
              </a:spcBef>
              <a:spcAft>
                <a:spcPts val="0"/>
              </a:spcAft>
              <a:buNone/>
            </a:pPr>
            <a:r>
              <a:rPr lang="nl-NL" sz="2000" dirty="0">
                <a:latin typeface="Consolas"/>
                <a:cs typeface="Consolas"/>
              </a:rPr>
              <a:t>print(np.where(r &gt; 3, r, -1))</a:t>
            </a:r>
          </a:p>
          <a:p>
            <a:pPr marL="0" indent="0">
              <a:lnSpc>
                <a:spcPts val="2400"/>
              </a:lnSpc>
              <a:spcBef>
                <a:spcPts val="0"/>
              </a:spcBef>
              <a:spcAft>
                <a:spcPts val="0"/>
              </a:spcAft>
              <a:buNone/>
            </a:pPr>
            <a:r>
              <a:rPr lang="nl-NL" sz="2000" dirty="0">
                <a:latin typeface="Consolas"/>
                <a:cs typeface="Consolas"/>
              </a:rPr>
              <a:t>print(np.where(r &gt; 3))</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kopie = r</a:t>
            </a:r>
          </a:p>
          <a:p>
            <a:pPr marL="0" indent="0">
              <a:lnSpc>
                <a:spcPts val="2400"/>
              </a:lnSpc>
              <a:spcBef>
                <a:spcPts val="0"/>
              </a:spcBef>
              <a:spcAft>
                <a:spcPts val="0"/>
              </a:spcAft>
              <a:buNone/>
            </a:pPr>
            <a:r>
              <a:rPr lang="nl-NL" sz="2000" dirty="0">
                <a:latin typeface="Consolas"/>
                <a:cs typeface="Consolas"/>
              </a:rPr>
              <a:t>kopie[kopie &gt; 5] = 0</a:t>
            </a:r>
          </a:p>
          <a:p>
            <a:pPr marL="0" indent="0">
              <a:lnSpc>
                <a:spcPts val="2400"/>
              </a:lnSpc>
              <a:spcBef>
                <a:spcPts val="0"/>
              </a:spcBef>
              <a:spcAft>
                <a:spcPts val="0"/>
              </a:spcAft>
              <a:buNone/>
            </a:pPr>
            <a:r>
              <a:rPr lang="nl-NL" sz="2000" dirty="0">
                <a:latin typeface="Consolas"/>
                <a:cs typeface="Consolas"/>
              </a:rPr>
              <a:t>print(r)</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a:p>
            <a:pPr marL="0" indent="0">
              <a:spcBef>
                <a:spcPts val="600"/>
              </a:spcBef>
              <a:buNone/>
            </a:pPr>
            <a:r>
              <a:rPr lang="nl-NL" sz="1800" dirty="0">
                <a:solidFill>
                  <a:srgbClr val="1D8DB0"/>
                </a:solidFill>
              </a:rPr>
              <a:t>Hint: combineer condities met </a:t>
            </a:r>
            <a:r>
              <a:rPr lang="nl-NL" sz="1800" dirty="0">
                <a:solidFill>
                  <a:srgbClr val="1D8DB0"/>
                </a:solidFill>
                <a:latin typeface="Courier New" panose="02070309020205020404" pitchFamily="49" charset="0"/>
                <a:cs typeface="Courier New" panose="02070309020205020404" pitchFamily="49" charset="0"/>
              </a:rPr>
              <a:t>&amp;</a:t>
            </a:r>
            <a:r>
              <a:rPr lang="nl-NL" sz="1800" dirty="0">
                <a:solidFill>
                  <a:srgbClr val="1D8DB0"/>
                </a:solidFill>
              </a:rPr>
              <a:t> en </a:t>
            </a:r>
            <a:r>
              <a:rPr lang="nl-NL" sz="1800" dirty="0">
                <a:solidFill>
                  <a:srgbClr val="1D8DB0"/>
                </a:solidFill>
                <a:latin typeface="Courier New" panose="02070309020205020404" pitchFamily="49" charset="0"/>
                <a:cs typeface="Courier New" panose="02070309020205020404" pitchFamily="49" charset="0"/>
              </a:rPr>
              <a:t>|</a:t>
            </a:r>
            <a:r>
              <a:rPr lang="nl-NL" sz="1800" dirty="0">
                <a:solidFill>
                  <a:srgbClr val="1D8DB0"/>
                </a:solidFill>
              </a:rPr>
              <a:t> (met haakjes), niet met </a:t>
            </a:r>
            <a:r>
              <a:rPr lang="nl-NL" sz="1800" dirty="0">
                <a:solidFill>
                  <a:srgbClr val="1D8DB0"/>
                </a:solidFill>
                <a:latin typeface="Courier New" panose="02070309020205020404" pitchFamily="49" charset="0"/>
                <a:cs typeface="Courier New" panose="02070309020205020404" pitchFamily="49" charset="0"/>
              </a:rPr>
              <a:t>and</a:t>
            </a:r>
            <a:r>
              <a:rPr lang="nl-NL" sz="1800" dirty="0">
                <a:solidFill>
                  <a:srgbClr val="1D8DB0"/>
                </a:solidFill>
              </a:rPr>
              <a:t>/</a:t>
            </a:r>
            <a:r>
              <a:rPr lang="nl-NL" sz="1800" dirty="0">
                <a:solidFill>
                  <a:srgbClr val="1D8DB0"/>
                </a:solidFill>
                <a:latin typeface="Courier New" panose="02070309020205020404" pitchFamily="49" charset="0"/>
                <a:cs typeface="Courier New" panose="02070309020205020404" pitchFamily="49" charset="0"/>
              </a:rPr>
              <a:t>or</a:t>
            </a:r>
          </a:p>
        </p:txBody>
      </p:sp>
      <p:sp>
        <p:nvSpPr>
          <p:cNvPr id="3" name="Title 2"/>
          <p:cNvSpPr>
            <a:spLocks noGrp="1"/>
          </p:cNvSpPr>
          <p:nvPr>
            <p:ph type="title"/>
          </p:nvPr>
        </p:nvSpPr>
        <p:spPr/>
        <p:txBody>
          <a:bodyPr/>
          <a:lstStyle/>
          <a:p>
            <a:r>
              <a:t>Oefening 1B.4: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35</a:t>
            </a:fld>
            <a:endParaRPr lang="nl-NL"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1BD82C-C725-704E-85E1-6A234CD3DC8C}"/>
              </a:ext>
            </a:extLst>
          </p:cNvPr>
          <p:cNvSpPr>
            <a:spLocks noGrp="1"/>
          </p:cNvSpPr>
          <p:nvPr>
            <p:ph idx="1"/>
          </p:nvPr>
        </p:nvSpPr>
        <p:spPr/>
        <p:txBody>
          <a:bodyPr>
            <a:normAutofit/>
          </a:bodyPr>
          <a:lstStyle/>
          <a:p>
            <a:r>
              <a:rPr lang="nl-NL" dirty="0"/>
              <a:t>Veel ingebouwde methodes die op een intuïtieve manier kunnen gebruikt worden</a:t>
            </a:r>
          </a:p>
          <a:p>
            <a:r>
              <a:rPr lang="nl-NL" dirty="0"/>
              <a:t>Bewerkingen kunnen meteen op een hele rij gebeuren (bv. het vermenigvuldigen van alle getallen met 1 getal of rij) zonder loops</a:t>
            </a:r>
          </a:p>
          <a:p>
            <a:r>
              <a:rPr lang="nl-NL" dirty="0"/>
              <a:t>Hoe te studeren:</a:t>
            </a:r>
          </a:p>
          <a:p>
            <a:pPr lvl="1"/>
            <a:r>
              <a:rPr lang="nl-NL" sz="2000" dirty="0"/>
              <a:t>Open-boek vak: leer ze niet vanbuiten, weet waar de bewerkingen te vinden</a:t>
            </a:r>
          </a:p>
          <a:p>
            <a:pPr lvl="1"/>
            <a:r>
              <a:rPr lang="nl-NL" sz="2000" dirty="0"/>
              <a:t>Zoek zelf een probleem en los het op met </a:t>
            </a:r>
            <a:r>
              <a:rPr lang="nl-NL" sz="2000" dirty="0" err="1"/>
              <a:t>NumPy</a:t>
            </a:r>
            <a:r>
              <a:rPr lang="nl-NL" sz="2000" dirty="0"/>
              <a:t> </a:t>
            </a:r>
          </a:p>
          <a:p>
            <a:pPr lvl="2"/>
            <a:r>
              <a:rPr lang="nl-NL" sz="1600" dirty="0"/>
              <a:t>Bereken het verloop van een </a:t>
            </a:r>
            <a:r>
              <a:rPr lang="nl-NL" sz="1600" dirty="0" err="1"/>
              <a:t>Markov</a:t>
            </a:r>
            <a:r>
              <a:rPr lang="nl-NL" sz="1600" dirty="0"/>
              <a:t> keten</a:t>
            </a:r>
          </a:p>
          <a:p>
            <a:pPr lvl="2"/>
            <a:r>
              <a:rPr lang="nl-NL" sz="1600" dirty="0"/>
              <a:t>Los een </a:t>
            </a:r>
            <a:r>
              <a:rPr lang="nl-NL" sz="1600" dirty="0" err="1"/>
              <a:t>sudoku</a:t>
            </a:r>
            <a:r>
              <a:rPr lang="nl-NL" sz="1600" dirty="0"/>
              <a:t> op met een </a:t>
            </a:r>
            <a:r>
              <a:rPr lang="nl-NL" sz="1600" dirty="0" err="1"/>
              <a:t>NumPy</a:t>
            </a:r>
            <a:r>
              <a:rPr lang="nl-NL" sz="1600" dirty="0"/>
              <a:t> matrix</a:t>
            </a:r>
          </a:p>
          <a:p>
            <a:pPr lvl="2"/>
            <a:r>
              <a:rPr lang="nl-NL" sz="1600" dirty="0"/>
              <a:t>…</a:t>
            </a:r>
          </a:p>
        </p:txBody>
      </p:sp>
      <p:sp>
        <p:nvSpPr>
          <p:cNvPr id="4" name="Slide Number Placeholder 3">
            <a:extLst>
              <a:ext uri="{FF2B5EF4-FFF2-40B4-BE49-F238E27FC236}">
                <a16:creationId xmlns:a16="http://schemas.microsoft.com/office/drawing/2014/main" id="{EAA2E848-10FA-BF4A-B33B-D7696E02E456}"/>
              </a:ext>
            </a:extLst>
          </p:cNvPr>
          <p:cNvSpPr>
            <a:spLocks noGrp="1"/>
          </p:cNvSpPr>
          <p:nvPr>
            <p:ph type="sldNum" sz="quarter" idx="12"/>
          </p:nvPr>
        </p:nvSpPr>
        <p:spPr/>
        <p:txBody>
          <a:bodyPr/>
          <a:lstStyle/>
          <a:p>
            <a:fld id="{D270EDC2-4F5E-5547-954F-5222C286AC2A}" type="slidenum">
              <a:rPr lang="nl-NL" smtClean="0"/>
              <a:t>36</a:t>
            </a:fld>
            <a:endParaRPr lang="nl-NL" dirty="0"/>
          </a:p>
        </p:txBody>
      </p:sp>
      <p:sp>
        <p:nvSpPr>
          <p:cNvPr id="2" name="Title 1">
            <a:extLst>
              <a:ext uri="{FF2B5EF4-FFF2-40B4-BE49-F238E27FC236}">
                <a16:creationId xmlns:a16="http://schemas.microsoft.com/office/drawing/2014/main" id="{99D60EEB-31E6-7748-B176-D9C1D7835BB1}"/>
              </a:ext>
            </a:extLst>
          </p:cNvPr>
          <p:cNvSpPr>
            <a:spLocks noGrp="1"/>
          </p:cNvSpPr>
          <p:nvPr>
            <p:ph type="title"/>
          </p:nvPr>
        </p:nvSpPr>
        <p:spPr/>
        <p:txBody>
          <a:bodyPr/>
          <a:lstStyle/>
          <a:p>
            <a:r>
              <a:rPr lang="nl-NL" dirty="0" err="1"/>
              <a:t>Wrap</a:t>
            </a:r>
            <a:r>
              <a:rPr lang="nl-NL" dirty="0"/>
              <a:t>-up</a:t>
            </a:r>
          </a:p>
        </p:txBody>
      </p:sp>
    </p:spTree>
    <p:extLst>
      <p:ext uri="{BB962C8B-B14F-4D97-AF65-F5344CB8AC3E}">
        <p14:creationId xmlns:p14="http://schemas.microsoft.com/office/powerpoint/2010/main" val="4201899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7C18E4-69B3-7745-A57B-10E4766BDC98}"/>
              </a:ext>
            </a:extLst>
          </p:cNvPr>
          <p:cNvSpPr>
            <a:spLocks noGrp="1"/>
          </p:cNvSpPr>
          <p:nvPr>
            <p:ph type="ctrTitle"/>
          </p:nvPr>
        </p:nvSpPr>
        <p:spPr/>
        <p:txBody>
          <a:bodyPr/>
          <a:lstStyle/>
          <a:p>
            <a:r>
              <a:rPr lang="nl-NL" dirty="0"/>
              <a:t>2. </a:t>
            </a:r>
            <a:r>
              <a:rPr lang="nl-NL" dirty="0" err="1"/>
              <a:t>Pandas</a:t>
            </a:r>
            <a:endParaRPr lang="nl-NL" dirty="0"/>
          </a:p>
        </p:txBody>
      </p:sp>
      <p:sp>
        <p:nvSpPr>
          <p:cNvPr id="8" name="Subtitle 7">
            <a:extLst>
              <a:ext uri="{FF2B5EF4-FFF2-40B4-BE49-F238E27FC236}">
                <a16:creationId xmlns:a16="http://schemas.microsoft.com/office/drawing/2014/main" id="{B53618F0-C113-3E4E-98C4-0FC2DCCCA6E0}"/>
              </a:ext>
            </a:extLst>
          </p:cNvPr>
          <p:cNvSpPr>
            <a:spLocks noGrp="1"/>
          </p:cNvSpPr>
          <p:nvPr>
            <p:ph type="subTitle" idx="1"/>
          </p:nvPr>
        </p:nvSpPr>
        <p:spPr/>
        <p:txBody>
          <a:bodyPr/>
          <a:lstStyle/>
          <a:p>
            <a:r>
              <a:rPr lang="nl-NL" dirty="0"/>
              <a:t>1B.2-pandas.ipynb</a:t>
            </a:r>
          </a:p>
          <a:p>
            <a:r>
              <a:rPr lang="nl-NL" dirty="0"/>
              <a:t>1B.3-pandas-data.ipynb</a:t>
            </a:r>
          </a:p>
          <a:p>
            <a:r>
              <a:rPr lang="nl-NL" dirty="0"/>
              <a:t>1B.4-pandas-cases.ipynb</a:t>
            </a:r>
          </a:p>
          <a:p>
            <a:endParaRPr lang="nl-NL" dirty="0"/>
          </a:p>
          <a:p>
            <a:endParaRPr lang="nl-NL" dirty="0"/>
          </a:p>
        </p:txBody>
      </p:sp>
      <p:sp>
        <p:nvSpPr>
          <p:cNvPr id="4" name="Slide Number Placeholder 3">
            <a:extLst>
              <a:ext uri="{FF2B5EF4-FFF2-40B4-BE49-F238E27FC236}">
                <a16:creationId xmlns:a16="http://schemas.microsoft.com/office/drawing/2014/main" id="{D2A6B954-E82D-3B4F-BAAA-8D8BFBC30E1C}"/>
              </a:ext>
            </a:extLst>
          </p:cNvPr>
          <p:cNvSpPr>
            <a:spLocks noGrp="1"/>
          </p:cNvSpPr>
          <p:nvPr>
            <p:ph type="sldNum" sz="quarter" idx="12"/>
          </p:nvPr>
        </p:nvSpPr>
        <p:spPr/>
        <p:txBody>
          <a:bodyPr/>
          <a:lstStyle/>
          <a:p>
            <a:fld id="{D270EDC2-4F5E-5547-954F-5222C286AC2A}" type="slidenum">
              <a:rPr lang="nl-NL" smtClean="0"/>
              <a:t>37</a:t>
            </a:fld>
            <a:endParaRPr lang="nl-NL" dirty="0"/>
          </a:p>
        </p:txBody>
      </p:sp>
      <p:pic>
        <p:nvPicPr>
          <p:cNvPr id="1026" name="Picture 2" descr="pandas (software) - Wikipedia">
            <a:extLst>
              <a:ext uri="{FF2B5EF4-FFF2-40B4-BE49-F238E27FC236}">
                <a16:creationId xmlns:a16="http://schemas.microsoft.com/office/drawing/2014/main" id="{3C9C0338-6E8E-5E8D-D654-126F9CF00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632"/>
            <a:ext cx="5244548" cy="21196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ant panda | Facts, Habitat, Population, &amp; Diet | Britannica">
            <a:extLst>
              <a:ext uri="{FF2B5EF4-FFF2-40B4-BE49-F238E27FC236}">
                <a16:creationId xmlns:a16="http://schemas.microsoft.com/office/drawing/2014/main" id="{DF007781-AB51-0636-16C7-086EE7954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4487" y="23813"/>
            <a:ext cx="2956339" cy="196966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1F649FA-9E89-9A12-B12E-5A87DA85ADA8}"/>
              </a:ext>
            </a:extLst>
          </p:cNvPr>
          <p:cNvSpPr txBox="1"/>
          <p:nvPr/>
        </p:nvSpPr>
        <p:spPr>
          <a:xfrm>
            <a:off x="0" y="6624032"/>
            <a:ext cx="10440227" cy="276999"/>
          </a:xfrm>
          <a:prstGeom prst="rect">
            <a:avLst/>
          </a:prstGeom>
          <a:noFill/>
        </p:spPr>
        <p:txBody>
          <a:bodyPr wrap="square">
            <a:spAutoFit/>
          </a:bodyPr>
          <a:lstStyle/>
          <a:p>
            <a:r>
              <a:rPr lang="nl-NL" sz="1200" b="0" i="0" dirty="0" err="1">
                <a:solidFill>
                  <a:srgbClr val="1A1A1A"/>
                </a:solidFill>
                <a:effectLst/>
                <a:latin typeface="-apple-system"/>
              </a:rPr>
              <a:t>https</a:t>
            </a:r>
            <a:r>
              <a:rPr lang="nl-NL" sz="1200" b="0" i="0" dirty="0">
                <a:solidFill>
                  <a:srgbClr val="1A1A1A"/>
                </a:solidFill>
                <a:effectLst/>
                <a:latin typeface="-apple-system"/>
              </a:rPr>
              <a:t>://</a:t>
            </a:r>
            <a:r>
              <a:rPr lang="nl-NL" sz="1200" b="0" i="0" dirty="0" err="1">
                <a:solidFill>
                  <a:srgbClr val="1A1A1A"/>
                </a:solidFill>
                <a:effectLst/>
                <a:latin typeface="-apple-system"/>
              </a:rPr>
              <a:t>www.britannica.com</a:t>
            </a:r>
            <a:r>
              <a:rPr lang="nl-NL" sz="1200" b="0" i="0" dirty="0">
                <a:solidFill>
                  <a:srgbClr val="1A1A1A"/>
                </a:solidFill>
                <a:effectLst/>
                <a:latin typeface="-apple-system"/>
              </a:rPr>
              <a:t>/</a:t>
            </a:r>
            <a:r>
              <a:rPr lang="nl-NL" sz="1200" b="0" i="0" dirty="0" err="1">
                <a:solidFill>
                  <a:srgbClr val="1A1A1A"/>
                </a:solidFill>
                <a:effectLst/>
                <a:latin typeface="-apple-system"/>
              </a:rPr>
              <a:t>animal</a:t>
            </a:r>
            <a:r>
              <a:rPr lang="nl-NL" sz="1200" b="0" i="0" dirty="0">
                <a:solidFill>
                  <a:srgbClr val="1A1A1A"/>
                </a:solidFill>
                <a:effectLst/>
                <a:latin typeface="-apple-system"/>
              </a:rPr>
              <a:t>/</a:t>
            </a:r>
            <a:r>
              <a:rPr lang="nl-NL" sz="1200" b="0" i="0" dirty="0" err="1">
                <a:solidFill>
                  <a:srgbClr val="1A1A1A"/>
                </a:solidFill>
                <a:effectLst/>
                <a:latin typeface="-apple-system"/>
              </a:rPr>
              <a:t>giant</a:t>
            </a:r>
            <a:r>
              <a:rPr lang="nl-NL" sz="1200" b="0" i="0" dirty="0">
                <a:solidFill>
                  <a:srgbClr val="1A1A1A"/>
                </a:solidFill>
                <a:effectLst/>
                <a:latin typeface="-apple-system"/>
              </a:rPr>
              <a:t>-panda#/media/1/441032/158800</a:t>
            </a:r>
            <a:endParaRPr lang="nl-NL" sz="1200" dirty="0"/>
          </a:p>
        </p:txBody>
      </p:sp>
    </p:spTree>
    <p:extLst>
      <p:ext uri="{BB962C8B-B14F-4D97-AF65-F5344CB8AC3E}">
        <p14:creationId xmlns:p14="http://schemas.microsoft.com/office/powerpoint/2010/main" val="199005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A06EE-7286-524B-BF3C-ACA2C0D376B6}"/>
              </a:ext>
            </a:extLst>
          </p:cNvPr>
          <p:cNvSpPr>
            <a:spLocks noGrp="1"/>
          </p:cNvSpPr>
          <p:nvPr>
            <p:ph idx="1"/>
          </p:nvPr>
        </p:nvSpPr>
        <p:spPr/>
        <p:txBody>
          <a:bodyPr>
            <a:normAutofit/>
          </a:bodyPr>
          <a:lstStyle/>
          <a:p>
            <a:r>
              <a:rPr lang="nl-NL" sz="2000" dirty="0"/>
              <a:t>Gebruikt om data in te lezen, makkelijk op te schonen en verwerken</a:t>
            </a:r>
          </a:p>
          <a:p>
            <a:r>
              <a:rPr lang="nl-NL" sz="2000" dirty="0"/>
              <a:t>Heeft syntax gelijkaardig aan SQL (zie Business Information Systems)</a:t>
            </a:r>
          </a:p>
          <a:p>
            <a:r>
              <a:rPr lang="nl-NL" sz="2000" dirty="0"/>
              <a:t>Maakt in de achtergrond ook gebruik van C</a:t>
            </a:r>
          </a:p>
          <a:p>
            <a:r>
              <a:rPr lang="nl-NL" sz="2000" dirty="0"/>
              <a:t>Integreert naadloos met visualisatiepakketten zoals </a:t>
            </a:r>
            <a:r>
              <a:rPr lang="nl-NL" sz="2000" dirty="0" err="1"/>
              <a:t>Matplotlib</a:t>
            </a:r>
            <a:r>
              <a:rPr lang="nl-NL" sz="2000" dirty="0"/>
              <a:t> (moet niet gekend zijn)</a:t>
            </a:r>
          </a:p>
          <a:p>
            <a:r>
              <a:rPr lang="nl-NL" sz="2000" dirty="0"/>
              <a:t>Kan alles wat Excel kan, maar is flexibeler en </a:t>
            </a:r>
            <a:r>
              <a:rPr lang="nl-NL" sz="2000" b="1" dirty="0" err="1"/>
              <a:t>repliceerbaar</a:t>
            </a:r>
            <a:r>
              <a:rPr lang="nl-NL" sz="2000" b="1" dirty="0"/>
              <a:t>:</a:t>
            </a:r>
          </a:p>
          <a:p>
            <a:pPr lvl="1"/>
            <a:r>
              <a:rPr lang="nl-NL" sz="1800" dirty="0"/>
              <a:t>Ik heb nieuwe sales data -&gt; gebruik dezelfde Python code</a:t>
            </a:r>
          </a:p>
          <a:p>
            <a:r>
              <a:rPr lang="nl-NL" sz="2000" dirty="0"/>
              <a:t>Data in de achtergrond opgeslagen als </a:t>
            </a:r>
            <a:r>
              <a:rPr lang="nl-NL" sz="2000" dirty="0" err="1"/>
              <a:t>NumPy</a:t>
            </a:r>
            <a:r>
              <a:rPr lang="nl-NL" sz="2000" dirty="0"/>
              <a:t> matrices:</a:t>
            </a:r>
          </a:p>
          <a:p>
            <a:pPr lvl="1"/>
            <a:r>
              <a:rPr lang="nl-NL" sz="1800" dirty="0" err="1"/>
              <a:t>Pandas</a:t>
            </a:r>
            <a:r>
              <a:rPr lang="nl-NL" sz="1800" dirty="0"/>
              <a:t> verzorgt vooral een schil rond de data en gebruik van metadata (kolomnamen, filteren, etc.)</a:t>
            </a:r>
          </a:p>
          <a:p>
            <a:r>
              <a:rPr lang="nl-NL" sz="2000" dirty="0"/>
              <a:t>Open source</a:t>
            </a:r>
          </a:p>
        </p:txBody>
      </p:sp>
      <p:sp>
        <p:nvSpPr>
          <p:cNvPr id="4" name="Slide Number Placeholder 3">
            <a:extLst>
              <a:ext uri="{FF2B5EF4-FFF2-40B4-BE49-F238E27FC236}">
                <a16:creationId xmlns:a16="http://schemas.microsoft.com/office/drawing/2014/main" id="{2609B4C4-55D0-F949-AAD4-0235488356BC}"/>
              </a:ext>
            </a:extLst>
          </p:cNvPr>
          <p:cNvSpPr>
            <a:spLocks noGrp="1"/>
          </p:cNvSpPr>
          <p:nvPr>
            <p:ph type="sldNum" sz="quarter" idx="12"/>
          </p:nvPr>
        </p:nvSpPr>
        <p:spPr/>
        <p:txBody>
          <a:bodyPr/>
          <a:lstStyle/>
          <a:p>
            <a:fld id="{D270EDC2-4F5E-5547-954F-5222C286AC2A}" type="slidenum">
              <a:rPr lang="nl-NL" smtClean="0"/>
              <a:t>38</a:t>
            </a:fld>
            <a:endParaRPr lang="nl-NL" dirty="0"/>
          </a:p>
        </p:txBody>
      </p:sp>
      <p:sp>
        <p:nvSpPr>
          <p:cNvPr id="2" name="Title 1">
            <a:extLst>
              <a:ext uri="{FF2B5EF4-FFF2-40B4-BE49-F238E27FC236}">
                <a16:creationId xmlns:a16="http://schemas.microsoft.com/office/drawing/2014/main" id="{5CDFBFD3-4893-5443-85D5-FDC66655ABBC}"/>
              </a:ext>
            </a:extLst>
          </p:cNvPr>
          <p:cNvSpPr>
            <a:spLocks noGrp="1"/>
          </p:cNvSpPr>
          <p:nvPr>
            <p:ph type="title"/>
          </p:nvPr>
        </p:nvSpPr>
        <p:spPr/>
        <p:txBody>
          <a:bodyPr/>
          <a:lstStyle/>
          <a:p>
            <a:r>
              <a:rPr lang="nl-NL" dirty="0"/>
              <a:t>Introductie</a:t>
            </a:r>
          </a:p>
        </p:txBody>
      </p:sp>
      <p:sp>
        <p:nvSpPr>
          <p:cNvPr id="5" name="TextBox 4">
            <a:extLst>
              <a:ext uri="{FF2B5EF4-FFF2-40B4-BE49-F238E27FC236}">
                <a16:creationId xmlns:a16="http://schemas.microsoft.com/office/drawing/2014/main" id="{1DF3793E-A771-015B-A187-A0ABD496EEA8}"/>
              </a:ext>
            </a:extLst>
          </p:cNvPr>
          <p:cNvSpPr txBox="1"/>
          <p:nvPr/>
        </p:nvSpPr>
        <p:spPr>
          <a:xfrm>
            <a:off x="1014153" y="6334780"/>
            <a:ext cx="8174452" cy="523220"/>
          </a:xfrm>
          <a:prstGeom prst="rect">
            <a:avLst/>
          </a:prstGeom>
          <a:noFill/>
        </p:spPr>
        <p:txBody>
          <a:bodyPr wrap="square" rtlCol="0">
            <a:spAutoFit/>
          </a:bodyPr>
          <a:lstStyle/>
          <a:p>
            <a:r>
              <a:rPr lang="nl-NL" sz="1400" dirty="0">
                <a:solidFill>
                  <a:srgbClr val="FFC000"/>
                </a:solidFill>
              </a:rPr>
              <a:t>In deze slides wordt </a:t>
            </a:r>
            <a:r>
              <a:rPr lang="nl-NL" sz="1400" dirty="0" err="1">
                <a:solidFill>
                  <a:srgbClr val="FFC000"/>
                </a:solidFill>
              </a:rPr>
              <a:t>tabulaire</a:t>
            </a:r>
            <a:r>
              <a:rPr lang="nl-NL" sz="1400" dirty="0">
                <a:solidFill>
                  <a:srgbClr val="FFC000"/>
                </a:solidFill>
              </a:rPr>
              <a:t> data getoond. De fonts van PowerPoint zijn hier niet altijd geschikt voor, maar de resultaten van de code zijn mooi gestructureerd in de notebooks</a:t>
            </a:r>
          </a:p>
        </p:txBody>
      </p:sp>
    </p:spTree>
    <p:extLst>
      <p:ext uri="{BB962C8B-B14F-4D97-AF65-F5344CB8AC3E}">
        <p14:creationId xmlns:p14="http://schemas.microsoft.com/office/powerpoint/2010/main" val="1903713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7B3DB2-D4F8-7A4E-AF37-39787CD0E399}"/>
              </a:ext>
            </a:extLst>
          </p:cNvPr>
          <p:cNvSpPr>
            <a:spLocks noGrp="1"/>
          </p:cNvSpPr>
          <p:nvPr>
            <p:ph idx="1"/>
          </p:nvPr>
        </p:nvSpPr>
        <p:spPr/>
        <p:txBody>
          <a:bodyPr/>
          <a:lstStyle/>
          <a:p>
            <a:r>
              <a:rPr lang="nl-NL" dirty="0"/>
              <a:t>Het </a:t>
            </a:r>
            <a:r>
              <a:rPr lang="nl-NL" dirty="0">
                <a:latin typeface="Courier New" panose="02070309020205020404" pitchFamily="49" charset="0"/>
                <a:cs typeface="Courier New" panose="02070309020205020404" pitchFamily="49" charset="0"/>
              </a:rPr>
              <a:t>Series</a:t>
            </a:r>
            <a:r>
              <a:rPr lang="nl-NL" dirty="0"/>
              <a:t> object:</a:t>
            </a:r>
          </a:p>
          <a:p>
            <a:pPr lvl="1"/>
            <a:r>
              <a:rPr lang="nl-NL" sz="2000" dirty="0"/>
              <a:t>Laat toe verschillende bewerkingen en statistieken toe te passen op een reeks</a:t>
            </a:r>
          </a:p>
          <a:p>
            <a:pPr lvl="1"/>
            <a:r>
              <a:rPr lang="nl-NL" sz="2000" dirty="0">
                <a:solidFill>
                  <a:schemeClr val="accent6">
                    <a:lumMod val="75000"/>
                  </a:schemeClr>
                </a:solidFill>
              </a:rPr>
              <a:t>Attribuut (niet functie)</a:t>
            </a:r>
            <a:r>
              <a:rPr lang="nl-NL" sz="2000" dirty="0"/>
              <a:t> </a:t>
            </a:r>
            <a:r>
              <a:rPr lang="nl-NL" sz="2000" dirty="0">
                <a:latin typeface="Courier New" panose="02070309020205020404" pitchFamily="49" charset="0"/>
                <a:cs typeface="Courier New" panose="02070309020205020404" pitchFamily="49" charset="0"/>
              </a:rPr>
              <a:t>.</a:t>
            </a:r>
            <a:r>
              <a:rPr lang="nl-NL" sz="2000" dirty="0" err="1">
                <a:latin typeface="Courier New" panose="02070309020205020404" pitchFamily="49" charset="0"/>
                <a:cs typeface="Courier New" panose="02070309020205020404" pitchFamily="49" charset="0"/>
              </a:rPr>
              <a:t>values</a:t>
            </a:r>
            <a:r>
              <a:rPr lang="nl-NL" sz="2000" dirty="0"/>
              <a:t> roept de </a:t>
            </a:r>
            <a:r>
              <a:rPr lang="nl-NL" sz="2000" dirty="0" err="1"/>
              <a:t>NumPy</a:t>
            </a:r>
            <a:r>
              <a:rPr lang="nl-NL" sz="2000" dirty="0"/>
              <a:t> array/matrix op (de rauwe data)</a:t>
            </a:r>
          </a:p>
          <a:p>
            <a:pPr lvl="1"/>
            <a:r>
              <a:rPr lang="nl-NL" sz="2000" dirty="0"/>
              <a:t>Heeft een data type: int(64), </a:t>
            </a:r>
            <a:r>
              <a:rPr lang="nl-NL" sz="2000" dirty="0" err="1"/>
              <a:t>float</a:t>
            </a:r>
            <a:r>
              <a:rPr lang="nl-NL" sz="2000" dirty="0"/>
              <a:t>(64), object (tekst), date, enz.</a:t>
            </a:r>
          </a:p>
          <a:p>
            <a:pPr lvl="1"/>
            <a:r>
              <a:rPr lang="nl-NL" sz="2000" dirty="0">
                <a:solidFill>
                  <a:srgbClr val="00B0F0"/>
                </a:solidFill>
              </a:rPr>
              <a:t>= 1 rij of 1 kolom in een tabel</a:t>
            </a:r>
          </a:p>
          <a:p>
            <a:r>
              <a:rPr lang="nl-NL" dirty="0"/>
              <a:t>Het </a:t>
            </a:r>
            <a:r>
              <a:rPr lang="nl-NL" dirty="0" err="1">
                <a:latin typeface="Courier New" panose="02070309020205020404" pitchFamily="49" charset="0"/>
                <a:cs typeface="Courier New" panose="02070309020205020404" pitchFamily="49" charset="0"/>
              </a:rPr>
              <a:t>DataFrame</a:t>
            </a:r>
            <a:r>
              <a:rPr lang="nl-NL" dirty="0"/>
              <a:t> object:</a:t>
            </a:r>
          </a:p>
          <a:p>
            <a:pPr lvl="1"/>
            <a:r>
              <a:rPr lang="nl-NL" sz="2000" dirty="0" err="1"/>
              <a:t>Tabulaire</a:t>
            </a:r>
            <a:r>
              <a:rPr lang="nl-NL" sz="2000" dirty="0"/>
              <a:t> datavorm (zoals een Excel </a:t>
            </a:r>
            <a:r>
              <a:rPr lang="nl-NL" sz="2000" dirty="0" err="1"/>
              <a:t>worksheet</a:t>
            </a:r>
            <a:r>
              <a:rPr lang="nl-NL" sz="2000" dirty="0"/>
              <a:t>) bestaande uit een reeks kolommen (</a:t>
            </a:r>
            <a:r>
              <a:rPr lang="nl-NL" sz="2000" dirty="0">
                <a:latin typeface="Courier New" panose="02070309020205020404" pitchFamily="49" charset="0"/>
                <a:cs typeface="Courier New" panose="02070309020205020404" pitchFamily="49" charset="0"/>
              </a:rPr>
              <a:t>Series</a:t>
            </a:r>
            <a:r>
              <a:rPr lang="nl-NL" sz="2000" dirty="0"/>
              <a:t> objecten)</a:t>
            </a:r>
          </a:p>
          <a:p>
            <a:pPr lvl="1"/>
            <a:r>
              <a:rPr lang="nl-NL" sz="2000" dirty="0"/>
              <a:t>Laat het toe om makkelijk te selecteren en te filteren op naam en inhoud</a:t>
            </a:r>
          </a:p>
          <a:p>
            <a:pPr lvl="1"/>
            <a:r>
              <a:rPr lang="nl-NL" sz="2000" dirty="0">
                <a:solidFill>
                  <a:srgbClr val="00B0F0"/>
                </a:solidFill>
              </a:rPr>
              <a:t>= de hele tabel</a:t>
            </a:r>
          </a:p>
        </p:txBody>
      </p:sp>
      <p:sp>
        <p:nvSpPr>
          <p:cNvPr id="4" name="Slide Number Placeholder 3">
            <a:extLst>
              <a:ext uri="{FF2B5EF4-FFF2-40B4-BE49-F238E27FC236}">
                <a16:creationId xmlns:a16="http://schemas.microsoft.com/office/drawing/2014/main" id="{656A4C5E-153F-3849-9E60-B33E3CF5FEA0}"/>
              </a:ext>
            </a:extLst>
          </p:cNvPr>
          <p:cNvSpPr>
            <a:spLocks noGrp="1"/>
          </p:cNvSpPr>
          <p:nvPr>
            <p:ph type="sldNum" sz="quarter" idx="12"/>
          </p:nvPr>
        </p:nvSpPr>
        <p:spPr/>
        <p:txBody>
          <a:bodyPr/>
          <a:lstStyle/>
          <a:p>
            <a:fld id="{D270EDC2-4F5E-5547-954F-5222C286AC2A}" type="slidenum">
              <a:rPr lang="nl-NL" smtClean="0"/>
              <a:t>39</a:t>
            </a:fld>
            <a:endParaRPr lang="nl-NL" dirty="0"/>
          </a:p>
        </p:txBody>
      </p:sp>
      <p:sp>
        <p:nvSpPr>
          <p:cNvPr id="2" name="Title 1">
            <a:extLst>
              <a:ext uri="{FF2B5EF4-FFF2-40B4-BE49-F238E27FC236}">
                <a16:creationId xmlns:a16="http://schemas.microsoft.com/office/drawing/2014/main" id="{28BCF519-E8AB-F443-8E55-2412CA7DC9C7}"/>
              </a:ext>
            </a:extLst>
          </p:cNvPr>
          <p:cNvSpPr>
            <a:spLocks noGrp="1"/>
          </p:cNvSpPr>
          <p:nvPr>
            <p:ph type="title"/>
          </p:nvPr>
        </p:nvSpPr>
        <p:spPr/>
        <p:txBody>
          <a:bodyPr/>
          <a:lstStyle/>
          <a:p>
            <a:r>
              <a:rPr lang="nl-NL" dirty="0"/>
              <a:t>Basisblokken</a:t>
            </a:r>
          </a:p>
        </p:txBody>
      </p:sp>
    </p:spTree>
    <p:extLst>
      <p:ext uri="{BB962C8B-B14F-4D97-AF65-F5344CB8AC3E}">
        <p14:creationId xmlns:p14="http://schemas.microsoft.com/office/powerpoint/2010/main" val="2234740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968CAE8C-9212-CD4A-9BAF-2DFEB1711C76}"/>
              </a:ext>
            </a:extLst>
          </p:cNvPr>
          <p:cNvCxnSpPr>
            <a:cxnSpLocks/>
          </p:cNvCxnSpPr>
          <p:nvPr/>
        </p:nvCxnSpPr>
        <p:spPr>
          <a:xfrm>
            <a:off x="7262607" y="3479259"/>
            <a:ext cx="1182349" cy="940423"/>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1DEBC9-299A-C545-81C7-69F023F1937A}"/>
              </a:ext>
            </a:extLst>
          </p:cNvPr>
          <p:cNvSpPr>
            <a:spLocks noGrp="1"/>
          </p:cNvSpPr>
          <p:nvPr>
            <p:ph idx="1"/>
          </p:nvPr>
        </p:nvSpPr>
        <p:spPr/>
        <p:txBody>
          <a:bodyPr/>
          <a:lstStyle/>
          <a:p>
            <a:r>
              <a:rPr lang="nl-NL" dirty="0"/>
              <a:t>Aangemaakt vanuit een </a:t>
            </a:r>
            <a:r>
              <a:rPr lang="nl-NL" dirty="0" err="1"/>
              <a:t>itereerbaar</a:t>
            </a:r>
            <a:r>
              <a:rPr lang="nl-NL" dirty="0"/>
              <a:t> object, bv. een lijst of set (of bestand):</a:t>
            </a:r>
          </a:p>
        </p:txBody>
      </p:sp>
      <p:sp>
        <p:nvSpPr>
          <p:cNvPr id="4" name="Slide Number Placeholder 3">
            <a:extLst>
              <a:ext uri="{FF2B5EF4-FFF2-40B4-BE49-F238E27FC236}">
                <a16:creationId xmlns:a16="http://schemas.microsoft.com/office/drawing/2014/main" id="{9667F2A1-2503-7C42-B214-3C9B814F19D7}"/>
              </a:ext>
            </a:extLst>
          </p:cNvPr>
          <p:cNvSpPr>
            <a:spLocks noGrp="1"/>
          </p:cNvSpPr>
          <p:nvPr>
            <p:ph type="sldNum" sz="quarter" idx="12"/>
          </p:nvPr>
        </p:nvSpPr>
        <p:spPr/>
        <p:txBody>
          <a:bodyPr/>
          <a:lstStyle/>
          <a:p>
            <a:fld id="{D270EDC2-4F5E-5547-954F-5222C286AC2A}" type="slidenum">
              <a:rPr lang="nl-NL" smtClean="0"/>
              <a:t>40</a:t>
            </a:fld>
            <a:endParaRPr lang="nl-NL" dirty="0"/>
          </a:p>
        </p:txBody>
      </p:sp>
      <p:sp>
        <p:nvSpPr>
          <p:cNvPr id="2" name="Title 1">
            <a:extLst>
              <a:ext uri="{FF2B5EF4-FFF2-40B4-BE49-F238E27FC236}">
                <a16:creationId xmlns:a16="http://schemas.microsoft.com/office/drawing/2014/main" id="{71AEC30B-40D3-8A41-A1F0-B8E2C4654DD7}"/>
              </a:ext>
            </a:extLst>
          </p:cNvPr>
          <p:cNvSpPr>
            <a:spLocks noGrp="1"/>
          </p:cNvSpPr>
          <p:nvPr>
            <p:ph type="title"/>
          </p:nvPr>
        </p:nvSpPr>
        <p:spPr/>
        <p:txBody>
          <a:bodyPr/>
          <a:lstStyle/>
          <a:p>
            <a:r>
              <a:rPr lang="nl-NL" dirty="0"/>
              <a:t>Series</a:t>
            </a:r>
          </a:p>
        </p:txBody>
      </p:sp>
      <p:sp>
        <p:nvSpPr>
          <p:cNvPr id="7" name="Rectangle 6">
            <a:extLst>
              <a:ext uri="{FF2B5EF4-FFF2-40B4-BE49-F238E27FC236}">
                <a16:creationId xmlns:a16="http://schemas.microsoft.com/office/drawing/2014/main" id="{C3B3FE50-5592-074F-A27C-3B9480C47D2B}"/>
              </a:ext>
            </a:extLst>
          </p:cNvPr>
          <p:cNvSpPr/>
          <p:nvPr/>
        </p:nvSpPr>
        <p:spPr>
          <a:xfrm>
            <a:off x="254021" y="3370391"/>
            <a:ext cx="5471754" cy="1754326"/>
          </a:xfrm>
          <a:prstGeom prst="rect">
            <a:avLst/>
          </a:prstGeom>
          <a:ln>
            <a:solidFill>
              <a:schemeClr val="tx1"/>
            </a:solidFill>
          </a:ln>
        </p:spPr>
        <p:txBody>
          <a:bodyPr wrap="square">
            <a:spAutoFit/>
          </a:bodyPr>
          <a:lstStyle/>
          <a:p>
            <a:r>
              <a:rPr lang="nl-NL" sz="1200" dirty="0" err="1"/>
              <a:t>een_lijst</a:t>
            </a:r>
            <a:r>
              <a:rPr lang="nl-NL" sz="1200" dirty="0"/>
              <a:t> = [</a:t>
            </a:r>
            <a:r>
              <a:rPr lang="nl-NL" sz="1200" dirty="0">
                <a:solidFill>
                  <a:srgbClr val="6A8759"/>
                </a:solidFill>
              </a:rPr>
              <a:t>'</a:t>
            </a:r>
            <a:r>
              <a:rPr lang="nl-NL" sz="1200" dirty="0" err="1">
                <a:solidFill>
                  <a:srgbClr val="6A8759"/>
                </a:solidFill>
              </a:rPr>
              <a:t>robin</a:t>
            </a:r>
            <a:r>
              <a:rPr lang="nl-NL" sz="1200" dirty="0">
                <a:solidFill>
                  <a:srgbClr val="6A8759"/>
                </a:solidFill>
              </a:rPr>
              <a:t>'</a:t>
            </a:r>
            <a:r>
              <a:rPr lang="nl-NL" sz="1200" dirty="0">
                <a:solidFill>
                  <a:srgbClr val="CC7832"/>
                </a:solidFill>
              </a:rPr>
              <a:t>, </a:t>
            </a:r>
            <a:r>
              <a:rPr lang="nl-NL" sz="1200" dirty="0">
                <a:solidFill>
                  <a:srgbClr val="6A8759"/>
                </a:solidFill>
              </a:rPr>
              <a:t>'</a:t>
            </a:r>
            <a:r>
              <a:rPr lang="nl-NL" sz="1200" dirty="0" err="1">
                <a:solidFill>
                  <a:srgbClr val="6A8759"/>
                </a:solidFill>
              </a:rPr>
              <a:t>ted</a:t>
            </a:r>
            <a:r>
              <a:rPr lang="nl-NL" sz="1200" dirty="0">
                <a:solidFill>
                  <a:srgbClr val="6A8759"/>
                </a:solidFill>
              </a:rPr>
              <a:t>'</a:t>
            </a:r>
            <a:r>
              <a:rPr lang="nl-NL" sz="1200" dirty="0">
                <a:solidFill>
                  <a:srgbClr val="CC7832"/>
                </a:solidFill>
              </a:rPr>
              <a:t>, </a:t>
            </a:r>
            <a:r>
              <a:rPr lang="nl-NL" sz="1200" dirty="0">
                <a:solidFill>
                  <a:srgbClr val="6A8759"/>
                </a:solidFill>
              </a:rPr>
              <a:t>'</a:t>
            </a:r>
            <a:r>
              <a:rPr lang="nl-NL" sz="1200" dirty="0" err="1">
                <a:solidFill>
                  <a:srgbClr val="6A8759"/>
                </a:solidFill>
              </a:rPr>
              <a:t>barney</a:t>
            </a:r>
            <a:r>
              <a:rPr lang="nl-NL" sz="1200" dirty="0">
                <a:solidFill>
                  <a:srgbClr val="6A8759"/>
                </a:solidFill>
              </a:rPr>
              <a:t>'</a:t>
            </a:r>
            <a:r>
              <a:rPr lang="nl-NL" sz="1200" dirty="0">
                <a:solidFill>
                  <a:srgbClr val="CC7832"/>
                </a:solidFill>
              </a:rPr>
              <a:t>, </a:t>
            </a:r>
            <a:r>
              <a:rPr lang="nl-NL" sz="1200" dirty="0">
                <a:solidFill>
                  <a:srgbClr val="6A8759"/>
                </a:solidFill>
              </a:rPr>
              <a:t>'</a:t>
            </a:r>
            <a:r>
              <a:rPr lang="nl-NL" sz="1200" dirty="0" err="1">
                <a:solidFill>
                  <a:srgbClr val="6A8759"/>
                </a:solidFill>
              </a:rPr>
              <a:t>lilly</a:t>
            </a:r>
            <a:r>
              <a:rPr lang="nl-NL" sz="1200" dirty="0">
                <a:solidFill>
                  <a:srgbClr val="6A8759"/>
                </a:solidFill>
              </a:rPr>
              <a:t>'</a:t>
            </a:r>
            <a:r>
              <a:rPr lang="nl-NL" sz="1200" dirty="0">
                <a:solidFill>
                  <a:srgbClr val="CC7832"/>
                </a:solidFill>
              </a:rPr>
              <a:t>, </a:t>
            </a:r>
            <a:r>
              <a:rPr lang="nl-NL" sz="1200" dirty="0">
                <a:solidFill>
                  <a:srgbClr val="6A8759"/>
                </a:solidFill>
              </a:rPr>
              <a:t>'</a:t>
            </a:r>
            <a:r>
              <a:rPr lang="nl-NL" sz="1200" dirty="0" err="1">
                <a:solidFill>
                  <a:srgbClr val="6A8759"/>
                </a:solidFill>
              </a:rPr>
              <a:t>marshall</a:t>
            </a:r>
            <a:r>
              <a:rPr lang="nl-NL" sz="1200" dirty="0">
                <a:solidFill>
                  <a:srgbClr val="6A8759"/>
                </a:solidFill>
              </a:rPr>
              <a:t>'</a:t>
            </a:r>
            <a:r>
              <a:rPr lang="nl-NL" sz="1200" dirty="0"/>
              <a:t>]</a:t>
            </a:r>
            <a:br>
              <a:rPr lang="nl-NL" sz="1200" dirty="0"/>
            </a:br>
            <a:r>
              <a:rPr lang="nl-NL" sz="1200" dirty="0" err="1"/>
              <a:t>een_reeks</a:t>
            </a:r>
            <a:r>
              <a:rPr lang="nl-NL" sz="1200" dirty="0"/>
              <a:t> = </a:t>
            </a:r>
            <a:r>
              <a:rPr lang="nl-NL" sz="1200" dirty="0" err="1"/>
              <a:t>pd.Series</a:t>
            </a:r>
            <a:r>
              <a:rPr lang="nl-NL" sz="1200" dirty="0"/>
              <a:t>(</a:t>
            </a:r>
            <a:r>
              <a:rPr lang="nl-NL" sz="1200" dirty="0" err="1"/>
              <a:t>een_lijst</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'De reeks:</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solidFill>
                  <a:srgbClr val="00B0F0"/>
                </a:solidFill>
              </a:rPr>
              <a:t>een_reeks</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'De reeks is van het type Series:'</a:t>
            </a:r>
            <a:r>
              <a:rPr lang="nl-NL" sz="1200" dirty="0">
                <a:solidFill>
                  <a:srgbClr val="CC7832"/>
                </a:solidFill>
              </a:rPr>
              <a:t>, </a:t>
            </a:r>
            <a:r>
              <a:rPr lang="nl-NL" sz="1200" dirty="0">
                <a:solidFill>
                  <a:srgbClr val="8888C6"/>
                </a:solidFill>
              </a:rPr>
              <a:t>type</a:t>
            </a:r>
            <a:r>
              <a:rPr lang="nl-NL" sz="1200" dirty="0"/>
              <a:t>(</a:t>
            </a:r>
            <a:r>
              <a:rPr lang="nl-NL" sz="1200" dirty="0" err="1"/>
              <a:t>een_reeks</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'De waarden van het type </a:t>
            </a:r>
            <a:r>
              <a:rPr lang="nl-NL" sz="1200" dirty="0" err="1">
                <a:solidFill>
                  <a:srgbClr val="6A8759"/>
                </a:solidFill>
              </a:rPr>
              <a:t>ndarray</a:t>
            </a:r>
            <a:r>
              <a:rPr lang="nl-NL" sz="1200" dirty="0">
                <a:solidFill>
                  <a:srgbClr val="6A8759"/>
                </a:solidFill>
              </a:rPr>
              <a:t> uit </a:t>
            </a:r>
            <a:r>
              <a:rPr lang="nl-NL" sz="1200" dirty="0" err="1">
                <a:solidFill>
                  <a:srgbClr val="6A8759"/>
                </a:solidFill>
              </a:rPr>
              <a:t>NumPy</a:t>
            </a:r>
            <a:r>
              <a:rPr lang="nl-NL" sz="1200" dirty="0">
                <a:solidFill>
                  <a:srgbClr val="6A8759"/>
                </a:solidFill>
              </a:rPr>
              <a:t>:'</a:t>
            </a:r>
            <a:r>
              <a:rPr lang="nl-NL" sz="1200" dirty="0">
                <a:solidFill>
                  <a:srgbClr val="CC7832"/>
                </a:solidFill>
              </a:rPr>
              <a:t>, </a:t>
            </a:r>
            <a:r>
              <a:rPr lang="nl-NL" sz="1200" dirty="0">
                <a:solidFill>
                  <a:srgbClr val="8888C6"/>
                </a:solidFill>
              </a:rPr>
              <a:t>type</a:t>
            </a:r>
            <a:r>
              <a:rPr lang="nl-NL" sz="1200" dirty="0"/>
              <a:t>(</a:t>
            </a:r>
            <a:r>
              <a:rPr lang="nl-NL" sz="1200" dirty="0" err="1"/>
              <a:t>een_reeks.</a:t>
            </a:r>
            <a:r>
              <a:rPr lang="nl-NL" sz="1200" dirty="0" err="1">
                <a:solidFill>
                  <a:schemeClr val="accent5">
                    <a:lumMod val="75000"/>
                  </a:schemeClr>
                </a:solidFill>
              </a:rPr>
              <a:t>values</a:t>
            </a:r>
            <a:r>
              <a:rPr lang="nl-NL" sz="1200" dirty="0"/>
              <a:t>))</a:t>
            </a:r>
            <a:br>
              <a:rPr lang="nl-NL" sz="1200" dirty="0"/>
            </a:br>
            <a:br>
              <a:rPr lang="nl-NL" sz="1200" dirty="0"/>
            </a:br>
            <a:r>
              <a:rPr lang="nl-NL" sz="1200" dirty="0" err="1"/>
              <a:t>een_andere_lijst</a:t>
            </a:r>
            <a:r>
              <a:rPr lang="nl-NL" sz="1200" dirty="0"/>
              <a:t> = [</a:t>
            </a:r>
            <a:r>
              <a:rPr lang="nl-NL" sz="1200" dirty="0">
                <a:solidFill>
                  <a:srgbClr val="6897BB"/>
                </a:solidFill>
              </a:rPr>
              <a:t>10</a:t>
            </a:r>
            <a:r>
              <a:rPr lang="nl-NL" sz="1200" dirty="0">
                <a:solidFill>
                  <a:srgbClr val="CC7832"/>
                </a:solidFill>
              </a:rPr>
              <a:t>, </a:t>
            </a:r>
            <a:r>
              <a:rPr lang="nl-NL" sz="1200" dirty="0">
                <a:solidFill>
                  <a:srgbClr val="6897BB"/>
                </a:solidFill>
              </a:rPr>
              <a:t>20</a:t>
            </a:r>
            <a:r>
              <a:rPr lang="nl-NL" sz="1200" dirty="0">
                <a:solidFill>
                  <a:srgbClr val="CC7832"/>
                </a:solidFill>
              </a:rPr>
              <a:t>, </a:t>
            </a:r>
            <a:r>
              <a:rPr lang="nl-NL" sz="1200" dirty="0">
                <a:solidFill>
                  <a:srgbClr val="6897BB"/>
                </a:solidFill>
              </a:rPr>
              <a:t>30</a:t>
            </a:r>
            <a:r>
              <a:rPr lang="nl-NL" sz="1200" dirty="0">
                <a:solidFill>
                  <a:srgbClr val="CC7832"/>
                </a:solidFill>
              </a:rPr>
              <a:t>, </a:t>
            </a:r>
            <a:r>
              <a:rPr lang="nl-NL" sz="1200" dirty="0">
                <a:solidFill>
                  <a:srgbClr val="6897BB"/>
                </a:solidFill>
              </a:rPr>
              <a:t>40</a:t>
            </a:r>
            <a:r>
              <a:rPr lang="nl-NL" sz="1200" dirty="0">
                <a:solidFill>
                  <a:srgbClr val="CC7832"/>
                </a:solidFill>
              </a:rPr>
              <a:t>, </a:t>
            </a:r>
            <a:r>
              <a:rPr lang="nl-NL" sz="1200" dirty="0">
                <a:solidFill>
                  <a:srgbClr val="6897BB"/>
                </a:solidFill>
              </a:rPr>
              <a:t>50</a:t>
            </a:r>
            <a:r>
              <a:rPr lang="nl-NL" sz="1200" dirty="0">
                <a:solidFill>
                  <a:srgbClr val="CC7832"/>
                </a:solidFill>
              </a:rPr>
              <a:t>, </a:t>
            </a:r>
            <a:r>
              <a:rPr lang="nl-NL" sz="1200" dirty="0">
                <a:solidFill>
                  <a:srgbClr val="6897BB"/>
                </a:solidFill>
              </a:rPr>
              <a:t>50</a:t>
            </a:r>
            <a:r>
              <a:rPr lang="nl-NL" sz="1200" dirty="0">
                <a:solidFill>
                  <a:srgbClr val="CC7832"/>
                </a:solidFill>
              </a:rPr>
              <a:t>, </a:t>
            </a:r>
            <a:r>
              <a:rPr lang="nl-NL" sz="1200" dirty="0">
                <a:solidFill>
                  <a:srgbClr val="6897BB"/>
                </a:solidFill>
              </a:rPr>
              <a:t>50</a:t>
            </a:r>
            <a:r>
              <a:rPr lang="nl-NL" sz="1200" dirty="0"/>
              <a:t>]</a:t>
            </a:r>
            <a:br>
              <a:rPr lang="nl-NL" sz="1200" dirty="0"/>
            </a:br>
            <a:r>
              <a:rPr lang="nl-NL" sz="1200" dirty="0" err="1"/>
              <a:t>een_andere_reeks</a:t>
            </a:r>
            <a:r>
              <a:rPr lang="nl-NL" sz="1200" dirty="0"/>
              <a:t> = </a:t>
            </a:r>
            <a:r>
              <a:rPr lang="nl-NL" sz="1200" dirty="0" err="1"/>
              <a:t>pd.Series</a:t>
            </a:r>
            <a:r>
              <a:rPr lang="nl-NL" sz="1200" dirty="0"/>
              <a:t>(</a:t>
            </a:r>
            <a:r>
              <a:rPr lang="nl-NL" sz="1200" dirty="0" err="1"/>
              <a:t>een_andere_lijst</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'De andere reeks:</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solidFill>
                  <a:srgbClr val="7030A0"/>
                </a:solidFill>
              </a:rPr>
              <a:t>een_andere_reeks</a:t>
            </a:r>
            <a:r>
              <a:rPr lang="nl-NL" sz="1200" dirty="0"/>
              <a:t>)</a:t>
            </a:r>
          </a:p>
        </p:txBody>
      </p:sp>
      <p:sp>
        <p:nvSpPr>
          <p:cNvPr id="8" name="Rectangle 7">
            <a:extLst>
              <a:ext uri="{FF2B5EF4-FFF2-40B4-BE49-F238E27FC236}">
                <a16:creationId xmlns:a16="http://schemas.microsoft.com/office/drawing/2014/main" id="{4B6CF70B-B217-054A-9981-014E9443F3F4}"/>
              </a:ext>
            </a:extLst>
          </p:cNvPr>
          <p:cNvSpPr/>
          <p:nvPr/>
        </p:nvSpPr>
        <p:spPr>
          <a:xfrm>
            <a:off x="5927400" y="2585560"/>
            <a:ext cx="5890225" cy="3162404"/>
          </a:xfrm>
          <a:prstGeom prst="rect">
            <a:avLst/>
          </a:prstGeom>
          <a:ln>
            <a:solidFill>
              <a:schemeClr val="tx1"/>
            </a:solidFill>
          </a:ln>
        </p:spPr>
        <p:txBody>
          <a:bodyPr wrap="square">
            <a:spAutoFit/>
          </a:bodyPr>
          <a:lstStyle/>
          <a:p>
            <a:r>
              <a:rPr lang="nl-NL" sz="1050" dirty="0">
                <a:latin typeface="Courier New" panose="02070309020205020404" pitchFamily="49" charset="0"/>
                <a:cs typeface="Courier New" panose="02070309020205020404" pitchFamily="49" charset="0"/>
              </a:rPr>
              <a:t>De reeks:</a:t>
            </a:r>
          </a:p>
          <a:p>
            <a:r>
              <a:rPr lang="nl-NL" sz="1050" dirty="0">
                <a:solidFill>
                  <a:srgbClr val="00B0F0"/>
                </a:solidFill>
                <a:latin typeface="Courier New" panose="02070309020205020404" pitchFamily="49" charset="0"/>
                <a:cs typeface="Courier New" panose="02070309020205020404" pitchFamily="49" charset="0"/>
              </a:rPr>
              <a:t>0       </a:t>
            </a:r>
            <a:r>
              <a:rPr lang="nl-NL" sz="1050" dirty="0" err="1">
                <a:solidFill>
                  <a:srgbClr val="00B0F0"/>
                </a:solidFill>
                <a:latin typeface="Courier New" panose="02070309020205020404" pitchFamily="49" charset="0"/>
                <a:cs typeface="Courier New" panose="02070309020205020404" pitchFamily="49" charset="0"/>
              </a:rPr>
              <a:t>robin</a:t>
            </a:r>
            <a:endParaRPr lang="nl-NL" sz="1050" dirty="0">
              <a:solidFill>
                <a:srgbClr val="00B0F0"/>
              </a:solidFill>
              <a:latin typeface="Courier New" panose="02070309020205020404" pitchFamily="49" charset="0"/>
              <a:cs typeface="Courier New" panose="02070309020205020404" pitchFamily="49" charset="0"/>
            </a:endParaRPr>
          </a:p>
          <a:p>
            <a:r>
              <a:rPr lang="nl-NL" sz="1050" dirty="0">
                <a:solidFill>
                  <a:srgbClr val="00B0F0"/>
                </a:solidFill>
                <a:latin typeface="Courier New" panose="02070309020205020404" pitchFamily="49" charset="0"/>
                <a:cs typeface="Courier New" panose="02070309020205020404" pitchFamily="49" charset="0"/>
              </a:rPr>
              <a:t>1         </a:t>
            </a:r>
            <a:r>
              <a:rPr lang="nl-NL" sz="1050" dirty="0" err="1">
                <a:solidFill>
                  <a:srgbClr val="00B0F0"/>
                </a:solidFill>
                <a:latin typeface="Courier New" panose="02070309020205020404" pitchFamily="49" charset="0"/>
                <a:cs typeface="Courier New" panose="02070309020205020404" pitchFamily="49" charset="0"/>
              </a:rPr>
              <a:t>ted</a:t>
            </a:r>
            <a:endParaRPr lang="nl-NL" sz="1050" dirty="0">
              <a:solidFill>
                <a:srgbClr val="00B0F0"/>
              </a:solidFill>
              <a:latin typeface="Courier New" panose="02070309020205020404" pitchFamily="49" charset="0"/>
              <a:cs typeface="Courier New" panose="02070309020205020404" pitchFamily="49" charset="0"/>
            </a:endParaRPr>
          </a:p>
          <a:p>
            <a:r>
              <a:rPr lang="nl-NL" sz="1050" dirty="0">
                <a:solidFill>
                  <a:srgbClr val="00B0F0"/>
                </a:solidFill>
                <a:latin typeface="Courier New" panose="02070309020205020404" pitchFamily="49" charset="0"/>
                <a:cs typeface="Courier New" panose="02070309020205020404" pitchFamily="49" charset="0"/>
              </a:rPr>
              <a:t>2      </a:t>
            </a:r>
            <a:r>
              <a:rPr lang="nl-NL" sz="1050" dirty="0" err="1">
                <a:solidFill>
                  <a:srgbClr val="00B0F0"/>
                </a:solidFill>
                <a:latin typeface="Courier New" panose="02070309020205020404" pitchFamily="49" charset="0"/>
                <a:cs typeface="Courier New" panose="02070309020205020404" pitchFamily="49" charset="0"/>
              </a:rPr>
              <a:t>barney</a:t>
            </a:r>
            <a:endParaRPr lang="nl-NL" sz="1050" dirty="0">
              <a:solidFill>
                <a:srgbClr val="00B0F0"/>
              </a:solidFill>
              <a:latin typeface="Courier New" panose="02070309020205020404" pitchFamily="49" charset="0"/>
              <a:cs typeface="Courier New" panose="02070309020205020404" pitchFamily="49" charset="0"/>
            </a:endParaRPr>
          </a:p>
          <a:p>
            <a:r>
              <a:rPr lang="nl-NL" sz="1050" dirty="0">
                <a:solidFill>
                  <a:srgbClr val="00B0F0"/>
                </a:solidFill>
                <a:latin typeface="Courier New" panose="02070309020205020404" pitchFamily="49" charset="0"/>
                <a:cs typeface="Courier New" panose="02070309020205020404" pitchFamily="49" charset="0"/>
              </a:rPr>
              <a:t>3       </a:t>
            </a:r>
            <a:r>
              <a:rPr lang="nl-NL" sz="1050" dirty="0" err="1">
                <a:solidFill>
                  <a:srgbClr val="00B0F0"/>
                </a:solidFill>
                <a:latin typeface="Courier New" panose="02070309020205020404" pitchFamily="49" charset="0"/>
                <a:cs typeface="Courier New" panose="02070309020205020404" pitchFamily="49" charset="0"/>
              </a:rPr>
              <a:t>lilly</a:t>
            </a:r>
            <a:endParaRPr lang="nl-NL" sz="1050" dirty="0">
              <a:solidFill>
                <a:srgbClr val="00B0F0"/>
              </a:solidFill>
              <a:latin typeface="Courier New" panose="02070309020205020404" pitchFamily="49" charset="0"/>
              <a:cs typeface="Courier New" panose="02070309020205020404" pitchFamily="49" charset="0"/>
            </a:endParaRPr>
          </a:p>
          <a:p>
            <a:r>
              <a:rPr lang="nl-NL" sz="1050" dirty="0">
                <a:solidFill>
                  <a:srgbClr val="00B0F0"/>
                </a:solidFill>
                <a:latin typeface="Courier New" panose="02070309020205020404" pitchFamily="49" charset="0"/>
                <a:cs typeface="Courier New" panose="02070309020205020404" pitchFamily="49" charset="0"/>
              </a:rPr>
              <a:t>4    </a:t>
            </a:r>
            <a:r>
              <a:rPr lang="nl-NL" sz="1050" dirty="0" err="1">
                <a:solidFill>
                  <a:srgbClr val="00B0F0"/>
                </a:solidFill>
                <a:latin typeface="Courier New" panose="02070309020205020404" pitchFamily="49" charset="0"/>
                <a:cs typeface="Courier New" panose="02070309020205020404" pitchFamily="49" charset="0"/>
              </a:rPr>
              <a:t>marshall</a:t>
            </a:r>
            <a:endParaRPr lang="nl-NL" sz="1050" dirty="0">
              <a:solidFill>
                <a:srgbClr val="00B0F0"/>
              </a:solidFill>
              <a:latin typeface="Courier New" panose="02070309020205020404" pitchFamily="49" charset="0"/>
              <a:cs typeface="Courier New" panose="02070309020205020404" pitchFamily="49" charset="0"/>
            </a:endParaRPr>
          </a:p>
          <a:p>
            <a:r>
              <a:rPr lang="nl-NL" sz="1050" dirty="0" err="1">
                <a:solidFill>
                  <a:srgbClr val="00B0F0"/>
                </a:solidFill>
                <a:latin typeface="Courier New" panose="02070309020205020404" pitchFamily="49" charset="0"/>
                <a:cs typeface="Courier New" panose="02070309020205020404" pitchFamily="49" charset="0"/>
              </a:rPr>
              <a:t>dtype</a:t>
            </a:r>
            <a:r>
              <a:rPr lang="nl-NL" sz="1050" dirty="0">
                <a:solidFill>
                  <a:srgbClr val="00B0F0"/>
                </a:solidFill>
                <a:latin typeface="Courier New" panose="02070309020205020404" pitchFamily="49" charset="0"/>
                <a:cs typeface="Courier New" panose="02070309020205020404" pitchFamily="49" charset="0"/>
              </a:rPr>
              <a:t>: </a:t>
            </a:r>
            <a:r>
              <a:rPr lang="nl-NL" sz="1050" dirty="0">
                <a:solidFill>
                  <a:srgbClr val="FF0000"/>
                </a:solidFill>
                <a:latin typeface="Courier New" panose="02070309020205020404" pitchFamily="49" charset="0"/>
                <a:cs typeface="Courier New" panose="02070309020205020404" pitchFamily="49" charset="0"/>
              </a:rPr>
              <a:t>object</a:t>
            </a:r>
          </a:p>
          <a:p>
            <a:endParaRPr lang="nl-NL" sz="1050" dirty="0">
              <a:latin typeface="Courier New" panose="02070309020205020404" pitchFamily="49" charset="0"/>
              <a:cs typeface="Courier New" panose="02070309020205020404" pitchFamily="49" charset="0"/>
            </a:endParaRPr>
          </a:p>
          <a:p>
            <a:r>
              <a:rPr lang="nl-NL" sz="1050" dirty="0">
                <a:latin typeface="Courier New" panose="02070309020205020404" pitchFamily="49" charset="0"/>
                <a:cs typeface="Courier New" panose="02070309020205020404" pitchFamily="49" charset="0"/>
              </a:rPr>
              <a:t>De reeks is van het type Series: &lt;class '</a:t>
            </a:r>
            <a:r>
              <a:rPr lang="nl-NL" sz="1050" dirty="0" err="1">
                <a:latin typeface="Courier New" panose="02070309020205020404" pitchFamily="49" charset="0"/>
                <a:cs typeface="Courier New" panose="02070309020205020404" pitchFamily="49" charset="0"/>
              </a:rPr>
              <a:t>pandas.core.series.Series</a:t>
            </a:r>
            <a:r>
              <a:rPr lang="nl-NL" sz="1050" dirty="0">
                <a:latin typeface="Courier New" panose="02070309020205020404" pitchFamily="49" charset="0"/>
                <a:cs typeface="Courier New" panose="02070309020205020404" pitchFamily="49" charset="0"/>
              </a:rPr>
              <a:t>'&gt;</a:t>
            </a:r>
          </a:p>
          <a:p>
            <a:r>
              <a:rPr lang="nl-NL" sz="1050" dirty="0">
                <a:latin typeface="Courier New" panose="02070309020205020404" pitchFamily="49" charset="0"/>
                <a:cs typeface="Courier New" panose="02070309020205020404" pitchFamily="49" charset="0"/>
              </a:rPr>
              <a:t>De waarden van het type </a:t>
            </a:r>
            <a:r>
              <a:rPr lang="nl-NL" sz="1050" dirty="0" err="1">
                <a:latin typeface="Courier New" panose="02070309020205020404" pitchFamily="49" charset="0"/>
                <a:cs typeface="Courier New" panose="02070309020205020404" pitchFamily="49" charset="0"/>
              </a:rPr>
              <a:t>ndarray</a:t>
            </a:r>
            <a:r>
              <a:rPr lang="nl-NL" sz="1050" dirty="0">
                <a:latin typeface="Courier New" panose="02070309020205020404" pitchFamily="49" charset="0"/>
                <a:cs typeface="Courier New" panose="02070309020205020404" pitchFamily="49" charset="0"/>
              </a:rPr>
              <a:t> uit </a:t>
            </a:r>
            <a:r>
              <a:rPr lang="nl-NL" sz="1050" dirty="0" err="1">
                <a:latin typeface="Courier New" panose="02070309020205020404" pitchFamily="49" charset="0"/>
                <a:cs typeface="Courier New" panose="02070309020205020404" pitchFamily="49" charset="0"/>
              </a:rPr>
              <a:t>NumPy</a:t>
            </a:r>
            <a:r>
              <a:rPr lang="nl-NL" sz="1050" dirty="0">
                <a:latin typeface="Courier New" panose="02070309020205020404" pitchFamily="49" charset="0"/>
                <a:cs typeface="Courier New" panose="02070309020205020404" pitchFamily="49" charset="0"/>
              </a:rPr>
              <a:t>: &lt;</a:t>
            </a:r>
            <a:r>
              <a:rPr lang="nl-NL" sz="1050" dirty="0">
                <a:solidFill>
                  <a:schemeClr val="accent5">
                    <a:lumMod val="75000"/>
                  </a:schemeClr>
                </a:solidFill>
                <a:latin typeface="Courier New" panose="02070309020205020404" pitchFamily="49" charset="0"/>
                <a:cs typeface="Courier New" panose="02070309020205020404" pitchFamily="49" charset="0"/>
              </a:rPr>
              <a:t>class '</a:t>
            </a:r>
            <a:r>
              <a:rPr lang="nl-NL" sz="1050" dirty="0" err="1">
                <a:solidFill>
                  <a:schemeClr val="accent5">
                    <a:lumMod val="75000"/>
                  </a:schemeClr>
                </a:solidFill>
                <a:latin typeface="Courier New" panose="02070309020205020404" pitchFamily="49" charset="0"/>
                <a:cs typeface="Courier New" panose="02070309020205020404" pitchFamily="49" charset="0"/>
              </a:rPr>
              <a:t>numpy.ndarray</a:t>
            </a:r>
            <a:r>
              <a:rPr lang="nl-NL" sz="1050" dirty="0">
                <a:latin typeface="Courier New" panose="02070309020205020404" pitchFamily="49" charset="0"/>
                <a:cs typeface="Courier New" panose="02070309020205020404" pitchFamily="49" charset="0"/>
              </a:rPr>
              <a:t>'&gt;</a:t>
            </a:r>
          </a:p>
          <a:p>
            <a:r>
              <a:rPr lang="nl-NL" sz="1050" dirty="0">
                <a:latin typeface="Courier New" panose="02070309020205020404" pitchFamily="49" charset="0"/>
                <a:cs typeface="Courier New" panose="02070309020205020404" pitchFamily="49" charset="0"/>
              </a:rPr>
              <a:t>De andere reeks:</a:t>
            </a:r>
          </a:p>
          <a:p>
            <a:r>
              <a:rPr lang="nl-NL" sz="1050" dirty="0">
                <a:solidFill>
                  <a:srgbClr val="7030A0"/>
                </a:solidFill>
                <a:latin typeface="Courier New" panose="02070309020205020404" pitchFamily="49" charset="0"/>
                <a:cs typeface="Courier New" panose="02070309020205020404" pitchFamily="49" charset="0"/>
              </a:rPr>
              <a:t>0    10</a:t>
            </a:r>
          </a:p>
          <a:p>
            <a:r>
              <a:rPr lang="nl-NL" sz="1050" dirty="0">
                <a:solidFill>
                  <a:srgbClr val="7030A0"/>
                </a:solidFill>
                <a:latin typeface="Courier New" panose="02070309020205020404" pitchFamily="49" charset="0"/>
                <a:cs typeface="Courier New" panose="02070309020205020404" pitchFamily="49" charset="0"/>
              </a:rPr>
              <a:t>1    20</a:t>
            </a:r>
          </a:p>
          <a:p>
            <a:r>
              <a:rPr lang="nl-NL" sz="1050" dirty="0">
                <a:solidFill>
                  <a:srgbClr val="7030A0"/>
                </a:solidFill>
                <a:latin typeface="Courier New" panose="02070309020205020404" pitchFamily="49" charset="0"/>
                <a:cs typeface="Courier New" panose="02070309020205020404" pitchFamily="49" charset="0"/>
              </a:rPr>
              <a:t>2    30</a:t>
            </a:r>
          </a:p>
          <a:p>
            <a:r>
              <a:rPr lang="nl-NL" sz="1050" dirty="0">
                <a:solidFill>
                  <a:srgbClr val="7030A0"/>
                </a:solidFill>
                <a:latin typeface="Courier New" panose="02070309020205020404" pitchFamily="49" charset="0"/>
                <a:cs typeface="Courier New" panose="02070309020205020404" pitchFamily="49" charset="0"/>
              </a:rPr>
              <a:t>3    40</a:t>
            </a:r>
          </a:p>
          <a:p>
            <a:r>
              <a:rPr lang="nl-NL" sz="1050" dirty="0">
                <a:solidFill>
                  <a:srgbClr val="7030A0"/>
                </a:solidFill>
                <a:latin typeface="Courier New" panose="02070309020205020404" pitchFamily="49" charset="0"/>
                <a:cs typeface="Courier New" panose="02070309020205020404" pitchFamily="49" charset="0"/>
              </a:rPr>
              <a:t>4    50</a:t>
            </a:r>
          </a:p>
          <a:p>
            <a:r>
              <a:rPr lang="nl-NL" sz="1050" dirty="0">
                <a:solidFill>
                  <a:srgbClr val="7030A0"/>
                </a:solidFill>
                <a:latin typeface="Courier New" panose="02070309020205020404" pitchFamily="49" charset="0"/>
                <a:cs typeface="Courier New" panose="02070309020205020404" pitchFamily="49" charset="0"/>
              </a:rPr>
              <a:t>5    50</a:t>
            </a:r>
          </a:p>
          <a:p>
            <a:r>
              <a:rPr lang="nl-NL" sz="1050" dirty="0">
                <a:solidFill>
                  <a:srgbClr val="7030A0"/>
                </a:solidFill>
                <a:latin typeface="Courier New" panose="02070309020205020404" pitchFamily="49" charset="0"/>
                <a:cs typeface="Courier New" panose="02070309020205020404" pitchFamily="49" charset="0"/>
              </a:rPr>
              <a:t>6    50</a:t>
            </a:r>
          </a:p>
          <a:p>
            <a:r>
              <a:rPr lang="nl-NL" sz="1050" dirty="0" err="1">
                <a:solidFill>
                  <a:srgbClr val="7030A0"/>
                </a:solidFill>
                <a:latin typeface="Courier New" panose="02070309020205020404" pitchFamily="49" charset="0"/>
                <a:cs typeface="Courier New" panose="02070309020205020404" pitchFamily="49" charset="0"/>
              </a:rPr>
              <a:t>dtype</a:t>
            </a:r>
            <a:r>
              <a:rPr lang="nl-NL" sz="1050" dirty="0">
                <a:solidFill>
                  <a:srgbClr val="7030A0"/>
                </a:solidFill>
                <a:latin typeface="Courier New" panose="02070309020205020404" pitchFamily="49" charset="0"/>
                <a:cs typeface="Courier New" panose="02070309020205020404" pitchFamily="49" charset="0"/>
              </a:rPr>
              <a:t>: </a:t>
            </a:r>
            <a:r>
              <a:rPr lang="nl-NL" sz="1050" dirty="0">
                <a:solidFill>
                  <a:srgbClr val="00B050"/>
                </a:solidFill>
                <a:latin typeface="Courier New" panose="02070309020205020404" pitchFamily="49" charset="0"/>
                <a:cs typeface="Courier New" panose="02070309020205020404" pitchFamily="49" charset="0"/>
              </a:rPr>
              <a:t>int64</a:t>
            </a:r>
          </a:p>
        </p:txBody>
      </p:sp>
      <p:cxnSp>
        <p:nvCxnSpPr>
          <p:cNvPr id="11" name="Straight Arrow Connector 10">
            <a:extLst>
              <a:ext uri="{FF2B5EF4-FFF2-40B4-BE49-F238E27FC236}">
                <a16:creationId xmlns:a16="http://schemas.microsoft.com/office/drawing/2014/main" id="{AA84728A-9E46-B54F-A051-4E248950D823}"/>
              </a:ext>
            </a:extLst>
          </p:cNvPr>
          <p:cNvCxnSpPr>
            <a:cxnSpLocks/>
          </p:cNvCxnSpPr>
          <p:nvPr/>
        </p:nvCxnSpPr>
        <p:spPr>
          <a:xfrm flipV="1">
            <a:off x="7048215" y="5124717"/>
            <a:ext cx="1396741" cy="4709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0929993-E0BF-0A45-82AF-A16A269EA0A3}"/>
              </a:ext>
            </a:extLst>
          </p:cNvPr>
          <p:cNvCxnSpPr>
            <a:cxnSpLocks/>
          </p:cNvCxnSpPr>
          <p:nvPr/>
        </p:nvCxnSpPr>
        <p:spPr>
          <a:xfrm flipV="1">
            <a:off x="10827868" y="3117850"/>
            <a:ext cx="0" cy="770150"/>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6BF62CA-31A8-A34F-BE0A-CC005416A2A5}"/>
              </a:ext>
            </a:extLst>
          </p:cNvPr>
          <p:cNvSpPr txBox="1"/>
          <p:nvPr/>
        </p:nvSpPr>
        <p:spPr>
          <a:xfrm>
            <a:off x="8444956" y="4412539"/>
            <a:ext cx="2181638" cy="1200329"/>
          </a:xfrm>
          <a:prstGeom prst="rect">
            <a:avLst/>
          </a:prstGeom>
          <a:noFill/>
        </p:spPr>
        <p:txBody>
          <a:bodyPr wrap="square" rtlCol="0">
            <a:spAutoFit/>
          </a:bodyPr>
          <a:lstStyle/>
          <a:p>
            <a:r>
              <a:rPr lang="nl-NL" sz="1200" dirty="0"/>
              <a:t>De reeksen worden automatisch een passend datatype gegeven. </a:t>
            </a:r>
            <a:r>
              <a:rPr lang="nl-NL" sz="1200" dirty="0">
                <a:solidFill>
                  <a:srgbClr val="FF0000"/>
                </a:solidFill>
                <a:latin typeface="Courier New" panose="02070309020205020404" pitchFamily="49" charset="0"/>
                <a:cs typeface="Courier New" panose="02070309020205020404" pitchFamily="49" charset="0"/>
              </a:rPr>
              <a:t>object</a:t>
            </a:r>
            <a:r>
              <a:rPr lang="nl-NL" sz="1200" dirty="0">
                <a:solidFill>
                  <a:srgbClr val="FF0000"/>
                </a:solidFill>
              </a:rPr>
              <a:t> </a:t>
            </a:r>
            <a:r>
              <a:rPr lang="nl-NL" sz="1200" dirty="0"/>
              <a:t>voor </a:t>
            </a:r>
            <a:r>
              <a:rPr lang="nl-NL" sz="1200" dirty="0">
                <a:solidFill>
                  <a:srgbClr val="FF0000"/>
                </a:solidFill>
              </a:rPr>
              <a:t>categorische variabelen </a:t>
            </a:r>
            <a:r>
              <a:rPr lang="nl-NL" sz="1200" dirty="0"/>
              <a:t>en hier </a:t>
            </a:r>
            <a:r>
              <a:rPr lang="nl-NL" sz="1200" dirty="0">
                <a:solidFill>
                  <a:srgbClr val="00B050"/>
                </a:solidFill>
                <a:latin typeface="Courier New" panose="02070309020205020404" pitchFamily="49" charset="0"/>
                <a:cs typeface="Courier New" panose="02070309020205020404" pitchFamily="49" charset="0"/>
              </a:rPr>
              <a:t>int64</a:t>
            </a:r>
            <a:r>
              <a:rPr lang="nl-NL" sz="1200" dirty="0"/>
              <a:t> voor </a:t>
            </a:r>
            <a:r>
              <a:rPr lang="nl-NL" sz="1200" dirty="0">
                <a:solidFill>
                  <a:srgbClr val="00B050"/>
                </a:solidFill>
              </a:rPr>
              <a:t>gehele getallen</a:t>
            </a:r>
          </a:p>
        </p:txBody>
      </p:sp>
      <p:sp>
        <p:nvSpPr>
          <p:cNvPr id="17" name="TextBox 16">
            <a:extLst>
              <a:ext uri="{FF2B5EF4-FFF2-40B4-BE49-F238E27FC236}">
                <a16:creationId xmlns:a16="http://schemas.microsoft.com/office/drawing/2014/main" id="{5E2A4540-EEC4-1941-8B2A-84E3D32C79DE}"/>
              </a:ext>
            </a:extLst>
          </p:cNvPr>
          <p:cNvSpPr txBox="1"/>
          <p:nvPr/>
        </p:nvSpPr>
        <p:spPr>
          <a:xfrm>
            <a:off x="9737049" y="2703156"/>
            <a:ext cx="2181638" cy="646331"/>
          </a:xfrm>
          <a:prstGeom prst="rect">
            <a:avLst/>
          </a:prstGeom>
          <a:noFill/>
        </p:spPr>
        <p:txBody>
          <a:bodyPr wrap="square" rtlCol="0">
            <a:spAutoFit/>
          </a:bodyPr>
          <a:lstStyle/>
          <a:p>
            <a:r>
              <a:rPr lang="nl-NL" sz="1200" dirty="0">
                <a:solidFill>
                  <a:schemeClr val="accent5">
                    <a:lumMod val="75000"/>
                  </a:schemeClr>
                </a:solidFill>
              </a:rPr>
              <a:t>De waarden zelf worden in </a:t>
            </a:r>
            <a:r>
              <a:rPr lang="nl-NL" sz="1200" dirty="0" err="1">
                <a:solidFill>
                  <a:schemeClr val="accent5">
                    <a:lumMod val="75000"/>
                  </a:schemeClr>
                </a:solidFill>
              </a:rPr>
              <a:t>NumPy</a:t>
            </a:r>
            <a:r>
              <a:rPr lang="nl-NL" sz="1200" dirty="0">
                <a:solidFill>
                  <a:schemeClr val="accent5">
                    <a:lumMod val="75000"/>
                  </a:schemeClr>
                </a:solidFill>
              </a:rPr>
              <a:t> bijgehouden in de achtergrond</a:t>
            </a:r>
          </a:p>
        </p:txBody>
      </p:sp>
      <p:sp>
        <p:nvSpPr>
          <p:cNvPr id="20" name="TextBox 19">
            <a:extLst>
              <a:ext uri="{FF2B5EF4-FFF2-40B4-BE49-F238E27FC236}">
                <a16:creationId xmlns:a16="http://schemas.microsoft.com/office/drawing/2014/main" id="{486DB539-DAFA-1540-9553-E4642FE460FB}"/>
              </a:ext>
            </a:extLst>
          </p:cNvPr>
          <p:cNvSpPr txBox="1"/>
          <p:nvPr/>
        </p:nvSpPr>
        <p:spPr>
          <a:xfrm>
            <a:off x="4488198" y="2445743"/>
            <a:ext cx="1039573" cy="369332"/>
          </a:xfrm>
          <a:prstGeom prst="rect">
            <a:avLst/>
          </a:prstGeom>
          <a:noFill/>
        </p:spPr>
        <p:txBody>
          <a:bodyPr wrap="square" rtlCol="0">
            <a:spAutoFit/>
          </a:bodyPr>
          <a:lstStyle/>
          <a:p>
            <a:r>
              <a:rPr lang="nl-NL" dirty="0"/>
              <a:t>Output:</a:t>
            </a:r>
          </a:p>
        </p:txBody>
      </p:sp>
      <p:sp>
        <p:nvSpPr>
          <p:cNvPr id="21" name="TextBox 20">
            <a:extLst>
              <a:ext uri="{FF2B5EF4-FFF2-40B4-BE49-F238E27FC236}">
                <a16:creationId xmlns:a16="http://schemas.microsoft.com/office/drawing/2014/main" id="{F8C5F126-A6D6-054F-AD61-A692DF2AAAB4}"/>
              </a:ext>
            </a:extLst>
          </p:cNvPr>
          <p:cNvSpPr txBox="1"/>
          <p:nvPr/>
        </p:nvSpPr>
        <p:spPr>
          <a:xfrm>
            <a:off x="374374" y="3001059"/>
            <a:ext cx="834316" cy="369332"/>
          </a:xfrm>
          <a:prstGeom prst="rect">
            <a:avLst/>
          </a:prstGeom>
          <a:noFill/>
        </p:spPr>
        <p:txBody>
          <a:bodyPr wrap="square" rtlCol="0">
            <a:spAutoFit/>
          </a:bodyPr>
          <a:lstStyle/>
          <a:p>
            <a:r>
              <a:rPr lang="nl-NL" dirty="0"/>
              <a:t>Code:</a:t>
            </a:r>
          </a:p>
        </p:txBody>
      </p:sp>
    </p:spTree>
    <p:extLst>
      <p:ext uri="{BB962C8B-B14F-4D97-AF65-F5344CB8AC3E}">
        <p14:creationId xmlns:p14="http://schemas.microsoft.com/office/powerpoint/2010/main" val="765746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90E842-7AA9-434D-A55E-DCFA3415F538}"/>
              </a:ext>
            </a:extLst>
          </p:cNvPr>
          <p:cNvSpPr>
            <a:spLocks noGrp="1"/>
          </p:cNvSpPr>
          <p:nvPr>
            <p:ph type="sldNum" sz="quarter" idx="12"/>
          </p:nvPr>
        </p:nvSpPr>
        <p:spPr/>
        <p:txBody>
          <a:bodyPr/>
          <a:lstStyle/>
          <a:p>
            <a:fld id="{D270EDC2-4F5E-5547-954F-5222C286AC2A}" type="slidenum">
              <a:rPr lang="nl-NL" smtClean="0"/>
              <a:t>41</a:t>
            </a:fld>
            <a:endParaRPr lang="nl-NL" dirty="0"/>
          </a:p>
        </p:txBody>
      </p:sp>
      <p:sp>
        <p:nvSpPr>
          <p:cNvPr id="2" name="Title 1">
            <a:extLst>
              <a:ext uri="{FF2B5EF4-FFF2-40B4-BE49-F238E27FC236}">
                <a16:creationId xmlns:a16="http://schemas.microsoft.com/office/drawing/2014/main" id="{8E169A40-1705-E64F-8F49-D881D4B86430}"/>
              </a:ext>
            </a:extLst>
          </p:cNvPr>
          <p:cNvSpPr>
            <a:spLocks noGrp="1"/>
          </p:cNvSpPr>
          <p:nvPr>
            <p:ph type="title"/>
          </p:nvPr>
        </p:nvSpPr>
        <p:spPr/>
        <p:txBody>
          <a:bodyPr/>
          <a:lstStyle/>
          <a:p>
            <a:r>
              <a:rPr lang="nl-NL" dirty="0"/>
              <a:t>Handige methodes</a:t>
            </a:r>
          </a:p>
        </p:txBody>
      </p:sp>
      <p:sp>
        <p:nvSpPr>
          <p:cNvPr id="6" name="Rectangle 5">
            <a:extLst>
              <a:ext uri="{FF2B5EF4-FFF2-40B4-BE49-F238E27FC236}">
                <a16:creationId xmlns:a16="http://schemas.microsoft.com/office/drawing/2014/main" id="{135909E7-FD2B-3A44-9F74-30D0597D363F}"/>
              </a:ext>
            </a:extLst>
          </p:cNvPr>
          <p:cNvSpPr/>
          <p:nvPr/>
        </p:nvSpPr>
        <p:spPr>
          <a:xfrm>
            <a:off x="662609" y="2775036"/>
            <a:ext cx="5579165" cy="1938992"/>
          </a:xfrm>
          <a:prstGeom prst="rect">
            <a:avLst/>
          </a:prstGeom>
          <a:ln>
            <a:solidFill>
              <a:schemeClr val="tx1"/>
            </a:solidFill>
          </a:ln>
        </p:spPr>
        <p:txBody>
          <a:bodyPr wrap="square">
            <a:spAutoFit/>
          </a:bodyPr>
          <a:lstStyle/>
          <a:p>
            <a:r>
              <a:rPr lang="nl-NL" sz="1200" dirty="0" err="1"/>
              <a:t>een_andere_lijst</a:t>
            </a:r>
            <a:r>
              <a:rPr lang="nl-NL" sz="1200" dirty="0"/>
              <a:t> = [</a:t>
            </a:r>
            <a:r>
              <a:rPr lang="nl-NL" sz="1200" dirty="0">
                <a:solidFill>
                  <a:srgbClr val="6897BB"/>
                </a:solidFill>
              </a:rPr>
              <a:t>10</a:t>
            </a:r>
            <a:r>
              <a:rPr lang="nl-NL" sz="1200" dirty="0">
                <a:solidFill>
                  <a:srgbClr val="CC7832"/>
                </a:solidFill>
              </a:rPr>
              <a:t>, </a:t>
            </a:r>
            <a:r>
              <a:rPr lang="nl-NL" sz="1200" dirty="0">
                <a:solidFill>
                  <a:srgbClr val="6897BB"/>
                </a:solidFill>
              </a:rPr>
              <a:t>20</a:t>
            </a:r>
            <a:r>
              <a:rPr lang="nl-NL" sz="1200" dirty="0">
                <a:solidFill>
                  <a:srgbClr val="CC7832"/>
                </a:solidFill>
              </a:rPr>
              <a:t>, </a:t>
            </a:r>
            <a:r>
              <a:rPr lang="nl-NL" sz="1200" dirty="0">
                <a:solidFill>
                  <a:srgbClr val="6897BB"/>
                </a:solidFill>
              </a:rPr>
              <a:t>30</a:t>
            </a:r>
            <a:r>
              <a:rPr lang="nl-NL" sz="1200" dirty="0">
                <a:solidFill>
                  <a:srgbClr val="CC7832"/>
                </a:solidFill>
              </a:rPr>
              <a:t>, </a:t>
            </a:r>
            <a:r>
              <a:rPr lang="nl-NL" sz="1200" dirty="0">
                <a:solidFill>
                  <a:srgbClr val="6897BB"/>
                </a:solidFill>
              </a:rPr>
              <a:t>40</a:t>
            </a:r>
            <a:r>
              <a:rPr lang="nl-NL" sz="1200" dirty="0">
                <a:solidFill>
                  <a:srgbClr val="CC7832"/>
                </a:solidFill>
              </a:rPr>
              <a:t>, </a:t>
            </a:r>
            <a:r>
              <a:rPr lang="nl-NL" sz="1200" dirty="0">
                <a:solidFill>
                  <a:srgbClr val="6897BB"/>
                </a:solidFill>
              </a:rPr>
              <a:t>50</a:t>
            </a:r>
            <a:r>
              <a:rPr lang="nl-NL" sz="1200" dirty="0">
                <a:solidFill>
                  <a:srgbClr val="CC7832"/>
                </a:solidFill>
              </a:rPr>
              <a:t>, </a:t>
            </a:r>
            <a:r>
              <a:rPr lang="nl-NL" sz="1200" dirty="0">
                <a:solidFill>
                  <a:srgbClr val="6897BB"/>
                </a:solidFill>
              </a:rPr>
              <a:t>50</a:t>
            </a:r>
            <a:r>
              <a:rPr lang="nl-NL" sz="1200" dirty="0">
                <a:solidFill>
                  <a:srgbClr val="CC7832"/>
                </a:solidFill>
              </a:rPr>
              <a:t>, </a:t>
            </a:r>
            <a:r>
              <a:rPr lang="nl-NL" sz="1200" dirty="0">
                <a:solidFill>
                  <a:srgbClr val="6897BB"/>
                </a:solidFill>
              </a:rPr>
              <a:t>50</a:t>
            </a:r>
            <a:r>
              <a:rPr lang="nl-NL" sz="1200" dirty="0">
                <a:solidFill>
                  <a:srgbClr val="CC7832"/>
                </a:solidFill>
              </a:rPr>
              <a:t>, </a:t>
            </a:r>
            <a:r>
              <a:rPr lang="nl-NL" sz="1200" dirty="0" err="1">
                <a:solidFill>
                  <a:srgbClr val="FF0000"/>
                </a:solidFill>
              </a:rPr>
              <a:t>np.nan</a:t>
            </a:r>
            <a:r>
              <a:rPr lang="nl-NL" sz="1200" dirty="0"/>
              <a:t>]</a:t>
            </a:r>
            <a:br>
              <a:rPr lang="nl-NL" sz="1200" dirty="0"/>
            </a:br>
            <a:r>
              <a:rPr lang="nl-NL" sz="1200" dirty="0" err="1"/>
              <a:t>een_andere_reeks</a:t>
            </a:r>
            <a:r>
              <a:rPr lang="nl-NL" sz="1200" dirty="0"/>
              <a:t> = </a:t>
            </a:r>
            <a:r>
              <a:rPr lang="nl-NL" sz="1200" dirty="0" err="1"/>
              <a:t>pd.Series</a:t>
            </a:r>
            <a:r>
              <a:rPr lang="nl-NL" sz="1200" dirty="0"/>
              <a:t>(</a:t>
            </a:r>
            <a:r>
              <a:rPr lang="nl-NL" sz="1200" dirty="0" err="1"/>
              <a:t>een_andere_lijst</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a:t>
            </a:r>
            <a:r>
              <a:rPr lang="nl-NL" sz="1200" dirty="0" err="1">
                <a:solidFill>
                  <a:srgbClr val="6A8759"/>
                </a:solidFill>
              </a:rPr>
              <a:t>NumPy</a:t>
            </a:r>
            <a:r>
              <a:rPr lang="nl-NL" sz="1200" dirty="0">
                <a:solidFill>
                  <a:srgbClr val="6A8759"/>
                </a:solidFill>
              </a:rPr>
              <a:t> methodes zijn mogelijk (min):'</a:t>
            </a:r>
            <a:r>
              <a:rPr lang="nl-NL" sz="1200" dirty="0">
                <a:solidFill>
                  <a:srgbClr val="CC7832"/>
                </a:solidFill>
              </a:rPr>
              <a:t>, </a:t>
            </a:r>
            <a:r>
              <a:rPr lang="nl-NL" sz="1200" dirty="0" err="1"/>
              <a:t>een_andere_reeks.</a:t>
            </a:r>
            <a:r>
              <a:rPr lang="nl-NL" sz="1200" dirty="0" err="1">
                <a:solidFill>
                  <a:srgbClr val="00B050"/>
                </a:solidFill>
              </a:rPr>
              <a:t>min</a:t>
            </a:r>
            <a:r>
              <a:rPr lang="nl-NL" sz="1200" dirty="0">
                <a:solidFill>
                  <a:srgbClr val="00B050"/>
                </a:solidFill>
              </a:rPr>
              <a:t>()</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a:t>
            </a:r>
            <a:r>
              <a:rPr lang="nl-NL" sz="1200" dirty="0" err="1">
                <a:solidFill>
                  <a:srgbClr val="6A8759"/>
                </a:solidFill>
              </a:rPr>
              <a:t>NumPy</a:t>
            </a:r>
            <a:r>
              <a:rPr lang="nl-NL" sz="1200" dirty="0">
                <a:solidFill>
                  <a:srgbClr val="6A8759"/>
                </a:solidFill>
              </a:rPr>
              <a:t> methodes zijn mogelijk (gem.):'</a:t>
            </a:r>
            <a:r>
              <a:rPr lang="nl-NL" sz="1200" dirty="0">
                <a:solidFill>
                  <a:srgbClr val="CC7832"/>
                </a:solidFill>
              </a:rPr>
              <a:t>, </a:t>
            </a:r>
            <a:r>
              <a:rPr lang="nl-NL" sz="1200" dirty="0" err="1"/>
              <a:t>een_andere_reeks.</a:t>
            </a:r>
            <a:r>
              <a:rPr lang="nl-NL" sz="1200" dirty="0" err="1">
                <a:solidFill>
                  <a:srgbClr val="00B050"/>
                </a:solidFill>
              </a:rPr>
              <a:t>mean</a:t>
            </a:r>
            <a:r>
              <a:rPr lang="nl-NL" sz="1200" dirty="0">
                <a:solidFill>
                  <a:srgbClr val="00B050"/>
                </a:solidFill>
              </a:rPr>
              <a:t>()</a:t>
            </a:r>
            <a:r>
              <a:rPr lang="nl-NL" sz="1200" dirty="0"/>
              <a:t>)</a:t>
            </a:r>
            <a:br>
              <a:rPr lang="nl-NL" sz="1200" dirty="0"/>
            </a:br>
            <a:br>
              <a:rPr lang="nl-NL" sz="1200" dirty="0"/>
            </a:br>
            <a:r>
              <a:rPr lang="nl-NL" sz="1200" dirty="0">
                <a:solidFill>
                  <a:srgbClr val="8888C6"/>
                </a:solidFill>
              </a:rPr>
              <a:t>print</a:t>
            </a:r>
            <a:r>
              <a:rPr lang="nl-NL" sz="1200" dirty="0"/>
              <a:t>(</a:t>
            </a:r>
            <a:r>
              <a:rPr lang="nl-NL" sz="1200" dirty="0">
                <a:solidFill>
                  <a:srgbClr val="6A8759"/>
                </a:solidFill>
              </a:rPr>
              <a:t>'Aantal elementen:'</a:t>
            </a:r>
            <a:r>
              <a:rPr lang="nl-NL" sz="1200" dirty="0">
                <a:solidFill>
                  <a:srgbClr val="CC7832"/>
                </a:solidFill>
              </a:rPr>
              <a:t>, </a:t>
            </a:r>
            <a:r>
              <a:rPr lang="nl-NL" sz="1200" dirty="0" err="1">
                <a:solidFill>
                  <a:srgbClr val="8888C6"/>
                </a:solidFill>
              </a:rPr>
              <a:t>len</a:t>
            </a:r>
            <a:r>
              <a:rPr lang="nl-NL" sz="1200" dirty="0"/>
              <a:t>(</a:t>
            </a:r>
            <a:r>
              <a:rPr lang="nl-NL" sz="1200" dirty="0" err="1"/>
              <a:t>een_andere_reeks</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'Aantal voorkomens:</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een_andere_reeks.value_counts</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'Proportioneel voorkomen:</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een_andere_reeks.value_counts</a:t>
            </a:r>
            <a:r>
              <a:rPr lang="nl-NL" sz="1200" dirty="0"/>
              <a:t>(</a:t>
            </a:r>
            <a:r>
              <a:rPr lang="nl-NL" sz="1200" dirty="0" err="1">
                <a:solidFill>
                  <a:srgbClr val="AA4926"/>
                </a:solidFill>
              </a:rPr>
              <a:t>normalize</a:t>
            </a:r>
            <a:r>
              <a:rPr lang="nl-NL" sz="1200" dirty="0"/>
              <a:t>=</a:t>
            </a:r>
            <a:r>
              <a:rPr lang="nl-NL" sz="1200" dirty="0">
                <a:solidFill>
                  <a:srgbClr val="CC7832"/>
                </a:solidFill>
              </a:rPr>
              <a:t>True</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'Aantal niet-lege cellen:'</a:t>
            </a:r>
            <a:r>
              <a:rPr lang="nl-NL" sz="1200" dirty="0">
                <a:solidFill>
                  <a:srgbClr val="CC7832"/>
                </a:solidFill>
              </a:rPr>
              <a:t>, </a:t>
            </a:r>
            <a:r>
              <a:rPr lang="nl-NL" sz="1200" dirty="0" err="1"/>
              <a:t>een_andere_reeks.count</a:t>
            </a:r>
            <a:r>
              <a:rPr lang="nl-NL" sz="1200" dirty="0"/>
              <a:t>())</a:t>
            </a:r>
          </a:p>
        </p:txBody>
      </p:sp>
      <p:sp>
        <p:nvSpPr>
          <p:cNvPr id="7" name="Rectangle 6">
            <a:extLst>
              <a:ext uri="{FF2B5EF4-FFF2-40B4-BE49-F238E27FC236}">
                <a16:creationId xmlns:a16="http://schemas.microsoft.com/office/drawing/2014/main" id="{109E6787-CE44-FA40-9474-4F9639341060}"/>
              </a:ext>
            </a:extLst>
          </p:cNvPr>
          <p:cNvSpPr/>
          <p:nvPr/>
        </p:nvSpPr>
        <p:spPr>
          <a:xfrm>
            <a:off x="6848060" y="1912196"/>
            <a:ext cx="5032790" cy="3416320"/>
          </a:xfrm>
          <a:prstGeom prst="rect">
            <a:avLst/>
          </a:prstGeom>
          <a:ln>
            <a:solidFill>
              <a:schemeClr val="tx1"/>
            </a:solidFill>
          </a:ln>
        </p:spPr>
        <p:txBody>
          <a:bodyPr wrap="square">
            <a:spAutoFit/>
          </a:bodyPr>
          <a:lstStyle/>
          <a:p>
            <a:r>
              <a:rPr lang="nl-NL" sz="1200" dirty="0" err="1">
                <a:latin typeface="Courier New" panose="02070309020205020404" pitchFamily="49" charset="0"/>
                <a:cs typeface="Courier New" panose="02070309020205020404" pitchFamily="49" charset="0"/>
              </a:rPr>
              <a:t>NumPy</a:t>
            </a:r>
            <a:r>
              <a:rPr lang="nl-NL" sz="1200" dirty="0">
                <a:latin typeface="Courier New" panose="02070309020205020404" pitchFamily="49" charset="0"/>
                <a:cs typeface="Courier New" panose="02070309020205020404" pitchFamily="49" charset="0"/>
              </a:rPr>
              <a:t> methodes zijn mogelijk (min): 10.0</a:t>
            </a:r>
          </a:p>
          <a:p>
            <a:r>
              <a:rPr lang="nl-NL" sz="1200" dirty="0" err="1">
                <a:latin typeface="Courier New" panose="02070309020205020404" pitchFamily="49" charset="0"/>
                <a:cs typeface="Courier New" panose="02070309020205020404" pitchFamily="49" charset="0"/>
              </a:rPr>
              <a:t>NumPy</a:t>
            </a:r>
            <a:r>
              <a:rPr lang="nl-NL" sz="1200" dirty="0">
                <a:latin typeface="Courier New" panose="02070309020205020404" pitchFamily="49" charset="0"/>
                <a:cs typeface="Courier New" panose="02070309020205020404" pitchFamily="49" charset="0"/>
              </a:rPr>
              <a:t> methodes zijn mogelijk (gem.): 35.714...</a:t>
            </a:r>
          </a:p>
          <a:p>
            <a:r>
              <a:rPr lang="nl-NL" sz="1200" dirty="0">
                <a:latin typeface="Courier New" panose="02070309020205020404" pitchFamily="49" charset="0"/>
                <a:cs typeface="Courier New" panose="02070309020205020404" pitchFamily="49" charset="0"/>
              </a:rPr>
              <a:t>Aantal elementen: 8</a:t>
            </a:r>
          </a:p>
          <a:p>
            <a:r>
              <a:rPr lang="nl-NL" sz="1200" dirty="0">
                <a:latin typeface="Courier New" panose="02070309020205020404" pitchFamily="49" charset="0"/>
                <a:cs typeface="Courier New" panose="02070309020205020404" pitchFamily="49" charset="0"/>
              </a:rPr>
              <a:t>Aantal voorkomens:</a:t>
            </a:r>
          </a:p>
          <a:p>
            <a:r>
              <a:rPr lang="nl-NL" sz="1200" dirty="0">
                <a:latin typeface="Courier New" panose="02070309020205020404" pitchFamily="49" charset="0"/>
                <a:cs typeface="Courier New" panose="02070309020205020404" pitchFamily="49" charset="0"/>
              </a:rPr>
              <a:t>50.0    3</a:t>
            </a:r>
          </a:p>
          <a:p>
            <a:r>
              <a:rPr lang="nl-NL" sz="1200" dirty="0">
                <a:latin typeface="Courier New" panose="02070309020205020404" pitchFamily="49" charset="0"/>
                <a:cs typeface="Courier New" panose="02070309020205020404" pitchFamily="49" charset="0"/>
              </a:rPr>
              <a:t>40.0    1</a:t>
            </a:r>
          </a:p>
          <a:p>
            <a:r>
              <a:rPr lang="nl-NL" sz="1200" dirty="0">
                <a:latin typeface="Courier New" panose="02070309020205020404" pitchFamily="49" charset="0"/>
                <a:cs typeface="Courier New" panose="02070309020205020404" pitchFamily="49" charset="0"/>
              </a:rPr>
              <a:t>30.0    1</a:t>
            </a:r>
          </a:p>
          <a:p>
            <a:r>
              <a:rPr lang="nl-NL" sz="1200" dirty="0">
                <a:latin typeface="Courier New" panose="02070309020205020404" pitchFamily="49" charset="0"/>
                <a:cs typeface="Courier New" panose="02070309020205020404" pitchFamily="49" charset="0"/>
              </a:rPr>
              <a:t>20.0    1</a:t>
            </a:r>
          </a:p>
          <a:p>
            <a:r>
              <a:rPr lang="nl-NL" sz="1200" dirty="0">
                <a:latin typeface="Courier New" panose="02070309020205020404" pitchFamily="49" charset="0"/>
                <a:cs typeface="Courier New" panose="02070309020205020404" pitchFamily="49" charset="0"/>
              </a:rPr>
              <a:t>10.0    1</a:t>
            </a:r>
          </a:p>
          <a:p>
            <a:r>
              <a:rPr lang="nl-NL" sz="1200" dirty="0" err="1">
                <a:latin typeface="Courier New" panose="02070309020205020404" pitchFamily="49" charset="0"/>
                <a:cs typeface="Courier New" panose="02070309020205020404" pitchFamily="49" charset="0"/>
              </a:rPr>
              <a:t>dtype</a:t>
            </a:r>
            <a:r>
              <a:rPr lang="nl-NL" sz="1200" dirty="0">
                <a:latin typeface="Courier New" panose="02070309020205020404" pitchFamily="49" charset="0"/>
                <a:cs typeface="Courier New" panose="02070309020205020404" pitchFamily="49" charset="0"/>
              </a:rPr>
              <a:t>: int64</a:t>
            </a:r>
          </a:p>
          <a:p>
            <a:r>
              <a:rPr lang="nl-NL" sz="1200" dirty="0">
                <a:latin typeface="Courier New" panose="02070309020205020404" pitchFamily="49" charset="0"/>
                <a:cs typeface="Courier New" panose="02070309020205020404" pitchFamily="49" charset="0"/>
              </a:rPr>
              <a:t>Proportioneel voorkomen:</a:t>
            </a:r>
          </a:p>
          <a:p>
            <a:r>
              <a:rPr lang="nl-NL" sz="1200" dirty="0">
                <a:latin typeface="Courier New" panose="02070309020205020404" pitchFamily="49" charset="0"/>
                <a:cs typeface="Courier New" panose="02070309020205020404" pitchFamily="49" charset="0"/>
              </a:rPr>
              <a:t>50.0    0.428571</a:t>
            </a:r>
          </a:p>
          <a:p>
            <a:r>
              <a:rPr lang="nl-NL" sz="1200" dirty="0">
                <a:latin typeface="Courier New" panose="02070309020205020404" pitchFamily="49" charset="0"/>
                <a:cs typeface="Courier New" panose="02070309020205020404" pitchFamily="49" charset="0"/>
              </a:rPr>
              <a:t>40.0    0.142857</a:t>
            </a:r>
          </a:p>
          <a:p>
            <a:r>
              <a:rPr lang="nl-NL" sz="1200" dirty="0">
                <a:latin typeface="Courier New" panose="02070309020205020404" pitchFamily="49" charset="0"/>
                <a:cs typeface="Courier New" panose="02070309020205020404" pitchFamily="49" charset="0"/>
              </a:rPr>
              <a:t>30.0    0.142857</a:t>
            </a:r>
          </a:p>
          <a:p>
            <a:r>
              <a:rPr lang="nl-NL" sz="1200" dirty="0">
                <a:latin typeface="Courier New" panose="02070309020205020404" pitchFamily="49" charset="0"/>
                <a:cs typeface="Courier New" panose="02070309020205020404" pitchFamily="49" charset="0"/>
              </a:rPr>
              <a:t>20.0    0.142857</a:t>
            </a:r>
          </a:p>
          <a:p>
            <a:r>
              <a:rPr lang="nl-NL" sz="1200" dirty="0">
                <a:latin typeface="Courier New" panose="02070309020205020404" pitchFamily="49" charset="0"/>
                <a:cs typeface="Courier New" panose="02070309020205020404" pitchFamily="49" charset="0"/>
              </a:rPr>
              <a:t>10.0    0.142857</a:t>
            </a:r>
          </a:p>
          <a:p>
            <a:r>
              <a:rPr lang="nl-NL" sz="1200" dirty="0" err="1">
                <a:latin typeface="Courier New" panose="02070309020205020404" pitchFamily="49" charset="0"/>
                <a:cs typeface="Courier New" panose="02070309020205020404" pitchFamily="49" charset="0"/>
              </a:rPr>
              <a:t>dtype</a:t>
            </a:r>
            <a:r>
              <a:rPr lang="nl-NL" sz="1200" dirty="0">
                <a:latin typeface="Courier New" panose="02070309020205020404" pitchFamily="49" charset="0"/>
                <a:cs typeface="Courier New" panose="02070309020205020404" pitchFamily="49" charset="0"/>
              </a:rPr>
              <a:t>: float64</a:t>
            </a:r>
          </a:p>
          <a:p>
            <a:r>
              <a:rPr lang="nl-NL" sz="1200" dirty="0">
                <a:latin typeface="Courier New" panose="02070309020205020404" pitchFamily="49" charset="0"/>
                <a:cs typeface="Courier New" panose="02070309020205020404" pitchFamily="49" charset="0"/>
              </a:rPr>
              <a:t>Aantal niet-lege cellen: 7</a:t>
            </a:r>
          </a:p>
        </p:txBody>
      </p:sp>
      <p:cxnSp>
        <p:nvCxnSpPr>
          <p:cNvPr id="8" name="Straight Arrow Connector 7">
            <a:extLst>
              <a:ext uri="{FF2B5EF4-FFF2-40B4-BE49-F238E27FC236}">
                <a16:creationId xmlns:a16="http://schemas.microsoft.com/office/drawing/2014/main" id="{8277C449-60F6-134E-B0B9-D2429F1909EC}"/>
              </a:ext>
            </a:extLst>
          </p:cNvPr>
          <p:cNvCxnSpPr>
            <a:cxnSpLocks/>
          </p:cNvCxnSpPr>
          <p:nvPr/>
        </p:nvCxnSpPr>
        <p:spPr>
          <a:xfrm flipV="1">
            <a:off x="8129689" y="3171244"/>
            <a:ext cx="1323116" cy="4627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2087561-4121-6A4B-A4AC-F03ADCA841EE}"/>
              </a:ext>
            </a:extLst>
          </p:cNvPr>
          <p:cNvCxnSpPr>
            <a:cxnSpLocks/>
          </p:cNvCxnSpPr>
          <p:nvPr/>
        </p:nvCxnSpPr>
        <p:spPr>
          <a:xfrm flipV="1">
            <a:off x="4231178" y="1174599"/>
            <a:ext cx="1330037" cy="16004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50756E0-CEF2-5D40-B9D2-C2D76CA269A8}"/>
              </a:ext>
            </a:extLst>
          </p:cNvPr>
          <p:cNvCxnSpPr>
            <a:cxnSpLocks/>
          </p:cNvCxnSpPr>
          <p:nvPr/>
        </p:nvCxnSpPr>
        <p:spPr>
          <a:xfrm flipV="1">
            <a:off x="9474199" y="4884456"/>
            <a:ext cx="476251" cy="2624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CD2EF21-44A0-8B48-A594-66D35F39B020}"/>
              </a:ext>
            </a:extLst>
          </p:cNvPr>
          <p:cNvSpPr txBox="1"/>
          <p:nvPr/>
        </p:nvSpPr>
        <p:spPr>
          <a:xfrm>
            <a:off x="5307324" y="115592"/>
            <a:ext cx="2646926" cy="1107996"/>
          </a:xfrm>
          <a:prstGeom prst="rect">
            <a:avLst/>
          </a:prstGeom>
          <a:noFill/>
        </p:spPr>
        <p:txBody>
          <a:bodyPr wrap="square" rtlCol="0">
            <a:spAutoFit/>
          </a:bodyPr>
          <a:lstStyle/>
          <a:p>
            <a:r>
              <a:rPr lang="nl-NL" sz="1100" dirty="0"/>
              <a:t>We gebruiken hier een niet ingevulde waarde (</a:t>
            </a:r>
            <a:r>
              <a:rPr lang="nl-NL" sz="1100" dirty="0" err="1">
                <a:solidFill>
                  <a:srgbClr val="FF0000"/>
                </a:solidFill>
                <a:latin typeface="Courier New" panose="02070309020205020404" pitchFamily="49" charset="0"/>
                <a:cs typeface="Courier New" panose="02070309020205020404" pitchFamily="49" charset="0"/>
              </a:rPr>
              <a:t>np.nan</a:t>
            </a:r>
            <a:r>
              <a:rPr lang="nl-NL" sz="1100" dirty="0">
                <a:solidFill>
                  <a:srgbClr val="FF0000"/>
                </a:solidFill>
              </a:rPr>
              <a:t> </a:t>
            </a:r>
            <a:r>
              <a:rPr lang="nl-NL" sz="1100" dirty="0"/>
              <a:t>- die zit standaard in </a:t>
            </a:r>
            <a:r>
              <a:rPr lang="nl-NL" sz="1100" dirty="0" err="1"/>
              <a:t>NumPy</a:t>
            </a:r>
            <a:r>
              <a:rPr lang="nl-NL" sz="1100" dirty="0"/>
              <a:t>) – dit komt overeen met een niet-ingevulde </a:t>
            </a:r>
            <a:r>
              <a:rPr lang="nl-NL" sz="1100" dirty="0" err="1"/>
              <a:t>cell</a:t>
            </a:r>
            <a:r>
              <a:rPr lang="nl-NL" sz="1100" dirty="0"/>
              <a:t> in Excel en is 1 van de veelvoorkomende problemen in data </a:t>
            </a:r>
            <a:r>
              <a:rPr lang="nl-NL" sz="1100" dirty="0" err="1"/>
              <a:t>science</a:t>
            </a:r>
            <a:endParaRPr lang="nl-NL" sz="1100" dirty="0"/>
          </a:p>
        </p:txBody>
      </p:sp>
      <p:sp>
        <p:nvSpPr>
          <p:cNvPr id="16" name="TextBox 15">
            <a:extLst>
              <a:ext uri="{FF2B5EF4-FFF2-40B4-BE49-F238E27FC236}">
                <a16:creationId xmlns:a16="http://schemas.microsoft.com/office/drawing/2014/main" id="{14D13EF9-E02C-4C41-A1B7-78F52006CB5B}"/>
              </a:ext>
            </a:extLst>
          </p:cNvPr>
          <p:cNvSpPr txBox="1"/>
          <p:nvPr/>
        </p:nvSpPr>
        <p:spPr>
          <a:xfrm>
            <a:off x="9474198" y="2908865"/>
            <a:ext cx="2406651" cy="830997"/>
          </a:xfrm>
          <a:prstGeom prst="rect">
            <a:avLst/>
          </a:prstGeom>
          <a:noFill/>
        </p:spPr>
        <p:txBody>
          <a:bodyPr wrap="square" rtlCol="0">
            <a:spAutoFit/>
          </a:bodyPr>
          <a:lstStyle/>
          <a:p>
            <a:r>
              <a:rPr lang="nl-NL" sz="1200" dirty="0"/>
              <a:t>De functie </a:t>
            </a:r>
            <a:r>
              <a:rPr lang="nl-NL" sz="1200" dirty="0" err="1">
                <a:latin typeface="Courier New" panose="02070309020205020404" pitchFamily="49" charset="0"/>
                <a:cs typeface="Courier New" panose="02070309020205020404" pitchFamily="49" charset="0"/>
              </a:rPr>
              <a:t>value_counts</a:t>
            </a:r>
            <a:r>
              <a:rPr lang="nl-NL" sz="1200" dirty="0">
                <a:latin typeface="Courier New" panose="02070309020205020404" pitchFamily="49" charset="0"/>
                <a:cs typeface="Courier New" panose="02070309020205020404" pitchFamily="49" charset="0"/>
              </a:rPr>
              <a:t>() </a:t>
            </a:r>
            <a:r>
              <a:rPr lang="nl-NL" sz="1200" dirty="0"/>
              <a:t>geeft zelf een </a:t>
            </a:r>
            <a:r>
              <a:rPr lang="nl-NL" sz="1200" dirty="0">
                <a:latin typeface="Courier New" panose="02070309020205020404" pitchFamily="49" charset="0"/>
                <a:cs typeface="Courier New" panose="02070309020205020404" pitchFamily="49" charset="0"/>
              </a:rPr>
              <a:t>Series</a:t>
            </a:r>
            <a:r>
              <a:rPr lang="nl-NL" sz="1200" dirty="0"/>
              <a:t> object terug, vandaar dat het </a:t>
            </a:r>
            <a:r>
              <a:rPr lang="nl-NL" sz="1200" dirty="0" err="1"/>
              <a:t>dtype</a:t>
            </a:r>
            <a:r>
              <a:rPr lang="nl-NL" sz="1200" dirty="0"/>
              <a:t> meegegeven wordt</a:t>
            </a:r>
          </a:p>
        </p:txBody>
      </p:sp>
      <p:sp>
        <p:nvSpPr>
          <p:cNvPr id="17" name="TextBox 16">
            <a:extLst>
              <a:ext uri="{FF2B5EF4-FFF2-40B4-BE49-F238E27FC236}">
                <a16:creationId xmlns:a16="http://schemas.microsoft.com/office/drawing/2014/main" id="{5F5CBBA7-7BAE-354A-947A-45591CE754F8}"/>
              </a:ext>
            </a:extLst>
          </p:cNvPr>
          <p:cNvSpPr txBox="1"/>
          <p:nvPr/>
        </p:nvSpPr>
        <p:spPr>
          <a:xfrm>
            <a:off x="9654209" y="4361236"/>
            <a:ext cx="1732719" cy="523220"/>
          </a:xfrm>
          <a:prstGeom prst="rect">
            <a:avLst/>
          </a:prstGeom>
          <a:noFill/>
        </p:spPr>
        <p:txBody>
          <a:bodyPr wrap="square" rtlCol="0">
            <a:spAutoFit/>
          </a:bodyPr>
          <a:lstStyle/>
          <a:p>
            <a:r>
              <a:rPr lang="nl-NL" sz="1400" dirty="0"/>
              <a:t>De </a:t>
            </a:r>
            <a:r>
              <a:rPr lang="nl-NL" sz="1400" dirty="0" err="1">
                <a:solidFill>
                  <a:srgbClr val="FF0000"/>
                </a:solidFill>
                <a:latin typeface="Courier New" panose="02070309020205020404" pitchFamily="49" charset="0"/>
                <a:cs typeface="Courier New" panose="02070309020205020404" pitchFamily="49" charset="0"/>
              </a:rPr>
              <a:t>nan</a:t>
            </a:r>
            <a:r>
              <a:rPr lang="nl-NL" sz="1400" dirty="0"/>
              <a:t> wordt niet meegeteld</a:t>
            </a:r>
          </a:p>
        </p:txBody>
      </p:sp>
      <p:sp>
        <p:nvSpPr>
          <p:cNvPr id="18" name="TextBox 17">
            <a:extLst>
              <a:ext uri="{FF2B5EF4-FFF2-40B4-BE49-F238E27FC236}">
                <a16:creationId xmlns:a16="http://schemas.microsoft.com/office/drawing/2014/main" id="{DCAE06F6-6DFB-2A42-B86A-295899487012}"/>
              </a:ext>
            </a:extLst>
          </p:cNvPr>
          <p:cNvSpPr txBox="1"/>
          <p:nvPr/>
        </p:nvSpPr>
        <p:spPr>
          <a:xfrm>
            <a:off x="6773931" y="1562255"/>
            <a:ext cx="1054677" cy="369332"/>
          </a:xfrm>
          <a:prstGeom prst="rect">
            <a:avLst/>
          </a:prstGeom>
          <a:noFill/>
        </p:spPr>
        <p:txBody>
          <a:bodyPr wrap="square" rtlCol="0">
            <a:spAutoFit/>
          </a:bodyPr>
          <a:lstStyle/>
          <a:p>
            <a:r>
              <a:rPr lang="nl-NL" dirty="0"/>
              <a:t>Output:</a:t>
            </a:r>
          </a:p>
        </p:txBody>
      </p:sp>
      <p:sp>
        <p:nvSpPr>
          <p:cNvPr id="19" name="TextBox 18">
            <a:extLst>
              <a:ext uri="{FF2B5EF4-FFF2-40B4-BE49-F238E27FC236}">
                <a16:creationId xmlns:a16="http://schemas.microsoft.com/office/drawing/2014/main" id="{D9CDB943-FDE8-8347-93E3-E919FA1436EA}"/>
              </a:ext>
            </a:extLst>
          </p:cNvPr>
          <p:cNvSpPr txBox="1"/>
          <p:nvPr/>
        </p:nvSpPr>
        <p:spPr>
          <a:xfrm>
            <a:off x="662609" y="2405703"/>
            <a:ext cx="916809" cy="369332"/>
          </a:xfrm>
          <a:prstGeom prst="rect">
            <a:avLst/>
          </a:prstGeom>
          <a:noFill/>
        </p:spPr>
        <p:txBody>
          <a:bodyPr wrap="square" rtlCol="0">
            <a:spAutoFit/>
          </a:bodyPr>
          <a:lstStyle/>
          <a:p>
            <a:r>
              <a:rPr lang="nl-NL" dirty="0"/>
              <a:t>Code:</a:t>
            </a:r>
          </a:p>
        </p:txBody>
      </p:sp>
      <p:sp>
        <p:nvSpPr>
          <p:cNvPr id="3" name="TextBox 2">
            <a:extLst>
              <a:ext uri="{FF2B5EF4-FFF2-40B4-BE49-F238E27FC236}">
                <a16:creationId xmlns:a16="http://schemas.microsoft.com/office/drawing/2014/main" id="{B0B97307-7F7D-1FC3-2170-33D3DB45DB34}"/>
              </a:ext>
            </a:extLst>
          </p:cNvPr>
          <p:cNvSpPr txBox="1"/>
          <p:nvPr/>
        </p:nvSpPr>
        <p:spPr>
          <a:xfrm>
            <a:off x="662609" y="5329581"/>
            <a:ext cx="3959206" cy="461665"/>
          </a:xfrm>
          <a:prstGeom prst="rect">
            <a:avLst/>
          </a:prstGeom>
          <a:noFill/>
        </p:spPr>
        <p:txBody>
          <a:bodyPr wrap="square" rtlCol="0">
            <a:spAutoFit/>
          </a:bodyPr>
          <a:lstStyle/>
          <a:p>
            <a:r>
              <a:rPr lang="nl-NL" sz="1200" dirty="0"/>
              <a:t>Merk dus op dat </a:t>
            </a:r>
            <a:r>
              <a:rPr lang="nl-NL" sz="1200" dirty="0" err="1"/>
              <a:t>Pandas</a:t>
            </a:r>
            <a:r>
              <a:rPr lang="nl-NL" sz="1200" dirty="0"/>
              <a:t> al z’n uitkomsten makkelijk aanpast aan het voorkomen van lege cellen</a:t>
            </a:r>
          </a:p>
        </p:txBody>
      </p:sp>
      <p:cxnSp>
        <p:nvCxnSpPr>
          <p:cNvPr id="5" name="Straight Arrow Connector 4">
            <a:extLst>
              <a:ext uri="{FF2B5EF4-FFF2-40B4-BE49-F238E27FC236}">
                <a16:creationId xmlns:a16="http://schemas.microsoft.com/office/drawing/2014/main" id="{7CDFE68E-545F-7302-84F2-EB9C1E93E1E2}"/>
              </a:ext>
            </a:extLst>
          </p:cNvPr>
          <p:cNvCxnSpPr>
            <a:cxnSpLocks/>
          </p:cNvCxnSpPr>
          <p:nvPr/>
        </p:nvCxnSpPr>
        <p:spPr>
          <a:xfrm flipV="1">
            <a:off x="5234596" y="2482850"/>
            <a:ext cx="227984" cy="6883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AFB23D3-B701-C510-9BAB-12AA73F3A347}"/>
              </a:ext>
            </a:extLst>
          </p:cNvPr>
          <p:cNvSpPr txBox="1"/>
          <p:nvPr/>
        </p:nvSpPr>
        <p:spPr>
          <a:xfrm>
            <a:off x="4895510" y="1922985"/>
            <a:ext cx="2011970" cy="600164"/>
          </a:xfrm>
          <a:prstGeom prst="rect">
            <a:avLst/>
          </a:prstGeom>
          <a:noFill/>
        </p:spPr>
        <p:txBody>
          <a:bodyPr wrap="square" rtlCol="0">
            <a:spAutoFit/>
          </a:bodyPr>
          <a:lstStyle/>
          <a:p>
            <a:r>
              <a:rPr lang="nl-NL" sz="1100" dirty="0">
                <a:solidFill>
                  <a:srgbClr val="00B050"/>
                </a:solidFill>
              </a:rPr>
              <a:t>Merk op: een </a:t>
            </a:r>
            <a:r>
              <a:rPr lang="nl-NL" sz="1100" dirty="0">
                <a:solidFill>
                  <a:srgbClr val="00B050"/>
                </a:solidFill>
                <a:latin typeface="Courier New" panose="02070309020205020404" pitchFamily="49" charset="0"/>
                <a:cs typeface="Courier New" panose="02070309020205020404" pitchFamily="49" charset="0"/>
              </a:rPr>
              <a:t>Series</a:t>
            </a:r>
            <a:r>
              <a:rPr lang="nl-NL" sz="1100" dirty="0">
                <a:solidFill>
                  <a:srgbClr val="00B050"/>
                </a:solidFill>
              </a:rPr>
              <a:t>-object laat dezelfde methodes toe als een </a:t>
            </a:r>
            <a:r>
              <a:rPr lang="nl-NL" sz="1100" dirty="0" err="1">
                <a:solidFill>
                  <a:srgbClr val="00B050"/>
                </a:solidFill>
              </a:rPr>
              <a:t>Numpy</a:t>
            </a:r>
            <a:r>
              <a:rPr lang="nl-NL" sz="1100" dirty="0">
                <a:solidFill>
                  <a:srgbClr val="00B050"/>
                </a:solidFill>
              </a:rPr>
              <a:t> array</a:t>
            </a:r>
          </a:p>
        </p:txBody>
      </p:sp>
    </p:spTree>
    <p:extLst>
      <p:ext uri="{BB962C8B-B14F-4D97-AF65-F5344CB8AC3E}">
        <p14:creationId xmlns:p14="http://schemas.microsoft.com/office/powerpoint/2010/main" val="3757958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66B997-97EE-8448-BE96-202DE6D2A34F}"/>
              </a:ext>
            </a:extLst>
          </p:cNvPr>
          <p:cNvSpPr>
            <a:spLocks noGrp="1"/>
          </p:cNvSpPr>
          <p:nvPr>
            <p:ph type="sldNum" sz="quarter" idx="12"/>
          </p:nvPr>
        </p:nvSpPr>
        <p:spPr/>
        <p:txBody>
          <a:bodyPr/>
          <a:lstStyle/>
          <a:p>
            <a:fld id="{D270EDC2-4F5E-5547-954F-5222C286AC2A}" type="slidenum">
              <a:rPr lang="nl-NL" smtClean="0"/>
              <a:t>42</a:t>
            </a:fld>
            <a:endParaRPr lang="nl-NL" dirty="0"/>
          </a:p>
        </p:txBody>
      </p:sp>
      <p:sp>
        <p:nvSpPr>
          <p:cNvPr id="2" name="Title 1">
            <a:extLst>
              <a:ext uri="{FF2B5EF4-FFF2-40B4-BE49-F238E27FC236}">
                <a16:creationId xmlns:a16="http://schemas.microsoft.com/office/drawing/2014/main" id="{BCD5F3A6-8E49-A24A-9706-8C0C393E8176}"/>
              </a:ext>
            </a:extLst>
          </p:cNvPr>
          <p:cNvSpPr>
            <a:spLocks noGrp="1"/>
          </p:cNvSpPr>
          <p:nvPr>
            <p:ph type="title"/>
          </p:nvPr>
        </p:nvSpPr>
        <p:spPr/>
        <p:txBody>
          <a:bodyPr/>
          <a:lstStyle/>
          <a:p>
            <a:r>
              <a:rPr lang="nl-NL" dirty="0"/>
              <a:t>Indices en </a:t>
            </a:r>
            <a:r>
              <a:rPr lang="nl-NL" dirty="0" err="1"/>
              <a:t>lambda</a:t>
            </a:r>
            <a:r>
              <a:rPr lang="nl-NL" dirty="0"/>
              <a:t> functies</a:t>
            </a:r>
          </a:p>
        </p:txBody>
      </p:sp>
      <p:sp>
        <p:nvSpPr>
          <p:cNvPr id="5" name="Rectangle 4">
            <a:extLst>
              <a:ext uri="{FF2B5EF4-FFF2-40B4-BE49-F238E27FC236}">
                <a16:creationId xmlns:a16="http://schemas.microsoft.com/office/drawing/2014/main" id="{F5BD2075-E71D-E24A-BFFE-D4A812E0ED16}"/>
              </a:ext>
            </a:extLst>
          </p:cNvPr>
          <p:cNvSpPr/>
          <p:nvPr/>
        </p:nvSpPr>
        <p:spPr>
          <a:xfrm>
            <a:off x="838200" y="3146356"/>
            <a:ext cx="6096000" cy="830997"/>
          </a:xfrm>
          <a:prstGeom prst="rect">
            <a:avLst/>
          </a:prstGeom>
          <a:ln>
            <a:solidFill>
              <a:schemeClr val="tx1"/>
            </a:solidFill>
          </a:ln>
        </p:spPr>
        <p:txBody>
          <a:bodyPr>
            <a:spAutoFit/>
          </a:bodyPr>
          <a:lstStyle/>
          <a:p>
            <a:r>
              <a:rPr lang="nl-NL" sz="1200" dirty="0">
                <a:solidFill>
                  <a:srgbClr val="8888C6"/>
                </a:solidFill>
              </a:rPr>
              <a:t>print</a:t>
            </a:r>
            <a:r>
              <a:rPr lang="nl-NL" sz="1200" dirty="0"/>
              <a:t>(</a:t>
            </a:r>
            <a:r>
              <a:rPr lang="nl-NL" sz="1200" dirty="0">
                <a:solidFill>
                  <a:srgbClr val="6A8759"/>
                </a:solidFill>
              </a:rPr>
              <a:t>'Eerste 2 elementen:</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een_andere_reeks</a:t>
            </a:r>
            <a:r>
              <a:rPr lang="nl-NL" sz="1200" dirty="0"/>
              <a:t>[:</a:t>
            </a:r>
            <a:r>
              <a:rPr lang="nl-NL" sz="1200" dirty="0">
                <a:solidFill>
                  <a:srgbClr val="6897BB"/>
                </a:solidFill>
              </a:rPr>
              <a:t>2</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'Eerste 2 elementen met </a:t>
            </a:r>
            <a:r>
              <a:rPr lang="nl-NL" sz="1200" dirty="0" err="1">
                <a:solidFill>
                  <a:srgbClr val="6A8759"/>
                </a:solidFill>
              </a:rPr>
              <a:t>iloc</a:t>
            </a:r>
            <a:r>
              <a:rPr lang="nl-NL" sz="1200" dirty="0">
                <a:solidFill>
                  <a:srgbClr val="6A8759"/>
                </a:solidFill>
              </a:rPr>
              <a:t>:</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een_andere_reeks.iloc</a:t>
            </a:r>
            <a:r>
              <a:rPr lang="nl-NL" sz="1200" dirty="0"/>
              <a:t>[:</a:t>
            </a:r>
            <a:r>
              <a:rPr lang="nl-NL" sz="1200" dirty="0">
                <a:solidFill>
                  <a:srgbClr val="6897BB"/>
                </a:solidFill>
              </a:rPr>
              <a:t>2</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'Eerste 5 elementen:</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een_andere_reeks.</a:t>
            </a:r>
            <a:r>
              <a:rPr lang="nl-NL" sz="1200" dirty="0" err="1">
                <a:solidFill>
                  <a:srgbClr val="00B050"/>
                </a:solidFill>
              </a:rPr>
              <a:t>head</a:t>
            </a:r>
            <a:r>
              <a:rPr lang="nl-NL" sz="1200" dirty="0">
                <a:solidFill>
                  <a:srgbClr val="00B050"/>
                </a:solidFill>
              </a:rPr>
              <a:t>()</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a:t>
            </a:r>
            <a:r>
              <a:rPr lang="nl-NL" sz="1200" dirty="0" err="1">
                <a:solidFill>
                  <a:srgbClr val="6A8759"/>
                </a:solidFill>
              </a:rPr>
              <a:t>Lambda</a:t>
            </a:r>
            <a:r>
              <a:rPr lang="nl-NL" sz="1200" dirty="0">
                <a:solidFill>
                  <a:srgbClr val="6A8759"/>
                </a:solidFill>
              </a:rPr>
              <a:t> functies werken ook:</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een_andere_reeks.apply</a:t>
            </a:r>
            <a:r>
              <a:rPr lang="nl-NL" sz="1200" dirty="0"/>
              <a:t>(</a:t>
            </a:r>
            <a:r>
              <a:rPr lang="nl-NL" sz="1200" dirty="0" err="1">
                <a:solidFill>
                  <a:srgbClr val="CC7832"/>
                </a:solidFill>
              </a:rPr>
              <a:t>lambda</a:t>
            </a:r>
            <a:r>
              <a:rPr lang="nl-NL" sz="1200" dirty="0">
                <a:solidFill>
                  <a:srgbClr val="CC7832"/>
                </a:solidFill>
              </a:rPr>
              <a:t> </a:t>
            </a:r>
            <a:r>
              <a:rPr lang="nl-NL" sz="1200" dirty="0"/>
              <a:t>x: x**</a:t>
            </a:r>
            <a:r>
              <a:rPr lang="nl-NL" sz="1200" dirty="0">
                <a:solidFill>
                  <a:srgbClr val="6897BB"/>
                </a:solidFill>
              </a:rPr>
              <a:t>2</a:t>
            </a:r>
            <a:r>
              <a:rPr lang="nl-NL" sz="1200" dirty="0"/>
              <a:t>))</a:t>
            </a:r>
          </a:p>
        </p:txBody>
      </p:sp>
      <p:sp>
        <p:nvSpPr>
          <p:cNvPr id="6" name="Rectangle 5">
            <a:extLst>
              <a:ext uri="{FF2B5EF4-FFF2-40B4-BE49-F238E27FC236}">
                <a16:creationId xmlns:a16="http://schemas.microsoft.com/office/drawing/2014/main" id="{39663CFA-A53C-3746-BD4E-D55434E565E9}"/>
              </a:ext>
            </a:extLst>
          </p:cNvPr>
          <p:cNvSpPr/>
          <p:nvPr/>
        </p:nvSpPr>
        <p:spPr>
          <a:xfrm>
            <a:off x="8103824" y="1151391"/>
            <a:ext cx="2865507" cy="4832092"/>
          </a:xfrm>
          <a:prstGeom prst="rect">
            <a:avLst/>
          </a:prstGeom>
          <a:ln>
            <a:solidFill>
              <a:schemeClr val="tx1"/>
            </a:solidFill>
          </a:ln>
        </p:spPr>
        <p:txBody>
          <a:bodyPr wrap="square">
            <a:spAutoFit/>
          </a:bodyPr>
          <a:lstStyle/>
          <a:p>
            <a:r>
              <a:rPr lang="nl-NL" sz="1100" dirty="0">
                <a:latin typeface="Courier New" panose="02070309020205020404" pitchFamily="49" charset="0"/>
                <a:cs typeface="Courier New" panose="02070309020205020404" pitchFamily="49" charset="0"/>
              </a:rPr>
              <a:t>Eerste 2 elementen:</a:t>
            </a:r>
          </a:p>
          <a:p>
            <a:r>
              <a:rPr lang="nl-NL" sz="1100" dirty="0">
                <a:latin typeface="Courier New" panose="02070309020205020404" pitchFamily="49" charset="0"/>
                <a:cs typeface="Courier New" panose="02070309020205020404" pitchFamily="49" charset="0"/>
              </a:rPr>
              <a:t>0    10.0</a:t>
            </a:r>
          </a:p>
          <a:p>
            <a:r>
              <a:rPr lang="nl-NL" sz="1100" dirty="0">
                <a:latin typeface="Courier New" panose="02070309020205020404" pitchFamily="49" charset="0"/>
                <a:cs typeface="Courier New" panose="02070309020205020404" pitchFamily="49" charset="0"/>
              </a:rPr>
              <a:t>1    20.0</a:t>
            </a:r>
          </a:p>
          <a:p>
            <a:r>
              <a:rPr lang="nl-NL" sz="1100" dirty="0" err="1">
                <a:latin typeface="Courier New" panose="02070309020205020404" pitchFamily="49" charset="0"/>
                <a:cs typeface="Courier New" panose="02070309020205020404" pitchFamily="49" charset="0"/>
              </a:rPr>
              <a:t>dtype</a:t>
            </a:r>
            <a:r>
              <a:rPr lang="nl-NL" sz="1100" dirty="0">
                <a:latin typeface="Courier New" panose="02070309020205020404" pitchFamily="49" charset="0"/>
                <a:cs typeface="Courier New" panose="02070309020205020404" pitchFamily="49" charset="0"/>
              </a:rPr>
              <a:t>: float64</a:t>
            </a:r>
          </a:p>
          <a:p>
            <a:endParaRPr lang="nl-NL" sz="1100" dirty="0">
              <a:latin typeface="Courier New" panose="02070309020205020404" pitchFamily="49" charset="0"/>
              <a:cs typeface="Courier New" panose="02070309020205020404" pitchFamily="49" charset="0"/>
            </a:endParaRPr>
          </a:p>
          <a:p>
            <a:r>
              <a:rPr lang="nl-NL" sz="1100" dirty="0">
                <a:latin typeface="Courier New" panose="02070309020205020404" pitchFamily="49" charset="0"/>
                <a:cs typeface="Courier New" panose="02070309020205020404" pitchFamily="49" charset="0"/>
              </a:rPr>
              <a:t>Eerste 2 elementen met </a:t>
            </a:r>
            <a:r>
              <a:rPr lang="nl-NL" sz="1100" dirty="0" err="1">
                <a:latin typeface="Courier New" panose="02070309020205020404" pitchFamily="49" charset="0"/>
                <a:cs typeface="Courier New" panose="02070309020205020404" pitchFamily="49" charset="0"/>
              </a:rPr>
              <a:t>iloc</a:t>
            </a:r>
            <a:r>
              <a:rPr lang="nl-NL" sz="1100" dirty="0">
                <a:latin typeface="Courier New" panose="02070309020205020404" pitchFamily="49" charset="0"/>
                <a:cs typeface="Courier New" panose="02070309020205020404" pitchFamily="49" charset="0"/>
              </a:rPr>
              <a:t>:</a:t>
            </a:r>
          </a:p>
          <a:p>
            <a:r>
              <a:rPr lang="nl-NL" sz="1100" dirty="0">
                <a:latin typeface="Courier New" panose="02070309020205020404" pitchFamily="49" charset="0"/>
                <a:cs typeface="Courier New" panose="02070309020205020404" pitchFamily="49" charset="0"/>
              </a:rPr>
              <a:t>0    10.0</a:t>
            </a:r>
          </a:p>
          <a:p>
            <a:r>
              <a:rPr lang="nl-NL" sz="1100" dirty="0">
                <a:latin typeface="Courier New" panose="02070309020205020404" pitchFamily="49" charset="0"/>
                <a:cs typeface="Courier New" panose="02070309020205020404" pitchFamily="49" charset="0"/>
              </a:rPr>
              <a:t>1    20.0</a:t>
            </a:r>
          </a:p>
          <a:p>
            <a:r>
              <a:rPr lang="nl-NL" sz="1100" dirty="0" err="1">
                <a:latin typeface="Courier New" panose="02070309020205020404" pitchFamily="49" charset="0"/>
                <a:cs typeface="Courier New" panose="02070309020205020404" pitchFamily="49" charset="0"/>
              </a:rPr>
              <a:t>dtype</a:t>
            </a:r>
            <a:r>
              <a:rPr lang="nl-NL" sz="1100" dirty="0">
                <a:latin typeface="Courier New" panose="02070309020205020404" pitchFamily="49" charset="0"/>
                <a:cs typeface="Courier New" panose="02070309020205020404" pitchFamily="49" charset="0"/>
              </a:rPr>
              <a:t>: float64</a:t>
            </a:r>
          </a:p>
          <a:p>
            <a:endParaRPr lang="nl-NL" sz="1100" dirty="0">
              <a:latin typeface="Courier New" panose="02070309020205020404" pitchFamily="49" charset="0"/>
              <a:cs typeface="Courier New" panose="02070309020205020404" pitchFamily="49" charset="0"/>
            </a:endParaRPr>
          </a:p>
          <a:p>
            <a:r>
              <a:rPr lang="nl-NL" sz="1100" dirty="0">
                <a:latin typeface="Courier New" panose="02070309020205020404" pitchFamily="49" charset="0"/>
                <a:cs typeface="Courier New" panose="02070309020205020404" pitchFamily="49" charset="0"/>
              </a:rPr>
              <a:t>Eerste 5 elementen:</a:t>
            </a:r>
          </a:p>
          <a:p>
            <a:r>
              <a:rPr lang="nl-NL" sz="1100" dirty="0">
                <a:latin typeface="Courier New" panose="02070309020205020404" pitchFamily="49" charset="0"/>
                <a:cs typeface="Courier New" panose="02070309020205020404" pitchFamily="49" charset="0"/>
              </a:rPr>
              <a:t>0    10.0</a:t>
            </a:r>
          </a:p>
          <a:p>
            <a:r>
              <a:rPr lang="nl-NL" sz="1100" dirty="0">
                <a:latin typeface="Courier New" panose="02070309020205020404" pitchFamily="49" charset="0"/>
                <a:cs typeface="Courier New" panose="02070309020205020404" pitchFamily="49" charset="0"/>
              </a:rPr>
              <a:t>1    20.0</a:t>
            </a:r>
          </a:p>
          <a:p>
            <a:r>
              <a:rPr lang="nl-NL" sz="1100" dirty="0">
                <a:latin typeface="Courier New" panose="02070309020205020404" pitchFamily="49" charset="0"/>
                <a:cs typeface="Courier New" panose="02070309020205020404" pitchFamily="49" charset="0"/>
              </a:rPr>
              <a:t>2    30.0</a:t>
            </a:r>
          </a:p>
          <a:p>
            <a:r>
              <a:rPr lang="nl-NL" sz="1100" dirty="0">
                <a:latin typeface="Courier New" panose="02070309020205020404" pitchFamily="49" charset="0"/>
                <a:cs typeface="Courier New" panose="02070309020205020404" pitchFamily="49" charset="0"/>
              </a:rPr>
              <a:t>3    40.0</a:t>
            </a:r>
          </a:p>
          <a:p>
            <a:r>
              <a:rPr lang="nl-NL" sz="1100" dirty="0">
                <a:latin typeface="Courier New" panose="02070309020205020404" pitchFamily="49" charset="0"/>
                <a:cs typeface="Courier New" panose="02070309020205020404" pitchFamily="49" charset="0"/>
              </a:rPr>
              <a:t>4    50.0</a:t>
            </a:r>
          </a:p>
          <a:p>
            <a:r>
              <a:rPr lang="nl-NL" sz="1100" dirty="0" err="1">
                <a:latin typeface="Courier New" panose="02070309020205020404" pitchFamily="49" charset="0"/>
                <a:cs typeface="Courier New" panose="02070309020205020404" pitchFamily="49" charset="0"/>
              </a:rPr>
              <a:t>dtype</a:t>
            </a:r>
            <a:r>
              <a:rPr lang="nl-NL" sz="1100" dirty="0">
                <a:latin typeface="Courier New" panose="02070309020205020404" pitchFamily="49" charset="0"/>
                <a:cs typeface="Courier New" panose="02070309020205020404" pitchFamily="49" charset="0"/>
              </a:rPr>
              <a:t>: float64</a:t>
            </a:r>
          </a:p>
          <a:p>
            <a:endParaRPr lang="nl-NL" sz="1100" dirty="0">
              <a:latin typeface="Courier New" panose="02070309020205020404" pitchFamily="49" charset="0"/>
              <a:cs typeface="Courier New" panose="02070309020205020404" pitchFamily="49" charset="0"/>
            </a:endParaRPr>
          </a:p>
          <a:p>
            <a:r>
              <a:rPr lang="nl-NL" sz="1100" dirty="0" err="1">
                <a:latin typeface="Courier New" panose="02070309020205020404" pitchFamily="49" charset="0"/>
                <a:cs typeface="Courier New" panose="02070309020205020404" pitchFamily="49" charset="0"/>
              </a:rPr>
              <a:t>Lambda</a:t>
            </a:r>
            <a:r>
              <a:rPr lang="nl-NL" sz="1100" dirty="0">
                <a:latin typeface="Courier New" panose="02070309020205020404" pitchFamily="49" charset="0"/>
                <a:cs typeface="Courier New" panose="02070309020205020404" pitchFamily="49" charset="0"/>
              </a:rPr>
              <a:t> functies werken ook:</a:t>
            </a:r>
          </a:p>
          <a:p>
            <a:r>
              <a:rPr lang="nl-NL" sz="1100" dirty="0">
                <a:latin typeface="Courier New" panose="02070309020205020404" pitchFamily="49" charset="0"/>
                <a:cs typeface="Courier New" panose="02070309020205020404" pitchFamily="49" charset="0"/>
              </a:rPr>
              <a:t>0     100.0</a:t>
            </a:r>
          </a:p>
          <a:p>
            <a:r>
              <a:rPr lang="nl-NL" sz="1100" dirty="0">
                <a:latin typeface="Courier New" panose="02070309020205020404" pitchFamily="49" charset="0"/>
                <a:cs typeface="Courier New" panose="02070309020205020404" pitchFamily="49" charset="0"/>
              </a:rPr>
              <a:t>1     400.0</a:t>
            </a:r>
          </a:p>
          <a:p>
            <a:r>
              <a:rPr lang="nl-NL" sz="1100" dirty="0">
                <a:latin typeface="Courier New" panose="02070309020205020404" pitchFamily="49" charset="0"/>
                <a:cs typeface="Courier New" panose="02070309020205020404" pitchFamily="49" charset="0"/>
              </a:rPr>
              <a:t>2     900.0</a:t>
            </a:r>
          </a:p>
          <a:p>
            <a:r>
              <a:rPr lang="nl-NL" sz="1100" dirty="0">
                <a:latin typeface="Courier New" panose="02070309020205020404" pitchFamily="49" charset="0"/>
                <a:cs typeface="Courier New" panose="02070309020205020404" pitchFamily="49" charset="0"/>
              </a:rPr>
              <a:t>3    1600.0</a:t>
            </a:r>
          </a:p>
          <a:p>
            <a:r>
              <a:rPr lang="nl-NL" sz="1100" dirty="0">
                <a:latin typeface="Courier New" panose="02070309020205020404" pitchFamily="49" charset="0"/>
                <a:cs typeface="Courier New" panose="02070309020205020404" pitchFamily="49" charset="0"/>
              </a:rPr>
              <a:t>4    2500.0</a:t>
            </a:r>
          </a:p>
          <a:p>
            <a:r>
              <a:rPr lang="nl-NL" sz="1100" dirty="0">
                <a:latin typeface="Courier New" panose="02070309020205020404" pitchFamily="49" charset="0"/>
                <a:cs typeface="Courier New" panose="02070309020205020404" pitchFamily="49" charset="0"/>
              </a:rPr>
              <a:t>5    2500.0</a:t>
            </a:r>
          </a:p>
          <a:p>
            <a:r>
              <a:rPr lang="nl-NL" sz="1100" dirty="0">
                <a:latin typeface="Courier New" panose="02070309020205020404" pitchFamily="49" charset="0"/>
                <a:cs typeface="Courier New" panose="02070309020205020404" pitchFamily="49" charset="0"/>
              </a:rPr>
              <a:t>6    2500.0</a:t>
            </a:r>
          </a:p>
          <a:p>
            <a:r>
              <a:rPr lang="nl-NL" sz="1100" dirty="0">
                <a:latin typeface="Courier New" panose="02070309020205020404" pitchFamily="49" charset="0"/>
                <a:cs typeface="Courier New" panose="02070309020205020404" pitchFamily="49" charset="0"/>
              </a:rPr>
              <a:t>7       </a:t>
            </a:r>
            <a:r>
              <a:rPr lang="nl-NL" sz="1100" dirty="0" err="1">
                <a:latin typeface="Courier New" panose="02070309020205020404" pitchFamily="49" charset="0"/>
                <a:cs typeface="Courier New" panose="02070309020205020404" pitchFamily="49" charset="0"/>
              </a:rPr>
              <a:t>NaN</a:t>
            </a:r>
            <a:endParaRPr lang="nl-NL" sz="1100" dirty="0">
              <a:latin typeface="Courier New" panose="02070309020205020404" pitchFamily="49" charset="0"/>
              <a:cs typeface="Courier New" panose="02070309020205020404" pitchFamily="49" charset="0"/>
            </a:endParaRPr>
          </a:p>
          <a:p>
            <a:r>
              <a:rPr lang="nl-NL" sz="1100" dirty="0" err="1">
                <a:latin typeface="Courier New" panose="02070309020205020404" pitchFamily="49" charset="0"/>
                <a:cs typeface="Courier New" panose="02070309020205020404" pitchFamily="49" charset="0"/>
              </a:rPr>
              <a:t>dtype</a:t>
            </a:r>
            <a:r>
              <a:rPr lang="nl-NL" sz="1100" dirty="0">
                <a:latin typeface="Courier New" panose="02070309020205020404" pitchFamily="49" charset="0"/>
                <a:cs typeface="Courier New" panose="02070309020205020404" pitchFamily="49" charset="0"/>
              </a:rPr>
              <a:t>: float64</a:t>
            </a:r>
          </a:p>
        </p:txBody>
      </p:sp>
      <p:sp>
        <p:nvSpPr>
          <p:cNvPr id="7" name="TextBox 6">
            <a:extLst>
              <a:ext uri="{FF2B5EF4-FFF2-40B4-BE49-F238E27FC236}">
                <a16:creationId xmlns:a16="http://schemas.microsoft.com/office/drawing/2014/main" id="{C712E226-4C6E-534E-9747-B4FF2DC994EE}"/>
              </a:ext>
            </a:extLst>
          </p:cNvPr>
          <p:cNvSpPr txBox="1"/>
          <p:nvPr/>
        </p:nvSpPr>
        <p:spPr>
          <a:xfrm>
            <a:off x="8037443" y="805038"/>
            <a:ext cx="1164746"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14DC2390-19C8-EF46-AFD9-447D280BF4D3}"/>
              </a:ext>
            </a:extLst>
          </p:cNvPr>
          <p:cNvSpPr txBox="1"/>
          <p:nvPr/>
        </p:nvSpPr>
        <p:spPr>
          <a:xfrm>
            <a:off x="836542" y="2777024"/>
            <a:ext cx="863345"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F4025A4C-13A0-164E-A79B-62AC05E9AFD4}"/>
              </a:ext>
            </a:extLst>
          </p:cNvPr>
          <p:cNvCxnSpPr>
            <a:cxnSpLocks/>
          </p:cNvCxnSpPr>
          <p:nvPr/>
        </p:nvCxnSpPr>
        <p:spPr>
          <a:xfrm flipH="1" flipV="1">
            <a:off x="3473123" y="2410691"/>
            <a:ext cx="712039" cy="7356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13A0309-D80F-B448-8FEB-A88F59CA0399}"/>
              </a:ext>
            </a:extLst>
          </p:cNvPr>
          <p:cNvCxnSpPr>
            <a:cxnSpLocks/>
          </p:cNvCxnSpPr>
          <p:nvPr/>
        </p:nvCxnSpPr>
        <p:spPr>
          <a:xfrm flipV="1">
            <a:off x="5107858" y="2876294"/>
            <a:ext cx="394278" cy="4966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9834617-7211-B743-A418-05782B8A3EC4}"/>
              </a:ext>
            </a:extLst>
          </p:cNvPr>
          <p:cNvCxnSpPr>
            <a:cxnSpLocks/>
          </p:cNvCxnSpPr>
          <p:nvPr/>
        </p:nvCxnSpPr>
        <p:spPr>
          <a:xfrm flipH="1">
            <a:off x="4154558" y="3806782"/>
            <a:ext cx="214242" cy="6630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160928F-2922-294E-BCE0-2747F19A1466}"/>
              </a:ext>
            </a:extLst>
          </p:cNvPr>
          <p:cNvSpPr txBox="1"/>
          <p:nvPr/>
        </p:nvSpPr>
        <p:spPr>
          <a:xfrm>
            <a:off x="2488815" y="1688844"/>
            <a:ext cx="2181638" cy="954107"/>
          </a:xfrm>
          <a:prstGeom prst="rect">
            <a:avLst/>
          </a:prstGeom>
          <a:noFill/>
        </p:spPr>
        <p:txBody>
          <a:bodyPr wrap="square" rtlCol="0">
            <a:spAutoFit/>
          </a:bodyPr>
          <a:lstStyle/>
          <a:p>
            <a:r>
              <a:rPr lang="nl-NL" sz="1400" dirty="0"/>
              <a:t>Bij Series kunnen we de lijstindexering gebruiken (want heeft maar 1 dimensie)</a:t>
            </a:r>
          </a:p>
        </p:txBody>
      </p:sp>
      <p:sp>
        <p:nvSpPr>
          <p:cNvPr id="16" name="TextBox 15">
            <a:extLst>
              <a:ext uri="{FF2B5EF4-FFF2-40B4-BE49-F238E27FC236}">
                <a16:creationId xmlns:a16="http://schemas.microsoft.com/office/drawing/2014/main" id="{E113D854-0091-F748-83C4-6DF5D1F9DA29}"/>
              </a:ext>
            </a:extLst>
          </p:cNvPr>
          <p:cNvSpPr txBox="1"/>
          <p:nvPr/>
        </p:nvSpPr>
        <p:spPr>
          <a:xfrm>
            <a:off x="5434911" y="1922187"/>
            <a:ext cx="2264696" cy="954107"/>
          </a:xfrm>
          <a:prstGeom prst="rect">
            <a:avLst/>
          </a:prstGeom>
          <a:noFill/>
        </p:spPr>
        <p:txBody>
          <a:bodyPr wrap="square" rtlCol="0">
            <a:spAutoFit/>
          </a:bodyPr>
          <a:lstStyle/>
          <a:p>
            <a:r>
              <a:rPr lang="nl-NL" sz="1400" dirty="0"/>
              <a:t>De indexering werkt niet bij </a:t>
            </a:r>
            <a:r>
              <a:rPr lang="nl-NL" sz="1400" dirty="0" err="1"/>
              <a:t>DataFrames</a:t>
            </a:r>
            <a:r>
              <a:rPr lang="nl-NL" sz="1400" dirty="0"/>
              <a:t> (later), waar we </a:t>
            </a:r>
            <a:r>
              <a:rPr lang="nl-NL" sz="1400" dirty="0" err="1">
                <a:latin typeface="Courier New" panose="02070309020205020404" pitchFamily="49" charset="0"/>
                <a:cs typeface="Courier New" panose="02070309020205020404" pitchFamily="49" charset="0"/>
              </a:rPr>
              <a:t>iloc</a:t>
            </a:r>
            <a:r>
              <a:rPr lang="nl-NL" sz="1400" dirty="0"/>
              <a:t> (integer </a:t>
            </a:r>
            <a:r>
              <a:rPr lang="nl-NL" sz="1400" dirty="0" err="1"/>
              <a:t>location</a:t>
            </a:r>
            <a:r>
              <a:rPr lang="nl-NL" sz="1400" dirty="0"/>
              <a:t>) zullen gebruiken. </a:t>
            </a:r>
          </a:p>
        </p:txBody>
      </p:sp>
      <p:sp>
        <p:nvSpPr>
          <p:cNvPr id="19" name="TextBox 18">
            <a:extLst>
              <a:ext uri="{FF2B5EF4-FFF2-40B4-BE49-F238E27FC236}">
                <a16:creationId xmlns:a16="http://schemas.microsoft.com/office/drawing/2014/main" id="{6A2FBB3C-3084-434F-8D12-41CB5E7EE878}"/>
              </a:ext>
            </a:extLst>
          </p:cNvPr>
          <p:cNvSpPr txBox="1"/>
          <p:nvPr/>
        </p:nvSpPr>
        <p:spPr>
          <a:xfrm>
            <a:off x="3320498" y="4413823"/>
            <a:ext cx="2181638" cy="1569660"/>
          </a:xfrm>
          <a:prstGeom prst="rect">
            <a:avLst/>
          </a:prstGeom>
          <a:noFill/>
        </p:spPr>
        <p:txBody>
          <a:bodyPr wrap="square" rtlCol="0">
            <a:spAutoFit/>
          </a:bodyPr>
          <a:lstStyle/>
          <a:p>
            <a:r>
              <a:rPr lang="nl-NL" sz="1200" dirty="0" err="1">
                <a:solidFill>
                  <a:srgbClr val="00B050"/>
                </a:solidFill>
                <a:latin typeface="Courier New" panose="02070309020205020404" pitchFamily="49" charset="0"/>
                <a:cs typeface="Courier New" panose="02070309020205020404" pitchFamily="49" charset="0"/>
              </a:rPr>
              <a:t>head</a:t>
            </a:r>
            <a:r>
              <a:rPr lang="nl-NL" sz="1200" dirty="0">
                <a:solidFill>
                  <a:srgbClr val="00B050"/>
                </a:solidFill>
                <a:latin typeface="Courier New" panose="02070309020205020404" pitchFamily="49" charset="0"/>
                <a:cs typeface="Courier New" panose="02070309020205020404" pitchFamily="49" charset="0"/>
              </a:rPr>
              <a:t>()</a:t>
            </a:r>
            <a:r>
              <a:rPr lang="nl-NL" sz="1200" dirty="0">
                <a:solidFill>
                  <a:srgbClr val="00B050"/>
                </a:solidFill>
              </a:rPr>
              <a:t> </a:t>
            </a:r>
            <a:r>
              <a:rPr lang="nl-NL" sz="1200" dirty="0"/>
              <a:t>en </a:t>
            </a:r>
            <a:r>
              <a:rPr lang="nl-NL" sz="1200" dirty="0" err="1">
                <a:latin typeface="Courier New" panose="02070309020205020404" pitchFamily="49" charset="0"/>
                <a:cs typeface="Courier New" panose="02070309020205020404" pitchFamily="49" charset="0"/>
              </a:rPr>
              <a:t>tail</a:t>
            </a:r>
            <a:r>
              <a:rPr lang="nl-NL" sz="1200" dirty="0">
                <a:latin typeface="Courier New" panose="02070309020205020404" pitchFamily="49" charset="0"/>
                <a:cs typeface="Courier New" panose="02070309020205020404" pitchFamily="49" charset="0"/>
              </a:rPr>
              <a:t>()</a:t>
            </a:r>
            <a:r>
              <a:rPr lang="nl-NL" sz="1200" dirty="0"/>
              <a:t> laten toe om snel de eerste en laatste elementen van een Series/</a:t>
            </a:r>
            <a:r>
              <a:rPr lang="nl-NL" sz="1200" dirty="0" err="1"/>
              <a:t>DataFrame</a:t>
            </a:r>
            <a:r>
              <a:rPr lang="nl-NL" sz="1200" dirty="0"/>
              <a:t> op te vragen. Een aantal kan als argument meegegeven worden (Bv</a:t>
            </a:r>
            <a:r>
              <a:rPr lang="nl-NL" sz="1200" dirty="0">
                <a:latin typeface="Courier New" panose="02070309020205020404" pitchFamily="49" charset="0"/>
                <a:cs typeface="Courier New" panose="02070309020205020404" pitchFamily="49" charset="0"/>
              </a:rPr>
              <a:t>. </a:t>
            </a:r>
            <a:r>
              <a:rPr lang="nl-NL" sz="1200" dirty="0" err="1">
                <a:latin typeface="Courier New" panose="02070309020205020404" pitchFamily="49" charset="0"/>
                <a:cs typeface="Courier New" panose="02070309020205020404" pitchFamily="49" charset="0"/>
              </a:rPr>
              <a:t>head</a:t>
            </a:r>
            <a:r>
              <a:rPr lang="nl-NL" sz="1200" dirty="0">
                <a:latin typeface="Courier New" panose="02070309020205020404" pitchFamily="49" charset="0"/>
                <a:cs typeface="Courier New" panose="02070309020205020404" pitchFamily="49" charset="0"/>
              </a:rPr>
              <a:t>(10)</a:t>
            </a:r>
            <a:r>
              <a:rPr lang="nl-NL" sz="1200" dirty="0"/>
              <a:t>) – standaard is 5</a:t>
            </a:r>
          </a:p>
        </p:txBody>
      </p:sp>
    </p:spTree>
    <p:extLst>
      <p:ext uri="{BB962C8B-B14F-4D97-AF65-F5344CB8AC3E}">
        <p14:creationId xmlns:p14="http://schemas.microsoft.com/office/powerpoint/2010/main" val="17781785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719E7D1-9469-A893-DC2A-9C24897C3719}"/>
              </a:ext>
            </a:extLst>
          </p:cNvPr>
          <p:cNvSpPr>
            <a:spLocks noGrp="1"/>
          </p:cNvSpPr>
          <p:nvPr>
            <p:ph type="body" idx="1"/>
          </p:nvPr>
        </p:nvSpPr>
        <p:spPr/>
        <p:txBody>
          <a:bodyPr/>
          <a:lstStyle/>
          <a:p>
            <a:r>
              <a:rPr lang="en-US" dirty="0">
                <a:latin typeface="Courier New" panose="02070309020205020404" pitchFamily="49" charset="0"/>
                <a:cs typeface="Courier New" panose="02070309020205020404" pitchFamily="49" charset="0"/>
              </a:rPr>
              <a:t>.loc</a:t>
            </a:r>
            <a:endParaRPr lang="en-US" dirty="0"/>
          </a:p>
        </p:txBody>
      </p:sp>
      <p:sp>
        <p:nvSpPr>
          <p:cNvPr id="12" name="Content Placeholder 11">
            <a:extLst>
              <a:ext uri="{FF2B5EF4-FFF2-40B4-BE49-F238E27FC236}">
                <a16:creationId xmlns:a16="http://schemas.microsoft.com/office/drawing/2014/main" id="{F834DBE9-9CF4-4685-C26B-A3AC49A3BA6C}"/>
              </a:ext>
            </a:extLst>
          </p:cNvPr>
          <p:cNvSpPr>
            <a:spLocks noGrp="1"/>
          </p:cNvSpPr>
          <p:nvPr>
            <p:ph sz="half" idx="2"/>
          </p:nvPr>
        </p:nvSpPr>
        <p:spPr/>
        <p:txBody>
          <a:bodyPr/>
          <a:lstStyle/>
          <a:p>
            <a:pPr marL="0" indent="0">
              <a:buNone/>
            </a:pPr>
            <a:r>
              <a:rPr lang="en-US" sz="2000" dirty="0" err="1"/>
              <a:t>Locatie</a:t>
            </a:r>
            <a:r>
              <a:rPr lang="en-US" sz="2000" dirty="0"/>
              <a:t> op index (</a:t>
            </a:r>
            <a:r>
              <a:rPr lang="en-US" sz="2000" dirty="0" err="1"/>
              <a:t>kan</a:t>
            </a:r>
            <a:r>
              <a:rPr lang="en-US" sz="2000" dirty="0"/>
              <a:t> </a:t>
            </a:r>
            <a:r>
              <a:rPr lang="en-US" sz="2000" dirty="0" err="1"/>
              <a:t>ook</a:t>
            </a:r>
            <a:r>
              <a:rPr lang="en-US" sz="2000" dirty="0"/>
              <a:t> </a:t>
            </a:r>
            <a:r>
              <a:rPr lang="en-US" sz="2000" dirty="0" err="1"/>
              <a:t>numeriek</a:t>
            </a:r>
            <a:r>
              <a:rPr lang="en-US" sz="2000" dirty="0"/>
              <a:t> </a:t>
            </a:r>
            <a:r>
              <a:rPr lang="en-US" sz="2000" dirty="0" err="1"/>
              <a:t>zijn</a:t>
            </a:r>
            <a:r>
              <a:rPr lang="en-US" sz="2000" dirty="0"/>
              <a:t>)</a:t>
            </a:r>
          </a:p>
          <a:p>
            <a:r>
              <a:rPr lang="en-US" sz="2000" dirty="0"/>
              <a:t>Series:</a:t>
            </a:r>
          </a:p>
          <a:p>
            <a:pPr marL="285750" lvl="1" indent="0">
              <a:spcBef>
                <a:spcPts val="400"/>
              </a:spcBef>
              <a:buNone/>
            </a:pPr>
            <a:r>
              <a:rPr lang="en-US" sz="1800" dirty="0" err="1">
                <a:latin typeface="Courier New" panose="02070309020205020404" pitchFamily="49" charset="0"/>
                <a:cs typeface="Courier New" panose="02070309020205020404" pitchFamily="49" charset="0"/>
              </a:rPr>
              <a:t>s.loc</a:t>
            </a:r>
            <a:r>
              <a:rPr lang="en-US" sz="1800" dirty="0">
                <a:latin typeface="Courier New" panose="02070309020205020404" pitchFamily="49" charset="0"/>
                <a:cs typeface="Courier New" panose="02070309020205020404" pitchFamily="49" charset="0"/>
              </a:rPr>
              <a:t>['b’]  = 20</a:t>
            </a:r>
          </a:p>
          <a:p>
            <a:pPr>
              <a:spcBef>
                <a:spcPts val="2400"/>
              </a:spcBef>
            </a:pPr>
            <a:r>
              <a:rPr lang="en-US" sz="2000" dirty="0" err="1"/>
              <a:t>DataFrame</a:t>
            </a:r>
            <a:endParaRPr lang="en-US" sz="2000" dirty="0"/>
          </a:p>
          <a:p>
            <a:pPr marL="285750" lvl="1" indent="0">
              <a:spcBef>
                <a:spcPts val="400"/>
              </a:spcBef>
              <a:buNone/>
            </a:pPr>
            <a:r>
              <a:rPr lang="en-US" sz="1800" dirty="0" err="1">
                <a:latin typeface="Courier New" panose="02070309020205020404" pitchFamily="49" charset="0"/>
                <a:cs typeface="Courier New" panose="02070309020205020404" pitchFamily="49" charset="0"/>
              </a:rPr>
              <a:t>df.loc</a:t>
            </a:r>
            <a:r>
              <a:rPr lang="en-US" sz="1800" dirty="0">
                <a:latin typeface="Courier New" panose="02070309020205020404" pitchFamily="49" charset="0"/>
                <a:cs typeface="Courier New" panose="02070309020205020404" pitchFamily="49" charset="0"/>
              </a:rPr>
              <a:t>['b', '</a:t>
            </a:r>
            <a:r>
              <a:rPr lang="en-US" sz="1800" dirty="0" err="1">
                <a:latin typeface="Courier New" panose="02070309020205020404" pitchFamily="49" charset="0"/>
                <a:cs typeface="Courier New" panose="02070309020205020404" pitchFamily="49" charset="0"/>
              </a:rPr>
              <a:t>prijs</a:t>
            </a:r>
            <a:r>
              <a:rPr lang="en-US" sz="1800" dirty="0">
                <a:latin typeface="Courier New" panose="02070309020205020404" pitchFamily="49" charset="0"/>
                <a:cs typeface="Courier New" panose="02070309020205020404" pitchFamily="49" charset="0"/>
              </a:rPr>
              <a:t>’] = 3.0</a:t>
            </a:r>
          </a:p>
        </p:txBody>
      </p:sp>
      <p:sp>
        <p:nvSpPr>
          <p:cNvPr id="13" name="Text Placeholder 12">
            <a:extLst>
              <a:ext uri="{FF2B5EF4-FFF2-40B4-BE49-F238E27FC236}">
                <a16:creationId xmlns:a16="http://schemas.microsoft.com/office/drawing/2014/main" id="{A3C82375-BA11-CE26-DEAD-564B5E006AC2}"/>
              </a:ext>
            </a:extLst>
          </p:cNvPr>
          <p:cNvSpPr>
            <a:spLocks noGrp="1"/>
          </p:cNvSpPr>
          <p:nvPr>
            <p:ph type="body" sz="quarter" idx="3"/>
          </p:nvPr>
        </p:nvSpPr>
        <p:spPr/>
        <p:txBody>
          <a:bodyPr/>
          <a:lstStyle/>
          <a:p>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iloc</a:t>
            </a:r>
            <a:endParaRPr lang="en-US" dirty="0"/>
          </a:p>
        </p:txBody>
      </p:sp>
      <p:sp>
        <p:nvSpPr>
          <p:cNvPr id="14" name="Content Placeholder 13">
            <a:extLst>
              <a:ext uri="{FF2B5EF4-FFF2-40B4-BE49-F238E27FC236}">
                <a16:creationId xmlns:a16="http://schemas.microsoft.com/office/drawing/2014/main" id="{B4717113-94E3-EB74-0605-225DD44DB740}"/>
              </a:ext>
            </a:extLst>
          </p:cNvPr>
          <p:cNvSpPr>
            <a:spLocks noGrp="1"/>
          </p:cNvSpPr>
          <p:nvPr>
            <p:ph sz="quarter" idx="4"/>
          </p:nvPr>
        </p:nvSpPr>
        <p:spPr/>
        <p:txBody>
          <a:bodyPr/>
          <a:lstStyle/>
          <a:p>
            <a:pPr marL="0" indent="0">
              <a:buNone/>
            </a:pPr>
            <a:r>
              <a:rPr lang="en-US" sz="2000" dirty="0"/>
              <a:t>Integer </a:t>
            </a:r>
            <a:r>
              <a:rPr lang="en-US" sz="2000" dirty="0" err="1"/>
              <a:t>locatie</a:t>
            </a:r>
          </a:p>
          <a:p>
            <a:r>
              <a:rPr lang="en-US" sz="2000" dirty="0"/>
              <a:t>Series:</a:t>
            </a:r>
          </a:p>
          <a:p>
            <a:pPr marL="285750" lvl="1" indent="0">
              <a:spcBef>
                <a:spcPts val="400"/>
              </a:spcBef>
              <a:buNone/>
            </a:pPr>
            <a:r>
              <a:rPr lang="en-US" sz="1800" dirty="0">
                <a:latin typeface="Courier New" panose="02070309020205020404" pitchFamily="49" charset="0"/>
                <a:cs typeface="Courier New" panose="02070309020205020404" pitchFamily="49" charset="0"/>
              </a:rPr>
              <a:t>s.iloc[1]  = 20</a:t>
            </a:r>
          </a:p>
          <a:p>
            <a:pPr>
              <a:spcBef>
                <a:spcPts val="2400"/>
              </a:spcBef>
            </a:pPr>
            <a:r>
              <a:rPr lang="en-US" sz="2000" dirty="0" err="1"/>
              <a:t>DataFrame</a:t>
            </a:r>
          </a:p>
          <a:p>
            <a:pPr marL="285750" lvl="1" indent="0">
              <a:spcBef>
                <a:spcPts val="400"/>
              </a:spcBef>
              <a:buNone/>
            </a:pPr>
            <a:r>
              <a:rPr lang="en-US" sz="1800" dirty="0">
                <a:latin typeface="Courier New" panose="02070309020205020404" pitchFamily="49" charset="0"/>
                <a:cs typeface="Courier New" panose="02070309020205020404" pitchFamily="49" charset="0"/>
              </a:rPr>
              <a:t>df.iloc[1, 0]  = 3.0</a:t>
            </a:r>
          </a:p>
        </p:txBody>
      </p:sp>
      <p:sp>
        <p:nvSpPr>
          <p:cNvPr id="3" name="Slide Number Placeholder 2">
            <a:extLst>
              <a:ext uri="{FF2B5EF4-FFF2-40B4-BE49-F238E27FC236}">
                <a16:creationId xmlns:a16="http://schemas.microsoft.com/office/drawing/2014/main" id="{85268083-D30E-002E-E2A7-DD1886EEB07B}"/>
              </a:ext>
            </a:extLst>
          </p:cNvPr>
          <p:cNvSpPr>
            <a:spLocks noGrp="1"/>
          </p:cNvSpPr>
          <p:nvPr>
            <p:ph type="sldNum" sz="quarter" idx="12"/>
          </p:nvPr>
        </p:nvSpPr>
        <p:spPr/>
        <p:txBody>
          <a:bodyPr/>
          <a:lstStyle/>
          <a:p>
            <a:fld id="{D270EDC2-4F5E-5547-954F-5222C286AC2A}" type="slidenum">
              <a:rPr lang="en-BE" smtClean="0"/>
              <a:t>43</a:t>
            </a:fld>
            <a:endParaRPr lang="en-BE"/>
          </a:p>
        </p:txBody>
      </p:sp>
      <p:sp>
        <p:nvSpPr>
          <p:cNvPr id="4" name="Title 3">
            <a:extLst>
              <a:ext uri="{FF2B5EF4-FFF2-40B4-BE49-F238E27FC236}">
                <a16:creationId xmlns:a16="http://schemas.microsoft.com/office/drawing/2014/main" id="{308512F7-8F3E-3AA2-722D-1ECBF67B1BCC}"/>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.loc</a:t>
            </a:r>
            <a:r>
              <a:rPr lang="en-US" dirty="0"/>
              <a:t> </a:t>
            </a:r>
            <a:r>
              <a:rPr lang="en-US" dirty="0" err="1"/>
              <a:t>en</a:t>
            </a:r>
            <a:r>
              <a:rPr lang="en-US" dirty="0"/>
              <a:t>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iloc</a:t>
            </a:r>
            <a:endParaRPr lang="en-US" dirty="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05A2C072-91AF-3F00-D412-32874BE8FBF6}"/>
              </a:ext>
            </a:extLst>
          </p:cNvPr>
          <p:cNvSpPr txBox="1"/>
          <p:nvPr/>
        </p:nvSpPr>
        <p:spPr>
          <a:xfrm>
            <a:off x="697266" y="5052097"/>
            <a:ext cx="2503136" cy="646331"/>
          </a:xfrm>
          <a:prstGeom prst="rect">
            <a:avLst/>
          </a:prstGeom>
          <a:noFill/>
        </p:spPr>
        <p:txBody>
          <a:bodyPr wrap="square">
            <a:spAutoFit/>
          </a:bodyPr>
          <a:lstStyle/>
          <a:p>
            <a:pPr marL="0" indent="0">
              <a:buNone/>
            </a:pPr>
            <a:r>
              <a:rPr lang="en-US" sz="1200" dirty="0">
                <a:solidFill>
                  <a:schemeClr val="tx1"/>
                </a:solidFill>
                <a:latin typeface="Courier New" panose="02070309020205020404" pitchFamily="49" charset="0"/>
                <a:cs typeface="Courier New" panose="02070309020205020404" pitchFamily="49" charset="0"/>
              </a:rPr>
              <a:t>s  = </a:t>
            </a:r>
            <a:r>
              <a:rPr lang="en-US" sz="1200" dirty="0" err="1">
                <a:solidFill>
                  <a:schemeClr val="tx1"/>
                </a:solidFill>
                <a:latin typeface="Courier New" panose="02070309020205020404" pitchFamily="49" charset="0"/>
                <a:cs typeface="Courier New" panose="02070309020205020404" pitchFamily="49" charset="0"/>
              </a:rPr>
              <a:t>pd.Series</a:t>
            </a:r>
            <a:r>
              <a:rPr lang="en-US" sz="1200" dirty="0">
                <a:solidFill>
                  <a:schemeClr val="tx1"/>
                </a:solidFill>
                <a:latin typeface="Courier New" panose="02070309020205020404" pitchFamily="49" charset="0"/>
                <a:cs typeface="Courier New" panose="02070309020205020404" pitchFamily="49" charset="0"/>
              </a:rPr>
              <a:t>(</a:t>
            </a:r>
          </a:p>
          <a:p>
            <a:pPr marL="0" indent="0">
              <a:buNone/>
            </a:pPr>
            <a:r>
              <a:rPr lang="en-US" sz="1200" dirty="0">
                <a:solidFill>
                  <a:schemeClr val="tx1"/>
                </a:solidFill>
                <a:latin typeface="Courier New" panose="02070309020205020404" pitchFamily="49" charset="0"/>
                <a:cs typeface="Courier New" panose="02070309020205020404" pitchFamily="49" charset="0"/>
              </a:rPr>
              <a:t>[10, 20, 30], </a:t>
            </a:r>
          </a:p>
          <a:p>
            <a:pPr marL="0" indent="0">
              <a:buNone/>
            </a:pPr>
            <a:r>
              <a:rPr lang="en-US" sz="1200" dirty="0">
                <a:solidFill>
                  <a:schemeClr val="tx1"/>
                </a:solidFill>
                <a:latin typeface="Courier New" panose="02070309020205020404" pitchFamily="49" charset="0"/>
                <a:cs typeface="Courier New" panose="02070309020205020404" pitchFamily="49" charset="0"/>
              </a:rPr>
              <a:t>index=['a', 'b', 'c'])</a:t>
            </a:r>
          </a:p>
        </p:txBody>
      </p:sp>
      <p:sp>
        <p:nvSpPr>
          <p:cNvPr id="7" name="TextBox 6">
            <a:extLst>
              <a:ext uri="{FF2B5EF4-FFF2-40B4-BE49-F238E27FC236}">
                <a16:creationId xmlns:a16="http://schemas.microsoft.com/office/drawing/2014/main" id="{C4FF17F5-D317-ADC1-1FA5-54B1BA67C434}"/>
              </a:ext>
            </a:extLst>
          </p:cNvPr>
          <p:cNvSpPr txBox="1"/>
          <p:nvPr/>
        </p:nvSpPr>
        <p:spPr>
          <a:xfrm>
            <a:off x="6270935" y="4959765"/>
            <a:ext cx="2692173" cy="830997"/>
          </a:xfrm>
          <a:prstGeom prst="rect">
            <a:avLst/>
          </a:prstGeom>
          <a:noFill/>
        </p:spPr>
        <p:txBody>
          <a:bodyPr wrap="square">
            <a:spAutoFit/>
          </a:bodyPr>
          <a:lstStyle/>
          <a:p>
            <a:pPr marL="0" indent="0">
              <a:buNone/>
            </a:pPr>
            <a:r>
              <a:rPr lang="en-US" sz="1200" dirty="0" err="1">
                <a:solidFill>
                  <a:schemeClr val="tx1"/>
                </a:solidFill>
                <a:latin typeface="Courier New" panose="02070309020205020404" pitchFamily="49" charset="0"/>
                <a:cs typeface="Courier New" panose="02070309020205020404" pitchFamily="49" charset="0"/>
              </a:rPr>
              <a:t>df</a:t>
            </a:r>
            <a:r>
              <a:rPr lang="en-US" sz="1200" dirty="0">
                <a:solidFill>
                  <a:schemeClr val="tx1"/>
                </a:solidFill>
                <a:latin typeface="Courier New" panose="02070309020205020404" pitchFamily="49" charset="0"/>
                <a:cs typeface="Courier New" panose="02070309020205020404" pitchFamily="49" charset="0"/>
              </a:rPr>
              <a:t> = </a:t>
            </a:r>
            <a:r>
              <a:rPr lang="en-US" sz="1200" dirty="0" err="1">
                <a:solidFill>
                  <a:schemeClr val="tx1"/>
                </a:solidFill>
                <a:latin typeface="Courier New" panose="02070309020205020404" pitchFamily="49" charset="0"/>
                <a:cs typeface="Courier New" panose="02070309020205020404" pitchFamily="49" charset="0"/>
              </a:rPr>
              <a:t>pd.DataFrame</a:t>
            </a:r>
            <a:r>
              <a:rPr lang="en-US" sz="1200" dirty="0">
                <a:solidFill>
                  <a:schemeClr val="tx1"/>
                </a:solidFill>
                <a:latin typeface="Courier New" panose="02070309020205020404" pitchFamily="49" charset="0"/>
                <a:cs typeface="Courier New" panose="02070309020205020404" pitchFamily="49" charset="0"/>
              </a:rPr>
              <a:t>(</a:t>
            </a:r>
          </a:p>
          <a:p>
            <a:pPr marL="0" indent="0">
              <a:buNone/>
            </a:pPr>
            <a:r>
              <a:rPr lang="en-US" sz="1200" dirty="0">
                <a:solidFill>
                  <a:schemeClr val="tx1"/>
                </a:solidFill>
                <a:latin typeface="Courier New" panose="02070309020205020404" pitchFamily="49" charset="0"/>
                <a:cs typeface="Courier New" panose="02070309020205020404" pitchFamily="49" charset="0"/>
              </a:rPr>
              <a:t>{'</a:t>
            </a:r>
            <a:r>
              <a:rPr lang="en-US" sz="1200" dirty="0" err="1">
                <a:solidFill>
                  <a:schemeClr val="tx1"/>
                </a:solidFill>
                <a:latin typeface="Courier New" panose="02070309020205020404" pitchFamily="49" charset="0"/>
                <a:cs typeface="Courier New" panose="02070309020205020404" pitchFamily="49" charset="0"/>
              </a:rPr>
              <a:t>prijs</a:t>
            </a:r>
            <a:r>
              <a:rPr lang="en-US" sz="1200" dirty="0">
                <a:solidFill>
                  <a:schemeClr val="tx1"/>
                </a:solidFill>
                <a:latin typeface="Courier New" panose="02070309020205020404" pitchFamily="49" charset="0"/>
                <a:cs typeface="Courier New" panose="02070309020205020404" pitchFamily="49" charset="0"/>
              </a:rPr>
              <a:t>': [2.5, 3.0, 1.8], </a:t>
            </a:r>
          </a:p>
          <a:p>
            <a:pPr marL="0" indent="0">
              <a:buNone/>
            </a:pPr>
            <a:r>
              <a:rPr lang="en-US" sz="1200" dirty="0">
                <a:solidFill>
                  <a:schemeClr val="tx1"/>
                </a:solidFill>
                <a:latin typeface="Courier New" panose="02070309020205020404" pitchFamily="49" charset="0"/>
                <a:cs typeface="Courier New" panose="02070309020205020404" pitchFamily="49" charset="0"/>
              </a:rPr>
              <a:t>'</a:t>
            </a:r>
            <a:r>
              <a:rPr lang="en-US" sz="1200" dirty="0" err="1">
                <a:solidFill>
                  <a:schemeClr val="tx1"/>
                </a:solidFill>
                <a:latin typeface="Courier New" panose="02070309020205020404" pitchFamily="49" charset="0"/>
                <a:cs typeface="Courier New" panose="02070309020205020404" pitchFamily="49" charset="0"/>
              </a:rPr>
              <a:t>aantal</a:t>
            </a:r>
            <a:r>
              <a:rPr lang="en-US" sz="1200" dirty="0">
                <a:solidFill>
                  <a:schemeClr val="tx1"/>
                </a:solidFill>
                <a:latin typeface="Courier New" panose="02070309020205020404" pitchFamily="49" charset="0"/>
                <a:cs typeface="Courier New" panose="02070309020205020404" pitchFamily="49" charset="0"/>
              </a:rPr>
              <a:t>': [4, 7, 2]},    </a:t>
            </a:r>
          </a:p>
          <a:p>
            <a:pPr marL="0" indent="0">
              <a:buNone/>
            </a:pPr>
            <a:r>
              <a:rPr lang="en-US" sz="1200" dirty="0">
                <a:solidFill>
                  <a:schemeClr val="tx1"/>
                </a:solidFill>
                <a:latin typeface="Courier New" panose="02070309020205020404" pitchFamily="49" charset="0"/>
                <a:cs typeface="Courier New" panose="02070309020205020404" pitchFamily="49" charset="0"/>
              </a:rPr>
              <a:t>index=['a', 'b', 'c'])</a:t>
            </a:r>
          </a:p>
        </p:txBody>
      </p:sp>
      <p:sp>
        <p:nvSpPr>
          <p:cNvPr id="19" name="TextBox 18">
            <a:extLst>
              <a:ext uri="{FF2B5EF4-FFF2-40B4-BE49-F238E27FC236}">
                <a16:creationId xmlns:a16="http://schemas.microsoft.com/office/drawing/2014/main" id="{082CADCE-819E-12A1-8F4A-A20C3A4FAE2F}"/>
              </a:ext>
            </a:extLst>
          </p:cNvPr>
          <p:cNvSpPr txBox="1"/>
          <p:nvPr/>
        </p:nvSpPr>
        <p:spPr>
          <a:xfrm>
            <a:off x="3200402" y="4713542"/>
            <a:ext cx="1327619" cy="1323439"/>
          </a:xfrm>
          <a:prstGeom prst="rect">
            <a:avLst/>
          </a:prstGeom>
          <a:noFill/>
          <a:ln>
            <a:solidFill>
              <a:srgbClr val="00B0F0"/>
            </a:solidFill>
          </a:ln>
        </p:spPr>
        <p:txBody>
          <a:bodyPr wrap="square">
            <a:spAutoFit/>
          </a:bodyPr>
          <a:lstStyle/>
          <a:p>
            <a:r>
              <a:rPr lang="en-US" sz="1600" b="0" i="0" dirty="0">
                <a:solidFill>
                  <a:schemeClr val="tx1"/>
                </a:solidFill>
                <a:effectLst/>
                <a:latin typeface="Courier New" panose="02070309020205020404" pitchFamily="49" charset="0"/>
                <a:cs typeface="Courier New" panose="02070309020205020404" pitchFamily="49" charset="0"/>
              </a:rPr>
              <a:t>a 10 </a:t>
            </a:r>
          </a:p>
          <a:p>
            <a:r>
              <a:rPr lang="en-US" sz="1600" b="0" i="0" dirty="0">
                <a:solidFill>
                  <a:schemeClr val="tx1"/>
                </a:solidFill>
                <a:effectLst/>
                <a:latin typeface="Courier New" panose="02070309020205020404" pitchFamily="49" charset="0"/>
                <a:cs typeface="Courier New" panose="02070309020205020404" pitchFamily="49" charset="0"/>
              </a:rPr>
              <a:t>b </a:t>
            </a:r>
            <a:r>
              <a:rPr lang="en-US" sz="1600" b="0" i="0" dirty="0">
                <a:solidFill>
                  <a:srgbClr val="00B0F0"/>
                </a:solidFill>
                <a:effectLst/>
                <a:latin typeface="Courier New" panose="02070309020205020404" pitchFamily="49" charset="0"/>
                <a:cs typeface="Courier New" panose="02070309020205020404" pitchFamily="49" charset="0"/>
              </a:rPr>
              <a:t>20</a:t>
            </a:r>
            <a:r>
              <a:rPr lang="en-US" sz="1600" b="0" i="0" dirty="0">
                <a:solidFill>
                  <a:schemeClr val="tx1"/>
                </a:solidFill>
                <a:effectLst/>
                <a:latin typeface="Courier New" panose="02070309020205020404" pitchFamily="49" charset="0"/>
                <a:cs typeface="Courier New" panose="02070309020205020404" pitchFamily="49" charset="0"/>
              </a:rPr>
              <a:t> </a:t>
            </a:r>
          </a:p>
          <a:p>
            <a:r>
              <a:rPr lang="en-US" sz="1600" b="0" i="0" dirty="0">
                <a:solidFill>
                  <a:schemeClr val="tx1"/>
                </a:solidFill>
                <a:effectLst/>
                <a:latin typeface="Courier New" panose="02070309020205020404" pitchFamily="49" charset="0"/>
                <a:cs typeface="Courier New" panose="02070309020205020404" pitchFamily="49" charset="0"/>
              </a:rPr>
              <a:t>c 30 </a:t>
            </a:r>
          </a:p>
          <a:p>
            <a:r>
              <a:rPr lang="en-US" sz="1600" b="0" i="0" dirty="0" err="1">
                <a:solidFill>
                  <a:schemeClr val="tx1"/>
                </a:solidFill>
                <a:effectLst/>
                <a:latin typeface="Courier New" panose="02070309020205020404" pitchFamily="49" charset="0"/>
                <a:cs typeface="Courier New" panose="02070309020205020404" pitchFamily="49" charset="0"/>
              </a:rPr>
              <a:t>dtype</a:t>
            </a:r>
            <a:r>
              <a:rPr lang="en-US" sz="1600" b="0" i="0" dirty="0">
                <a:solidFill>
                  <a:schemeClr val="tx1"/>
                </a:solidFill>
                <a:effectLst/>
                <a:latin typeface="Courier New" panose="02070309020205020404" pitchFamily="49" charset="0"/>
                <a:cs typeface="Courier New" panose="02070309020205020404" pitchFamily="49" charset="0"/>
              </a:rPr>
              <a:t>: int64</a:t>
            </a:r>
            <a:endParaRPr lang="en-US" sz="1600" dirty="0">
              <a:latin typeface="Courier New" panose="02070309020205020404" pitchFamily="49" charset="0"/>
              <a:cs typeface="Courier New" panose="02070309020205020404" pitchFamily="49" charset="0"/>
            </a:endParaRPr>
          </a:p>
        </p:txBody>
      </p:sp>
      <p:graphicFrame>
        <p:nvGraphicFramePr>
          <p:cNvPr id="23" name="Table 22">
            <a:extLst>
              <a:ext uri="{FF2B5EF4-FFF2-40B4-BE49-F238E27FC236}">
                <a16:creationId xmlns:a16="http://schemas.microsoft.com/office/drawing/2014/main" id="{CE7C5109-8CD3-12A6-904A-BFC79ED965BC}"/>
              </a:ext>
            </a:extLst>
          </p:cNvPr>
          <p:cNvGraphicFramePr>
            <a:graphicFrameLocks noGrp="1"/>
          </p:cNvGraphicFramePr>
          <p:nvPr>
            <p:extLst>
              <p:ext uri="{D42A27DB-BD31-4B8C-83A1-F6EECF244321}">
                <p14:modId xmlns:p14="http://schemas.microsoft.com/office/powerpoint/2010/main" val="1696053636"/>
              </p:ext>
            </p:extLst>
          </p:nvPr>
        </p:nvGraphicFramePr>
        <p:xfrm>
          <a:off x="9061843" y="4853292"/>
          <a:ext cx="2754767" cy="1043940"/>
        </p:xfrm>
        <a:graphic>
          <a:graphicData uri="http://schemas.openxmlformats.org/drawingml/2006/table">
            <a:tbl>
              <a:tblPr>
                <a:tableStyleId>{F5AB1C69-6EDB-4FF4-983F-18BD219EF322}</a:tableStyleId>
              </a:tblPr>
              <a:tblGrid>
                <a:gridCol w="806952">
                  <a:extLst>
                    <a:ext uri="{9D8B030D-6E8A-4147-A177-3AD203B41FA5}">
                      <a16:colId xmlns:a16="http://schemas.microsoft.com/office/drawing/2014/main" val="1628444619"/>
                    </a:ext>
                  </a:extLst>
                </a:gridCol>
                <a:gridCol w="806952">
                  <a:extLst>
                    <a:ext uri="{9D8B030D-6E8A-4147-A177-3AD203B41FA5}">
                      <a16:colId xmlns:a16="http://schemas.microsoft.com/office/drawing/2014/main" val="2684851810"/>
                    </a:ext>
                  </a:extLst>
                </a:gridCol>
                <a:gridCol w="1140863">
                  <a:extLst>
                    <a:ext uri="{9D8B030D-6E8A-4147-A177-3AD203B41FA5}">
                      <a16:colId xmlns:a16="http://schemas.microsoft.com/office/drawing/2014/main" val="2695665677"/>
                    </a:ext>
                  </a:extLst>
                </a:gridCol>
              </a:tblGrid>
              <a:tr h="0">
                <a:tc>
                  <a:txBody>
                    <a:bodyPr/>
                    <a:lstStyle/>
                    <a:p>
                      <a:pPr algn="ctr" fontAlgn="ctr">
                        <a:buNone/>
                      </a:pPr>
                      <a:br>
                        <a:rPr lang="en-US" sz="1050" dirty="0">
                          <a:effectLst/>
                        </a:rPr>
                      </a:br>
                      <a:endParaRPr lang="en-US" sz="1050" b="0" i="0" dirty="0">
                        <a:solidFill>
                          <a:srgbClr val="000000"/>
                        </a:solidFill>
                        <a:effectLst/>
                        <a:latin typeface="Segoe WPC"/>
                      </a:endParaRPr>
                    </a:p>
                  </a:txBody>
                  <a:tcPr marL="60960" marR="60960" marT="30480" marB="30480" anchor="ctr"/>
                </a:tc>
                <a:tc>
                  <a:txBody>
                    <a:bodyPr/>
                    <a:lstStyle/>
                    <a:p>
                      <a:pPr algn="ctr" fontAlgn="ctr">
                        <a:buNone/>
                      </a:pPr>
                      <a:r>
                        <a:rPr lang="en-US" sz="1100" b="1" dirty="0" err="1">
                          <a:solidFill>
                            <a:srgbClr val="000000"/>
                          </a:solidFill>
                          <a:effectLst/>
                        </a:rPr>
                        <a:t>prijs</a:t>
                      </a:r>
                      <a:endParaRPr lang="en-US" sz="1100" b="1" i="0" dirty="0">
                        <a:solidFill>
                          <a:srgbClr val="000000"/>
                        </a:solidFill>
                        <a:effectLst/>
                        <a:latin typeface="Segoe WPC"/>
                      </a:endParaRPr>
                    </a:p>
                  </a:txBody>
                  <a:tcPr marL="60960" marR="60960" marT="30480" marB="30480" anchor="ctr"/>
                </a:tc>
                <a:tc>
                  <a:txBody>
                    <a:bodyPr/>
                    <a:lstStyle/>
                    <a:p>
                      <a:pPr algn="ctr"/>
                      <a:r>
                        <a:rPr lang="en-US" sz="1100" b="1" dirty="0" err="1">
                          <a:solidFill>
                            <a:srgbClr val="000000"/>
                          </a:solidFill>
                          <a:effectLst/>
                        </a:rPr>
                        <a:t>aantal</a:t>
                      </a:r>
                      <a:endParaRPr lang="en-US" sz="1100" b="1" i="0" dirty="0">
                        <a:solidFill>
                          <a:srgbClr val="000000"/>
                        </a:solidFill>
                        <a:effectLst/>
                        <a:latin typeface="Segoe WPC"/>
                      </a:endParaRPr>
                    </a:p>
                  </a:txBody>
                  <a:tcPr anchor="ctr"/>
                </a:tc>
                <a:extLst>
                  <a:ext uri="{0D108BD9-81ED-4DB2-BD59-A6C34878D82A}">
                    <a16:rowId xmlns:a16="http://schemas.microsoft.com/office/drawing/2014/main" val="1842738485"/>
                  </a:ext>
                </a:extLst>
              </a:tr>
              <a:tr h="0">
                <a:tc>
                  <a:txBody>
                    <a:bodyPr/>
                    <a:lstStyle/>
                    <a:p>
                      <a:pPr algn="r" fontAlgn="ctr">
                        <a:buNone/>
                      </a:pPr>
                      <a:r>
                        <a:rPr lang="en-US" sz="1050">
                          <a:effectLst/>
                        </a:rPr>
                        <a:t>a</a:t>
                      </a:r>
                      <a:endParaRPr lang="en-US" sz="1050" b="0" i="0">
                        <a:solidFill>
                          <a:srgbClr val="000000"/>
                        </a:solidFill>
                        <a:effectLst/>
                        <a:latin typeface="Segoe WPC"/>
                      </a:endParaRPr>
                    </a:p>
                  </a:txBody>
                  <a:tcPr marL="60960" marR="60960" marT="30480" marB="30480" anchor="ctr"/>
                </a:tc>
                <a:tc>
                  <a:txBody>
                    <a:bodyPr/>
                    <a:lstStyle/>
                    <a:p>
                      <a:pPr algn="r" fontAlgn="ctr">
                        <a:buNone/>
                      </a:pPr>
                      <a:r>
                        <a:rPr lang="en-US" sz="1050">
                          <a:effectLst/>
                        </a:rPr>
                        <a:t>2.5</a:t>
                      </a:r>
                      <a:endParaRPr lang="en-US" sz="1050" b="0" i="0">
                        <a:solidFill>
                          <a:srgbClr val="000000"/>
                        </a:solidFill>
                        <a:effectLst/>
                        <a:latin typeface="Segoe WPC"/>
                      </a:endParaRPr>
                    </a:p>
                  </a:txBody>
                  <a:tcPr marL="60960" marR="60960" marT="30480" marB="30480" anchor="ctr"/>
                </a:tc>
                <a:tc>
                  <a:txBody>
                    <a:bodyPr/>
                    <a:lstStyle/>
                    <a:p>
                      <a:pPr algn="r" fontAlgn="ctr">
                        <a:buNone/>
                      </a:pPr>
                      <a:r>
                        <a:rPr lang="en-US" sz="1050">
                          <a:effectLst/>
                        </a:rPr>
                        <a:t>4</a:t>
                      </a:r>
                      <a:endParaRPr lang="en-US" sz="1050" b="0" i="0">
                        <a:solidFill>
                          <a:srgbClr val="000000"/>
                        </a:solidFill>
                        <a:effectLst/>
                        <a:latin typeface="Segoe WPC"/>
                      </a:endParaRPr>
                    </a:p>
                  </a:txBody>
                  <a:tcPr marL="60960" marR="60960" marT="30480" marB="30480" anchor="ctr"/>
                </a:tc>
                <a:extLst>
                  <a:ext uri="{0D108BD9-81ED-4DB2-BD59-A6C34878D82A}">
                    <a16:rowId xmlns:a16="http://schemas.microsoft.com/office/drawing/2014/main" val="2212007862"/>
                  </a:ext>
                </a:extLst>
              </a:tr>
              <a:tr h="0">
                <a:tc>
                  <a:txBody>
                    <a:bodyPr/>
                    <a:lstStyle/>
                    <a:p>
                      <a:pPr algn="r" fontAlgn="ctr">
                        <a:buNone/>
                      </a:pPr>
                      <a:r>
                        <a:rPr lang="en-US" sz="1050">
                          <a:effectLst/>
                        </a:rPr>
                        <a:t>b</a:t>
                      </a:r>
                      <a:endParaRPr lang="en-US" sz="1050" b="0" i="0">
                        <a:solidFill>
                          <a:srgbClr val="000000"/>
                        </a:solidFill>
                        <a:effectLst/>
                        <a:latin typeface="Segoe WPC"/>
                      </a:endParaRPr>
                    </a:p>
                  </a:txBody>
                  <a:tcPr marL="60960" marR="60960" marT="30480" marB="30480" anchor="ctr"/>
                </a:tc>
                <a:tc>
                  <a:txBody>
                    <a:bodyPr/>
                    <a:lstStyle/>
                    <a:p>
                      <a:pPr algn="r" fontAlgn="ctr">
                        <a:buNone/>
                      </a:pPr>
                      <a:r>
                        <a:rPr lang="en-US" sz="1050" dirty="0">
                          <a:solidFill>
                            <a:srgbClr val="00B0F0"/>
                          </a:solidFill>
                          <a:effectLst/>
                        </a:rPr>
                        <a:t>3.0</a:t>
                      </a:r>
                      <a:endParaRPr lang="en-US" sz="1050" b="0" i="0" dirty="0">
                        <a:solidFill>
                          <a:srgbClr val="00B0F0"/>
                        </a:solidFill>
                        <a:effectLst/>
                        <a:latin typeface="Segoe WPC"/>
                      </a:endParaRPr>
                    </a:p>
                  </a:txBody>
                  <a:tcPr marL="60960" marR="60960" marT="30480" marB="30480" anchor="ctr"/>
                </a:tc>
                <a:tc>
                  <a:txBody>
                    <a:bodyPr/>
                    <a:lstStyle/>
                    <a:p>
                      <a:pPr algn="r" fontAlgn="ctr">
                        <a:buNone/>
                      </a:pPr>
                      <a:r>
                        <a:rPr lang="en-US" sz="1050" dirty="0">
                          <a:effectLst/>
                        </a:rPr>
                        <a:t>7</a:t>
                      </a:r>
                      <a:endParaRPr lang="en-US" sz="1050" b="0" i="0" dirty="0">
                        <a:solidFill>
                          <a:srgbClr val="000000"/>
                        </a:solidFill>
                        <a:effectLst/>
                        <a:latin typeface="Segoe WPC"/>
                      </a:endParaRPr>
                    </a:p>
                  </a:txBody>
                  <a:tcPr marL="60960" marR="60960" marT="30480" marB="30480" anchor="ctr"/>
                </a:tc>
                <a:extLst>
                  <a:ext uri="{0D108BD9-81ED-4DB2-BD59-A6C34878D82A}">
                    <a16:rowId xmlns:a16="http://schemas.microsoft.com/office/drawing/2014/main" val="1226157329"/>
                  </a:ext>
                </a:extLst>
              </a:tr>
              <a:tr h="0">
                <a:tc>
                  <a:txBody>
                    <a:bodyPr/>
                    <a:lstStyle/>
                    <a:p>
                      <a:pPr algn="r" fontAlgn="ctr">
                        <a:buNone/>
                      </a:pPr>
                      <a:r>
                        <a:rPr lang="en-US" sz="1050">
                          <a:effectLst/>
                        </a:rPr>
                        <a:t>c</a:t>
                      </a:r>
                      <a:endParaRPr lang="en-US" sz="1050" b="0" i="0">
                        <a:solidFill>
                          <a:srgbClr val="000000"/>
                        </a:solidFill>
                        <a:effectLst/>
                        <a:latin typeface="Segoe WPC"/>
                      </a:endParaRPr>
                    </a:p>
                  </a:txBody>
                  <a:tcPr marL="60960" marR="60960" marT="30480" marB="30480" anchor="ctr"/>
                </a:tc>
                <a:tc>
                  <a:txBody>
                    <a:bodyPr/>
                    <a:lstStyle/>
                    <a:p>
                      <a:pPr algn="r" fontAlgn="ctr">
                        <a:buNone/>
                      </a:pPr>
                      <a:r>
                        <a:rPr lang="en-US" sz="1050">
                          <a:effectLst/>
                        </a:rPr>
                        <a:t>1.8</a:t>
                      </a:r>
                      <a:endParaRPr lang="en-US" sz="1050" b="0" i="0">
                        <a:solidFill>
                          <a:srgbClr val="000000"/>
                        </a:solidFill>
                        <a:effectLst/>
                        <a:latin typeface="Segoe WPC"/>
                      </a:endParaRPr>
                    </a:p>
                  </a:txBody>
                  <a:tcPr marL="60960" marR="60960" marT="30480" marB="30480" anchor="ctr"/>
                </a:tc>
                <a:tc>
                  <a:txBody>
                    <a:bodyPr/>
                    <a:lstStyle/>
                    <a:p>
                      <a:pPr algn="r" fontAlgn="ctr">
                        <a:buNone/>
                      </a:pPr>
                      <a:r>
                        <a:rPr lang="en-US" sz="1050" dirty="0">
                          <a:effectLst/>
                        </a:rPr>
                        <a:t>2</a:t>
                      </a:r>
                      <a:endParaRPr lang="en-US" sz="1050" b="0" i="0" dirty="0">
                        <a:solidFill>
                          <a:srgbClr val="000000"/>
                        </a:solidFill>
                        <a:effectLst/>
                        <a:latin typeface="Segoe WPC"/>
                      </a:endParaRPr>
                    </a:p>
                  </a:txBody>
                  <a:tcPr marL="60960" marR="60960" marT="30480" marB="30480" anchor="ctr"/>
                </a:tc>
                <a:extLst>
                  <a:ext uri="{0D108BD9-81ED-4DB2-BD59-A6C34878D82A}">
                    <a16:rowId xmlns:a16="http://schemas.microsoft.com/office/drawing/2014/main" val="3332523448"/>
                  </a:ext>
                </a:extLst>
              </a:tr>
            </a:tbl>
          </a:graphicData>
        </a:graphic>
      </p:graphicFrame>
    </p:spTree>
    <p:extLst>
      <p:ext uri="{BB962C8B-B14F-4D97-AF65-F5344CB8AC3E}">
        <p14:creationId xmlns:p14="http://schemas.microsoft.com/office/powerpoint/2010/main" val="1788853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s = pd.Series([10, 20, 20, np.nan])</a:t>
            </a:r>
          </a:p>
          <a:p>
            <a:pPr marL="0" indent="0">
              <a:lnSpc>
                <a:spcPts val="2400"/>
              </a:lnSpc>
              <a:spcBef>
                <a:spcPts val="0"/>
              </a:spcBef>
              <a:spcAft>
                <a:spcPts val="0"/>
              </a:spcAft>
              <a:buNone/>
            </a:pPr>
            <a:r>
              <a:rPr lang="nl-NL" sz="2000" dirty="0">
                <a:latin typeface="Consolas"/>
                <a:cs typeface="Consolas"/>
              </a:rPr>
              <a:t>print(len(s), s.count())</a:t>
            </a:r>
          </a:p>
          <a:p>
            <a:pPr marL="0" indent="0">
              <a:lnSpc>
                <a:spcPts val="2400"/>
              </a:lnSpc>
              <a:spcBef>
                <a:spcPts val="0"/>
              </a:spcBef>
              <a:spcAft>
                <a:spcPts val="0"/>
              </a:spcAft>
              <a:buNone/>
            </a:pPr>
            <a:r>
              <a:rPr lang="nl-NL" sz="2000" dirty="0">
                <a:latin typeface="Consolas"/>
                <a:cs typeface="Consolas"/>
              </a:rPr>
              <a:t>print(s.mean())</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s = pd.Series(['an', 'bo', 'cis'], index=[10, 20, 30])</a:t>
            </a:r>
          </a:p>
          <a:p>
            <a:pPr marL="0" indent="0">
              <a:lnSpc>
                <a:spcPts val="2400"/>
              </a:lnSpc>
              <a:spcBef>
                <a:spcPts val="0"/>
              </a:spcBef>
              <a:spcAft>
                <a:spcPts val="0"/>
              </a:spcAft>
              <a:buNone/>
            </a:pPr>
            <a:r>
              <a:rPr lang="nl-NL" sz="2000" dirty="0">
                <a:latin typeface="Consolas"/>
                <a:cs typeface="Consolas"/>
              </a:rPr>
              <a:t>print(s.iloc[0], s.loc[20])</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s = pd.Series([1, 2, 3])</a:t>
            </a:r>
          </a:p>
          <a:p>
            <a:pPr marL="0" indent="0">
              <a:lnSpc>
                <a:spcPts val="2400"/>
              </a:lnSpc>
              <a:spcBef>
                <a:spcPts val="0"/>
              </a:spcBef>
              <a:spcAft>
                <a:spcPts val="0"/>
              </a:spcAft>
              <a:buNone/>
            </a:pPr>
            <a:r>
              <a:rPr lang="nl-NL" sz="2000" dirty="0">
                <a:latin typeface="Consolas"/>
                <a:cs typeface="Consolas"/>
              </a:rPr>
              <a:t>print(s.apply(lambda x: x ** 2))</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p:txBody>
      </p:sp>
      <p:sp>
        <p:nvSpPr>
          <p:cNvPr id="3" name="Title 2"/>
          <p:cNvSpPr>
            <a:spLocks noGrp="1"/>
          </p:cNvSpPr>
          <p:nvPr>
            <p:ph type="title"/>
          </p:nvPr>
        </p:nvSpPr>
        <p:spPr/>
        <p:txBody>
          <a:bodyPr/>
          <a:lstStyle/>
          <a:p>
            <a:r>
              <a:t>Oefening 1B.5: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44</a:t>
            </a:fld>
            <a:endParaRPr lang="nl-NL"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C1298-8EF5-3A48-B0A4-1FFB42B48733}"/>
              </a:ext>
            </a:extLst>
          </p:cNvPr>
          <p:cNvSpPr>
            <a:spLocks noGrp="1"/>
          </p:cNvSpPr>
          <p:nvPr>
            <p:ph idx="1"/>
          </p:nvPr>
        </p:nvSpPr>
        <p:spPr/>
        <p:txBody>
          <a:bodyPr>
            <a:normAutofit/>
          </a:bodyPr>
          <a:lstStyle/>
          <a:p>
            <a:r>
              <a:rPr lang="nl-NL" sz="1800" dirty="0"/>
              <a:t>Reeks van </a:t>
            </a:r>
            <a:r>
              <a:rPr lang="nl-NL" sz="1800" dirty="0">
                <a:latin typeface="Courier New" panose="02070309020205020404" pitchFamily="49" charset="0"/>
                <a:cs typeface="Courier New" panose="02070309020205020404" pitchFamily="49" charset="0"/>
              </a:rPr>
              <a:t>Series</a:t>
            </a:r>
            <a:r>
              <a:rPr lang="nl-NL" sz="1800" dirty="0"/>
              <a:t>-objecten</a:t>
            </a:r>
          </a:p>
          <a:p>
            <a:r>
              <a:rPr lang="nl-NL" sz="1800" dirty="0"/>
              <a:t>Kunnen aangemaakt worden uit lijsten van lijsten (waarin alle geneste lijsten evenveel elementen - kolommen dus – hebben) of (even lange) lijsten in </a:t>
            </a:r>
            <a:r>
              <a:rPr lang="nl-NL" sz="1800" dirty="0" err="1"/>
              <a:t>dictionaries</a:t>
            </a:r>
            <a:r>
              <a:rPr lang="nl-NL" sz="1800" dirty="0"/>
              <a:t> met de kolomnamen als sleutels</a:t>
            </a:r>
          </a:p>
        </p:txBody>
      </p:sp>
      <p:sp>
        <p:nvSpPr>
          <p:cNvPr id="4" name="Slide Number Placeholder 3">
            <a:extLst>
              <a:ext uri="{FF2B5EF4-FFF2-40B4-BE49-F238E27FC236}">
                <a16:creationId xmlns:a16="http://schemas.microsoft.com/office/drawing/2014/main" id="{502E0FCF-D20C-F34B-AD2D-FA5325C04874}"/>
              </a:ext>
            </a:extLst>
          </p:cNvPr>
          <p:cNvSpPr>
            <a:spLocks noGrp="1"/>
          </p:cNvSpPr>
          <p:nvPr>
            <p:ph type="sldNum" sz="quarter" idx="12"/>
          </p:nvPr>
        </p:nvSpPr>
        <p:spPr/>
        <p:txBody>
          <a:bodyPr/>
          <a:lstStyle/>
          <a:p>
            <a:fld id="{D270EDC2-4F5E-5547-954F-5222C286AC2A}" type="slidenum">
              <a:rPr lang="nl-NL" smtClean="0"/>
              <a:t>45</a:t>
            </a:fld>
            <a:endParaRPr lang="nl-NL" dirty="0"/>
          </a:p>
        </p:txBody>
      </p:sp>
      <p:sp>
        <p:nvSpPr>
          <p:cNvPr id="2" name="Title 1">
            <a:extLst>
              <a:ext uri="{FF2B5EF4-FFF2-40B4-BE49-F238E27FC236}">
                <a16:creationId xmlns:a16="http://schemas.microsoft.com/office/drawing/2014/main" id="{5E3653A9-43D8-B546-BB51-7C59CDE59824}"/>
              </a:ext>
            </a:extLst>
          </p:cNvPr>
          <p:cNvSpPr>
            <a:spLocks noGrp="1"/>
          </p:cNvSpPr>
          <p:nvPr>
            <p:ph type="title"/>
          </p:nvPr>
        </p:nvSpPr>
        <p:spPr/>
        <p:txBody>
          <a:bodyPr/>
          <a:lstStyle/>
          <a:p>
            <a:r>
              <a:rPr lang="nl-NL" dirty="0" err="1"/>
              <a:t>DataFrames</a:t>
            </a:r>
            <a:endParaRPr lang="nl-NL" dirty="0"/>
          </a:p>
        </p:txBody>
      </p:sp>
      <p:sp>
        <p:nvSpPr>
          <p:cNvPr id="5" name="Rectangle 4">
            <a:extLst>
              <a:ext uri="{FF2B5EF4-FFF2-40B4-BE49-F238E27FC236}">
                <a16:creationId xmlns:a16="http://schemas.microsoft.com/office/drawing/2014/main" id="{25BDEE09-19B0-614D-986F-2BE0AE9DFC5F}"/>
              </a:ext>
            </a:extLst>
          </p:cNvPr>
          <p:cNvSpPr/>
          <p:nvPr/>
        </p:nvSpPr>
        <p:spPr>
          <a:xfrm>
            <a:off x="708991" y="3712111"/>
            <a:ext cx="5980044" cy="2246769"/>
          </a:xfrm>
          <a:prstGeom prst="rect">
            <a:avLst/>
          </a:prstGeom>
          <a:ln>
            <a:solidFill>
              <a:schemeClr val="tx1"/>
            </a:solidFill>
          </a:ln>
        </p:spPr>
        <p:txBody>
          <a:bodyPr wrap="square">
            <a:spAutoFit/>
          </a:bodyPr>
          <a:lstStyle/>
          <a:p>
            <a:r>
              <a:rPr lang="nl-NL" sz="1400" dirty="0" err="1"/>
              <a:t>een_lijst</a:t>
            </a:r>
            <a:r>
              <a:rPr lang="nl-NL" sz="1400" dirty="0"/>
              <a:t> = [</a:t>
            </a:r>
            <a:r>
              <a:rPr lang="nl-NL" sz="1400" dirty="0">
                <a:solidFill>
                  <a:srgbClr val="6A8759"/>
                </a:solidFill>
              </a:rPr>
              <a:t>'</a:t>
            </a:r>
            <a:r>
              <a:rPr lang="nl-NL" sz="1400" dirty="0" err="1">
                <a:solidFill>
                  <a:srgbClr val="6A8759"/>
                </a:solidFill>
              </a:rPr>
              <a:t>robin</a:t>
            </a:r>
            <a:r>
              <a:rPr lang="nl-NL" sz="1400" dirty="0">
                <a:solidFill>
                  <a:srgbClr val="6A8759"/>
                </a:solidFill>
              </a:rPr>
              <a:t>'</a:t>
            </a:r>
            <a:r>
              <a:rPr lang="nl-NL" sz="1400" dirty="0">
                <a:solidFill>
                  <a:srgbClr val="CC7832"/>
                </a:solidFill>
              </a:rPr>
              <a:t>, </a:t>
            </a:r>
            <a:r>
              <a:rPr lang="nl-NL" sz="1400" dirty="0">
                <a:solidFill>
                  <a:srgbClr val="6A8759"/>
                </a:solidFill>
              </a:rPr>
              <a:t>'</a:t>
            </a:r>
            <a:r>
              <a:rPr lang="nl-NL" sz="1400" dirty="0" err="1">
                <a:solidFill>
                  <a:srgbClr val="6A8759"/>
                </a:solidFill>
              </a:rPr>
              <a:t>ted</a:t>
            </a:r>
            <a:r>
              <a:rPr lang="nl-NL" sz="1400" dirty="0">
                <a:solidFill>
                  <a:srgbClr val="6A8759"/>
                </a:solidFill>
              </a:rPr>
              <a:t>'</a:t>
            </a:r>
            <a:r>
              <a:rPr lang="nl-NL" sz="1400" dirty="0">
                <a:solidFill>
                  <a:srgbClr val="CC7832"/>
                </a:solidFill>
              </a:rPr>
              <a:t>, </a:t>
            </a:r>
            <a:r>
              <a:rPr lang="nl-NL" sz="1400" dirty="0">
                <a:solidFill>
                  <a:srgbClr val="6A8759"/>
                </a:solidFill>
              </a:rPr>
              <a:t>'</a:t>
            </a:r>
            <a:r>
              <a:rPr lang="nl-NL" sz="1400" dirty="0" err="1">
                <a:solidFill>
                  <a:srgbClr val="6A8759"/>
                </a:solidFill>
              </a:rPr>
              <a:t>barney</a:t>
            </a:r>
            <a:r>
              <a:rPr lang="nl-NL" sz="1400" dirty="0">
                <a:solidFill>
                  <a:srgbClr val="6A8759"/>
                </a:solidFill>
              </a:rPr>
              <a:t>'</a:t>
            </a:r>
            <a:r>
              <a:rPr lang="nl-NL" sz="1400" dirty="0">
                <a:solidFill>
                  <a:srgbClr val="CC7832"/>
                </a:solidFill>
              </a:rPr>
              <a:t>, </a:t>
            </a:r>
            <a:r>
              <a:rPr lang="nl-NL" sz="1400" dirty="0">
                <a:solidFill>
                  <a:srgbClr val="6A8759"/>
                </a:solidFill>
              </a:rPr>
              <a:t>'</a:t>
            </a:r>
            <a:r>
              <a:rPr lang="nl-NL" sz="1400" dirty="0" err="1">
                <a:solidFill>
                  <a:srgbClr val="6A8759"/>
                </a:solidFill>
              </a:rPr>
              <a:t>lilly</a:t>
            </a:r>
            <a:r>
              <a:rPr lang="nl-NL" sz="1400" dirty="0">
                <a:solidFill>
                  <a:srgbClr val="6A8759"/>
                </a:solidFill>
              </a:rPr>
              <a:t>'</a:t>
            </a:r>
            <a:r>
              <a:rPr lang="nl-NL" sz="1400" dirty="0">
                <a:solidFill>
                  <a:srgbClr val="CC7832"/>
                </a:solidFill>
              </a:rPr>
              <a:t>, </a:t>
            </a:r>
            <a:r>
              <a:rPr lang="nl-NL" sz="1400" dirty="0">
                <a:solidFill>
                  <a:srgbClr val="6A8759"/>
                </a:solidFill>
              </a:rPr>
              <a:t>'</a:t>
            </a:r>
            <a:r>
              <a:rPr lang="nl-NL" sz="1400" dirty="0" err="1">
                <a:solidFill>
                  <a:srgbClr val="6A8759"/>
                </a:solidFill>
              </a:rPr>
              <a:t>marshall</a:t>
            </a:r>
            <a:r>
              <a:rPr lang="nl-NL" sz="1400" dirty="0">
                <a:solidFill>
                  <a:srgbClr val="6A8759"/>
                </a:solidFill>
              </a:rPr>
              <a:t>'</a:t>
            </a:r>
            <a:r>
              <a:rPr lang="nl-NL" sz="1400" dirty="0"/>
              <a:t>]</a:t>
            </a:r>
            <a:br>
              <a:rPr lang="nl-NL" sz="1400" dirty="0"/>
            </a:br>
            <a:r>
              <a:rPr lang="nl-NL" sz="1400" dirty="0" err="1"/>
              <a:t>een_andere_lijst</a:t>
            </a:r>
            <a:r>
              <a:rPr lang="nl-NL" sz="1400" dirty="0"/>
              <a:t> = [</a:t>
            </a:r>
            <a:r>
              <a:rPr lang="nl-NL" sz="1400" dirty="0">
                <a:solidFill>
                  <a:srgbClr val="6897BB"/>
                </a:solidFill>
              </a:rPr>
              <a:t>10</a:t>
            </a:r>
            <a:r>
              <a:rPr lang="nl-NL" sz="1400" dirty="0">
                <a:solidFill>
                  <a:srgbClr val="CC7832"/>
                </a:solidFill>
              </a:rPr>
              <a:t>, </a:t>
            </a:r>
            <a:r>
              <a:rPr lang="nl-NL" sz="1400" dirty="0">
                <a:solidFill>
                  <a:srgbClr val="6897BB"/>
                </a:solidFill>
              </a:rPr>
              <a:t>20</a:t>
            </a:r>
            <a:r>
              <a:rPr lang="nl-NL" sz="1400" dirty="0">
                <a:solidFill>
                  <a:srgbClr val="CC7832"/>
                </a:solidFill>
              </a:rPr>
              <a:t>, </a:t>
            </a:r>
            <a:r>
              <a:rPr lang="nl-NL" sz="1400" dirty="0">
                <a:solidFill>
                  <a:srgbClr val="6897BB"/>
                </a:solidFill>
              </a:rPr>
              <a:t>30</a:t>
            </a:r>
            <a:r>
              <a:rPr lang="nl-NL" sz="1400" dirty="0">
                <a:solidFill>
                  <a:srgbClr val="CC7832"/>
                </a:solidFill>
              </a:rPr>
              <a:t>, </a:t>
            </a:r>
            <a:r>
              <a:rPr lang="nl-NL" sz="1400" dirty="0">
                <a:solidFill>
                  <a:srgbClr val="6897BB"/>
                </a:solidFill>
              </a:rPr>
              <a:t>40</a:t>
            </a:r>
            <a:r>
              <a:rPr lang="nl-NL" sz="1400" dirty="0">
                <a:solidFill>
                  <a:srgbClr val="CC7832"/>
                </a:solidFill>
              </a:rPr>
              <a:t>, </a:t>
            </a:r>
            <a:r>
              <a:rPr lang="nl-NL" sz="1400" dirty="0">
                <a:solidFill>
                  <a:srgbClr val="6897BB"/>
                </a:solidFill>
              </a:rPr>
              <a:t>50</a:t>
            </a:r>
            <a:r>
              <a:rPr lang="nl-NL" sz="1400" dirty="0"/>
              <a:t>]</a:t>
            </a:r>
            <a:br>
              <a:rPr lang="nl-NL" sz="1400" dirty="0"/>
            </a:br>
            <a:br>
              <a:rPr lang="nl-NL" sz="1400" dirty="0"/>
            </a:br>
            <a:r>
              <a:rPr lang="nl-NL" sz="1400" dirty="0" err="1"/>
              <a:t>een_dictionary</a:t>
            </a:r>
            <a:r>
              <a:rPr lang="nl-NL" sz="1400" dirty="0"/>
              <a:t> = {</a:t>
            </a:r>
            <a:r>
              <a:rPr lang="nl-NL" sz="1400" dirty="0">
                <a:solidFill>
                  <a:srgbClr val="6A8759"/>
                </a:solidFill>
              </a:rPr>
              <a:t>'personages'</a:t>
            </a:r>
            <a:r>
              <a:rPr lang="nl-NL" sz="1400" dirty="0"/>
              <a:t>: </a:t>
            </a:r>
            <a:r>
              <a:rPr lang="nl-NL" sz="1400" dirty="0" err="1"/>
              <a:t>een_lijst</a:t>
            </a:r>
            <a:r>
              <a:rPr lang="nl-NL" sz="1400" dirty="0">
                <a:solidFill>
                  <a:srgbClr val="CC7832"/>
                </a:solidFill>
              </a:rPr>
              <a:t>, </a:t>
            </a:r>
            <a:r>
              <a:rPr lang="nl-NL" sz="1400" dirty="0">
                <a:solidFill>
                  <a:srgbClr val="6A8759"/>
                </a:solidFill>
              </a:rPr>
              <a:t>'aantal'</a:t>
            </a:r>
            <a:r>
              <a:rPr lang="nl-NL" sz="1400" dirty="0"/>
              <a:t>: </a:t>
            </a:r>
            <a:r>
              <a:rPr lang="nl-NL" sz="1400" dirty="0" err="1"/>
              <a:t>een_andere_lijst</a:t>
            </a:r>
            <a:r>
              <a:rPr lang="nl-NL" sz="1400" dirty="0"/>
              <a:t>}</a:t>
            </a:r>
            <a:br>
              <a:rPr lang="nl-NL" sz="1400" dirty="0"/>
            </a:br>
            <a:r>
              <a:rPr lang="nl-NL" sz="1400" dirty="0" err="1"/>
              <a:t>df</a:t>
            </a:r>
            <a:r>
              <a:rPr lang="nl-NL" sz="1400" dirty="0"/>
              <a:t> = </a:t>
            </a:r>
            <a:r>
              <a:rPr lang="nl-NL" sz="1400" dirty="0" err="1"/>
              <a:t>pd.DataFrame</a:t>
            </a:r>
            <a:r>
              <a:rPr lang="nl-NL" sz="1400" dirty="0"/>
              <a:t>(</a:t>
            </a:r>
            <a:r>
              <a:rPr lang="nl-NL" sz="1400" dirty="0" err="1"/>
              <a:t>een_dictionary</a:t>
            </a:r>
            <a:r>
              <a:rPr lang="nl-NL" sz="1400" dirty="0"/>
              <a:t>)</a:t>
            </a:r>
            <a:br>
              <a:rPr lang="nl-NL" sz="1400" dirty="0"/>
            </a:br>
            <a:r>
              <a:rPr lang="nl-NL" sz="1400" dirty="0">
                <a:solidFill>
                  <a:srgbClr val="8888C6"/>
                </a:solidFill>
              </a:rPr>
              <a:t>print</a:t>
            </a:r>
            <a:r>
              <a:rPr lang="nl-NL" sz="1400" dirty="0"/>
              <a:t>(</a:t>
            </a:r>
            <a:r>
              <a:rPr lang="nl-NL" sz="1400" dirty="0" err="1"/>
              <a:t>df</a:t>
            </a:r>
            <a:r>
              <a:rPr lang="nl-NL" sz="1400" dirty="0"/>
              <a:t>)</a:t>
            </a:r>
            <a:br>
              <a:rPr lang="nl-NL" sz="1400" dirty="0"/>
            </a:br>
            <a:br>
              <a:rPr lang="nl-NL" sz="1400" dirty="0"/>
            </a:br>
            <a:r>
              <a:rPr lang="nl-NL" sz="1400" dirty="0" err="1"/>
              <a:t>andere_data</a:t>
            </a:r>
            <a:r>
              <a:rPr lang="nl-NL" sz="1400" dirty="0"/>
              <a:t> = [[</a:t>
            </a:r>
            <a:r>
              <a:rPr lang="nl-NL" sz="1400" dirty="0">
                <a:solidFill>
                  <a:srgbClr val="6A8759"/>
                </a:solidFill>
              </a:rPr>
              <a:t>'</a:t>
            </a:r>
            <a:r>
              <a:rPr lang="nl-NL" sz="1400" dirty="0" err="1">
                <a:solidFill>
                  <a:srgbClr val="6A8759"/>
                </a:solidFill>
              </a:rPr>
              <a:t>johannes</a:t>
            </a:r>
            <a:r>
              <a:rPr lang="nl-NL" sz="1400" dirty="0">
                <a:solidFill>
                  <a:srgbClr val="6A8759"/>
                </a:solidFill>
              </a:rPr>
              <a:t>'</a:t>
            </a:r>
            <a:r>
              <a:rPr lang="nl-NL" sz="1400" dirty="0">
                <a:solidFill>
                  <a:srgbClr val="CC7832"/>
                </a:solidFill>
              </a:rPr>
              <a:t>, </a:t>
            </a:r>
            <a:r>
              <a:rPr lang="nl-NL" sz="1400" dirty="0">
                <a:solidFill>
                  <a:srgbClr val="6897BB"/>
                </a:solidFill>
              </a:rPr>
              <a:t>10</a:t>
            </a:r>
            <a:r>
              <a:rPr lang="nl-NL" sz="1400" dirty="0"/>
              <a:t>]</a:t>
            </a:r>
            <a:r>
              <a:rPr lang="nl-NL" sz="1400" dirty="0">
                <a:solidFill>
                  <a:srgbClr val="CC7832"/>
                </a:solidFill>
              </a:rPr>
              <a:t>, </a:t>
            </a:r>
            <a:r>
              <a:rPr lang="nl-NL" sz="1400" dirty="0"/>
              <a:t>[</a:t>
            </a:r>
            <a:r>
              <a:rPr lang="nl-NL" sz="1400" dirty="0">
                <a:solidFill>
                  <a:srgbClr val="6A8759"/>
                </a:solidFill>
              </a:rPr>
              <a:t>'</a:t>
            </a:r>
            <a:r>
              <a:rPr lang="nl-NL" sz="1400" dirty="0" err="1">
                <a:solidFill>
                  <a:srgbClr val="6A8759"/>
                </a:solidFill>
              </a:rPr>
              <a:t>giovanni</a:t>
            </a:r>
            <a:r>
              <a:rPr lang="nl-NL" sz="1400" dirty="0">
                <a:solidFill>
                  <a:srgbClr val="6A8759"/>
                </a:solidFill>
              </a:rPr>
              <a:t>'</a:t>
            </a:r>
            <a:r>
              <a:rPr lang="nl-NL" sz="1400" dirty="0">
                <a:solidFill>
                  <a:srgbClr val="CC7832"/>
                </a:solidFill>
              </a:rPr>
              <a:t>, </a:t>
            </a:r>
            <a:r>
              <a:rPr lang="nl-NL" sz="1400" dirty="0">
                <a:solidFill>
                  <a:srgbClr val="6897BB"/>
                </a:solidFill>
              </a:rPr>
              <a:t>2</a:t>
            </a:r>
            <a:r>
              <a:rPr lang="nl-NL" sz="1400" dirty="0"/>
              <a:t>]</a:t>
            </a:r>
            <a:r>
              <a:rPr lang="nl-NL" sz="1400" dirty="0">
                <a:solidFill>
                  <a:srgbClr val="CC7832"/>
                </a:solidFill>
              </a:rPr>
              <a:t>, </a:t>
            </a:r>
            <a:r>
              <a:rPr lang="nl-NL" sz="1400" dirty="0"/>
              <a:t>[</a:t>
            </a:r>
            <a:r>
              <a:rPr lang="nl-NL" sz="1400" dirty="0">
                <a:solidFill>
                  <a:srgbClr val="6A8759"/>
                </a:solidFill>
              </a:rPr>
              <a:t>'</a:t>
            </a:r>
            <a:r>
              <a:rPr lang="nl-NL" sz="1400" dirty="0" err="1">
                <a:solidFill>
                  <a:srgbClr val="6A8759"/>
                </a:solidFill>
              </a:rPr>
              <a:t>john</a:t>
            </a:r>
            <a:r>
              <a:rPr lang="nl-NL" sz="1400" dirty="0">
                <a:solidFill>
                  <a:srgbClr val="6A8759"/>
                </a:solidFill>
              </a:rPr>
              <a:t>'</a:t>
            </a:r>
            <a:r>
              <a:rPr lang="nl-NL" sz="1400" dirty="0">
                <a:solidFill>
                  <a:srgbClr val="CC7832"/>
                </a:solidFill>
              </a:rPr>
              <a:t>, </a:t>
            </a:r>
            <a:r>
              <a:rPr lang="nl-NL" sz="1400" dirty="0">
                <a:solidFill>
                  <a:srgbClr val="6897BB"/>
                </a:solidFill>
              </a:rPr>
              <a:t>3</a:t>
            </a:r>
            <a:r>
              <a:rPr lang="nl-NL" sz="1400" dirty="0"/>
              <a:t>]]</a:t>
            </a:r>
            <a:br>
              <a:rPr lang="nl-NL" sz="1400" dirty="0"/>
            </a:br>
            <a:r>
              <a:rPr lang="nl-NL" sz="1400" dirty="0"/>
              <a:t>df_2 = </a:t>
            </a:r>
            <a:r>
              <a:rPr lang="nl-NL" sz="1400" dirty="0" err="1"/>
              <a:t>pd.DataFrame</a:t>
            </a:r>
            <a:r>
              <a:rPr lang="nl-NL" sz="1400" dirty="0"/>
              <a:t>(</a:t>
            </a:r>
            <a:r>
              <a:rPr lang="nl-NL" sz="1400" dirty="0" err="1"/>
              <a:t>andere_data</a:t>
            </a:r>
            <a:r>
              <a:rPr lang="nl-NL" sz="1400" dirty="0">
                <a:solidFill>
                  <a:srgbClr val="CC7832"/>
                </a:solidFill>
              </a:rPr>
              <a:t>, </a:t>
            </a:r>
            <a:r>
              <a:rPr lang="nl-NL" sz="1400" dirty="0">
                <a:solidFill>
                  <a:srgbClr val="AA4926"/>
                </a:solidFill>
              </a:rPr>
              <a:t>columns</a:t>
            </a:r>
            <a:r>
              <a:rPr lang="nl-NL" sz="1400" dirty="0"/>
              <a:t>=[</a:t>
            </a:r>
            <a:r>
              <a:rPr lang="nl-NL" sz="1400" dirty="0">
                <a:solidFill>
                  <a:srgbClr val="6A8759"/>
                </a:solidFill>
              </a:rPr>
              <a:t>'naam'</a:t>
            </a:r>
            <a:r>
              <a:rPr lang="nl-NL" sz="1400" dirty="0">
                <a:solidFill>
                  <a:srgbClr val="CC7832"/>
                </a:solidFill>
              </a:rPr>
              <a:t>, </a:t>
            </a:r>
            <a:r>
              <a:rPr lang="nl-NL" sz="1400" dirty="0">
                <a:solidFill>
                  <a:srgbClr val="6A8759"/>
                </a:solidFill>
              </a:rPr>
              <a:t>'aantal'</a:t>
            </a:r>
            <a:r>
              <a:rPr lang="nl-NL" sz="1400" dirty="0"/>
              <a:t>])</a:t>
            </a:r>
            <a:br>
              <a:rPr lang="nl-NL" sz="1400" dirty="0"/>
            </a:br>
            <a:r>
              <a:rPr lang="nl-NL" sz="1400" dirty="0">
                <a:solidFill>
                  <a:srgbClr val="8888C6"/>
                </a:solidFill>
              </a:rPr>
              <a:t>print</a:t>
            </a:r>
            <a:r>
              <a:rPr lang="nl-NL" sz="1400" dirty="0"/>
              <a:t>(df_2)</a:t>
            </a:r>
          </a:p>
        </p:txBody>
      </p:sp>
      <p:sp>
        <p:nvSpPr>
          <p:cNvPr id="6" name="Rectangle 5">
            <a:extLst>
              <a:ext uri="{FF2B5EF4-FFF2-40B4-BE49-F238E27FC236}">
                <a16:creationId xmlns:a16="http://schemas.microsoft.com/office/drawing/2014/main" id="{510CD150-2755-AA4B-A195-DD517123757B}"/>
              </a:ext>
            </a:extLst>
          </p:cNvPr>
          <p:cNvSpPr/>
          <p:nvPr/>
        </p:nvSpPr>
        <p:spPr>
          <a:xfrm>
            <a:off x="7519224" y="3700285"/>
            <a:ext cx="2776330" cy="2123658"/>
          </a:xfrm>
          <a:prstGeom prst="rect">
            <a:avLst/>
          </a:prstGeom>
          <a:ln>
            <a:solidFill>
              <a:schemeClr val="tx1"/>
            </a:solidFill>
          </a:ln>
        </p:spPr>
        <p:txBody>
          <a:bodyPr wrap="square">
            <a:spAutoFit/>
          </a:bodyPr>
          <a:lstStyle/>
          <a:p>
            <a:r>
              <a:rPr lang="nl-NL" sz="1200" dirty="0">
                <a:latin typeface="Courier New" panose="02070309020205020404" pitchFamily="49" charset="0"/>
                <a:cs typeface="Courier New" panose="02070309020205020404" pitchFamily="49" charset="0"/>
              </a:rPr>
              <a:t>personages  aantal</a:t>
            </a:r>
          </a:p>
          <a:p>
            <a:r>
              <a:rPr lang="nl-NL" sz="1200" dirty="0">
                <a:latin typeface="Courier New" panose="02070309020205020404" pitchFamily="49" charset="0"/>
                <a:cs typeface="Courier New" panose="02070309020205020404" pitchFamily="49" charset="0"/>
              </a:rPr>
              <a:t>0      </a:t>
            </a:r>
            <a:r>
              <a:rPr lang="nl-NL" sz="1200" dirty="0" err="1">
                <a:latin typeface="Courier New" panose="02070309020205020404" pitchFamily="49" charset="0"/>
                <a:cs typeface="Courier New" panose="02070309020205020404" pitchFamily="49" charset="0"/>
              </a:rPr>
              <a:t>robin</a:t>
            </a:r>
            <a:r>
              <a:rPr lang="nl-NL" sz="1200" dirty="0">
                <a:latin typeface="Courier New" panose="02070309020205020404" pitchFamily="49" charset="0"/>
                <a:cs typeface="Courier New" panose="02070309020205020404" pitchFamily="49" charset="0"/>
              </a:rPr>
              <a:t>      10</a:t>
            </a:r>
          </a:p>
          <a:p>
            <a:r>
              <a:rPr lang="nl-NL" sz="1200" dirty="0">
                <a:latin typeface="Courier New" panose="02070309020205020404" pitchFamily="49" charset="0"/>
                <a:cs typeface="Courier New" panose="02070309020205020404" pitchFamily="49" charset="0"/>
              </a:rPr>
              <a:t>1        </a:t>
            </a:r>
            <a:r>
              <a:rPr lang="nl-NL" sz="1200" dirty="0" err="1">
                <a:latin typeface="Courier New" panose="02070309020205020404" pitchFamily="49" charset="0"/>
                <a:cs typeface="Courier New" panose="02070309020205020404" pitchFamily="49" charset="0"/>
              </a:rPr>
              <a:t>ted</a:t>
            </a:r>
            <a:r>
              <a:rPr lang="nl-NL" sz="1200" dirty="0">
                <a:latin typeface="Courier New" panose="02070309020205020404" pitchFamily="49" charset="0"/>
                <a:cs typeface="Courier New" panose="02070309020205020404" pitchFamily="49" charset="0"/>
              </a:rPr>
              <a:t>      20</a:t>
            </a:r>
          </a:p>
          <a:p>
            <a:r>
              <a:rPr lang="nl-NL" sz="1200" dirty="0">
                <a:latin typeface="Courier New" panose="02070309020205020404" pitchFamily="49" charset="0"/>
                <a:cs typeface="Courier New" panose="02070309020205020404" pitchFamily="49" charset="0"/>
              </a:rPr>
              <a:t>2     </a:t>
            </a:r>
            <a:r>
              <a:rPr lang="nl-NL" sz="1200" dirty="0" err="1">
                <a:latin typeface="Courier New" panose="02070309020205020404" pitchFamily="49" charset="0"/>
                <a:cs typeface="Courier New" panose="02070309020205020404" pitchFamily="49" charset="0"/>
              </a:rPr>
              <a:t>barney</a:t>
            </a:r>
            <a:r>
              <a:rPr lang="nl-NL" sz="1200" dirty="0">
                <a:latin typeface="Courier New" panose="02070309020205020404" pitchFamily="49" charset="0"/>
                <a:cs typeface="Courier New" panose="02070309020205020404" pitchFamily="49" charset="0"/>
              </a:rPr>
              <a:t>      30</a:t>
            </a:r>
          </a:p>
          <a:p>
            <a:r>
              <a:rPr lang="nl-NL" sz="1200" dirty="0">
                <a:latin typeface="Courier New" panose="02070309020205020404" pitchFamily="49" charset="0"/>
                <a:cs typeface="Courier New" panose="02070309020205020404" pitchFamily="49" charset="0"/>
              </a:rPr>
              <a:t>3      </a:t>
            </a:r>
            <a:r>
              <a:rPr lang="nl-NL" sz="1200" dirty="0" err="1">
                <a:latin typeface="Courier New" panose="02070309020205020404" pitchFamily="49" charset="0"/>
                <a:cs typeface="Courier New" panose="02070309020205020404" pitchFamily="49" charset="0"/>
              </a:rPr>
              <a:t>lilly</a:t>
            </a:r>
            <a:r>
              <a:rPr lang="nl-NL" sz="1200" dirty="0">
                <a:latin typeface="Courier New" panose="02070309020205020404" pitchFamily="49" charset="0"/>
                <a:cs typeface="Courier New" panose="02070309020205020404" pitchFamily="49" charset="0"/>
              </a:rPr>
              <a:t>      40</a:t>
            </a:r>
          </a:p>
          <a:p>
            <a:pPr marL="342900" indent="-342900">
              <a:buAutoNum type="arabicPlain" startAt="4"/>
            </a:pPr>
            <a:r>
              <a:rPr lang="nl-NL" sz="1200" dirty="0" err="1">
                <a:latin typeface="Courier New" panose="02070309020205020404" pitchFamily="49" charset="0"/>
                <a:cs typeface="Courier New" panose="02070309020205020404" pitchFamily="49" charset="0"/>
              </a:rPr>
              <a:t>marshall</a:t>
            </a:r>
            <a:r>
              <a:rPr lang="nl-NL" sz="1200" dirty="0">
                <a:latin typeface="Courier New" panose="02070309020205020404" pitchFamily="49" charset="0"/>
                <a:cs typeface="Courier New" panose="02070309020205020404" pitchFamily="49" charset="0"/>
              </a:rPr>
              <a:t>      50</a:t>
            </a:r>
          </a:p>
          <a:p>
            <a:endParaRPr lang="nl-NL" sz="1200" dirty="0">
              <a:latin typeface="Courier New" panose="02070309020205020404" pitchFamily="49" charset="0"/>
              <a:cs typeface="Courier New" panose="02070309020205020404" pitchFamily="49" charset="0"/>
            </a:endParaRPr>
          </a:p>
          <a:p>
            <a:r>
              <a:rPr lang="nl-NL" sz="1200" dirty="0">
                <a:latin typeface="Courier New" panose="02070309020205020404" pitchFamily="49" charset="0"/>
                <a:cs typeface="Courier New" panose="02070309020205020404" pitchFamily="49" charset="0"/>
              </a:rPr>
              <a:t>       naam  aantal</a:t>
            </a:r>
          </a:p>
          <a:p>
            <a:r>
              <a:rPr lang="nl-NL" sz="1200" dirty="0">
                <a:latin typeface="Courier New" panose="02070309020205020404" pitchFamily="49" charset="0"/>
                <a:cs typeface="Courier New" panose="02070309020205020404" pitchFamily="49" charset="0"/>
              </a:rPr>
              <a:t>0  </a:t>
            </a:r>
            <a:r>
              <a:rPr lang="nl-NL" sz="1200" dirty="0" err="1">
                <a:latin typeface="Courier New" panose="02070309020205020404" pitchFamily="49" charset="0"/>
                <a:cs typeface="Courier New" panose="02070309020205020404" pitchFamily="49" charset="0"/>
              </a:rPr>
              <a:t>johannes</a:t>
            </a:r>
            <a:r>
              <a:rPr lang="nl-NL" sz="1200" dirty="0">
                <a:latin typeface="Courier New" panose="02070309020205020404" pitchFamily="49" charset="0"/>
                <a:cs typeface="Courier New" panose="02070309020205020404" pitchFamily="49" charset="0"/>
              </a:rPr>
              <a:t>      10</a:t>
            </a:r>
          </a:p>
          <a:p>
            <a:r>
              <a:rPr lang="nl-NL" sz="1200" dirty="0">
                <a:latin typeface="Courier New" panose="02070309020205020404" pitchFamily="49" charset="0"/>
                <a:cs typeface="Courier New" panose="02070309020205020404" pitchFamily="49" charset="0"/>
              </a:rPr>
              <a:t>1  </a:t>
            </a:r>
            <a:r>
              <a:rPr lang="nl-NL" sz="1200" dirty="0" err="1">
                <a:latin typeface="Courier New" panose="02070309020205020404" pitchFamily="49" charset="0"/>
                <a:cs typeface="Courier New" panose="02070309020205020404" pitchFamily="49" charset="0"/>
              </a:rPr>
              <a:t>giovanni</a:t>
            </a:r>
            <a:r>
              <a:rPr lang="nl-NL" sz="1200" dirty="0">
                <a:latin typeface="Courier New" panose="02070309020205020404" pitchFamily="49" charset="0"/>
                <a:cs typeface="Courier New" panose="02070309020205020404" pitchFamily="49" charset="0"/>
              </a:rPr>
              <a:t>       2</a:t>
            </a:r>
          </a:p>
          <a:p>
            <a:r>
              <a:rPr lang="nl-NL" sz="1200" dirty="0">
                <a:latin typeface="Courier New" panose="02070309020205020404" pitchFamily="49" charset="0"/>
                <a:cs typeface="Courier New" panose="02070309020205020404" pitchFamily="49" charset="0"/>
              </a:rPr>
              <a:t>2      </a:t>
            </a:r>
            <a:r>
              <a:rPr lang="nl-NL" sz="1200" dirty="0" err="1">
                <a:latin typeface="Courier New" panose="02070309020205020404" pitchFamily="49" charset="0"/>
                <a:cs typeface="Courier New" panose="02070309020205020404" pitchFamily="49" charset="0"/>
              </a:rPr>
              <a:t>john</a:t>
            </a:r>
            <a:r>
              <a:rPr lang="nl-NL" sz="1200" dirty="0">
                <a:latin typeface="Courier New" panose="02070309020205020404" pitchFamily="49" charset="0"/>
                <a:cs typeface="Courier New" panose="02070309020205020404" pitchFamily="49" charset="0"/>
              </a:rPr>
              <a:t>       3</a:t>
            </a:r>
          </a:p>
        </p:txBody>
      </p:sp>
      <p:sp>
        <p:nvSpPr>
          <p:cNvPr id="7" name="TextBox 6">
            <a:extLst>
              <a:ext uri="{FF2B5EF4-FFF2-40B4-BE49-F238E27FC236}">
                <a16:creationId xmlns:a16="http://schemas.microsoft.com/office/drawing/2014/main" id="{1B0B0ED1-2E1A-6744-B638-F2A10F69A113}"/>
              </a:ext>
            </a:extLst>
          </p:cNvPr>
          <p:cNvSpPr txBox="1"/>
          <p:nvPr/>
        </p:nvSpPr>
        <p:spPr>
          <a:xfrm>
            <a:off x="7518952" y="3295599"/>
            <a:ext cx="1059783"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7F6198BC-12D1-5C42-9A3A-2E31A47A1C8B}"/>
              </a:ext>
            </a:extLst>
          </p:cNvPr>
          <p:cNvSpPr txBox="1"/>
          <p:nvPr/>
        </p:nvSpPr>
        <p:spPr>
          <a:xfrm>
            <a:off x="708991" y="3330953"/>
            <a:ext cx="918841"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44C033A3-1C96-7344-8DD5-FCE89193DACC}"/>
              </a:ext>
            </a:extLst>
          </p:cNvPr>
          <p:cNvCxnSpPr>
            <a:cxnSpLocks/>
          </p:cNvCxnSpPr>
          <p:nvPr/>
        </p:nvCxnSpPr>
        <p:spPr>
          <a:xfrm flipH="1">
            <a:off x="3989212" y="5684665"/>
            <a:ext cx="58264" cy="4353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0A74D2E-8875-8743-AC2E-DCD2C96C2932}"/>
              </a:ext>
            </a:extLst>
          </p:cNvPr>
          <p:cNvSpPr txBox="1"/>
          <p:nvPr/>
        </p:nvSpPr>
        <p:spPr>
          <a:xfrm>
            <a:off x="2869597" y="6155354"/>
            <a:ext cx="2885928" cy="523220"/>
          </a:xfrm>
          <a:prstGeom prst="rect">
            <a:avLst/>
          </a:prstGeom>
          <a:noFill/>
        </p:spPr>
        <p:txBody>
          <a:bodyPr wrap="square" rtlCol="0">
            <a:spAutoFit/>
          </a:bodyPr>
          <a:lstStyle/>
          <a:p>
            <a:r>
              <a:rPr lang="nl-NL" sz="1400" dirty="0">
                <a:solidFill>
                  <a:schemeClr val="bg1"/>
                </a:solidFill>
              </a:rPr>
              <a:t>Argument om de kolomnamen mee te geven</a:t>
            </a:r>
          </a:p>
        </p:txBody>
      </p:sp>
    </p:spTree>
    <p:extLst>
      <p:ext uri="{BB962C8B-B14F-4D97-AF65-F5344CB8AC3E}">
        <p14:creationId xmlns:p14="http://schemas.microsoft.com/office/powerpoint/2010/main" val="1498048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B5E7A4-52B2-3348-ABE9-38565BFB5FD9}"/>
              </a:ext>
            </a:extLst>
          </p:cNvPr>
          <p:cNvSpPr>
            <a:spLocks noGrp="1"/>
          </p:cNvSpPr>
          <p:nvPr>
            <p:ph idx="1"/>
          </p:nvPr>
        </p:nvSpPr>
        <p:spPr/>
        <p:txBody>
          <a:bodyPr>
            <a:normAutofit/>
          </a:bodyPr>
          <a:lstStyle/>
          <a:p>
            <a:r>
              <a:rPr lang="nl-NL" sz="2000" dirty="0"/>
              <a:t>Uiteraard komt de meeste (big) data uit bestanden</a:t>
            </a:r>
          </a:p>
          <a:p>
            <a:r>
              <a:rPr lang="nl-NL" sz="2000" dirty="0" err="1"/>
              <a:t>Pandas</a:t>
            </a:r>
            <a:r>
              <a:rPr lang="nl-NL" sz="2000" dirty="0"/>
              <a:t> ondersteunt een hele resem: Excel, </a:t>
            </a:r>
            <a:r>
              <a:rPr lang="nl-NL" sz="2000" dirty="0" err="1"/>
              <a:t>csv</a:t>
            </a:r>
            <a:r>
              <a:rPr lang="nl-NL" sz="2000" dirty="0"/>
              <a:t> (</a:t>
            </a:r>
            <a:r>
              <a:rPr lang="nl-NL" sz="2000" dirty="0" err="1"/>
              <a:t>comma</a:t>
            </a:r>
            <a:r>
              <a:rPr lang="nl-NL" sz="2000" dirty="0"/>
              <a:t> </a:t>
            </a:r>
            <a:r>
              <a:rPr lang="nl-NL" sz="2000" dirty="0" err="1"/>
              <a:t>separated</a:t>
            </a:r>
            <a:r>
              <a:rPr lang="nl-NL" sz="2000" dirty="0"/>
              <a:t> </a:t>
            </a:r>
            <a:r>
              <a:rPr lang="nl-NL" sz="2000" dirty="0" err="1"/>
              <a:t>values</a:t>
            </a:r>
            <a:r>
              <a:rPr lang="nl-NL" sz="2000" dirty="0"/>
              <a:t>), </a:t>
            </a:r>
            <a:r>
              <a:rPr lang="nl-NL" sz="2000" dirty="0" err="1"/>
              <a:t>json</a:t>
            </a:r>
            <a:r>
              <a:rPr lang="nl-NL" sz="2000" dirty="0"/>
              <a:t> (</a:t>
            </a:r>
            <a:r>
              <a:rPr lang="nl-NL" sz="2000" dirty="0" err="1"/>
              <a:t>JavaScript</a:t>
            </a:r>
            <a:r>
              <a:rPr lang="nl-NL" sz="2000" dirty="0"/>
              <a:t> Object </a:t>
            </a:r>
            <a:r>
              <a:rPr lang="nl-NL" sz="2000" dirty="0" err="1"/>
              <a:t>Notation</a:t>
            </a:r>
            <a:r>
              <a:rPr lang="nl-NL" sz="2000" dirty="0"/>
              <a:t>), rechtstreekse serverinput, etc.</a:t>
            </a:r>
          </a:p>
          <a:p>
            <a:r>
              <a:rPr lang="nl-NL" sz="2000" dirty="0"/>
              <a:t>Wij werken hier met </a:t>
            </a:r>
            <a:r>
              <a:rPr lang="nl-NL" sz="2000" dirty="0" err="1"/>
              <a:t>csv</a:t>
            </a:r>
            <a:r>
              <a:rPr lang="nl-NL" sz="2000" dirty="0"/>
              <a:t>-bestanden (je kan ze ook in Excel openen)</a:t>
            </a:r>
          </a:p>
          <a:p>
            <a:r>
              <a:rPr lang="nl-NL" sz="2000" dirty="0"/>
              <a:t>Vergeet niet het bestand in dezelfde folder als de notebook te zetten</a:t>
            </a:r>
          </a:p>
        </p:txBody>
      </p:sp>
      <p:sp>
        <p:nvSpPr>
          <p:cNvPr id="4" name="Slide Number Placeholder 3">
            <a:extLst>
              <a:ext uri="{FF2B5EF4-FFF2-40B4-BE49-F238E27FC236}">
                <a16:creationId xmlns:a16="http://schemas.microsoft.com/office/drawing/2014/main" id="{CCD9DFB9-8B1D-E848-B33A-B1F4B31C33CF}"/>
              </a:ext>
            </a:extLst>
          </p:cNvPr>
          <p:cNvSpPr>
            <a:spLocks noGrp="1"/>
          </p:cNvSpPr>
          <p:nvPr>
            <p:ph type="sldNum" sz="quarter" idx="12"/>
          </p:nvPr>
        </p:nvSpPr>
        <p:spPr/>
        <p:txBody>
          <a:bodyPr/>
          <a:lstStyle/>
          <a:p>
            <a:fld id="{D270EDC2-4F5E-5547-954F-5222C286AC2A}" type="slidenum">
              <a:rPr lang="nl-NL" smtClean="0"/>
              <a:t>46</a:t>
            </a:fld>
            <a:endParaRPr lang="nl-NL" dirty="0"/>
          </a:p>
        </p:txBody>
      </p:sp>
      <p:sp>
        <p:nvSpPr>
          <p:cNvPr id="2" name="Title 1">
            <a:extLst>
              <a:ext uri="{FF2B5EF4-FFF2-40B4-BE49-F238E27FC236}">
                <a16:creationId xmlns:a16="http://schemas.microsoft.com/office/drawing/2014/main" id="{12803CDE-D00F-094A-A1B5-3521C799A012}"/>
              </a:ext>
            </a:extLst>
          </p:cNvPr>
          <p:cNvSpPr>
            <a:spLocks noGrp="1"/>
          </p:cNvSpPr>
          <p:nvPr>
            <p:ph type="title"/>
          </p:nvPr>
        </p:nvSpPr>
        <p:spPr/>
        <p:txBody>
          <a:bodyPr/>
          <a:lstStyle/>
          <a:p>
            <a:r>
              <a:rPr lang="nl-NL" dirty="0"/>
              <a:t>Bestanden</a:t>
            </a:r>
          </a:p>
        </p:txBody>
      </p:sp>
    </p:spTree>
    <p:extLst>
      <p:ext uri="{BB962C8B-B14F-4D97-AF65-F5344CB8AC3E}">
        <p14:creationId xmlns:p14="http://schemas.microsoft.com/office/powerpoint/2010/main" val="34337369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29249F-3969-4044-9B06-E7B0E078A9C6}"/>
              </a:ext>
            </a:extLst>
          </p:cNvPr>
          <p:cNvSpPr>
            <a:spLocks noGrp="1"/>
          </p:cNvSpPr>
          <p:nvPr>
            <p:ph type="sldNum" sz="quarter" idx="12"/>
          </p:nvPr>
        </p:nvSpPr>
        <p:spPr/>
        <p:txBody>
          <a:bodyPr/>
          <a:lstStyle/>
          <a:p>
            <a:fld id="{D270EDC2-4F5E-5547-954F-5222C286AC2A}" type="slidenum">
              <a:rPr lang="nl-NL" smtClean="0"/>
              <a:t>47</a:t>
            </a:fld>
            <a:endParaRPr lang="nl-NL" dirty="0"/>
          </a:p>
        </p:txBody>
      </p:sp>
      <p:sp>
        <p:nvSpPr>
          <p:cNvPr id="2" name="Title 1">
            <a:extLst>
              <a:ext uri="{FF2B5EF4-FFF2-40B4-BE49-F238E27FC236}">
                <a16:creationId xmlns:a16="http://schemas.microsoft.com/office/drawing/2014/main" id="{35351503-FF1A-6441-B975-75A9651DE559}"/>
              </a:ext>
            </a:extLst>
          </p:cNvPr>
          <p:cNvSpPr>
            <a:spLocks noGrp="1"/>
          </p:cNvSpPr>
          <p:nvPr>
            <p:ph type="title"/>
          </p:nvPr>
        </p:nvSpPr>
        <p:spPr/>
        <p:txBody>
          <a:bodyPr/>
          <a:lstStyle/>
          <a:p>
            <a:r>
              <a:rPr lang="nl-NL" dirty="0"/>
              <a:t>Bestanden inlezen</a:t>
            </a:r>
          </a:p>
        </p:txBody>
      </p:sp>
      <p:sp>
        <p:nvSpPr>
          <p:cNvPr id="5" name="Rectangle 4">
            <a:extLst>
              <a:ext uri="{FF2B5EF4-FFF2-40B4-BE49-F238E27FC236}">
                <a16:creationId xmlns:a16="http://schemas.microsoft.com/office/drawing/2014/main" id="{C8E86975-BBCE-C34D-92AE-3675B058179D}"/>
              </a:ext>
            </a:extLst>
          </p:cNvPr>
          <p:cNvSpPr/>
          <p:nvPr/>
        </p:nvSpPr>
        <p:spPr>
          <a:xfrm>
            <a:off x="576000" y="3638786"/>
            <a:ext cx="5740115" cy="954107"/>
          </a:xfrm>
          <a:prstGeom prst="rect">
            <a:avLst/>
          </a:prstGeom>
          <a:ln>
            <a:solidFill>
              <a:schemeClr val="tx1"/>
            </a:solidFill>
          </a:ln>
        </p:spPr>
        <p:txBody>
          <a:bodyPr wrap="square">
            <a:spAutoFit/>
          </a:bodyPr>
          <a:lstStyle/>
          <a:p>
            <a:r>
              <a:rPr lang="nl-NL" sz="1400" dirty="0" err="1"/>
              <a:t>df_uit_bestand</a:t>
            </a:r>
            <a:r>
              <a:rPr lang="nl-NL" sz="1400" dirty="0"/>
              <a:t> = </a:t>
            </a:r>
            <a:r>
              <a:rPr lang="nl-NL" sz="1400" dirty="0" err="1"/>
              <a:t>pd.read_csv</a:t>
            </a:r>
            <a:r>
              <a:rPr lang="nl-NL" sz="1400" dirty="0"/>
              <a:t>(</a:t>
            </a:r>
            <a:r>
              <a:rPr lang="nl-NL" sz="1400" dirty="0">
                <a:solidFill>
                  <a:srgbClr val="6A8759"/>
                </a:solidFill>
              </a:rPr>
              <a:t>'COVID19BE_CASES_AGESEX.csv'</a:t>
            </a:r>
            <a:r>
              <a:rPr lang="nl-NL" sz="1400" dirty="0"/>
              <a:t>)</a:t>
            </a:r>
            <a:br>
              <a:rPr lang="nl-NL" sz="1400" dirty="0"/>
            </a:br>
            <a:r>
              <a:rPr lang="nl-NL" sz="1400" dirty="0">
                <a:solidFill>
                  <a:srgbClr val="8888C6"/>
                </a:solidFill>
              </a:rPr>
              <a:t>print</a:t>
            </a:r>
            <a:r>
              <a:rPr lang="nl-NL" sz="1400" dirty="0"/>
              <a:t>(</a:t>
            </a:r>
            <a:r>
              <a:rPr lang="nl-NL" sz="1400" dirty="0" err="1"/>
              <a:t>df_uit_bestand</a:t>
            </a:r>
            <a:r>
              <a:rPr lang="nl-NL" sz="1400" dirty="0"/>
              <a:t>)</a:t>
            </a:r>
            <a:br>
              <a:rPr lang="nl-NL" sz="1400" dirty="0"/>
            </a:br>
            <a:r>
              <a:rPr lang="nl-NL" sz="1400" dirty="0">
                <a:solidFill>
                  <a:srgbClr val="8888C6"/>
                </a:solidFill>
              </a:rPr>
              <a:t>print</a:t>
            </a:r>
            <a:r>
              <a:rPr lang="nl-NL" sz="1400" dirty="0"/>
              <a:t>(</a:t>
            </a:r>
            <a:r>
              <a:rPr lang="nl-NL" sz="1400" dirty="0" err="1"/>
              <a:t>df_uit_bestand.head</a:t>
            </a:r>
            <a:r>
              <a:rPr lang="nl-NL" sz="1400" dirty="0"/>
              <a:t>())</a:t>
            </a:r>
            <a:br>
              <a:rPr lang="nl-NL" sz="1400" dirty="0"/>
            </a:br>
            <a:r>
              <a:rPr lang="nl-NL" sz="1400" dirty="0">
                <a:solidFill>
                  <a:srgbClr val="8888C6"/>
                </a:solidFill>
              </a:rPr>
              <a:t>print</a:t>
            </a:r>
            <a:r>
              <a:rPr lang="nl-NL" sz="1400" dirty="0"/>
              <a:t>(</a:t>
            </a:r>
            <a:r>
              <a:rPr lang="nl-NL" sz="1400" dirty="0" err="1"/>
              <a:t>df_uit_bestand.tail</a:t>
            </a:r>
            <a:r>
              <a:rPr lang="nl-NL" sz="1400" dirty="0"/>
              <a:t>())</a:t>
            </a:r>
          </a:p>
        </p:txBody>
      </p:sp>
      <p:sp>
        <p:nvSpPr>
          <p:cNvPr id="6" name="Rectangle 5">
            <a:extLst>
              <a:ext uri="{FF2B5EF4-FFF2-40B4-BE49-F238E27FC236}">
                <a16:creationId xmlns:a16="http://schemas.microsoft.com/office/drawing/2014/main" id="{5BE98873-11E7-9246-9554-14C88702D50B}"/>
              </a:ext>
            </a:extLst>
          </p:cNvPr>
          <p:cNvSpPr/>
          <p:nvPr/>
        </p:nvSpPr>
        <p:spPr>
          <a:xfrm>
            <a:off x="6552811" y="1088491"/>
            <a:ext cx="5435836" cy="2246769"/>
          </a:xfrm>
          <a:prstGeom prst="rect">
            <a:avLst/>
          </a:prstGeom>
          <a:ln>
            <a:solidFill>
              <a:schemeClr val="tx1"/>
            </a:solidFill>
          </a:ln>
        </p:spPr>
        <p:txBody>
          <a:bodyPr wrap="square">
            <a:spAutoFit/>
          </a:bodyPr>
          <a:lstStyle/>
          <a:p>
            <a:r>
              <a:rPr lang="nl-NL" sz="1000" dirty="0">
                <a:solidFill>
                  <a:srgbClr val="FF0000"/>
                </a:solidFill>
                <a:latin typeface="Courier New" panose="02070309020205020404" pitchFamily="49" charset="0"/>
                <a:cs typeface="Courier New" panose="02070309020205020404" pitchFamily="49" charset="0"/>
              </a:rPr>
              <a:t> </a:t>
            </a:r>
            <a:r>
              <a:rPr lang="nl-NL" sz="1000" dirty="0">
                <a:latin typeface="Courier New" panose="02070309020205020404" pitchFamily="49" charset="0"/>
                <a:cs typeface="Courier New" panose="02070309020205020404" pitchFamily="49" charset="0"/>
              </a:rPr>
              <a:t>	DATE        PROVINCE    REGION  AGEGROUP   SEX    CASES</a:t>
            </a:r>
          </a:p>
          <a:p>
            <a:r>
              <a:rPr lang="nl-NL" sz="1000" dirty="0">
                <a:solidFill>
                  <a:srgbClr val="00B050"/>
                </a:solidFill>
                <a:latin typeface="Courier New" panose="02070309020205020404" pitchFamily="49" charset="0"/>
                <a:cs typeface="Courier New" panose="02070309020205020404" pitchFamily="49" charset="0"/>
              </a:rPr>
              <a:t>0</a:t>
            </a:r>
            <a:r>
              <a:rPr lang="nl-NL" sz="1000" dirty="0">
                <a:latin typeface="Courier New" panose="02070309020205020404" pitchFamily="49" charset="0"/>
                <a:cs typeface="Courier New" panose="02070309020205020404" pitchFamily="49" charset="0"/>
              </a:rPr>
              <a:t>      2020-03-01       Antwerpen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40-49    M      1</a:t>
            </a:r>
          </a:p>
          <a:p>
            <a:r>
              <a:rPr lang="nl-NL" sz="1000" dirty="0">
                <a:solidFill>
                  <a:srgbClr val="00B050"/>
                </a:solidFill>
                <a:latin typeface="Courier New" panose="02070309020205020404" pitchFamily="49" charset="0"/>
                <a:cs typeface="Courier New" panose="02070309020205020404" pitchFamily="49" charset="0"/>
              </a:rPr>
              <a:t>1</a:t>
            </a:r>
            <a:r>
              <a:rPr lang="nl-NL" sz="1000" dirty="0">
                <a:latin typeface="Courier New" panose="02070309020205020404" pitchFamily="49" charset="0"/>
                <a:cs typeface="Courier New" panose="02070309020205020404" pitchFamily="49" charset="0"/>
              </a:rPr>
              <a:t>      2020-03-01        Brussels  Brussels    10-19    F      1</a:t>
            </a:r>
          </a:p>
          <a:p>
            <a:r>
              <a:rPr lang="nl-NL" sz="1000" dirty="0">
                <a:solidFill>
                  <a:srgbClr val="00B050"/>
                </a:solidFill>
                <a:latin typeface="Courier New" panose="02070309020205020404" pitchFamily="49" charset="0"/>
                <a:cs typeface="Courier New" panose="02070309020205020404" pitchFamily="49" charset="0"/>
              </a:rPr>
              <a:t>2</a:t>
            </a:r>
            <a:r>
              <a:rPr lang="nl-NL" sz="1000" dirty="0">
                <a:latin typeface="Courier New" panose="02070309020205020404" pitchFamily="49" charset="0"/>
                <a:cs typeface="Courier New" panose="02070309020205020404" pitchFamily="49" charset="0"/>
              </a:rPr>
              <a:t>      2020-03-01        Brussels  Brussels    10-19    M      1</a:t>
            </a:r>
          </a:p>
          <a:p>
            <a:r>
              <a:rPr lang="nl-NL" sz="1000" dirty="0">
                <a:solidFill>
                  <a:srgbClr val="00B050"/>
                </a:solidFill>
                <a:latin typeface="Courier New" panose="02070309020205020404" pitchFamily="49" charset="0"/>
                <a:cs typeface="Courier New" panose="02070309020205020404" pitchFamily="49" charset="0"/>
              </a:rPr>
              <a:t>3</a:t>
            </a:r>
            <a:r>
              <a:rPr lang="nl-NL" sz="1000" dirty="0">
                <a:latin typeface="Courier New" panose="02070309020205020404" pitchFamily="49" charset="0"/>
                <a:cs typeface="Courier New" panose="02070309020205020404" pitchFamily="49" charset="0"/>
              </a:rPr>
              <a:t>      2020-03-01        Brussels  Brussels    20-29    M      1</a:t>
            </a:r>
          </a:p>
          <a:p>
            <a:r>
              <a:rPr lang="nl-NL" sz="1000" dirty="0">
                <a:solidFill>
                  <a:srgbClr val="00B050"/>
                </a:solidFill>
                <a:latin typeface="Courier New" panose="02070309020205020404" pitchFamily="49" charset="0"/>
                <a:cs typeface="Courier New" panose="02070309020205020404" pitchFamily="49" charset="0"/>
              </a:rPr>
              <a:t>4  </a:t>
            </a:r>
            <a:r>
              <a:rPr lang="nl-NL" sz="1000" dirty="0">
                <a:latin typeface="Courier New" panose="02070309020205020404" pitchFamily="49" charset="0"/>
                <a:cs typeface="Courier New" panose="02070309020205020404" pitchFamily="49" charset="0"/>
              </a:rPr>
              <a:t>    2020-03-01        Brussels  Brussels    30-39    F      1</a:t>
            </a:r>
          </a:p>
          <a:p>
            <a:r>
              <a:rPr lang="nl-NL" sz="1000" dirty="0">
                <a:latin typeface="Courier New" panose="02070309020205020404" pitchFamily="49" charset="0"/>
                <a:cs typeface="Courier New" panose="02070309020205020404" pitchFamily="49" charset="0"/>
              </a:rPr>
              <a:t>...           ...             ...       ...      ...  ...    ...</a:t>
            </a:r>
          </a:p>
          <a:p>
            <a:r>
              <a:rPr lang="nl-NL" sz="1000" dirty="0">
                <a:solidFill>
                  <a:srgbClr val="00B050"/>
                </a:solidFill>
                <a:latin typeface="Courier New" panose="02070309020205020404" pitchFamily="49" charset="0"/>
                <a:cs typeface="Courier New" panose="02070309020205020404" pitchFamily="49" charset="0"/>
              </a:rPr>
              <a:t>66170</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40-49    M      3</a:t>
            </a:r>
          </a:p>
          <a:p>
            <a:r>
              <a:rPr lang="nl-NL" sz="1000" dirty="0">
                <a:solidFill>
                  <a:srgbClr val="00B050"/>
                </a:solidFill>
                <a:latin typeface="Courier New" panose="02070309020205020404" pitchFamily="49" charset="0"/>
                <a:cs typeface="Courier New" panose="02070309020205020404" pitchFamily="49" charset="0"/>
              </a:rPr>
              <a:t>66171</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50-59    M      1</a:t>
            </a:r>
          </a:p>
          <a:p>
            <a:r>
              <a:rPr lang="nl-NL" sz="1000" dirty="0">
                <a:solidFill>
                  <a:srgbClr val="00B050"/>
                </a:solidFill>
                <a:latin typeface="Courier New" panose="02070309020205020404" pitchFamily="49" charset="0"/>
                <a:cs typeface="Courier New" panose="02070309020205020404" pitchFamily="49" charset="0"/>
              </a:rPr>
              <a:t>66172</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20-29    F      1</a:t>
            </a:r>
          </a:p>
          <a:p>
            <a:r>
              <a:rPr lang="nl-NL" sz="1000" dirty="0">
                <a:solidFill>
                  <a:srgbClr val="00B050"/>
                </a:solidFill>
                <a:latin typeface="Courier New" panose="02070309020205020404" pitchFamily="49" charset="0"/>
                <a:cs typeface="Courier New" panose="02070309020205020404" pitchFamily="49" charset="0"/>
              </a:rPr>
              <a:t>66173</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50-59    M      3</a:t>
            </a:r>
          </a:p>
          <a:p>
            <a:r>
              <a:rPr lang="nl-NL" sz="1000" dirty="0">
                <a:solidFill>
                  <a:srgbClr val="00B050"/>
                </a:solidFill>
                <a:latin typeface="Courier New" panose="02070309020205020404" pitchFamily="49" charset="0"/>
                <a:cs typeface="Courier New" panose="02070309020205020404" pitchFamily="49" charset="0"/>
              </a:rPr>
              <a:t>66174</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1</a:t>
            </a:r>
          </a:p>
          <a:p>
            <a:endParaRPr lang="nl-NL" sz="1000" dirty="0">
              <a:latin typeface="Courier New" panose="02070309020205020404" pitchFamily="49" charset="0"/>
              <a:cs typeface="Courier New" panose="02070309020205020404" pitchFamily="49" charset="0"/>
            </a:endParaRPr>
          </a:p>
          <a:p>
            <a:r>
              <a:rPr lang="nl-NL" sz="1000" dirty="0">
                <a:latin typeface="Courier New" panose="02070309020205020404" pitchFamily="49" charset="0"/>
                <a:cs typeface="Courier New" panose="02070309020205020404" pitchFamily="49" charset="0"/>
              </a:rPr>
              <a:t>[66175 </a:t>
            </a:r>
            <a:r>
              <a:rPr lang="nl-NL" sz="1000" dirty="0" err="1">
                <a:latin typeface="Courier New" panose="02070309020205020404" pitchFamily="49" charset="0"/>
                <a:cs typeface="Courier New" panose="02070309020205020404" pitchFamily="49" charset="0"/>
              </a:rPr>
              <a:t>rows</a:t>
            </a:r>
            <a:r>
              <a:rPr lang="nl-NL" sz="1000" dirty="0">
                <a:latin typeface="Courier New" panose="02070309020205020404" pitchFamily="49" charset="0"/>
                <a:cs typeface="Courier New" panose="02070309020205020404" pitchFamily="49" charset="0"/>
              </a:rPr>
              <a:t> x 6 columns]</a:t>
            </a:r>
          </a:p>
        </p:txBody>
      </p:sp>
      <p:sp>
        <p:nvSpPr>
          <p:cNvPr id="7" name="Rectangle 6">
            <a:extLst>
              <a:ext uri="{FF2B5EF4-FFF2-40B4-BE49-F238E27FC236}">
                <a16:creationId xmlns:a16="http://schemas.microsoft.com/office/drawing/2014/main" id="{725E08CA-99E4-3B41-B504-3CAF6DF82CE7}"/>
              </a:ext>
            </a:extLst>
          </p:cNvPr>
          <p:cNvSpPr/>
          <p:nvPr/>
        </p:nvSpPr>
        <p:spPr>
          <a:xfrm>
            <a:off x="6552811" y="3508553"/>
            <a:ext cx="4694583" cy="1938992"/>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        DATE   PROVINCE    REGION AGEGROUP   SEX  CASES</a:t>
            </a:r>
          </a:p>
          <a:p>
            <a:r>
              <a:rPr lang="nl-NL" sz="1000" dirty="0">
                <a:latin typeface="Courier New" panose="02070309020205020404" pitchFamily="49" charset="0"/>
                <a:cs typeface="Courier New" panose="02070309020205020404" pitchFamily="49" charset="0"/>
              </a:rPr>
              <a:t>0  2020-03-01  Antwerpen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40-49   M      1</a:t>
            </a:r>
          </a:p>
          <a:p>
            <a:r>
              <a:rPr lang="nl-NL" sz="1000" dirty="0">
                <a:latin typeface="Courier New" panose="02070309020205020404" pitchFamily="49" charset="0"/>
                <a:cs typeface="Courier New" panose="02070309020205020404" pitchFamily="49" charset="0"/>
              </a:rPr>
              <a:t>1  2020-03-01   Brussels  Brussels    10-19   F      1</a:t>
            </a:r>
          </a:p>
          <a:p>
            <a:r>
              <a:rPr lang="nl-NL" sz="1000" dirty="0">
                <a:latin typeface="Courier New" panose="02070309020205020404" pitchFamily="49" charset="0"/>
                <a:cs typeface="Courier New" panose="02070309020205020404" pitchFamily="49" charset="0"/>
              </a:rPr>
              <a:t>2  2020-03-01   Brussels  Brussels    10-19   M      1</a:t>
            </a:r>
          </a:p>
          <a:p>
            <a:r>
              <a:rPr lang="nl-NL" sz="1000" dirty="0">
                <a:latin typeface="Courier New" panose="02070309020205020404" pitchFamily="49" charset="0"/>
                <a:cs typeface="Courier New" panose="02070309020205020404" pitchFamily="49" charset="0"/>
              </a:rPr>
              <a:t>3  2020-03-01   Brussels  Brussels    20-29   M      1</a:t>
            </a:r>
          </a:p>
          <a:p>
            <a:r>
              <a:rPr lang="nl-NL" sz="1000" dirty="0">
                <a:latin typeface="Courier New" panose="02070309020205020404" pitchFamily="49" charset="0"/>
                <a:cs typeface="Courier New" panose="02070309020205020404" pitchFamily="49" charset="0"/>
              </a:rPr>
              <a:t>4  2020-03-01   Brussels  Brussels    30-39   F      1</a:t>
            </a:r>
          </a:p>
          <a:p>
            <a:r>
              <a:rPr lang="nl-NL" sz="1000" dirty="0">
                <a:latin typeface="Courier New" panose="02070309020205020404" pitchFamily="49" charset="0"/>
                <a:cs typeface="Courier New" panose="02070309020205020404" pitchFamily="49" charset="0"/>
              </a:rPr>
              <a:t>      DATE        PROVINCE    REGION AGEGROUP  SEX  CASES</a:t>
            </a:r>
          </a:p>
          <a:p>
            <a:r>
              <a:rPr lang="nl-NL" sz="1000" dirty="0">
                <a:latin typeface="Courier New" panose="02070309020205020404" pitchFamily="49" charset="0"/>
                <a:cs typeface="Courier New" panose="02070309020205020404" pitchFamily="49" charset="0"/>
              </a:rPr>
              <a:t>66170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40-49    M      3</a:t>
            </a:r>
          </a:p>
          <a:p>
            <a:r>
              <a:rPr lang="nl-NL" sz="1000" dirty="0">
                <a:latin typeface="Courier New" panose="02070309020205020404" pitchFamily="49" charset="0"/>
                <a:cs typeface="Courier New" panose="02070309020205020404" pitchFamily="49" charset="0"/>
              </a:rPr>
              <a:t>66171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50-59    M      1</a:t>
            </a:r>
          </a:p>
          <a:p>
            <a:r>
              <a:rPr lang="nl-NL" sz="1000" dirty="0">
                <a:latin typeface="Courier New" panose="02070309020205020404" pitchFamily="49" charset="0"/>
                <a:cs typeface="Courier New" panose="02070309020205020404" pitchFamily="49" charset="0"/>
              </a:rPr>
              <a:t>66172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20-29    F      1</a:t>
            </a:r>
          </a:p>
          <a:p>
            <a:r>
              <a:rPr lang="nl-NL" sz="1000" dirty="0">
                <a:latin typeface="Courier New" panose="02070309020205020404" pitchFamily="49" charset="0"/>
                <a:cs typeface="Courier New" panose="02070309020205020404" pitchFamily="49" charset="0"/>
              </a:rPr>
              <a:t>66173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50-59    M      3</a:t>
            </a:r>
          </a:p>
          <a:p>
            <a:r>
              <a:rPr lang="nl-NL" sz="1000" dirty="0">
                <a:latin typeface="Courier New" panose="02070309020205020404" pitchFamily="49" charset="0"/>
                <a:cs typeface="Courier New" panose="02070309020205020404" pitchFamily="49" charset="0"/>
              </a:rPr>
              <a:t>66174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NaN</a:t>
            </a:r>
            <a:r>
              <a:rPr lang="nl-NL" sz="1000" dirty="0">
                <a:latin typeface="Courier New" panose="02070309020205020404" pitchFamily="49" charset="0"/>
                <a:cs typeface="Courier New" panose="02070309020205020404" pitchFamily="49" charset="0"/>
              </a:rPr>
              <a:t>      1</a:t>
            </a:r>
          </a:p>
        </p:txBody>
      </p:sp>
      <p:cxnSp>
        <p:nvCxnSpPr>
          <p:cNvPr id="8" name="Straight Arrow Connector 7">
            <a:extLst>
              <a:ext uri="{FF2B5EF4-FFF2-40B4-BE49-F238E27FC236}">
                <a16:creationId xmlns:a16="http://schemas.microsoft.com/office/drawing/2014/main" id="{AD97E5F6-6F3B-AC42-B623-8B555E6E1E3C}"/>
              </a:ext>
            </a:extLst>
          </p:cNvPr>
          <p:cNvCxnSpPr>
            <a:cxnSpLocks/>
          </p:cNvCxnSpPr>
          <p:nvPr/>
        </p:nvCxnSpPr>
        <p:spPr>
          <a:xfrm flipH="1" flipV="1">
            <a:off x="5149850" y="2387600"/>
            <a:ext cx="1400035" cy="2020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B0B8E60-1764-A44E-8E40-8BA0CE0178AA}"/>
              </a:ext>
            </a:extLst>
          </p:cNvPr>
          <p:cNvCxnSpPr>
            <a:cxnSpLocks/>
          </p:cNvCxnSpPr>
          <p:nvPr/>
        </p:nvCxnSpPr>
        <p:spPr>
          <a:xfrm flipH="1" flipV="1">
            <a:off x="5213350" y="3219214"/>
            <a:ext cx="1263650" cy="3996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0E45991-4382-BC44-BCAC-052276DD7A32}"/>
              </a:ext>
            </a:extLst>
          </p:cNvPr>
          <p:cNvSpPr txBox="1"/>
          <p:nvPr/>
        </p:nvSpPr>
        <p:spPr>
          <a:xfrm>
            <a:off x="2593244" y="1895331"/>
            <a:ext cx="2879485" cy="1569660"/>
          </a:xfrm>
          <a:prstGeom prst="rect">
            <a:avLst/>
          </a:prstGeom>
          <a:noFill/>
        </p:spPr>
        <p:txBody>
          <a:bodyPr wrap="square" rtlCol="0">
            <a:spAutoFit/>
          </a:bodyPr>
          <a:lstStyle/>
          <a:p>
            <a:r>
              <a:rPr lang="nl-NL" sz="1200" dirty="0">
                <a:solidFill>
                  <a:srgbClr val="00B050"/>
                </a:solidFill>
              </a:rPr>
              <a:t>Er wordt altijd automatisch een index gegenereerd (hier volgens het aantal rijen – deze kolom heeft geen naam)</a:t>
            </a:r>
          </a:p>
          <a:p>
            <a:endParaRPr lang="nl-NL" sz="1200" dirty="0"/>
          </a:p>
          <a:p>
            <a:r>
              <a:rPr lang="nl-NL" sz="1200" dirty="0"/>
              <a:t>De index kan eventueel gewijzigd worden naar een aanwezige kolom (bv. als er een volgnummer in het bestand zit of een datum)</a:t>
            </a:r>
          </a:p>
        </p:txBody>
      </p:sp>
      <p:cxnSp>
        <p:nvCxnSpPr>
          <p:cNvPr id="17" name="Straight Arrow Connector 16">
            <a:extLst>
              <a:ext uri="{FF2B5EF4-FFF2-40B4-BE49-F238E27FC236}">
                <a16:creationId xmlns:a16="http://schemas.microsoft.com/office/drawing/2014/main" id="{FFF10612-4003-CA4B-9987-BF30340EFB7C}"/>
              </a:ext>
            </a:extLst>
          </p:cNvPr>
          <p:cNvCxnSpPr>
            <a:cxnSpLocks/>
          </p:cNvCxnSpPr>
          <p:nvPr/>
        </p:nvCxnSpPr>
        <p:spPr>
          <a:xfrm flipH="1" flipV="1">
            <a:off x="5719968" y="1650759"/>
            <a:ext cx="1874632" cy="64785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E82B7E8-A71F-D047-927B-27D070FE7140}"/>
              </a:ext>
            </a:extLst>
          </p:cNvPr>
          <p:cNvSpPr txBox="1"/>
          <p:nvPr/>
        </p:nvSpPr>
        <p:spPr>
          <a:xfrm>
            <a:off x="4396275" y="1367158"/>
            <a:ext cx="2242534" cy="461665"/>
          </a:xfrm>
          <a:prstGeom prst="rect">
            <a:avLst/>
          </a:prstGeom>
          <a:noFill/>
        </p:spPr>
        <p:txBody>
          <a:bodyPr wrap="square" rtlCol="0">
            <a:spAutoFit/>
          </a:bodyPr>
          <a:lstStyle/>
          <a:p>
            <a:r>
              <a:rPr lang="nl-NL" sz="1200" dirty="0"/>
              <a:t>Lege cellen worden als </a:t>
            </a:r>
            <a:r>
              <a:rPr lang="nl-NL" sz="1200" dirty="0" err="1">
                <a:latin typeface="Courier New" panose="02070309020205020404" pitchFamily="49" charset="0"/>
                <a:cs typeface="Courier New" panose="02070309020205020404" pitchFamily="49" charset="0"/>
              </a:rPr>
              <a:t>NaN</a:t>
            </a:r>
            <a:r>
              <a:rPr lang="nl-NL" sz="1200" dirty="0"/>
              <a:t> ingevuld</a:t>
            </a:r>
          </a:p>
        </p:txBody>
      </p:sp>
      <p:sp>
        <p:nvSpPr>
          <p:cNvPr id="21" name="TextBox 20">
            <a:extLst>
              <a:ext uri="{FF2B5EF4-FFF2-40B4-BE49-F238E27FC236}">
                <a16:creationId xmlns:a16="http://schemas.microsoft.com/office/drawing/2014/main" id="{26862FE3-7157-554D-844A-40968D548175}"/>
              </a:ext>
            </a:extLst>
          </p:cNvPr>
          <p:cNvSpPr txBox="1"/>
          <p:nvPr/>
        </p:nvSpPr>
        <p:spPr>
          <a:xfrm>
            <a:off x="5642116" y="381925"/>
            <a:ext cx="996694" cy="369332"/>
          </a:xfrm>
          <a:prstGeom prst="rect">
            <a:avLst/>
          </a:prstGeom>
          <a:noFill/>
        </p:spPr>
        <p:txBody>
          <a:bodyPr wrap="square" rtlCol="0">
            <a:spAutoFit/>
          </a:bodyPr>
          <a:lstStyle/>
          <a:p>
            <a:r>
              <a:rPr lang="nl-NL" dirty="0"/>
              <a:t>Output:</a:t>
            </a:r>
          </a:p>
        </p:txBody>
      </p:sp>
      <p:sp>
        <p:nvSpPr>
          <p:cNvPr id="22" name="TextBox 21">
            <a:extLst>
              <a:ext uri="{FF2B5EF4-FFF2-40B4-BE49-F238E27FC236}">
                <a16:creationId xmlns:a16="http://schemas.microsoft.com/office/drawing/2014/main" id="{F4D15795-1543-9B4A-B169-27E96C7060B6}"/>
              </a:ext>
            </a:extLst>
          </p:cNvPr>
          <p:cNvSpPr txBox="1"/>
          <p:nvPr/>
        </p:nvSpPr>
        <p:spPr>
          <a:xfrm>
            <a:off x="730967" y="3168999"/>
            <a:ext cx="856764" cy="369332"/>
          </a:xfrm>
          <a:prstGeom prst="rect">
            <a:avLst/>
          </a:prstGeom>
          <a:noFill/>
        </p:spPr>
        <p:txBody>
          <a:bodyPr wrap="square" rtlCol="0">
            <a:spAutoFit/>
          </a:bodyPr>
          <a:lstStyle/>
          <a:p>
            <a:r>
              <a:rPr lang="nl-NL" dirty="0"/>
              <a:t>Code:</a:t>
            </a:r>
          </a:p>
        </p:txBody>
      </p:sp>
      <p:sp>
        <p:nvSpPr>
          <p:cNvPr id="23" name="TextBox 22">
            <a:extLst>
              <a:ext uri="{FF2B5EF4-FFF2-40B4-BE49-F238E27FC236}">
                <a16:creationId xmlns:a16="http://schemas.microsoft.com/office/drawing/2014/main" id="{B4F6A8F6-EC68-584D-A3DA-9304FBDD009C}"/>
              </a:ext>
            </a:extLst>
          </p:cNvPr>
          <p:cNvSpPr txBox="1"/>
          <p:nvPr/>
        </p:nvSpPr>
        <p:spPr>
          <a:xfrm>
            <a:off x="730967" y="4906066"/>
            <a:ext cx="3856781" cy="1169551"/>
          </a:xfrm>
          <a:prstGeom prst="rect">
            <a:avLst/>
          </a:prstGeom>
          <a:noFill/>
        </p:spPr>
        <p:txBody>
          <a:bodyPr wrap="square" rtlCol="0">
            <a:spAutoFit/>
          </a:bodyPr>
          <a:lstStyle/>
          <a:p>
            <a:r>
              <a:rPr lang="nl-NL" sz="1400" dirty="0"/>
              <a:t>We werken hier met data van </a:t>
            </a:r>
            <a:r>
              <a:rPr lang="nl-NL" sz="1400" dirty="0" err="1"/>
              <a:t>Sciensano</a:t>
            </a:r>
            <a:r>
              <a:rPr lang="nl-NL" sz="1400" dirty="0"/>
              <a:t> over het aantal COVID-gevallen per dag per provincie, geslacht en leeftijdsgroep</a:t>
            </a:r>
          </a:p>
          <a:p>
            <a:endParaRPr lang="nl-NL" sz="1400" dirty="0"/>
          </a:p>
          <a:p>
            <a:r>
              <a:rPr lang="nl-NL" sz="1400" dirty="0" err="1"/>
              <a:t>https</a:t>
            </a:r>
            <a:r>
              <a:rPr lang="nl-NL" sz="1400" dirty="0"/>
              <a:t>://</a:t>
            </a:r>
            <a:r>
              <a:rPr lang="nl-NL" sz="1400" dirty="0" err="1"/>
              <a:t>epistat.wiv-isp.be</a:t>
            </a:r>
            <a:r>
              <a:rPr lang="nl-NL" sz="1400" dirty="0"/>
              <a:t>/</a:t>
            </a:r>
            <a:r>
              <a:rPr lang="nl-NL" sz="1400" dirty="0" err="1"/>
              <a:t>covid</a:t>
            </a:r>
            <a:r>
              <a:rPr lang="nl-NL" sz="1400" dirty="0"/>
              <a:t>/</a:t>
            </a:r>
          </a:p>
        </p:txBody>
      </p:sp>
    </p:spTree>
    <p:extLst>
      <p:ext uri="{BB962C8B-B14F-4D97-AF65-F5344CB8AC3E}">
        <p14:creationId xmlns:p14="http://schemas.microsoft.com/office/powerpoint/2010/main" val="4177140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78E349-3567-9D4F-B4A2-87F11C9ECD1D}"/>
              </a:ext>
            </a:extLst>
          </p:cNvPr>
          <p:cNvSpPr>
            <a:spLocks noGrp="1"/>
          </p:cNvSpPr>
          <p:nvPr>
            <p:ph idx="1"/>
          </p:nvPr>
        </p:nvSpPr>
        <p:spPr/>
        <p:txBody>
          <a:bodyPr>
            <a:normAutofit/>
          </a:bodyPr>
          <a:lstStyle/>
          <a:p>
            <a:r>
              <a:rPr lang="nl-NL" sz="2000" dirty="0"/>
              <a:t>We kunnen kolommen bij hun naam oproepen:</a:t>
            </a:r>
          </a:p>
        </p:txBody>
      </p:sp>
      <p:sp>
        <p:nvSpPr>
          <p:cNvPr id="4" name="Slide Number Placeholder 3">
            <a:extLst>
              <a:ext uri="{FF2B5EF4-FFF2-40B4-BE49-F238E27FC236}">
                <a16:creationId xmlns:a16="http://schemas.microsoft.com/office/drawing/2014/main" id="{09A87C3A-829B-BD42-8C30-2E081A846B07}"/>
              </a:ext>
            </a:extLst>
          </p:cNvPr>
          <p:cNvSpPr>
            <a:spLocks noGrp="1"/>
          </p:cNvSpPr>
          <p:nvPr>
            <p:ph type="sldNum" sz="quarter" idx="12"/>
          </p:nvPr>
        </p:nvSpPr>
        <p:spPr/>
        <p:txBody>
          <a:bodyPr/>
          <a:lstStyle/>
          <a:p>
            <a:fld id="{D270EDC2-4F5E-5547-954F-5222C286AC2A}" type="slidenum">
              <a:rPr lang="nl-NL" smtClean="0"/>
              <a:t>48</a:t>
            </a:fld>
            <a:endParaRPr lang="nl-NL" dirty="0"/>
          </a:p>
        </p:txBody>
      </p:sp>
      <p:sp>
        <p:nvSpPr>
          <p:cNvPr id="2" name="Title 1">
            <a:extLst>
              <a:ext uri="{FF2B5EF4-FFF2-40B4-BE49-F238E27FC236}">
                <a16:creationId xmlns:a16="http://schemas.microsoft.com/office/drawing/2014/main" id="{8AE32192-27E2-7E4D-A8B1-B2A871EA0EB2}"/>
              </a:ext>
            </a:extLst>
          </p:cNvPr>
          <p:cNvSpPr>
            <a:spLocks noGrp="1"/>
          </p:cNvSpPr>
          <p:nvPr>
            <p:ph type="title"/>
          </p:nvPr>
        </p:nvSpPr>
        <p:spPr/>
        <p:txBody>
          <a:bodyPr/>
          <a:lstStyle/>
          <a:p>
            <a:r>
              <a:rPr lang="nl-NL" dirty="0"/>
              <a:t>Gebruik van metadata</a:t>
            </a:r>
          </a:p>
        </p:txBody>
      </p:sp>
      <p:sp>
        <p:nvSpPr>
          <p:cNvPr id="5" name="Rectangle 4">
            <a:extLst>
              <a:ext uri="{FF2B5EF4-FFF2-40B4-BE49-F238E27FC236}">
                <a16:creationId xmlns:a16="http://schemas.microsoft.com/office/drawing/2014/main" id="{96DA90D1-6F28-E44A-9758-ED28E0A27F11}"/>
              </a:ext>
            </a:extLst>
          </p:cNvPr>
          <p:cNvSpPr/>
          <p:nvPr/>
        </p:nvSpPr>
        <p:spPr>
          <a:xfrm>
            <a:off x="150744" y="3474634"/>
            <a:ext cx="5842551" cy="1754326"/>
          </a:xfrm>
          <a:prstGeom prst="rect">
            <a:avLst/>
          </a:prstGeom>
          <a:ln>
            <a:solidFill>
              <a:schemeClr val="tx1"/>
            </a:solidFill>
          </a:ln>
        </p:spPr>
        <p:txBody>
          <a:bodyPr wrap="square">
            <a:spAutoFit/>
          </a:bodyPr>
          <a:lstStyle/>
          <a:p>
            <a:r>
              <a:rPr lang="nl-NL" sz="1200" dirty="0" err="1"/>
              <a:t>df</a:t>
            </a:r>
            <a:r>
              <a:rPr lang="nl-NL" sz="1200" dirty="0"/>
              <a:t> = </a:t>
            </a:r>
            <a:r>
              <a:rPr lang="nl-NL" sz="1200" dirty="0" err="1"/>
              <a:t>pd.read_csv</a:t>
            </a:r>
            <a:r>
              <a:rPr lang="nl-NL" sz="1200" dirty="0"/>
              <a:t>(</a:t>
            </a:r>
            <a:r>
              <a:rPr lang="nl-NL" sz="1200" dirty="0">
                <a:solidFill>
                  <a:srgbClr val="6A8759"/>
                </a:solidFill>
              </a:rPr>
              <a:t>'COVID19BE_CASES_AGESEX.csv'</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'Kolommen aanwezig:'</a:t>
            </a:r>
            <a:r>
              <a:rPr lang="nl-NL" sz="1200" dirty="0">
                <a:solidFill>
                  <a:srgbClr val="CC7832"/>
                </a:solidFill>
              </a:rPr>
              <a:t>, </a:t>
            </a:r>
            <a:r>
              <a:rPr lang="nl-NL" sz="1200" dirty="0" err="1"/>
              <a:t>df.columns</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'Een enkele kolom is een series:'</a:t>
            </a:r>
            <a:r>
              <a:rPr lang="nl-NL" sz="1200" dirty="0">
                <a:solidFill>
                  <a:srgbClr val="CC7832"/>
                </a:solidFill>
              </a:rPr>
              <a:t>, </a:t>
            </a:r>
            <a:r>
              <a:rPr lang="nl-NL" sz="1200" dirty="0">
                <a:solidFill>
                  <a:srgbClr val="8888C6"/>
                </a:solidFill>
              </a:rPr>
              <a:t>type</a:t>
            </a:r>
            <a:r>
              <a:rPr lang="nl-NL" sz="1200" dirty="0"/>
              <a:t>(</a:t>
            </a:r>
            <a:r>
              <a:rPr lang="nl-NL" sz="1200" dirty="0" err="1"/>
              <a:t>df</a:t>
            </a:r>
            <a:r>
              <a:rPr lang="nl-NL" sz="1200" dirty="0"/>
              <a:t>[</a:t>
            </a:r>
            <a:r>
              <a:rPr lang="nl-NL" sz="1200" dirty="0">
                <a:solidFill>
                  <a:srgbClr val="6A8759"/>
                </a:solidFill>
              </a:rPr>
              <a:t>'PROVINCE'</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'Inhoud eerste 2 rijen:</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df</a:t>
            </a:r>
            <a:r>
              <a:rPr lang="nl-NL" sz="1200" dirty="0"/>
              <a:t>[</a:t>
            </a:r>
            <a:r>
              <a:rPr lang="nl-NL" sz="1200" dirty="0">
                <a:solidFill>
                  <a:srgbClr val="6A8759"/>
                </a:solidFill>
              </a:rPr>
              <a:t>'PROVINCE'</a:t>
            </a:r>
            <a:r>
              <a:rPr lang="nl-NL" sz="1200" dirty="0"/>
              <a:t>].</a:t>
            </a:r>
            <a:r>
              <a:rPr lang="nl-NL" sz="1200" dirty="0" err="1"/>
              <a:t>head</a:t>
            </a:r>
            <a:r>
              <a:rPr lang="nl-NL" sz="1200" dirty="0"/>
              <a:t>(</a:t>
            </a:r>
            <a:r>
              <a:rPr lang="nl-NL" sz="1200" dirty="0">
                <a:solidFill>
                  <a:srgbClr val="6897BB"/>
                </a:solidFill>
              </a:rPr>
              <a:t>2</a:t>
            </a:r>
            <a:r>
              <a:rPr lang="nl-NL" sz="1200" dirty="0"/>
              <a:t>))</a:t>
            </a:r>
            <a:br>
              <a:rPr lang="nl-NL" sz="1200" dirty="0"/>
            </a:br>
            <a:br>
              <a:rPr lang="nl-NL" sz="1200" dirty="0"/>
            </a:br>
            <a:r>
              <a:rPr lang="nl-NL" sz="1200" dirty="0">
                <a:solidFill>
                  <a:srgbClr val="8888C6"/>
                </a:solidFill>
              </a:rPr>
              <a:t>print</a:t>
            </a:r>
            <a:r>
              <a:rPr lang="nl-NL" sz="1200" dirty="0"/>
              <a:t>(</a:t>
            </a:r>
            <a:r>
              <a:rPr lang="nl-NL" sz="1200" dirty="0">
                <a:solidFill>
                  <a:srgbClr val="6A8759"/>
                </a:solidFill>
              </a:rPr>
              <a:t>'Meerdere kolommen selecteren:'</a:t>
            </a:r>
            <a:r>
              <a:rPr lang="nl-NL" sz="1200" dirty="0">
                <a:solidFill>
                  <a:srgbClr val="CC7832"/>
                </a:solidFill>
              </a:rPr>
              <a:t>, </a:t>
            </a:r>
            <a:r>
              <a:rPr lang="nl-NL" sz="1200" dirty="0" err="1"/>
              <a:t>df</a:t>
            </a:r>
            <a:r>
              <a:rPr lang="nl-NL" sz="1200" dirty="0"/>
              <a:t>[[</a:t>
            </a:r>
            <a:r>
              <a:rPr lang="nl-NL" sz="1200" dirty="0">
                <a:solidFill>
                  <a:srgbClr val="6A8759"/>
                </a:solidFill>
              </a:rPr>
              <a:t>'PROVINCE'</a:t>
            </a:r>
            <a:r>
              <a:rPr lang="nl-NL" sz="1200" dirty="0">
                <a:solidFill>
                  <a:srgbClr val="CC7832"/>
                </a:solidFill>
              </a:rPr>
              <a:t>, </a:t>
            </a:r>
            <a:r>
              <a:rPr lang="nl-NL" sz="1200" dirty="0">
                <a:solidFill>
                  <a:srgbClr val="6A8759"/>
                </a:solidFill>
              </a:rPr>
              <a:t>'REGION'</a:t>
            </a:r>
            <a:r>
              <a:rPr lang="nl-NL" sz="1200" dirty="0"/>
              <a:t>]].</a:t>
            </a:r>
            <a:r>
              <a:rPr lang="nl-NL" sz="1200" dirty="0" err="1"/>
              <a:t>head</a:t>
            </a:r>
            <a:r>
              <a:rPr lang="nl-NL" sz="1200" dirty="0"/>
              <a:t>(</a:t>
            </a:r>
            <a:r>
              <a:rPr lang="nl-NL" sz="1200" dirty="0">
                <a:solidFill>
                  <a:srgbClr val="6897BB"/>
                </a:solidFill>
              </a:rPr>
              <a:t>2</a:t>
            </a:r>
            <a:r>
              <a:rPr lang="nl-NL" sz="1200" dirty="0"/>
              <a:t>))</a:t>
            </a:r>
            <a:br>
              <a:rPr lang="nl-NL" sz="1200" dirty="0"/>
            </a:br>
            <a:r>
              <a:rPr lang="nl-NL" sz="1200" dirty="0" err="1"/>
              <a:t>kolom_map</a:t>
            </a:r>
            <a:r>
              <a:rPr lang="nl-NL" sz="1200" dirty="0"/>
              <a:t> = {</a:t>
            </a:r>
            <a:r>
              <a:rPr lang="nl-NL" sz="1200" dirty="0">
                <a:solidFill>
                  <a:srgbClr val="6A8759"/>
                </a:solidFill>
              </a:rPr>
              <a:t>'PROVINCE'</a:t>
            </a:r>
            <a:r>
              <a:rPr lang="nl-NL" sz="1200" dirty="0"/>
              <a:t>: </a:t>
            </a:r>
            <a:r>
              <a:rPr lang="nl-NL" sz="1200" dirty="0">
                <a:solidFill>
                  <a:srgbClr val="6A8759"/>
                </a:solidFill>
              </a:rPr>
              <a:t>'provincie'</a:t>
            </a:r>
            <a:r>
              <a:rPr lang="nl-NL" sz="1200" dirty="0">
                <a:solidFill>
                  <a:srgbClr val="CC7832"/>
                </a:solidFill>
              </a:rPr>
              <a:t>, </a:t>
            </a:r>
            <a:r>
              <a:rPr lang="nl-NL" sz="1200" dirty="0">
                <a:solidFill>
                  <a:srgbClr val="6A8759"/>
                </a:solidFill>
              </a:rPr>
              <a:t>'REGION'</a:t>
            </a:r>
            <a:r>
              <a:rPr lang="nl-NL" sz="1200" dirty="0"/>
              <a:t>: </a:t>
            </a:r>
            <a:r>
              <a:rPr lang="nl-NL" sz="1200" dirty="0">
                <a:solidFill>
                  <a:srgbClr val="6A8759"/>
                </a:solidFill>
              </a:rPr>
              <a:t>'regio'</a:t>
            </a:r>
            <a:r>
              <a:rPr lang="nl-NL" sz="1200" dirty="0"/>
              <a:t>}</a:t>
            </a:r>
            <a:br>
              <a:rPr lang="nl-NL" sz="1200" dirty="0"/>
            </a:br>
            <a:r>
              <a:rPr lang="nl-NL" sz="1200" dirty="0" err="1"/>
              <a:t>df</a:t>
            </a:r>
            <a:r>
              <a:rPr lang="nl-NL" sz="1200" dirty="0"/>
              <a:t> = </a:t>
            </a:r>
            <a:r>
              <a:rPr lang="nl-NL" sz="1200" dirty="0" err="1"/>
              <a:t>df.rename</a:t>
            </a:r>
            <a:r>
              <a:rPr lang="nl-NL" sz="1200" dirty="0"/>
              <a:t>(</a:t>
            </a:r>
            <a:r>
              <a:rPr lang="nl-NL" sz="1200" dirty="0">
                <a:solidFill>
                  <a:srgbClr val="AA4926"/>
                </a:solidFill>
              </a:rPr>
              <a:t>columns</a:t>
            </a:r>
            <a:r>
              <a:rPr lang="nl-NL" sz="1200" dirty="0"/>
              <a:t>=</a:t>
            </a:r>
            <a:r>
              <a:rPr lang="nl-NL" sz="1200" dirty="0" err="1"/>
              <a:t>kolom_map</a:t>
            </a:r>
            <a:r>
              <a:rPr lang="nl-NL" sz="1200" dirty="0"/>
              <a:t>)</a:t>
            </a:r>
            <a:br>
              <a:rPr lang="nl-NL" sz="1200" dirty="0"/>
            </a:br>
            <a:r>
              <a:rPr lang="nl-NL" sz="1200" dirty="0">
                <a:solidFill>
                  <a:srgbClr val="8888C6"/>
                </a:solidFill>
              </a:rPr>
              <a:t>print</a:t>
            </a:r>
            <a:r>
              <a:rPr lang="nl-NL" sz="1200" dirty="0"/>
              <a:t>(</a:t>
            </a:r>
            <a:r>
              <a:rPr lang="nl-NL" sz="1200" dirty="0">
                <a:solidFill>
                  <a:srgbClr val="6A8759"/>
                </a:solidFill>
              </a:rPr>
              <a:t>'Hernoemde data:</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df.head</a:t>
            </a:r>
            <a:r>
              <a:rPr lang="nl-NL" sz="1200" dirty="0"/>
              <a:t>(</a:t>
            </a:r>
            <a:r>
              <a:rPr lang="nl-NL" sz="1200" dirty="0">
                <a:solidFill>
                  <a:srgbClr val="6897BB"/>
                </a:solidFill>
              </a:rPr>
              <a:t>3</a:t>
            </a:r>
            <a:r>
              <a:rPr lang="nl-NL" sz="1200" dirty="0"/>
              <a:t>))</a:t>
            </a:r>
          </a:p>
        </p:txBody>
      </p:sp>
      <p:sp>
        <p:nvSpPr>
          <p:cNvPr id="6" name="Rectangle 5">
            <a:extLst>
              <a:ext uri="{FF2B5EF4-FFF2-40B4-BE49-F238E27FC236}">
                <a16:creationId xmlns:a16="http://schemas.microsoft.com/office/drawing/2014/main" id="{C123021E-491A-FD48-8846-65A8B0D7AD1A}"/>
              </a:ext>
            </a:extLst>
          </p:cNvPr>
          <p:cNvSpPr/>
          <p:nvPr/>
        </p:nvSpPr>
        <p:spPr>
          <a:xfrm>
            <a:off x="6296651" y="2772361"/>
            <a:ext cx="5804453" cy="3016210"/>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Kolommen aanwezig: Index(['DATE', 'PROVINCE', 'REGION', 'AGEGROUP', 'SEX', 'CASES'], </a:t>
            </a:r>
            <a:r>
              <a:rPr lang="nl-NL" sz="1000" dirty="0" err="1">
                <a:latin typeface="Courier New" panose="02070309020205020404" pitchFamily="49" charset="0"/>
                <a:cs typeface="Courier New" panose="02070309020205020404" pitchFamily="49" charset="0"/>
              </a:rPr>
              <a:t>dtype</a:t>
            </a:r>
            <a:r>
              <a:rPr lang="nl-NL" sz="1000" dirty="0">
                <a:latin typeface="Courier New" panose="02070309020205020404" pitchFamily="49" charset="0"/>
                <a:cs typeface="Courier New" panose="02070309020205020404" pitchFamily="49" charset="0"/>
              </a:rPr>
              <a:t>='object')</a:t>
            </a:r>
          </a:p>
          <a:p>
            <a:r>
              <a:rPr lang="nl-NL" sz="1000" dirty="0">
                <a:latin typeface="Courier New" panose="02070309020205020404" pitchFamily="49" charset="0"/>
                <a:cs typeface="Courier New" panose="02070309020205020404" pitchFamily="49" charset="0"/>
              </a:rPr>
              <a:t>Een enkele kolom is een series: &lt;class '</a:t>
            </a:r>
            <a:r>
              <a:rPr lang="nl-NL" sz="1000" dirty="0" err="1">
                <a:latin typeface="Courier New" panose="02070309020205020404" pitchFamily="49" charset="0"/>
                <a:cs typeface="Courier New" panose="02070309020205020404" pitchFamily="49" charset="0"/>
              </a:rPr>
              <a:t>pandas.core.series.Series</a:t>
            </a:r>
            <a:r>
              <a:rPr lang="nl-NL" sz="1000" dirty="0">
                <a:latin typeface="Courier New" panose="02070309020205020404" pitchFamily="49" charset="0"/>
                <a:cs typeface="Courier New" panose="02070309020205020404" pitchFamily="49" charset="0"/>
              </a:rPr>
              <a:t>’&gt;</a:t>
            </a:r>
          </a:p>
          <a:p>
            <a:endParaRPr lang="nl-NL" sz="1000" dirty="0">
              <a:latin typeface="Courier New" panose="02070309020205020404" pitchFamily="49" charset="0"/>
              <a:cs typeface="Courier New" panose="02070309020205020404" pitchFamily="49" charset="0"/>
            </a:endParaRPr>
          </a:p>
          <a:p>
            <a:r>
              <a:rPr lang="nl-NL" sz="1000" dirty="0">
                <a:solidFill>
                  <a:srgbClr val="FF0000"/>
                </a:solidFill>
                <a:latin typeface="Courier New" panose="02070309020205020404" pitchFamily="49" charset="0"/>
                <a:cs typeface="Courier New" panose="02070309020205020404" pitchFamily="49" charset="0"/>
              </a:rPr>
              <a:t>Inhoud eerste 2 rijen:</a:t>
            </a:r>
          </a:p>
          <a:p>
            <a:r>
              <a:rPr lang="nl-NL" sz="1000" dirty="0">
                <a:solidFill>
                  <a:srgbClr val="FF0000"/>
                </a:solidFill>
                <a:latin typeface="Courier New" panose="02070309020205020404" pitchFamily="49" charset="0"/>
                <a:cs typeface="Courier New" panose="02070309020205020404" pitchFamily="49" charset="0"/>
              </a:rPr>
              <a:t>0    Antwerpen</a:t>
            </a:r>
          </a:p>
          <a:p>
            <a:r>
              <a:rPr lang="nl-NL" sz="1000" dirty="0">
                <a:solidFill>
                  <a:srgbClr val="FF0000"/>
                </a:solidFill>
                <a:latin typeface="Courier New" panose="02070309020205020404" pitchFamily="49" charset="0"/>
                <a:cs typeface="Courier New" panose="02070309020205020404" pitchFamily="49" charset="0"/>
              </a:rPr>
              <a:t>1     Brussels</a:t>
            </a:r>
          </a:p>
          <a:p>
            <a:r>
              <a:rPr lang="nl-NL" sz="1000" dirty="0">
                <a:solidFill>
                  <a:srgbClr val="FF0000"/>
                </a:solidFill>
                <a:latin typeface="Courier New" panose="02070309020205020404" pitchFamily="49" charset="0"/>
                <a:cs typeface="Courier New" panose="02070309020205020404" pitchFamily="49" charset="0"/>
              </a:rPr>
              <a:t>Name: PROVINCE, </a:t>
            </a:r>
            <a:r>
              <a:rPr lang="nl-NL" sz="1000" dirty="0" err="1">
                <a:solidFill>
                  <a:srgbClr val="FF0000"/>
                </a:solidFill>
                <a:latin typeface="Courier New" panose="02070309020205020404" pitchFamily="49" charset="0"/>
                <a:cs typeface="Courier New" panose="02070309020205020404" pitchFamily="49" charset="0"/>
              </a:rPr>
              <a:t>dtype</a:t>
            </a:r>
            <a:r>
              <a:rPr lang="nl-NL" sz="1000" dirty="0">
                <a:solidFill>
                  <a:srgbClr val="FF0000"/>
                </a:solidFill>
                <a:latin typeface="Courier New" panose="02070309020205020404" pitchFamily="49" charset="0"/>
                <a:cs typeface="Courier New" panose="02070309020205020404" pitchFamily="49" charset="0"/>
              </a:rPr>
              <a:t>: object</a:t>
            </a:r>
          </a:p>
          <a:p>
            <a:endParaRPr lang="nl-NL" sz="1000" dirty="0">
              <a:latin typeface="Courier New" panose="02070309020205020404" pitchFamily="49" charset="0"/>
              <a:cs typeface="Courier New" panose="02070309020205020404" pitchFamily="49" charset="0"/>
            </a:endParaRPr>
          </a:p>
          <a:p>
            <a:r>
              <a:rPr lang="nl-NL" sz="1000" dirty="0">
                <a:solidFill>
                  <a:srgbClr val="00B0F0"/>
                </a:solidFill>
                <a:latin typeface="Courier New" panose="02070309020205020404" pitchFamily="49" charset="0"/>
                <a:cs typeface="Courier New" panose="02070309020205020404" pitchFamily="49" charset="0"/>
              </a:rPr>
              <a:t>Meerdere kolommen selecteren:     </a:t>
            </a:r>
          </a:p>
          <a:p>
            <a:r>
              <a:rPr lang="nl-NL" sz="1000" dirty="0">
                <a:solidFill>
                  <a:srgbClr val="00B0F0"/>
                </a:solidFill>
                <a:latin typeface="Courier New" panose="02070309020205020404" pitchFamily="49" charset="0"/>
                <a:cs typeface="Courier New" panose="02070309020205020404" pitchFamily="49" charset="0"/>
              </a:rPr>
              <a:t>    PROVINCE    REGION</a:t>
            </a:r>
          </a:p>
          <a:p>
            <a:r>
              <a:rPr lang="nl-NL" sz="1000" dirty="0">
                <a:solidFill>
                  <a:srgbClr val="00B0F0"/>
                </a:solidFill>
                <a:latin typeface="Courier New" panose="02070309020205020404" pitchFamily="49" charset="0"/>
                <a:cs typeface="Courier New" panose="02070309020205020404" pitchFamily="49" charset="0"/>
              </a:rPr>
              <a:t>0  Antwerpen  </a:t>
            </a:r>
            <a:r>
              <a:rPr lang="nl-NL" sz="1000" dirty="0" err="1">
                <a:solidFill>
                  <a:srgbClr val="00B0F0"/>
                </a:solidFill>
                <a:latin typeface="Courier New" panose="02070309020205020404" pitchFamily="49" charset="0"/>
                <a:cs typeface="Courier New" panose="02070309020205020404" pitchFamily="49" charset="0"/>
              </a:rPr>
              <a:t>Flanders</a:t>
            </a:r>
            <a:endParaRPr lang="nl-NL" sz="1000" dirty="0">
              <a:solidFill>
                <a:srgbClr val="00B0F0"/>
              </a:solidFill>
              <a:latin typeface="Courier New" panose="02070309020205020404" pitchFamily="49" charset="0"/>
              <a:cs typeface="Courier New" panose="02070309020205020404" pitchFamily="49" charset="0"/>
            </a:endParaRPr>
          </a:p>
          <a:p>
            <a:pPr marL="342900" indent="-342900">
              <a:buAutoNum type="arabicPlain"/>
            </a:pPr>
            <a:r>
              <a:rPr lang="nl-NL" sz="1000" dirty="0">
                <a:solidFill>
                  <a:srgbClr val="00B0F0"/>
                </a:solidFill>
                <a:latin typeface="Courier New" panose="02070309020205020404" pitchFamily="49" charset="0"/>
                <a:cs typeface="Courier New" panose="02070309020205020404" pitchFamily="49" charset="0"/>
              </a:rPr>
              <a:t>Brussels  Brussels</a:t>
            </a:r>
          </a:p>
          <a:p>
            <a:endParaRPr lang="nl-NL" sz="1000" dirty="0">
              <a:latin typeface="Courier New" panose="02070309020205020404" pitchFamily="49" charset="0"/>
              <a:cs typeface="Courier New" panose="02070309020205020404" pitchFamily="49" charset="0"/>
            </a:endParaRPr>
          </a:p>
          <a:p>
            <a:r>
              <a:rPr lang="nl-NL" sz="1000" dirty="0">
                <a:latin typeface="Courier New" panose="02070309020205020404" pitchFamily="49" charset="0"/>
                <a:cs typeface="Courier New" panose="02070309020205020404" pitchFamily="49" charset="0"/>
              </a:rPr>
              <a:t>Hernoemde data:</a:t>
            </a:r>
          </a:p>
          <a:p>
            <a:r>
              <a:rPr lang="nl-NL" sz="1000" dirty="0">
                <a:latin typeface="Courier New" panose="02070309020205020404" pitchFamily="49" charset="0"/>
                <a:cs typeface="Courier New" panose="02070309020205020404" pitchFamily="49" charset="0"/>
              </a:rPr>
              <a:t>          DATE  provincie     regio AGEGROUP SEX  CASES</a:t>
            </a:r>
          </a:p>
          <a:p>
            <a:r>
              <a:rPr lang="nl-NL" sz="1000" dirty="0">
                <a:latin typeface="Courier New" panose="02070309020205020404" pitchFamily="49" charset="0"/>
                <a:cs typeface="Courier New" panose="02070309020205020404" pitchFamily="49" charset="0"/>
              </a:rPr>
              <a:t>0  2020-03-01  Antwerpen  </a:t>
            </a:r>
            <a:r>
              <a:rPr lang="nl-NL" sz="1000" dirty="0" err="1">
                <a:latin typeface="Courier New" panose="02070309020205020404" pitchFamily="49" charset="0"/>
                <a:cs typeface="Courier New" panose="02070309020205020404" pitchFamily="49" charset="0"/>
              </a:rPr>
              <a:t>Flanders</a:t>
            </a:r>
            <a:r>
              <a:rPr lang="nl-NL" sz="1000" dirty="0">
                <a:latin typeface="Courier New" panose="02070309020205020404" pitchFamily="49" charset="0"/>
                <a:cs typeface="Courier New" panose="02070309020205020404" pitchFamily="49" charset="0"/>
              </a:rPr>
              <a:t>    40-49   M      1</a:t>
            </a:r>
          </a:p>
          <a:p>
            <a:r>
              <a:rPr lang="nl-NL" sz="1000" dirty="0">
                <a:latin typeface="Courier New" panose="02070309020205020404" pitchFamily="49" charset="0"/>
                <a:cs typeface="Courier New" panose="02070309020205020404" pitchFamily="49" charset="0"/>
              </a:rPr>
              <a:t>1  2020-03-01   Brussels  Brussels    10-19   F      1</a:t>
            </a:r>
          </a:p>
          <a:p>
            <a:r>
              <a:rPr lang="nl-NL" sz="1000" dirty="0">
                <a:latin typeface="Courier New" panose="02070309020205020404" pitchFamily="49" charset="0"/>
                <a:cs typeface="Courier New" panose="02070309020205020404" pitchFamily="49" charset="0"/>
              </a:rPr>
              <a:t>2  2020-03-01   Brussels  Brussels    10-19   M      1</a:t>
            </a:r>
          </a:p>
        </p:txBody>
      </p:sp>
      <p:cxnSp>
        <p:nvCxnSpPr>
          <p:cNvPr id="7" name="Straight Arrow Connector 6">
            <a:extLst>
              <a:ext uri="{FF2B5EF4-FFF2-40B4-BE49-F238E27FC236}">
                <a16:creationId xmlns:a16="http://schemas.microsoft.com/office/drawing/2014/main" id="{49FF4CC2-20DA-1349-9451-A50E017B98AC}"/>
              </a:ext>
            </a:extLst>
          </p:cNvPr>
          <p:cNvCxnSpPr>
            <a:cxnSpLocks/>
            <a:endCxn id="11" idx="1"/>
          </p:cNvCxnSpPr>
          <p:nvPr/>
        </p:nvCxnSpPr>
        <p:spPr>
          <a:xfrm flipV="1">
            <a:off x="8092114" y="1784738"/>
            <a:ext cx="819839" cy="7915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E634656-B627-C641-9698-002253F9DECA}"/>
              </a:ext>
            </a:extLst>
          </p:cNvPr>
          <p:cNvSpPr txBox="1"/>
          <p:nvPr/>
        </p:nvSpPr>
        <p:spPr>
          <a:xfrm>
            <a:off x="8911953" y="1276906"/>
            <a:ext cx="3129303" cy="1015663"/>
          </a:xfrm>
          <a:prstGeom prst="rect">
            <a:avLst/>
          </a:prstGeom>
          <a:noFill/>
        </p:spPr>
        <p:txBody>
          <a:bodyPr wrap="square" rtlCol="0">
            <a:spAutoFit/>
          </a:bodyPr>
          <a:lstStyle/>
          <a:p>
            <a:r>
              <a:rPr lang="nl-NL" sz="1200" dirty="0">
                <a:latin typeface="Courier New" panose="02070309020205020404" pitchFamily="49" charset="0"/>
                <a:cs typeface="Courier New" panose="02070309020205020404" pitchFamily="49" charset="0"/>
              </a:rPr>
              <a:t>Index</a:t>
            </a:r>
            <a:r>
              <a:rPr lang="nl-NL" sz="1200" dirty="0"/>
              <a:t> is een </a:t>
            </a:r>
            <a:r>
              <a:rPr lang="nl-NL" sz="1200" dirty="0" err="1"/>
              <a:t>itereerbaar</a:t>
            </a:r>
            <a:r>
              <a:rPr lang="nl-NL" sz="1200" dirty="0"/>
              <a:t> object en kan naar een lijst omgezet worden via </a:t>
            </a:r>
            <a:r>
              <a:rPr lang="nl-NL" sz="1200" dirty="0">
                <a:latin typeface="Courier New" panose="02070309020205020404" pitchFamily="49" charset="0"/>
                <a:cs typeface="Courier New" panose="02070309020205020404" pitchFamily="49" charset="0"/>
              </a:rPr>
              <a:t>list()</a:t>
            </a:r>
            <a:r>
              <a:rPr lang="nl-NL" sz="1200" dirty="0"/>
              <a:t> of opgeroepen via </a:t>
            </a:r>
            <a:r>
              <a:rPr lang="nl-NL" sz="1200" dirty="0">
                <a:latin typeface="Courier New" panose="02070309020205020404" pitchFamily="49" charset="0"/>
                <a:cs typeface="Courier New" panose="02070309020205020404" pitchFamily="49" charset="0"/>
              </a:rPr>
              <a:t>.</a:t>
            </a:r>
            <a:r>
              <a:rPr lang="nl-NL" sz="1200" dirty="0" err="1">
                <a:latin typeface="Courier New" panose="02070309020205020404" pitchFamily="49" charset="0"/>
                <a:cs typeface="Courier New" panose="02070309020205020404" pitchFamily="49" charset="0"/>
              </a:rPr>
              <a:t>values</a:t>
            </a:r>
            <a:r>
              <a:rPr lang="nl-NL" sz="1200" dirty="0">
                <a:latin typeface="Courier New" panose="02070309020205020404" pitchFamily="49" charset="0"/>
                <a:cs typeface="Courier New" panose="02070309020205020404" pitchFamily="49" charset="0"/>
              </a:rPr>
              <a:t> </a:t>
            </a:r>
            <a:r>
              <a:rPr lang="nl-NL" sz="1200" dirty="0">
                <a:latin typeface="+mj-lt"/>
                <a:cs typeface="Courier New" panose="02070309020205020404" pitchFamily="49" charset="0"/>
              </a:rPr>
              <a:t>om een </a:t>
            </a:r>
            <a:r>
              <a:rPr lang="nl-NL" sz="1200" dirty="0" err="1">
                <a:latin typeface="+mj-lt"/>
                <a:cs typeface="Courier New" panose="02070309020205020404" pitchFamily="49" charset="0"/>
              </a:rPr>
              <a:t>NumPy</a:t>
            </a:r>
            <a:r>
              <a:rPr lang="nl-NL" sz="1200" dirty="0">
                <a:latin typeface="+mj-lt"/>
                <a:cs typeface="Courier New" panose="02070309020205020404" pitchFamily="49" charset="0"/>
              </a:rPr>
              <a:t> array terug te krijgen (want het is een soort van Series object)</a:t>
            </a:r>
          </a:p>
        </p:txBody>
      </p:sp>
      <p:sp>
        <p:nvSpPr>
          <p:cNvPr id="12" name="TextBox 11">
            <a:extLst>
              <a:ext uri="{FF2B5EF4-FFF2-40B4-BE49-F238E27FC236}">
                <a16:creationId xmlns:a16="http://schemas.microsoft.com/office/drawing/2014/main" id="{01F0A60D-36AB-7142-833D-F4FD5871959C}"/>
              </a:ext>
            </a:extLst>
          </p:cNvPr>
          <p:cNvSpPr txBox="1"/>
          <p:nvPr/>
        </p:nvSpPr>
        <p:spPr>
          <a:xfrm>
            <a:off x="5245332" y="2403029"/>
            <a:ext cx="991472" cy="369332"/>
          </a:xfrm>
          <a:prstGeom prst="rect">
            <a:avLst/>
          </a:prstGeom>
          <a:noFill/>
        </p:spPr>
        <p:txBody>
          <a:bodyPr wrap="square" rtlCol="0">
            <a:spAutoFit/>
          </a:bodyPr>
          <a:lstStyle/>
          <a:p>
            <a:r>
              <a:rPr lang="nl-NL" dirty="0"/>
              <a:t>Output:</a:t>
            </a:r>
          </a:p>
        </p:txBody>
      </p:sp>
      <p:sp>
        <p:nvSpPr>
          <p:cNvPr id="13" name="TextBox 12">
            <a:extLst>
              <a:ext uri="{FF2B5EF4-FFF2-40B4-BE49-F238E27FC236}">
                <a16:creationId xmlns:a16="http://schemas.microsoft.com/office/drawing/2014/main" id="{574ECDCC-A76F-4640-AEA9-3D75FD65E8B1}"/>
              </a:ext>
            </a:extLst>
          </p:cNvPr>
          <p:cNvSpPr txBox="1"/>
          <p:nvPr/>
        </p:nvSpPr>
        <p:spPr>
          <a:xfrm>
            <a:off x="150744" y="3123364"/>
            <a:ext cx="946536" cy="369332"/>
          </a:xfrm>
          <a:prstGeom prst="rect">
            <a:avLst/>
          </a:prstGeom>
          <a:noFill/>
        </p:spPr>
        <p:txBody>
          <a:bodyPr wrap="square" rtlCol="0">
            <a:spAutoFit/>
          </a:bodyPr>
          <a:lstStyle/>
          <a:p>
            <a:r>
              <a:rPr lang="nl-NL" dirty="0"/>
              <a:t>Code:</a:t>
            </a:r>
          </a:p>
        </p:txBody>
      </p:sp>
      <p:cxnSp>
        <p:nvCxnSpPr>
          <p:cNvPr id="8" name="Straight Arrow Connector 7">
            <a:extLst>
              <a:ext uri="{FF2B5EF4-FFF2-40B4-BE49-F238E27FC236}">
                <a16:creationId xmlns:a16="http://schemas.microsoft.com/office/drawing/2014/main" id="{83232C98-EA0D-D7FD-FE2C-3AFCE2FDB625}"/>
              </a:ext>
            </a:extLst>
          </p:cNvPr>
          <p:cNvCxnSpPr>
            <a:cxnSpLocks/>
          </p:cNvCxnSpPr>
          <p:nvPr/>
        </p:nvCxnSpPr>
        <p:spPr>
          <a:xfrm flipH="1">
            <a:off x="4337049" y="4604619"/>
            <a:ext cx="94793" cy="7730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7DB50BD-2692-15EF-C74F-A3F02198FA42}"/>
              </a:ext>
            </a:extLst>
          </p:cNvPr>
          <p:cNvSpPr txBox="1"/>
          <p:nvPr/>
        </p:nvSpPr>
        <p:spPr>
          <a:xfrm>
            <a:off x="2766048" y="5377648"/>
            <a:ext cx="3129303" cy="461665"/>
          </a:xfrm>
          <a:prstGeom prst="rect">
            <a:avLst/>
          </a:prstGeom>
          <a:noFill/>
        </p:spPr>
        <p:txBody>
          <a:bodyPr wrap="square" rtlCol="0">
            <a:spAutoFit/>
          </a:bodyPr>
          <a:lstStyle/>
          <a:p>
            <a:r>
              <a:rPr lang="nl-NL" sz="1200" dirty="0"/>
              <a:t>Meerdere kolommen selecteer je door een </a:t>
            </a:r>
            <a:r>
              <a:rPr lang="nl-NL" sz="1200" dirty="0">
                <a:solidFill>
                  <a:schemeClr val="accent6">
                    <a:lumMod val="75000"/>
                  </a:schemeClr>
                </a:solidFill>
              </a:rPr>
              <a:t>lijst</a:t>
            </a:r>
            <a:r>
              <a:rPr lang="nl-NL" sz="1200" dirty="0"/>
              <a:t> van kolomnamen mee te geven</a:t>
            </a:r>
            <a:endParaRPr lang="nl-NL" sz="1200" dirty="0">
              <a:latin typeface="Courier New" panose="02070309020205020404" pitchFamily="49" charset="0"/>
              <a:cs typeface="Courier New" panose="02070309020205020404" pitchFamily="49" charset="0"/>
            </a:endParaRPr>
          </a:p>
        </p:txBody>
      </p:sp>
      <p:cxnSp>
        <p:nvCxnSpPr>
          <p:cNvPr id="14" name="Straight Arrow Connector 13">
            <a:extLst>
              <a:ext uri="{FF2B5EF4-FFF2-40B4-BE49-F238E27FC236}">
                <a16:creationId xmlns:a16="http://schemas.microsoft.com/office/drawing/2014/main" id="{8A9CD698-D971-628E-DDEB-B5D5E69B3033}"/>
              </a:ext>
            </a:extLst>
          </p:cNvPr>
          <p:cNvCxnSpPr>
            <a:cxnSpLocks/>
          </p:cNvCxnSpPr>
          <p:nvPr/>
        </p:nvCxnSpPr>
        <p:spPr>
          <a:xfrm flipV="1">
            <a:off x="4077025" y="3644900"/>
            <a:ext cx="2159779" cy="5397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59E43EE-36DA-98F7-8B76-FB26A0F6D103}"/>
              </a:ext>
            </a:extLst>
          </p:cNvPr>
          <p:cNvCxnSpPr>
            <a:cxnSpLocks/>
          </p:cNvCxnSpPr>
          <p:nvPr/>
        </p:nvCxnSpPr>
        <p:spPr>
          <a:xfrm>
            <a:off x="5461000" y="4514619"/>
            <a:ext cx="737707" cy="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1027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nSpc>
                <a:spcPts val="2400"/>
              </a:lnSpc>
              <a:spcBef>
                <a:spcPts val="0"/>
              </a:spcBef>
              <a:spcAft>
                <a:spcPts val="0"/>
              </a:spcAft>
              <a:buNone/>
            </a:pPr>
            <a:r>
              <a:rPr lang="nl-NL" sz="2000" dirty="0">
                <a:latin typeface="Consolas"/>
                <a:cs typeface="Consolas"/>
              </a:rPr>
              <a:t>df = pd.DataFrame({'naam': ['an', 'bo', 'cis'],</a:t>
            </a:r>
          </a:p>
          <a:p>
            <a:pPr marL="0" indent="0">
              <a:lnSpc>
                <a:spcPts val="2400"/>
              </a:lnSpc>
              <a:spcBef>
                <a:spcPts val="0"/>
              </a:spcBef>
              <a:spcAft>
                <a:spcPts val="0"/>
              </a:spcAft>
              <a:buNone/>
            </a:pPr>
            <a:r>
              <a:rPr lang="nl-NL" sz="2000" dirty="0">
                <a:latin typeface="Consolas"/>
                <a:cs typeface="Consolas"/>
              </a:rPr>
              <a:t>                   'punten': [14, 9, 17]})</a:t>
            </a:r>
          </a:p>
          <a:p>
            <a:pPr marL="0" indent="0">
              <a:lnSpc>
                <a:spcPts val="2400"/>
              </a:lnSpc>
              <a:spcBef>
                <a:spcPts val="0"/>
              </a:spcBef>
              <a:spcAft>
                <a:spcPts val="0"/>
              </a:spcAft>
              <a:buNone/>
            </a:pPr>
            <a:r>
              <a:rPr lang="nl-NL" sz="2000" dirty="0">
                <a:latin typeface="Consolas"/>
                <a:cs typeface="Consolas"/>
              </a:rPr>
              <a:t>print(df.shape)</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df.index = df['naam']</a:t>
            </a:r>
          </a:p>
          <a:p>
            <a:pPr marL="0" indent="0">
              <a:lnSpc>
                <a:spcPts val="2400"/>
              </a:lnSpc>
              <a:spcBef>
                <a:spcPts val="0"/>
              </a:spcBef>
              <a:spcAft>
                <a:spcPts val="0"/>
              </a:spcAft>
              <a:buNone/>
            </a:pPr>
            <a:r>
              <a:rPr lang="nl-NL" sz="2000" dirty="0">
                <a:latin typeface="Consolas"/>
                <a:cs typeface="Consolas"/>
              </a:rPr>
              <a:t>print(df.loc['bo', 'punten'], df.iloc[0, 1])</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df.rename(columns={'punten': 'score'})</a:t>
            </a:r>
          </a:p>
          <a:p>
            <a:pPr marL="0" indent="0">
              <a:lnSpc>
                <a:spcPts val="2400"/>
              </a:lnSpc>
              <a:spcBef>
                <a:spcPts val="0"/>
              </a:spcBef>
              <a:spcAft>
                <a:spcPts val="0"/>
              </a:spcAft>
              <a:buNone/>
            </a:pPr>
            <a:r>
              <a:rPr lang="nl-NL" sz="2000" dirty="0">
                <a:latin typeface="Consolas"/>
                <a:cs typeface="Consolas"/>
              </a:rPr>
              <a:t>print(list(df.columns))</a:t>
            </a:r>
          </a:p>
          <a:p>
            <a:pPr marL="0" indent="0">
              <a:lnSpc>
                <a:spcPts val="2400"/>
              </a:lnSpc>
              <a:spcBef>
                <a:spcPts val="0"/>
              </a:spcBef>
              <a:spcAft>
                <a:spcPts val="0"/>
              </a:spcAft>
              <a:buNone/>
            </a:pPr>
            <a:r>
              <a:rPr lang="nl-NL" sz="2000" dirty="0">
                <a:latin typeface="Consolas"/>
                <a:cs typeface="Consolas"/>
              </a:rPr>
              <a:t>print(df[['naam']].shape, df['naam'].shape)</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a:p>
            <a:pPr marL="0" indent="0">
              <a:spcBef>
                <a:spcPts val="600"/>
              </a:spcBef>
              <a:buNone/>
            </a:pPr>
            <a:r>
              <a:rPr lang="nl-NL" sz="1800" dirty="0">
                <a:solidFill>
                  <a:srgbClr val="1D8DB0"/>
                </a:solidFill>
              </a:rPr>
              <a:t>Hint: </a:t>
            </a:r>
            <a:r>
              <a:rPr lang="nl-NL" sz="1800" dirty="0">
                <a:solidFill>
                  <a:srgbClr val="1D8DB0"/>
                </a:solidFill>
                <a:latin typeface="Courier New" panose="02070309020205020404" pitchFamily="49" charset="0"/>
                <a:cs typeface="Courier New" panose="02070309020205020404" pitchFamily="49" charset="0"/>
              </a:rPr>
              <a:t>loc</a:t>
            </a:r>
            <a:r>
              <a:rPr lang="nl-NL" sz="1800" dirty="0">
                <a:solidFill>
                  <a:srgbClr val="1D8DB0"/>
                </a:solidFill>
              </a:rPr>
              <a:t> werkt met labels uit de index, </a:t>
            </a:r>
            <a:r>
              <a:rPr lang="nl-NL" sz="1800" dirty="0">
                <a:solidFill>
                  <a:srgbClr val="1D8DB0"/>
                </a:solidFill>
                <a:latin typeface="Courier New" panose="02070309020205020404" pitchFamily="49" charset="0"/>
                <a:cs typeface="Courier New" panose="02070309020205020404" pitchFamily="49" charset="0"/>
              </a:rPr>
              <a:t>iloc</a:t>
            </a:r>
            <a:r>
              <a:rPr lang="nl-NL" sz="1800" dirty="0">
                <a:solidFill>
                  <a:srgbClr val="1D8DB0"/>
                </a:solidFill>
              </a:rPr>
              <a:t> met posities</a:t>
            </a:r>
          </a:p>
        </p:txBody>
      </p:sp>
      <p:sp>
        <p:nvSpPr>
          <p:cNvPr id="3" name="Title 2"/>
          <p:cNvSpPr>
            <a:spLocks noGrp="1"/>
          </p:cNvSpPr>
          <p:nvPr>
            <p:ph type="title"/>
          </p:nvPr>
        </p:nvSpPr>
        <p:spPr/>
        <p:txBody>
          <a:bodyPr/>
          <a:lstStyle/>
          <a:p>
            <a:r>
              <a:t>Oefening 1B.6: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49</a:t>
            </a:fld>
            <a:endParaRPr lang="nl-NL"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A061B3-26B3-4C46-8B40-9707A6E4E235}"/>
              </a:ext>
            </a:extLst>
          </p:cNvPr>
          <p:cNvSpPr>
            <a:spLocks noGrp="1"/>
          </p:cNvSpPr>
          <p:nvPr>
            <p:ph idx="1"/>
          </p:nvPr>
        </p:nvSpPr>
        <p:spPr/>
        <p:txBody>
          <a:bodyPr>
            <a:normAutofit/>
          </a:bodyPr>
          <a:lstStyle/>
          <a:p>
            <a:r>
              <a:rPr lang="nl-NL" sz="2000" dirty="0"/>
              <a:t>De </a:t>
            </a:r>
            <a:r>
              <a:rPr lang="nl-NL" sz="2000" dirty="0" err="1">
                <a:latin typeface="Courier New" panose="02070309020205020404" pitchFamily="49" charset="0"/>
                <a:cs typeface="Courier New" panose="02070309020205020404" pitchFamily="49" charset="0"/>
              </a:rPr>
              <a:t>iterrows</a:t>
            </a:r>
            <a:r>
              <a:rPr lang="nl-NL" sz="2000" dirty="0">
                <a:latin typeface="Courier New" panose="02070309020205020404" pitchFamily="49" charset="0"/>
                <a:cs typeface="Courier New" panose="02070309020205020404" pitchFamily="49" charset="0"/>
              </a:rPr>
              <a:t>()</a:t>
            </a:r>
            <a:r>
              <a:rPr lang="nl-NL" sz="2000" dirty="0"/>
              <a:t> (</a:t>
            </a:r>
            <a:r>
              <a:rPr lang="nl-NL" sz="2000" dirty="0">
                <a:latin typeface="Courier New" panose="02070309020205020404" pitchFamily="49" charset="0"/>
                <a:cs typeface="Courier New" panose="02070309020205020404" pitchFamily="49" charset="0"/>
              </a:rPr>
              <a:t>(</a:t>
            </a:r>
            <a:r>
              <a:rPr lang="nl-NL" sz="2000" dirty="0" err="1">
                <a:latin typeface="Courier New" panose="02070309020205020404" pitchFamily="49" charset="0"/>
                <a:cs typeface="Courier New" panose="02070309020205020404" pitchFamily="49" charset="0"/>
              </a:rPr>
              <a:t>iter</a:t>
            </a:r>
            <a:r>
              <a:rPr lang="nl-NL" sz="2000" dirty="0">
                <a:latin typeface="Courier New" panose="02070309020205020404" pitchFamily="49" charset="0"/>
                <a:cs typeface="Courier New" panose="02070309020205020404" pitchFamily="49" charset="0"/>
              </a:rPr>
              <a:t>)items()</a:t>
            </a:r>
            <a:r>
              <a:rPr lang="nl-NL" sz="2000" dirty="0"/>
              <a:t> voor </a:t>
            </a:r>
            <a:r>
              <a:rPr lang="nl-NL" sz="2000" dirty="0">
                <a:latin typeface="Courier New" panose="02070309020205020404" pitchFamily="49" charset="0"/>
                <a:cs typeface="Courier New" panose="02070309020205020404" pitchFamily="49" charset="0"/>
              </a:rPr>
              <a:t>Series</a:t>
            </a:r>
            <a:r>
              <a:rPr lang="nl-NL" sz="2000" dirty="0"/>
              <a:t>) methode geeft een </a:t>
            </a:r>
            <a:r>
              <a:rPr lang="nl-NL" sz="2000" dirty="0" err="1"/>
              <a:t>tuple</a:t>
            </a:r>
            <a:r>
              <a:rPr lang="nl-NL" sz="2000" dirty="0"/>
              <a:t> van </a:t>
            </a:r>
            <a:r>
              <a:rPr lang="nl-NL" sz="2000" dirty="0">
                <a:solidFill>
                  <a:srgbClr val="00B0F0"/>
                </a:solidFill>
              </a:rPr>
              <a:t>rijnummer/index</a:t>
            </a:r>
            <a:r>
              <a:rPr lang="nl-NL" sz="2000" dirty="0"/>
              <a:t> terug samen met de </a:t>
            </a:r>
            <a:r>
              <a:rPr lang="nl-NL" sz="2000" dirty="0" err="1">
                <a:solidFill>
                  <a:srgbClr val="00B050"/>
                </a:solidFill>
              </a:rPr>
              <a:t>rijdata</a:t>
            </a:r>
            <a:r>
              <a:rPr lang="nl-NL" sz="2000" dirty="0"/>
              <a:t> als </a:t>
            </a:r>
            <a:r>
              <a:rPr lang="nl-NL" sz="2000" dirty="0">
                <a:latin typeface="Courier New" panose="02070309020205020404" pitchFamily="49" charset="0"/>
                <a:cs typeface="Courier New" panose="02070309020205020404" pitchFamily="49" charset="0"/>
              </a:rPr>
              <a:t>Series</a:t>
            </a:r>
            <a:r>
              <a:rPr lang="nl-NL" sz="2000" dirty="0"/>
              <a:t> object</a:t>
            </a:r>
          </a:p>
          <a:p>
            <a:pPr lvl="1"/>
            <a:r>
              <a:rPr lang="nl-NL" sz="1800" dirty="0"/>
              <a:t>In de nieuwere versie is het </a:t>
            </a:r>
            <a:r>
              <a:rPr lang="nl-NL" sz="1800" dirty="0">
                <a:solidFill>
                  <a:schemeClr val="accent6">
                    <a:lumMod val="75000"/>
                  </a:schemeClr>
                </a:solidFill>
              </a:rPr>
              <a:t>meestal</a:t>
            </a:r>
            <a:r>
              <a:rPr lang="nl-NL" sz="1800" dirty="0"/>
              <a:t> gewoon </a:t>
            </a:r>
            <a:r>
              <a:rPr lang="nl-NL" sz="1800" dirty="0">
                <a:latin typeface="Courier New" panose="02070309020205020404" pitchFamily="49" charset="0"/>
                <a:cs typeface="Courier New" panose="02070309020205020404" pitchFamily="49" charset="0"/>
              </a:rPr>
              <a:t>items() </a:t>
            </a:r>
            <a:r>
              <a:rPr lang="nl-NL" sz="1800" dirty="0"/>
              <a:t>voor </a:t>
            </a:r>
            <a:r>
              <a:rPr lang="nl-NL" sz="1800" dirty="0">
                <a:latin typeface="Courier New" panose="02070309020205020404" pitchFamily="49" charset="0"/>
                <a:cs typeface="Courier New" panose="02070309020205020404" pitchFamily="49" charset="0"/>
              </a:rPr>
              <a:t>Series</a:t>
            </a:r>
            <a:r>
              <a:rPr lang="nl-NL" sz="1800" dirty="0"/>
              <a:t>-objecten – </a:t>
            </a:r>
            <a:r>
              <a:rPr lang="nl-NL" sz="1800" dirty="0">
                <a:solidFill>
                  <a:schemeClr val="accent6">
                    <a:lumMod val="75000"/>
                  </a:schemeClr>
                </a:solidFill>
              </a:rPr>
              <a:t>test jouw versie!</a:t>
            </a:r>
          </a:p>
        </p:txBody>
      </p:sp>
      <p:sp>
        <p:nvSpPr>
          <p:cNvPr id="4" name="Slide Number Placeholder 3">
            <a:extLst>
              <a:ext uri="{FF2B5EF4-FFF2-40B4-BE49-F238E27FC236}">
                <a16:creationId xmlns:a16="http://schemas.microsoft.com/office/drawing/2014/main" id="{FEE8F5CB-2930-DB42-9BA8-B891F91C26BA}"/>
              </a:ext>
            </a:extLst>
          </p:cNvPr>
          <p:cNvSpPr>
            <a:spLocks noGrp="1"/>
          </p:cNvSpPr>
          <p:nvPr>
            <p:ph type="sldNum" sz="quarter" idx="12"/>
          </p:nvPr>
        </p:nvSpPr>
        <p:spPr/>
        <p:txBody>
          <a:bodyPr/>
          <a:lstStyle/>
          <a:p>
            <a:fld id="{D270EDC2-4F5E-5547-954F-5222C286AC2A}" type="slidenum">
              <a:rPr lang="nl-NL" smtClean="0"/>
              <a:t>50</a:t>
            </a:fld>
            <a:endParaRPr lang="nl-NL" dirty="0"/>
          </a:p>
        </p:txBody>
      </p:sp>
      <p:sp>
        <p:nvSpPr>
          <p:cNvPr id="2" name="Title 1">
            <a:extLst>
              <a:ext uri="{FF2B5EF4-FFF2-40B4-BE49-F238E27FC236}">
                <a16:creationId xmlns:a16="http://schemas.microsoft.com/office/drawing/2014/main" id="{DB3C9619-9B32-734D-8900-C98CA376F036}"/>
              </a:ext>
            </a:extLst>
          </p:cNvPr>
          <p:cNvSpPr>
            <a:spLocks noGrp="1"/>
          </p:cNvSpPr>
          <p:nvPr>
            <p:ph type="title"/>
          </p:nvPr>
        </p:nvSpPr>
        <p:spPr/>
        <p:txBody>
          <a:bodyPr/>
          <a:lstStyle/>
          <a:p>
            <a:r>
              <a:rPr lang="nl-NL" dirty="0"/>
              <a:t>Doorlopen rijen</a:t>
            </a:r>
          </a:p>
        </p:txBody>
      </p:sp>
      <p:sp>
        <p:nvSpPr>
          <p:cNvPr id="6" name="Rectangle 5">
            <a:extLst>
              <a:ext uri="{FF2B5EF4-FFF2-40B4-BE49-F238E27FC236}">
                <a16:creationId xmlns:a16="http://schemas.microsoft.com/office/drawing/2014/main" id="{DB7DF650-2873-1E4C-AFC0-2C1E8983C27F}"/>
              </a:ext>
            </a:extLst>
          </p:cNvPr>
          <p:cNvSpPr/>
          <p:nvPr/>
        </p:nvSpPr>
        <p:spPr>
          <a:xfrm>
            <a:off x="1050235" y="3666964"/>
            <a:ext cx="6096000" cy="954107"/>
          </a:xfrm>
          <a:prstGeom prst="rect">
            <a:avLst/>
          </a:prstGeom>
          <a:ln>
            <a:solidFill>
              <a:schemeClr val="tx1"/>
            </a:solidFill>
          </a:ln>
        </p:spPr>
        <p:txBody>
          <a:bodyPr>
            <a:spAutoFit/>
          </a:bodyPr>
          <a:lstStyle/>
          <a:p>
            <a:r>
              <a:rPr lang="nl-NL" sz="1400" dirty="0" err="1">
                <a:solidFill>
                  <a:srgbClr val="CC7832"/>
                </a:solidFill>
              </a:rPr>
              <a:t>for</a:t>
            </a:r>
            <a:r>
              <a:rPr lang="nl-NL" sz="1400" dirty="0">
                <a:solidFill>
                  <a:srgbClr val="CC7832"/>
                </a:solidFill>
              </a:rPr>
              <a:t> </a:t>
            </a:r>
            <a:r>
              <a:rPr lang="nl-NL" sz="1400" dirty="0" err="1">
                <a:solidFill>
                  <a:srgbClr val="00B0F0"/>
                </a:solidFill>
              </a:rPr>
              <a:t>rij_nummer</a:t>
            </a:r>
            <a:r>
              <a:rPr lang="nl-NL" sz="1400" dirty="0">
                <a:solidFill>
                  <a:srgbClr val="CC7832"/>
                </a:solidFill>
              </a:rPr>
              <a:t>, </a:t>
            </a:r>
            <a:r>
              <a:rPr lang="nl-NL" sz="1400" dirty="0" err="1">
                <a:solidFill>
                  <a:srgbClr val="00B050"/>
                </a:solidFill>
              </a:rPr>
              <a:t>rij_data</a:t>
            </a:r>
            <a:r>
              <a:rPr lang="nl-NL" sz="1400" dirty="0">
                <a:solidFill>
                  <a:srgbClr val="00B050"/>
                </a:solidFill>
              </a:rPr>
              <a:t> </a:t>
            </a:r>
            <a:r>
              <a:rPr lang="nl-NL" sz="1400" dirty="0">
                <a:solidFill>
                  <a:srgbClr val="CC7832"/>
                </a:solidFill>
              </a:rPr>
              <a:t>in </a:t>
            </a:r>
            <a:r>
              <a:rPr lang="nl-NL" sz="1400" dirty="0" err="1"/>
              <a:t>df.iterrows</a:t>
            </a:r>
            <a:r>
              <a:rPr lang="nl-NL" sz="1400" dirty="0"/>
              <a:t>():</a:t>
            </a:r>
            <a:br>
              <a:rPr lang="nl-NL" sz="1400" dirty="0"/>
            </a:br>
            <a:r>
              <a:rPr lang="nl-NL" sz="1400" dirty="0"/>
              <a:t>    </a:t>
            </a:r>
            <a:r>
              <a:rPr lang="nl-NL" sz="1400" dirty="0" err="1">
                <a:solidFill>
                  <a:srgbClr val="CC7832"/>
                </a:solidFill>
              </a:rPr>
              <a:t>if</a:t>
            </a:r>
            <a:r>
              <a:rPr lang="nl-NL" sz="1400" dirty="0">
                <a:solidFill>
                  <a:srgbClr val="CC7832"/>
                </a:solidFill>
              </a:rPr>
              <a:t> </a:t>
            </a:r>
            <a:r>
              <a:rPr lang="nl-NL" sz="1400" dirty="0" err="1"/>
              <a:t>rij_nummer</a:t>
            </a:r>
            <a:r>
              <a:rPr lang="nl-NL" sz="1400" dirty="0"/>
              <a:t> &gt; </a:t>
            </a:r>
            <a:r>
              <a:rPr lang="nl-NL" sz="1400" dirty="0">
                <a:solidFill>
                  <a:srgbClr val="6897BB"/>
                </a:solidFill>
              </a:rPr>
              <a:t>5</a:t>
            </a:r>
            <a:r>
              <a:rPr lang="nl-NL" sz="1400" dirty="0"/>
              <a:t>:</a:t>
            </a:r>
            <a:br>
              <a:rPr lang="nl-NL" sz="1400" dirty="0"/>
            </a:br>
            <a:r>
              <a:rPr lang="nl-NL" sz="1400" dirty="0"/>
              <a:t>        </a:t>
            </a:r>
            <a:r>
              <a:rPr lang="nl-NL" sz="1400" dirty="0">
                <a:solidFill>
                  <a:srgbClr val="CC7832"/>
                </a:solidFill>
              </a:rPr>
              <a:t>break</a:t>
            </a:r>
            <a:br>
              <a:rPr lang="nl-NL" sz="1400" dirty="0">
                <a:solidFill>
                  <a:srgbClr val="CC7832"/>
                </a:solidFill>
              </a:rPr>
            </a:br>
            <a:r>
              <a:rPr lang="nl-NL" sz="1400" dirty="0">
                <a:solidFill>
                  <a:srgbClr val="CC7832"/>
                </a:solidFill>
              </a:rPr>
              <a:t>    </a:t>
            </a:r>
            <a:r>
              <a:rPr lang="nl-NL" sz="1400" dirty="0">
                <a:solidFill>
                  <a:srgbClr val="8888C6"/>
                </a:solidFill>
              </a:rPr>
              <a:t>print</a:t>
            </a:r>
            <a:r>
              <a:rPr lang="nl-NL" sz="1400" dirty="0"/>
              <a:t>(</a:t>
            </a:r>
            <a:r>
              <a:rPr lang="nl-NL" sz="1400" dirty="0">
                <a:solidFill>
                  <a:srgbClr val="6A8759"/>
                </a:solidFill>
              </a:rPr>
              <a:t>'{0:6}, {1}'</a:t>
            </a:r>
            <a:r>
              <a:rPr lang="nl-NL" sz="1400" dirty="0"/>
              <a:t>.format(</a:t>
            </a:r>
            <a:r>
              <a:rPr lang="nl-NL" sz="1400" dirty="0" err="1"/>
              <a:t>rij_nummer</a:t>
            </a:r>
            <a:r>
              <a:rPr lang="nl-NL" sz="1400" dirty="0">
                <a:solidFill>
                  <a:srgbClr val="CC7832"/>
                </a:solidFill>
              </a:rPr>
              <a:t>, </a:t>
            </a:r>
            <a:r>
              <a:rPr lang="nl-NL" sz="1400" dirty="0" err="1"/>
              <a:t>rij_data</a:t>
            </a:r>
            <a:r>
              <a:rPr lang="nl-NL" sz="1400" dirty="0"/>
              <a:t>[</a:t>
            </a:r>
            <a:r>
              <a:rPr lang="nl-NL" sz="1400" dirty="0">
                <a:solidFill>
                  <a:srgbClr val="6A8759"/>
                </a:solidFill>
              </a:rPr>
              <a:t>'provincie'</a:t>
            </a:r>
            <a:r>
              <a:rPr lang="nl-NL" sz="1400" dirty="0"/>
              <a:t>]))</a:t>
            </a:r>
          </a:p>
        </p:txBody>
      </p:sp>
      <p:sp>
        <p:nvSpPr>
          <p:cNvPr id="7" name="Rectangle 6">
            <a:extLst>
              <a:ext uri="{FF2B5EF4-FFF2-40B4-BE49-F238E27FC236}">
                <a16:creationId xmlns:a16="http://schemas.microsoft.com/office/drawing/2014/main" id="{A34E0DE3-68F2-4B48-8D81-4CDA249E6040}"/>
              </a:ext>
            </a:extLst>
          </p:cNvPr>
          <p:cNvSpPr/>
          <p:nvPr/>
        </p:nvSpPr>
        <p:spPr>
          <a:xfrm>
            <a:off x="7880909" y="3666964"/>
            <a:ext cx="3001617" cy="1015663"/>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 0, Antwerpen</a:t>
            </a:r>
          </a:p>
          <a:p>
            <a:r>
              <a:rPr lang="nl-NL" sz="1000" dirty="0">
                <a:latin typeface="Courier New" panose="02070309020205020404" pitchFamily="49" charset="0"/>
                <a:cs typeface="Courier New" panose="02070309020205020404" pitchFamily="49" charset="0"/>
              </a:rPr>
              <a:t> 1, Brussels</a:t>
            </a:r>
          </a:p>
          <a:p>
            <a:r>
              <a:rPr lang="nl-NL" sz="1000" dirty="0">
                <a:latin typeface="Courier New" panose="02070309020205020404" pitchFamily="49" charset="0"/>
                <a:cs typeface="Courier New" panose="02070309020205020404" pitchFamily="49" charset="0"/>
              </a:rPr>
              <a:t> 2, Brussels</a:t>
            </a:r>
          </a:p>
          <a:p>
            <a:r>
              <a:rPr lang="nl-NL" sz="1000" dirty="0">
                <a:latin typeface="Courier New" panose="02070309020205020404" pitchFamily="49" charset="0"/>
                <a:cs typeface="Courier New" panose="02070309020205020404" pitchFamily="49" charset="0"/>
              </a:rPr>
              <a:t> 3, Brussels</a:t>
            </a:r>
          </a:p>
          <a:p>
            <a:r>
              <a:rPr lang="nl-NL" sz="1000" dirty="0">
                <a:latin typeface="Courier New" panose="02070309020205020404" pitchFamily="49" charset="0"/>
                <a:cs typeface="Courier New" panose="02070309020205020404" pitchFamily="49" charset="0"/>
              </a:rPr>
              <a:t> 4, Brussels</a:t>
            </a:r>
          </a:p>
          <a:p>
            <a:r>
              <a:rPr lang="nl-NL" sz="1000" dirty="0">
                <a:latin typeface="Courier New" panose="02070309020205020404" pitchFamily="49" charset="0"/>
                <a:cs typeface="Courier New" panose="02070309020205020404" pitchFamily="49" charset="0"/>
              </a:rPr>
              <a:t> 5, Brussels</a:t>
            </a:r>
          </a:p>
        </p:txBody>
      </p:sp>
      <p:sp>
        <p:nvSpPr>
          <p:cNvPr id="8" name="TextBox 7">
            <a:extLst>
              <a:ext uri="{FF2B5EF4-FFF2-40B4-BE49-F238E27FC236}">
                <a16:creationId xmlns:a16="http://schemas.microsoft.com/office/drawing/2014/main" id="{D6F6EA88-CB81-AA41-AE0E-5D0B123F139A}"/>
              </a:ext>
            </a:extLst>
          </p:cNvPr>
          <p:cNvSpPr txBox="1"/>
          <p:nvPr/>
        </p:nvSpPr>
        <p:spPr>
          <a:xfrm>
            <a:off x="7871792" y="3297632"/>
            <a:ext cx="1155830" cy="369332"/>
          </a:xfrm>
          <a:prstGeom prst="rect">
            <a:avLst/>
          </a:prstGeom>
          <a:noFill/>
        </p:spPr>
        <p:txBody>
          <a:bodyPr wrap="square" rtlCol="0">
            <a:spAutoFit/>
          </a:bodyPr>
          <a:lstStyle/>
          <a:p>
            <a:r>
              <a:rPr lang="nl-NL" dirty="0"/>
              <a:t>Output:</a:t>
            </a:r>
          </a:p>
        </p:txBody>
      </p:sp>
      <p:sp>
        <p:nvSpPr>
          <p:cNvPr id="9" name="TextBox 8">
            <a:extLst>
              <a:ext uri="{FF2B5EF4-FFF2-40B4-BE49-F238E27FC236}">
                <a16:creationId xmlns:a16="http://schemas.microsoft.com/office/drawing/2014/main" id="{EA3EB90C-0DE1-A64B-827C-79FA688E5EBA}"/>
              </a:ext>
            </a:extLst>
          </p:cNvPr>
          <p:cNvSpPr txBox="1"/>
          <p:nvPr/>
        </p:nvSpPr>
        <p:spPr>
          <a:xfrm>
            <a:off x="1050235" y="3297632"/>
            <a:ext cx="936507" cy="369332"/>
          </a:xfrm>
          <a:prstGeom prst="rect">
            <a:avLst/>
          </a:prstGeom>
          <a:noFill/>
        </p:spPr>
        <p:txBody>
          <a:bodyPr wrap="square" rtlCol="0">
            <a:spAutoFit/>
          </a:bodyPr>
          <a:lstStyle/>
          <a:p>
            <a:r>
              <a:rPr lang="nl-NL" dirty="0"/>
              <a:t>Code:</a:t>
            </a:r>
          </a:p>
        </p:txBody>
      </p:sp>
      <p:cxnSp>
        <p:nvCxnSpPr>
          <p:cNvPr id="5" name="Straight Arrow Connector 4">
            <a:extLst>
              <a:ext uri="{FF2B5EF4-FFF2-40B4-BE49-F238E27FC236}">
                <a16:creationId xmlns:a16="http://schemas.microsoft.com/office/drawing/2014/main" id="{2AFB1176-DF4D-1F07-270A-777B1D0C559B}"/>
              </a:ext>
            </a:extLst>
          </p:cNvPr>
          <p:cNvCxnSpPr>
            <a:cxnSpLocks/>
          </p:cNvCxnSpPr>
          <p:nvPr/>
        </p:nvCxnSpPr>
        <p:spPr>
          <a:xfrm>
            <a:off x="4965469" y="4597112"/>
            <a:ext cx="1315453" cy="6798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B855FB2-1946-E2F4-E00C-32B19FC9D8B2}"/>
              </a:ext>
            </a:extLst>
          </p:cNvPr>
          <p:cNvSpPr txBox="1"/>
          <p:nvPr/>
        </p:nvSpPr>
        <p:spPr>
          <a:xfrm>
            <a:off x="5819757" y="5253042"/>
            <a:ext cx="3407370" cy="646331"/>
          </a:xfrm>
          <a:prstGeom prst="rect">
            <a:avLst/>
          </a:prstGeom>
          <a:noFill/>
        </p:spPr>
        <p:txBody>
          <a:bodyPr wrap="square" rtlCol="0">
            <a:spAutoFit/>
          </a:bodyPr>
          <a:lstStyle/>
          <a:p>
            <a:r>
              <a:rPr lang="nl-NL" sz="1200" dirty="0"/>
              <a:t>Binnen de data van de rij kunnen we gewoon de kolom ‘provincie’ opvragen vermits </a:t>
            </a:r>
            <a:r>
              <a:rPr lang="nl-NL" sz="1200" dirty="0" err="1">
                <a:solidFill>
                  <a:srgbClr val="00B050"/>
                </a:solidFill>
                <a:latin typeface="Courier New" panose="02070309020205020404" pitchFamily="49" charset="0"/>
                <a:cs typeface="Courier New" panose="02070309020205020404" pitchFamily="49" charset="0"/>
              </a:rPr>
              <a:t>rij_data</a:t>
            </a:r>
            <a:r>
              <a:rPr lang="nl-NL" sz="1200" dirty="0">
                <a:solidFill>
                  <a:srgbClr val="00B050"/>
                </a:solidFill>
                <a:latin typeface="Courier New" panose="02070309020205020404" pitchFamily="49" charset="0"/>
                <a:cs typeface="Courier New" panose="02070309020205020404" pitchFamily="49" charset="0"/>
              </a:rPr>
              <a:t> </a:t>
            </a:r>
            <a:r>
              <a:rPr lang="nl-NL" sz="1200" dirty="0"/>
              <a:t>een </a:t>
            </a:r>
            <a:r>
              <a:rPr lang="nl-NL" sz="1200" dirty="0">
                <a:latin typeface="Courier New" panose="02070309020205020404" pitchFamily="49" charset="0"/>
                <a:cs typeface="Courier New" panose="02070309020205020404" pitchFamily="49" charset="0"/>
              </a:rPr>
              <a:t>Series</a:t>
            </a:r>
            <a:r>
              <a:rPr lang="nl-NL" sz="1200" dirty="0"/>
              <a:t> object is</a:t>
            </a:r>
          </a:p>
        </p:txBody>
      </p:sp>
    </p:spTree>
    <p:extLst>
      <p:ext uri="{BB962C8B-B14F-4D97-AF65-F5344CB8AC3E}">
        <p14:creationId xmlns:p14="http://schemas.microsoft.com/office/powerpoint/2010/main" val="1533409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7EEF4A-95ED-F146-8A85-9FF26FEB2335}"/>
              </a:ext>
            </a:extLst>
          </p:cNvPr>
          <p:cNvSpPr>
            <a:spLocks noGrp="1"/>
          </p:cNvSpPr>
          <p:nvPr>
            <p:ph type="sldNum" sz="quarter" idx="12"/>
          </p:nvPr>
        </p:nvSpPr>
        <p:spPr/>
        <p:txBody>
          <a:bodyPr/>
          <a:lstStyle/>
          <a:p>
            <a:fld id="{D270EDC2-4F5E-5547-954F-5222C286AC2A}" type="slidenum">
              <a:rPr lang="nl-NL" smtClean="0"/>
              <a:t>51</a:t>
            </a:fld>
            <a:endParaRPr lang="nl-NL" dirty="0"/>
          </a:p>
        </p:txBody>
      </p:sp>
      <p:sp>
        <p:nvSpPr>
          <p:cNvPr id="2" name="Title 1">
            <a:extLst>
              <a:ext uri="{FF2B5EF4-FFF2-40B4-BE49-F238E27FC236}">
                <a16:creationId xmlns:a16="http://schemas.microsoft.com/office/drawing/2014/main" id="{E9914CE7-9079-8044-9771-FF6B6792B6A3}"/>
              </a:ext>
            </a:extLst>
          </p:cNvPr>
          <p:cNvSpPr>
            <a:spLocks noGrp="1"/>
          </p:cNvSpPr>
          <p:nvPr>
            <p:ph type="title"/>
          </p:nvPr>
        </p:nvSpPr>
        <p:spPr/>
        <p:txBody>
          <a:bodyPr/>
          <a:lstStyle/>
          <a:p>
            <a:r>
              <a:rPr lang="nl-NL" dirty="0"/>
              <a:t>Filteren</a:t>
            </a:r>
          </a:p>
        </p:txBody>
      </p:sp>
      <p:sp>
        <p:nvSpPr>
          <p:cNvPr id="5" name="Rectangle 4">
            <a:extLst>
              <a:ext uri="{FF2B5EF4-FFF2-40B4-BE49-F238E27FC236}">
                <a16:creationId xmlns:a16="http://schemas.microsoft.com/office/drawing/2014/main" id="{8D4D0864-7747-BF4C-82BC-D729F2C98E8E}"/>
              </a:ext>
            </a:extLst>
          </p:cNvPr>
          <p:cNvSpPr/>
          <p:nvPr/>
        </p:nvSpPr>
        <p:spPr>
          <a:xfrm>
            <a:off x="960781" y="2767280"/>
            <a:ext cx="9246705" cy="1169551"/>
          </a:xfrm>
          <a:prstGeom prst="rect">
            <a:avLst/>
          </a:prstGeom>
          <a:ln>
            <a:solidFill>
              <a:schemeClr val="tx1"/>
            </a:solidFill>
          </a:ln>
        </p:spPr>
        <p:txBody>
          <a:bodyPr wrap="square">
            <a:spAutoFit/>
          </a:bodyPr>
          <a:lstStyle/>
          <a:p>
            <a:r>
              <a:rPr lang="nl-NL" sz="1400" dirty="0" err="1"/>
              <a:t>numerische_kolommen</a:t>
            </a:r>
            <a:r>
              <a:rPr lang="nl-NL" sz="1400" dirty="0"/>
              <a:t> = </a:t>
            </a:r>
            <a:r>
              <a:rPr lang="nl-NL" sz="1400" dirty="0" err="1"/>
              <a:t>df.select_dtypes</a:t>
            </a:r>
            <a:r>
              <a:rPr lang="nl-NL" sz="1400" dirty="0"/>
              <a:t>(</a:t>
            </a:r>
            <a:r>
              <a:rPr lang="nl-NL" sz="1400" dirty="0" err="1">
                <a:solidFill>
                  <a:srgbClr val="AA4926"/>
                </a:solidFill>
              </a:rPr>
              <a:t>include</a:t>
            </a:r>
            <a:r>
              <a:rPr lang="nl-NL" sz="1400" dirty="0"/>
              <a:t>=[</a:t>
            </a:r>
            <a:r>
              <a:rPr lang="nl-NL" sz="1400" dirty="0">
                <a:solidFill>
                  <a:srgbClr val="6A8759"/>
                </a:solidFill>
              </a:rPr>
              <a:t>'int64'</a:t>
            </a:r>
            <a:r>
              <a:rPr lang="nl-NL" sz="1400" dirty="0">
                <a:solidFill>
                  <a:srgbClr val="CC7832"/>
                </a:solidFill>
              </a:rPr>
              <a:t>, </a:t>
            </a:r>
            <a:r>
              <a:rPr lang="nl-NL" sz="1400" dirty="0">
                <a:solidFill>
                  <a:srgbClr val="6A8759"/>
                </a:solidFill>
              </a:rPr>
              <a:t>'float64'</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a:t>
            </a:r>
            <a:r>
              <a:rPr lang="nl-NL" sz="1400" dirty="0" err="1">
                <a:solidFill>
                  <a:srgbClr val="6A8759"/>
                </a:solidFill>
              </a:rPr>
              <a:t>Numerische</a:t>
            </a:r>
            <a:r>
              <a:rPr lang="nl-NL" sz="1400" dirty="0">
                <a:solidFill>
                  <a:srgbClr val="6A8759"/>
                </a:solidFill>
              </a:rPr>
              <a:t> kolommen:'</a:t>
            </a:r>
            <a:r>
              <a:rPr lang="nl-NL" sz="1400" dirty="0">
                <a:solidFill>
                  <a:srgbClr val="CC7832"/>
                </a:solidFill>
              </a:rPr>
              <a:t>, </a:t>
            </a:r>
            <a:r>
              <a:rPr lang="nl-NL" sz="1400" dirty="0" err="1"/>
              <a:t>numerische_kolommen.head</a:t>
            </a:r>
            <a:r>
              <a:rPr lang="nl-NL" sz="1400" dirty="0"/>
              <a:t>(</a:t>
            </a:r>
            <a:r>
              <a:rPr lang="nl-NL" sz="1400" dirty="0">
                <a:solidFill>
                  <a:srgbClr val="6897BB"/>
                </a:solidFill>
              </a:rPr>
              <a:t>3</a:t>
            </a:r>
            <a:r>
              <a:rPr lang="nl-NL" sz="1400" dirty="0"/>
              <a:t>))</a:t>
            </a:r>
            <a:br>
              <a:rPr lang="nl-NL" sz="1400" dirty="0"/>
            </a:br>
            <a:br>
              <a:rPr lang="nl-NL" sz="1400" dirty="0"/>
            </a:br>
            <a:r>
              <a:rPr lang="nl-NL" sz="1400" dirty="0" err="1"/>
              <a:t>df_filter</a:t>
            </a:r>
            <a:r>
              <a:rPr lang="nl-NL" sz="1400" dirty="0"/>
              <a:t> = </a:t>
            </a:r>
            <a:r>
              <a:rPr lang="nl-NL" sz="1400" dirty="0" err="1">
                <a:solidFill>
                  <a:srgbClr val="00B050"/>
                </a:solidFill>
              </a:rPr>
              <a:t>df</a:t>
            </a:r>
            <a:r>
              <a:rPr lang="nl-NL" sz="1400" dirty="0"/>
              <a:t>[</a:t>
            </a:r>
            <a:r>
              <a:rPr lang="nl-NL" sz="1400" dirty="0">
                <a:solidFill>
                  <a:srgbClr val="FF0000"/>
                </a:solidFill>
              </a:rPr>
              <a:t>(</a:t>
            </a:r>
            <a:r>
              <a:rPr lang="nl-NL" sz="1400" dirty="0" err="1">
                <a:solidFill>
                  <a:srgbClr val="00B050"/>
                </a:solidFill>
              </a:rPr>
              <a:t>df</a:t>
            </a:r>
            <a:r>
              <a:rPr lang="nl-NL" sz="1400" dirty="0"/>
              <a:t>[</a:t>
            </a:r>
            <a:r>
              <a:rPr lang="nl-NL" sz="1400" dirty="0">
                <a:solidFill>
                  <a:srgbClr val="6A8759"/>
                </a:solidFill>
              </a:rPr>
              <a:t>'provincie'</a:t>
            </a:r>
            <a:r>
              <a:rPr lang="nl-NL" sz="1400" dirty="0"/>
              <a:t>] == </a:t>
            </a:r>
            <a:r>
              <a:rPr lang="nl-NL" sz="1400" dirty="0">
                <a:solidFill>
                  <a:srgbClr val="6A8759"/>
                </a:solidFill>
              </a:rPr>
              <a:t>'Antwerpen'</a:t>
            </a:r>
            <a:r>
              <a:rPr lang="nl-NL" sz="1400" dirty="0">
                <a:solidFill>
                  <a:srgbClr val="FF0000"/>
                </a:solidFill>
              </a:rPr>
              <a:t>)</a:t>
            </a:r>
            <a:r>
              <a:rPr lang="nl-NL" sz="1400" dirty="0"/>
              <a:t> &amp;</a:t>
            </a:r>
            <a:r>
              <a:rPr lang="nl-NL" sz="1400" dirty="0">
                <a:solidFill>
                  <a:srgbClr val="FF0000"/>
                </a:solidFill>
              </a:rPr>
              <a:t> (</a:t>
            </a:r>
            <a:r>
              <a:rPr lang="nl-NL" sz="1400" dirty="0" err="1">
                <a:solidFill>
                  <a:srgbClr val="00B050"/>
                </a:solidFill>
              </a:rPr>
              <a:t>df</a:t>
            </a:r>
            <a:r>
              <a:rPr lang="nl-NL" sz="1400" dirty="0"/>
              <a:t>[</a:t>
            </a:r>
            <a:r>
              <a:rPr lang="nl-NL" sz="1400" dirty="0">
                <a:solidFill>
                  <a:srgbClr val="6A8759"/>
                </a:solidFill>
              </a:rPr>
              <a:t>'CASES'</a:t>
            </a:r>
            <a:r>
              <a:rPr lang="nl-NL" sz="1400" dirty="0"/>
              <a:t>] &gt; </a:t>
            </a:r>
            <a:r>
              <a:rPr lang="nl-NL" sz="1400" dirty="0">
                <a:solidFill>
                  <a:srgbClr val="6897BB"/>
                </a:solidFill>
              </a:rPr>
              <a:t>20</a:t>
            </a:r>
            <a:r>
              <a:rPr lang="nl-NL" sz="1400" dirty="0">
                <a:solidFill>
                  <a:srgbClr val="FF0000"/>
                </a:solidFill>
              </a:rPr>
              <a:t>)</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'Aantal dagen met meer dan 20 besmettingen in provincie Antwerpen:'</a:t>
            </a:r>
            <a:r>
              <a:rPr lang="nl-NL" sz="1400" dirty="0">
                <a:solidFill>
                  <a:srgbClr val="CC7832"/>
                </a:solidFill>
              </a:rPr>
              <a:t>, </a:t>
            </a:r>
            <a:r>
              <a:rPr lang="nl-NL" sz="1400" dirty="0" err="1">
                <a:solidFill>
                  <a:srgbClr val="8888C6"/>
                </a:solidFill>
              </a:rPr>
              <a:t>len</a:t>
            </a:r>
            <a:r>
              <a:rPr lang="nl-NL" sz="1400" dirty="0"/>
              <a:t>(</a:t>
            </a:r>
            <a:r>
              <a:rPr lang="nl-NL" sz="1400" dirty="0" err="1"/>
              <a:t>df_filter</a:t>
            </a:r>
            <a:r>
              <a:rPr lang="nl-NL" sz="1400" dirty="0"/>
              <a:t>))</a:t>
            </a:r>
          </a:p>
        </p:txBody>
      </p:sp>
      <p:sp>
        <p:nvSpPr>
          <p:cNvPr id="6" name="Rectangle 5">
            <a:extLst>
              <a:ext uri="{FF2B5EF4-FFF2-40B4-BE49-F238E27FC236}">
                <a16:creationId xmlns:a16="http://schemas.microsoft.com/office/drawing/2014/main" id="{1FB33FF6-D18E-3141-98D6-450344EED26F}"/>
              </a:ext>
            </a:extLst>
          </p:cNvPr>
          <p:cNvSpPr/>
          <p:nvPr/>
        </p:nvSpPr>
        <p:spPr>
          <a:xfrm>
            <a:off x="960781" y="4545820"/>
            <a:ext cx="6433930" cy="1015663"/>
          </a:xfrm>
          <a:prstGeom prst="rect">
            <a:avLst/>
          </a:prstGeom>
          <a:ln>
            <a:solidFill>
              <a:schemeClr val="tx1"/>
            </a:solidFill>
          </a:ln>
        </p:spPr>
        <p:txBody>
          <a:bodyPr wrap="square">
            <a:spAutoFit/>
          </a:bodyPr>
          <a:lstStyle/>
          <a:p>
            <a:r>
              <a:rPr lang="nl-NL" sz="1000" dirty="0" err="1">
                <a:latin typeface="Courier New" panose="02070309020205020404" pitchFamily="49" charset="0"/>
                <a:cs typeface="Courier New" panose="02070309020205020404" pitchFamily="49" charset="0"/>
              </a:rPr>
              <a:t>Numerische</a:t>
            </a:r>
            <a:r>
              <a:rPr lang="nl-NL" sz="1000" dirty="0">
                <a:latin typeface="Courier New" panose="02070309020205020404" pitchFamily="49" charset="0"/>
                <a:cs typeface="Courier New" panose="02070309020205020404" pitchFamily="49" charset="0"/>
              </a:rPr>
              <a:t> kolommen:    </a:t>
            </a:r>
          </a:p>
          <a:p>
            <a:r>
              <a:rPr lang="nl-NL" sz="1000" dirty="0">
                <a:latin typeface="Courier New" panose="02070309020205020404" pitchFamily="49" charset="0"/>
                <a:cs typeface="Courier New" panose="02070309020205020404" pitchFamily="49" charset="0"/>
              </a:rPr>
              <a:t>     CASES</a:t>
            </a:r>
          </a:p>
          <a:p>
            <a:r>
              <a:rPr lang="nl-NL" sz="1000" dirty="0">
                <a:latin typeface="Courier New" panose="02070309020205020404" pitchFamily="49" charset="0"/>
                <a:cs typeface="Courier New" panose="02070309020205020404" pitchFamily="49" charset="0"/>
              </a:rPr>
              <a:t>0      1</a:t>
            </a:r>
          </a:p>
          <a:p>
            <a:r>
              <a:rPr lang="nl-NL" sz="1000" dirty="0">
                <a:latin typeface="Courier New" panose="02070309020205020404" pitchFamily="49" charset="0"/>
                <a:cs typeface="Courier New" panose="02070309020205020404" pitchFamily="49" charset="0"/>
              </a:rPr>
              <a:t>1      1</a:t>
            </a:r>
          </a:p>
          <a:p>
            <a:r>
              <a:rPr lang="nl-NL" sz="1000" dirty="0">
                <a:latin typeface="Courier New" panose="02070309020205020404" pitchFamily="49" charset="0"/>
                <a:cs typeface="Courier New" panose="02070309020205020404" pitchFamily="49" charset="0"/>
              </a:rPr>
              <a:t>2      1</a:t>
            </a:r>
          </a:p>
          <a:p>
            <a:r>
              <a:rPr lang="nl-NL" sz="1000" dirty="0">
                <a:latin typeface="Courier New" panose="02070309020205020404" pitchFamily="49" charset="0"/>
                <a:cs typeface="Courier New" panose="02070309020205020404" pitchFamily="49" charset="0"/>
              </a:rPr>
              <a:t>Aantal dagen met meer dan 20 besmettingen in provincie Antwerpen: 1647</a:t>
            </a:r>
          </a:p>
        </p:txBody>
      </p:sp>
      <p:sp>
        <p:nvSpPr>
          <p:cNvPr id="7" name="TextBox 6">
            <a:extLst>
              <a:ext uri="{FF2B5EF4-FFF2-40B4-BE49-F238E27FC236}">
                <a16:creationId xmlns:a16="http://schemas.microsoft.com/office/drawing/2014/main" id="{49A0DDF1-62A5-2A49-A0F2-530769EC9BD8}"/>
              </a:ext>
            </a:extLst>
          </p:cNvPr>
          <p:cNvSpPr txBox="1"/>
          <p:nvPr/>
        </p:nvSpPr>
        <p:spPr>
          <a:xfrm>
            <a:off x="914090" y="4197316"/>
            <a:ext cx="1014463"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EE69CC0B-5328-684D-A03D-B55437EA86E9}"/>
              </a:ext>
            </a:extLst>
          </p:cNvPr>
          <p:cNvSpPr txBox="1"/>
          <p:nvPr/>
        </p:nvSpPr>
        <p:spPr>
          <a:xfrm>
            <a:off x="960781" y="2397948"/>
            <a:ext cx="967772"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6F72165F-D84E-6A46-8C15-27C461B77F20}"/>
              </a:ext>
            </a:extLst>
          </p:cNvPr>
          <p:cNvCxnSpPr>
            <a:cxnSpLocks/>
            <a:endCxn id="11" idx="1"/>
          </p:cNvCxnSpPr>
          <p:nvPr/>
        </p:nvCxnSpPr>
        <p:spPr>
          <a:xfrm flipV="1">
            <a:off x="6146800" y="1830585"/>
            <a:ext cx="1645478" cy="15984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6BA4BFA-A89D-8147-A79A-59BD21D2C953}"/>
              </a:ext>
            </a:extLst>
          </p:cNvPr>
          <p:cNvSpPr txBox="1"/>
          <p:nvPr/>
        </p:nvSpPr>
        <p:spPr>
          <a:xfrm>
            <a:off x="7792278" y="1322753"/>
            <a:ext cx="3741996" cy="1015663"/>
          </a:xfrm>
          <a:prstGeom prst="rect">
            <a:avLst/>
          </a:prstGeom>
          <a:noFill/>
        </p:spPr>
        <p:txBody>
          <a:bodyPr wrap="square" rtlCol="0">
            <a:spAutoFit/>
          </a:bodyPr>
          <a:lstStyle/>
          <a:p>
            <a:r>
              <a:rPr lang="nl-NL" sz="1200" dirty="0"/>
              <a:t>Merk op hoe de </a:t>
            </a:r>
            <a:r>
              <a:rPr lang="nl-NL" sz="1200" dirty="0">
                <a:solidFill>
                  <a:srgbClr val="00B050"/>
                </a:solidFill>
              </a:rPr>
              <a:t>dataframe zelf terugkomt binnen de condities </a:t>
            </a:r>
            <a:r>
              <a:rPr lang="nl-NL" sz="1200" dirty="0"/>
              <a:t>en hoe ze aan elkaar gekoppeld worden via </a:t>
            </a:r>
            <a:r>
              <a:rPr lang="nl-NL" sz="1200" dirty="0">
                <a:latin typeface="Courier New" panose="02070309020205020404" pitchFamily="49" charset="0"/>
                <a:cs typeface="Courier New" panose="02070309020205020404" pitchFamily="49" charset="0"/>
              </a:rPr>
              <a:t>&amp;</a:t>
            </a:r>
            <a:r>
              <a:rPr lang="nl-NL" sz="1200" dirty="0"/>
              <a:t> om als ‘and’ te dienen. </a:t>
            </a:r>
            <a:r>
              <a:rPr lang="nl-NL" sz="1200" dirty="0">
                <a:latin typeface="Courier New" panose="02070309020205020404" pitchFamily="49" charset="0"/>
                <a:cs typeface="Courier New" panose="02070309020205020404" pitchFamily="49" charset="0"/>
              </a:rPr>
              <a:t>|</a:t>
            </a:r>
            <a:r>
              <a:rPr lang="nl-NL" sz="1200" dirty="0"/>
              <a:t> kan gebruikt worden voor ‘or’. De condities moeten </a:t>
            </a:r>
            <a:r>
              <a:rPr lang="nl-NL" sz="1200" dirty="0">
                <a:solidFill>
                  <a:srgbClr val="FF0000"/>
                </a:solidFill>
              </a:rPr>
              <a:t>tussen haakjes staan </a:t>
            </a:r>
            <a:r>
              <a:rPr lang="nl-NL" sz="1200" dirty="0"/>
              <a:t>(bij meerdere condities)</a:t>
            </a:r>
          </a:p>
        </p:txBody>
      </p:sp>
      <p:cxnSp>
        <p:nvCxnSpPr>
          <p:cNvPr id="10" name="Straight Arrow Connector 9">
            <a:extLst>
              <a:ext uri="{FF2B5EF4-FFF2-40B4-BE49-F238E27FC236}">
                <a16:creationId xmlns:a16="http://schemas.microsoft.com/office/drawing/2014/main" id="{EA11BFA1-3033-C242-9277-2DBF7C42FD1E}"/>
              </a:ext>
            </a:extLst>
          </p:cNvPr>
          <p:cNvCxnSpPr>
            <a:cxnSpLocks/>
          </p:cNvCxnSpPr>
          <p:nvPr/>
        </p:nvCxnSpPr>
        <p:spPr>
          <a:xfrm>
            <a:off x="6309360" y="3531581"/>
            <a:ext cx="3196590" cy="26675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234C740-1F5E-AE48-A618-19439A5F6FF1}"/>
              </a:ext>
            </a:extLst>
          </p:cNvPr>
          <p:cNvSpPr txBox="1"/>
          <p:nvPr/>
        </p:nvSpPr>
        <p:spPr>
          <a:xfrm>
            <a:off x="8832827" y="3900913"/>
            <a:ext cx="3129303" cy="1015663"/>
          </a:xfrm>
          <a:prstGeom prst="rect">
            <a:avLst/>
          </a:prstGeom>
          <a:noFill/>
        </p:spPr>
        <p:txBody>
          <a:bodyPr wrap="square" rtlCol="0">
            <a:spAutoFit/>
          </a:bodyPr>
          <a:lstStyle/>
          <a:p>
            <a:r>
              <a:rPr lang="nl-NL" sz="1200" dirty="0"/>
              <a:t>De vierkante haakjes worden gebruikt alsof er een index wordt opgeroepen zoals bij lijsten. Dit komt omdat de condities effectief de indices aanduiden van de rijen die moeten behouden worden</a:t>
            </a:r>
          </a:p>
        </p:txBody>
      </p:sp>
    </p:spTree>
    <p:extLst>
      <p:ext uri="{BB962C8B-B14F-4D97-AF65-F5344CB8AC3E}">
        <p14:creationId xmlns:p14="http://schemas.microsoft.com/office/powerpoint/2010/main" val="522087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78CEB7-4C61-8B4E-A120-5723C75CF1E2}"/>
              </a:ext>
            </a:extLst>
          </p:cNvPr>
          <p:cNvSpPr>
            <a:spLocks noGrp="1"/>
          </p:cNvSpPr>
          <p:nvPr>
            <p:ph idx="1"/>
          </p:nvPr>
        </p:nvSpPr>
        <p:spPr/>
        <p:txBody>
          <a:bodyPr>
            <a:normAutofit/>
          </a:bodyPr>
          <a:lstStyle/>
          <a:p>
            <a:r>
              <a:rPr lang="nl-NL" sz="2000" dirty="0" err="1">
                <a:latin typeface="Courier New" panose="02070309020205020404" pitchFamily="49" charset="0"/>
                <a:cs typeface="Courier New" panose="02070309020205020404" pitchFamily="49" charset="0"/>
              </a:rPr>
              <a:t>sort_values</a:t>
            </a:r>
            <a:r>
              <a:rPr lang="nl-NL" sz="2000" dirty="0">
                <a:latin typeface="Courier New" panose="02070309020205020404" pitchFamily="49" charset="0"/>
                <a:cs typeface="Courier New" panose="02070309020205020404" pitchFamily="49" charset="0"/>
              </a:rPr>
              <a:t>(</a:t>
            </a:r>
            <a:r>
              <a:rPr lang="nl-NL" sz="2000" dirty="0" err="1">
                <a:latin typeface="Courier New" panose="02070309020205020404" pitchFamily="49" charset="0"/>
                <a:cs typeface="Courier New" panose="02070309020205020404" pitchFamily="49" charset="0"/>
              </a:rPr>
              <a:t>by</a:t>
            </a:r>
            <a:r>
              <a:rPr lang="nl-NL" sz="2000" dirty="0">
                <a:latin typeface="Courier New" panose="02070309020205020404" pitchFamily="49" charset="0"/>
                <a:cs typeface="Courier New" panose="02070309020205020404" pitchFamily="49" charset="0"/>
              </a:rPr>
              <a:t>=)</a:t>
            </a:r>
            <a:r>
              <a:rPr lang="nl-NL" sz="2000" dirty="0"/>
              <a:t> sorteert op bepaalde kolommen (kan 1 string of een lijst van strings meegeven)</a:t>
            </a:r>
          </a:p>
          <a:p>
            <a:r>
              <a:rPr lang="nl-NL" sz="2000" dirty="0" err="1">
                <a:latin typeface="Courier New" panose="02070309020205020404" pitchFamily="49" charset="0"/>
                <a:cs typeface="Courier New" panose="02070309020205020404" pitchFamily="49" charset="0"/>
              </a:rPr>
              <a:t>groupby</a:t>
            </a:r>
            <a:r>
              <a:rPr lang="nl-NL" sz="2000" dirty="0">
                <a:latin typeface="Courier New" panose="02070309020205020404" pitchFamily="49" charset="0"/>
                <a:cs typeface="Courier New" panose="02070309020205020404" pitchFamily="49" charset="0"/>
              </a:rPr>
              <a:t>().</a:t>
            </a:r>
            <a:r>
              <a:rPr lang="nl-NL" sz="2000" dirty="0">
                <a:solidFill>
                  <a:srgbClr val="00B050"/>
                </a:solidFill>
                <a:latin typeface="Courier New" panose="02070309020205020404" pitchFamily="49" charset="0"/>
                <a:cs typeface="Courier New" panose="02070309020205020404" pitchFamily="49" charset="0"/>
              </a:rPr>
              <a:t>’</a:t>
            </a:r>
            <a:r>
              <a:rPr lang="nl-NL" sz="2000" dirty="0" err="1">
                <a:solidFill>
                  <a:srgbClr val="00B050"/>
                </a:solidFill>
                <a:latin typeface="Courier New" panose="02070309020205020404" pitchFamily="49" charset="0"/>
                <a:cs typeface="Courier New" panose="02070309020205020404" pitchFamily="49" charset="0"/>
              </a:rPr>
              <a:t>aggregatie_functie</a:t>
            </a:r>
            <a:r>
              <a:rPr lang="nl-NL" sz="2000" dirty="0">
                <a:solidFill>
                  <a:srgbClr val="00B050"/>
                </a:solidFill>
                <a:latin typeface="Courier New" panose="02070309020205020404" pitchFamily="49" charset="0"/>
                <a:cs typeface="Courier New" panose="02070309020205020404" pitchFamily="49" charset="0"/>
              </a:rPr>
              <a:t>()’</a:t>
            </a:r>
            <a:r>
              <a:rPr lang="nl-NL" sz="2000" dirty="0">
                <a:solidFill>
                  <a:srgbClr val="00B050"/>
                </a:solidFill>
              </a:rPr>
              <a:t> </a:t>
            </a:r>
            <a:r>
              <a:rPr lang="nl-NL" sz="2000" dirty="0"/>
              <a:t>groepeert en aggregeert data</a:t>
            </a:r>
          </a:p>
          <a:p>
            <a:pPr lvl="1"/>
            <a:r>
              <a:rPr lang="nl-NL" sz="2000" dirty="0">
                <a:solidFill>
                  <a:srgbClr val="00B050"/>
                </a:solidFill>
              </a:rPr>
              <a:t>‘</a:t>
            </a:r>
            <a:r>
              <a:rPr lang="nl-NL" sz="2000" dirty="0" err="1">
                <a:solidFill>
                  <a:srgbClr val="00B050"/>
                </a:solidFill>
                <a:latin typeface="Courier New" panose="02070309020205020404" pitchFamily="49" charset="0"/>
                <a:cs typeface="Courier New" panose="02070309020205020404" pitchFamily="49" charset="0"/>
              </a:rPr>
              <a:t>aggregatie_functie</a:t>
            </a:r>
            <a:r>
              <a:rPr lang="nl-NL" sz="2000" dirty="0">
                <a:solidFill>
                  <a:srgbClr val="00B050"/>
                </a:solidFill>
                <a:latin typeface="Courier New" panose="02070309020205020404" pitchFamily="49" charset="0"/>
                <a:cs typeface="Courier New" panose="02070309020205020404" pitchFamily="49" charset="0"/>
              </a:rPr>
              <a:t>()</a:t>
            </a:r>
            <a:r>
              <a:rPr lang="nl-NL" sz="2000" dirty="0">
                <a:solidFill>
                  <a:srgbClr val="00B050"/>
                </a:solidFill>
              </a:rPr>
              <a:t>’ </a:t>
            </a:r>
            <a:r>
              <a:rPr lang="nl-NL" sz="2000" dirty="0"/>
              <a:t>zoals: </a:t>
            </a:r>
            <a:r>
              <a:rPr lang="nl-NL" sz="2000" dirty="0" err="1">
                <a:latin typeface="Courier New" panose="02070309020205020404" pitchFamily="49" charset="0"/>
                <a:cs typeface="Courier New" panose="02070309020205020404" pitchFamily="49" charset="0"/>
              </a:rPr>
              <a:t>sum</a:t>
            </a:r>
            <a:r>
              <a:rPr lang="nl-NL" sz="2000" dirty="0">
                <a:latin typeface="Courier New" panose="02070309020205020404" pitchFamily="49" charset="0"/>
                <a:cs typeface="Courier New" panose="02070309020205020404" pitchFamily="49" charset="0"/>
              </a:rPr>
              <a:t>()</a:t>
            </a:r>
            <a:r>
              <a:rPr lang="nl-NL" sz="2000" dirty="0"/>
              <a:t>, </a:t>
            </a:r>
            <a:r>
              <a:rPr lang="nl-NL" sz="2000" dirty="0" err="1">
                <a:latin typeface="Courier New" panose="02070309020205020404" pitchFamily="49" charset="0"/>
                <a:cs typeface="Courier New" panose="02070309020205020404" pitchFamily="49" charset="0"/>
              </a:rPr>
              <a:t>mean</a:t>
            </a:r>
            <a:r>
              <a:rPr lang="nl-NL" sz="2000" dirty="0">
                <a:latin typeface="Courier New" panose="02070309020205020404" pitchFamily="49" charset="0"/>
                <a:cs typeface="Courier New" panose="02070309020205020404" pitchFamily="49" charset="0"/>
              </a:rPr>
              <a:t>()</a:t>
            </a:r>
            <a:r>
              <a:rPr lang="nl-NL" sz="2000" dirty="0"/>
              <a:t>, </a:t>
            </a:r>
            <a:r>
              <a:rPr lang="nl-NL" sz="2000" dirty="0" err="1">
                <a:latin typeface="Courier New" panose="02070309020205020404" pitchFamily="49" charset="0"/>
                <a:cs typeface="Courier New" panose="02070309020205020404" pitchFamily="49" charset="0"/>
              </a:rPr>
              <a:t>median</a:t>
            </a:r>
            <a:r>
              <a:rPr lang="nl-NL" sz="2000" dirty="0">
                <a:latin typeface="Courier New" panose="02070309020205020404" pitchFamily="49" charset="0"/>
                <a:cs typeface="Courier New" panose="02070309020205020404" pitchFamily="49" charset="0"/>
              </a:rPr>
              <a:t>()</a:t>
            </a:r>
            <a:r>
              <a:rPr lang="nl-NL" sz="2000" dirty="0"/>
              <a:t>, </a:t>
            </a:r>
            <a:r>
              <a:rPr lang="nl-NL" sz="2000" dirty="0">
                <a:latin typeface="Courier New" panose="02070309020205020404" pitchFamily="49" charset="0"/>
                <a:cs typeface="Courier New" panose="02070309020205020404" pitchFamily="49" charset="0"/>
              </a:rPr>
              <a:t>max()</a:t>
            </a:r>
            <a:r>
              <a:rPr lang="nl-NL" sz="2000" dirty="0"/>
              <a:t>, etc.</a:t>
            </a:r>
          </a:p>
          <a:p>
            <a:r>
              <a:rPr lang="nl-NL" sz="2000" dirty="0"/>
              <a:t>Merk de gelijkenis met SQL</a:t>
            </a:r>
          </a:p>
        </p:txBody>
      </p:sp>
      <p:sp>
        <p:nvSpPr>
          <p:cNvPr id="4" name="Slide Number Placeholder 3">
            <a:extLst>
              <a:ext uri="{FF2B5EF4-FFF2-40B4-BE49-F238E27FC236}">
                <a16:creationId xmlns:a16="http://schemas.microsoft.com/office/drawing/2014/main" id="{FFFF028A-3BBF-7F47-8A25-8A73352AF5B3}"/>
              </a:ext>
            </a:extLst>
          </p:cNvPr>
          <p:cNvSpPr>
            <a:spLocks noGrp="1"/>
          </p:cNvSpPr>
          <p:nvPr>
            <p:ph type="sldNum" sz="quarter" idx="12"/>
          </p:nvPr>
        </p:nvSpPr>
        <p:spPr/>
        <p:txBody>
          <a:bodyPr/>
          <a:lstStyle/>
          <a:p>
            <a:fld id="{D270EDC2-4F5E-5547-954F-5222C286AC2A}" type="slidenum">
              <a:rPr lang="nl-NL" smtClean="0"/>
              <a:t>52</a:t>
            </a:fld>
            <a:endParaRPr lang="nl-NL" dirty="0"/>
          </a:p>
        </p:txBody>
      </p:sp>
      <p:sp>
        <p:nvSpPr>
          <p:cNvPr id="2" name="Title 1">
            <a:extLst>
              <a:ext uri="{FF2B5EF4-FFF2-40B4-BE49-F238E27FC236}">
                <a16:creationId xmlns:a16="http://schemas.microsoft.com/office/drawing/2014/main" id="{89FB32AC-9C7B-0646-B4CA-5ED6B1F09186}"/>
              </a:ext>
            </a:extLst>
          </p:cNvPr>
          <p:cNvSpPr>
            <a:spLocks noGrp="1"/>
          </p:cNvSpPr>
          <p:nvPr>
            <p:ph type="title"/>
          </p:nvPr>
        </p:nvSpPr>
        <p:spPr/>
        <p:txBody>
          <a:bodyPr/>
          <a:lstStyle/>
          <a:p>
            <a:r>
              <a:rPr lang="nl-NL" dirty="0"/>
              <a:t>Sorteren en groeperen</a:t>
            </a:r>
          </a:p>
        </p:txBody>
      </p:sp>
      <p:sp>
        <p:nvSpPr>
          <p:cNvPr id="5" name="Rectangle 4">
            <a:extLst>
              <a:ext uri="{FF2B5EF4-FFF2-40B4-BE49-F238E27FC236}">
                <a16:creationId xmlns:a16="http://schemas.microsoft.com/office/drawing/2014/main" id="{40202A28-AD04-EC44-AC47-B6BE56228EE9}"/>
              </a:ext>
            </a:extLst>
          </p:cNvPr>
          <p:cNvSpPr/>
          <p:nvPr/>
        </p:nvSpPr>
        <p:spPr>
          <a:xfrm>
            <a:off x="1169504" y="4865062"/>
            <a:ext cx="4926496" cy="523220"/>
          </a:xfrm>
          <a:prstGeom prst="rect">
            <a:avLst/>
          </a:prstGeom>
          <a:ln>
            <a:solidFill>
              <a:schemeClr val="tx1"/>
            </a:solidFill>
          </a:ln>
        </p:spPr>
        <p:txBody>
          <a:bodyPr wrap="square">
            <a:spAutoFit/>
          </a:bodyPr>
          <a:lstStyle/>
          <a:p>
            <a:r>
              <a:rPr lang="nl-NL" sz="1400" dirty="0" err="1"/>
              <a:t>df_gesorteerd</a:t>
            </a:r>
            <a:r>
              <a:rPr lang="nl-NL" sz="1400" dirty="0"/>
              <a:t> = </a:t>
            </a:r>
            <a:r>
              <a:rPr lang="nl-NL" sz="1400" dirty="0" err="1"/>
              <a:t>df.sort_values</a:t>
            </a:r>
            <a:r>
              <a:rPr lang="nl-NL" sz="1400" dirty="0"/>
              <a:t>(</a:t>
            </a:r>
            <a:r>
              <a:rPr lang="nl-NL" sz="1400" dirty="0" err="1">
                <a:solidFill>
                  <a:srgbClr val="AA4926"/>
                </a:solidFill>
              </a:rPr>
              <a:t>by</a:t>
            </a:r>
            <a:r>
              <a:rPr lang="nl-NL" sz="1400" dirty="0"/>
              <a:t>=[</a:t>
            </a:r>
            <a:r>
              <a:rPr lang="nl-NL" sz="1400" dirty="0">
                <a:solidFill>
                  <a:srgbClr val="6A8759"/>
                </a:solidFill>
              </a:rPr>
              <a:t>'provincie'</a:t>
            </a:r>
            <a:r>
              <a:rPr lang="nl-NL" sz="1400" dirty="0">
                <a:solidFill>
                  <a:srgbClr val="CC7832"/>
                </a:solidFill>
              </a:rPr>
              <a:t>, </a:t>
            </a:r>
            <a:r>
              <a:rPr lang="nl-NL" sz="1400" dirty="0">
                <a:solidFill>
                  <a:srgbClr val="6A8759"/>
                </a:solidFill>
              </a:rPr>
              <a:t>'CASES'</a:t>
            </a:r>
            <a:r>
              <a:rPr lang="nl-NL" sz="1400" dirty="0"/>
              <a:t>])</a:t>
            </a:r>
            <a:br>
              <a:rPr lang="nl-NL" sz="1400" dirty="0"/>
            </a:br>
            <a:r>
              <a:rPr lang="nl-NL" sz="1400" dirty="0">
                <a:solidFill>
                  <a:srgbClr val="8888C6"/>
                </a:solidFill>
              </a:rPr>
              <a:t>print</a:t>
            </a:r>
            <a:r>
              <a:rPr lang="nl-NL" sz="1400" dirty="0"/>
              <a:t>(</a:t>
            </a:r>
            <a:r>
              <a:rPr lang="nl-NL" sz="1400" dirty="0" err="1"/>
              <a:t>df_gesorteerd</a:t>
            </a:r>
            <a:r>
              <a:rPr lang="nl-NL" sz="1400" dirty="0"/>
              <a:t>)</a:t>
            </a:r>
          </a:p>
        </p:txBody>
      </p:sp>
      <p:sp>
        <p:nvSpPr>
          <p:cNvPr id="6" name="Rectangle 5">
            <a:extLst>
              <a:ext uri="{FF2B5EF4-FFF2-40B4-BE49-F238E27FC236}">
                <a16:creationId xmlns:a16="http://schemas.microsoft.com/office/drawing/2014/main" id="{2821AAD9-E618-854F-AAAA-8514DB7CA0DF}"/>
              </a:ext>
            </a:extLst>
          </p:cNvPr>
          <p:cNvSpPr/>
          <p:nvPr/>
        </p:nvSpPr>
        <p:spPr>
          <a:xfrm>
            <a:off x="6303356" y="4365674"/>
            <a:ext cx="5313844" cy="1754326"/>
          </a:xfrm>
          <a:prstGeom prst="rect">
            <a:avLst/>
          </a:prstGeom>
          <a:ln>
            <a:solidFill>
              <a:schemeClr val="tx1"/>
            </a:solidFill>
          </a:ln>
        </p:spPr>
        <p:txBody>
          <a:bodyPr wrap="square">
            <a:spAutoFit/>
          </a:bodyPr>
          <a:lstStyle/>
          <a:p>
            <a:r>
              <a:rPr lang="nl-NL" sz="900" dirty="0">
                <a:latin typeface="Courier New" panose="02070309020205020404" pitchFamily="49" charset="0"/>
                <a:cs typeface="Courier New" panose="02070309020205020404" pitchFamily="49" charset="0"/>
              </a:rPr>
              <a:t> 	DATE  provincie     regio AGEGROUP  SEX  CASES</a:t>
            </a:r>
          </a:p>
          <a:p>
            <a:r>
              <a:rPr lang="nl-NL" sz="900" dirty="0">
                <a:latin typeface="Courier New" panose="02070309020205020404" pitchFamily="49" charset="0"/>
                <a:cs typeface="Courier New" panose="02070309020205020404" pitchFamily="49" charset="0"/>
              </a:rPr>
              <a:t>0      2020-03-01  Antwerpen  </a:t>
            </a:r>
            <a:r>
              <a:rPr lang="nl-NL" sz="900" dirty="0" err="1">
                <a:latin typeface="Courier New" panose="02070309020205020404" pitchFamily="49" charset="0"/>
                <a:cs typeface="Courier New" panose="02070309020205020404" pitchFamily="49" charset="0"/>
              </a:rPr>
              <a:t>Flanders</a:t>
            </a:r>
            <a:r>
              <a:rPr lang="nl-NL" sz="900" dirty="0">
                <a:latin typeface="Courier New" panose="02070309020205020404" pitchFamily="49" charset="0"/>
                <a:cs typeface="Courier New" panose="02070309020205020404" pitchFamily="49" charset="0"/>
              </a:rPr>
              <a:t>    40-49    M      1</a:t>
            </a:r>
          </a:p>
          <a:p>
            <a:r>
              <a:rPr lang="nl-NL" sz="900" dirty="0">
                <a:latin typeface="Courier New" panose="02070309020205020404" pitchFamily="49" charset="0"/>
                <a:cs typeface="Courier New" panose="02070309020205020404" pitchFamily="49" charset="0"/>
              </a:rPr>
              <a:t>16     2020-03-02  Antwerpen  </a:t>
            </a:r>
            <a:r>
              <a:rPr lang="nl-NL" sz="900" dirty="0" err="1">
                <a:latin typeface="Courier New" panose="02070309020205020404" pitchFamily="49" charset="0"/>
                <a:cs typeface="Courier New" panose="02070309020205020404" pitchFamily="49" charset="0"/>
              </a:rPr>
              <a:t>Flanders</a:t>
            </a:r>
            <a:r>
              <a:rPr lang="nl-NL" sz="900" dirty="0">
                <a:latin typeface="Courier New" panose="02070309020205020404" pitchFamily="49" charset="0"/>
                <a:cs typeface="Courier New" panose="02070309020205020404" pitchFamily="49" charset="0"/>
              </a:rPr>
              <a:t>    40-49    M      1</a:t>
            </a:r>
          </a:p>
          <a:p>
            <a:r>
              <a:rPr lang="nl-NL" sz="900" dirty="0">
                <a:latin typeface="Courier New" panose="02070309020205020404" pitchFamily="49" charset="0"/>
                <a:cs typeface="Courier New" panose="02070309020205020404" pitchFamily="49" charset="0"/>
              </a:rPr>
              <a:t>31     2020-03-03  Antwerpen  </a:t>
            </a:r>
            <a:r>
              <a:rPr lang="nl-NL" sz="900" dirty="0" err="1">
                <a:latin typeface="Courier New" panose="02070309020205020404" pitchFamily="49" charset="0"/>
                <a:cs typeface="Courier New" panose="02070309020205020404" pitchFamily="49" charset="0"/>
              </a:rPr>
              <a:t>Flanders</a:t>
            </a:r>
            <a:r>
              <a:rPr lang="nl-NL" sz="900" dirty="0">
                <a:latin typeface="Courier New" panose="02070309020205020404" pitchFamily="49" charset="0"/>
                <a:cs typeface="Courier New" panose="02070309020205020404" pitchFamily="49" charset="0"/>
              </a:rPr>
              <a:t>    30-39    F      1</a:t>
            </a:r>
          </a:p>
          <a:p>
            <a:r>
              <a:rPr lang="nl-NL" sz="900" dirty="0">
                <a:latin typeface="Courier New" panose="02070309020205020404" pitchFamily="49" charset="0"/>
                <a:cs typeface="Courier New" panose="02070309020205020404" pitchFamily="49" charset="0"/>
              </a:rPr>
              <a:t>32     2020-03-03  Antwerpen  </a:t>
            </a:r>
            <a:r>
              <a:rPr lang="nl-NL" sz="900" dirty="0" err="1">
                <a:latin typeface="Courier New" panose="02070309020205020404" pitchFamily="49" charset="0"/>
                <a:cs typeface="Courier New" panose="02070309020205020404" pitchFamily="49" charset="0"/>
              </a:rPr>
              <a:t>Flanders</a:t>
            </a:r>
            <a:r>
              <a:rPr lang="nl-NL" sz="900" dirty="0">
                <a:latin typeface="Courier New" panose="02070309020205020404" pitchFamily="49" charset="0"/>
                <a:cs typeface="Courier New" panose="02070309020205020404" pitchFamily="49" charset="0"/>
              </a:rPr>
              <a:t>    40-49    F      1</a:t>
            </a:r>
          </a:p>
          <a:p>
            <a:r>
              <a:rPr lang="nl-NL" sz="900" dirty="0">
                <a:latin typeface="Courier New" panose="02070309020205020404" pitchFamily="49" charset="0"/>
                <a:cs typeface="Courier New" panose="02070309020205020404" pitchFamily="49" charset="0"/>
              </a:rPr>
              <a:t>33     2020-03-03  Antwerpen  </a:t>
            </a:r>
            <a:r>
              <a:rPr lang="nl-NL" sz="900" dirty="0" err="1">
                <a:latin typeface="Courier New" panose="02070309020205020404" pitchFamily="49" charset="0"/>
                <a:cs typeface="Courier New" panose="02070309020205020404" pitchFamily="49" charset="0"/>
              </a:rPr>
              <a:t>Flanders</a:t>
            </a:r>
            <a:r>
              <a:rPr lang="nl-NL" sz="900" dirty="0">
                <a:latin typeface="Courier New" panose="02070309020205020404" pitchFamily="49" charset="0"/>
                <a:cs typeface="Courier New" panose="02070309020205020404" pitchFamily="49" charset="0"/>
              </a:rPr>
              <a:t>    40-49    M      1</a:t>
            </a:r>
          </a:p>
          <a:p>
            <a:r>
              <a:rPr lang="nl-NL" sz="900" dirty="0">
                <a:latin typeface="Courier New" panose="02070309020205020404" pitchFamily="49" charset="0"/>
                <a:cs typeface="Courier New" panose="02070309020205020404" pitchFamily="49" charset="0"/>
              </a:rPr>
              <a:t>...           ...        ...       ...      ...  ...    ...</a:t>
            </a:r>
          </a:p>
          <a:p>
            <a:r>
              <a:rPr lang="nl-NL" sz="900" dirty="0">
                <a:latin typeface="Courier New" panose="02070309020205020404" pitchFamily="49" charset="0"/>
                <a:cs typeface="Courier New" panose="02070309020205020404" pitchFamily="49" charset="0"/>
              </a:rPr>
              <a:t>27732  2020-10-01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37</a:t>
            </a:r>
          </a:p>
          <a:p>
            <a:r>
              <a:rPr lang="nl-NL" sz="900" dirty="0">
                <a:latin typeface="Courier New" panose="02070309020205020404" pitchFamily="49" charset="0"/>
                <a:cs typeface="Courier New" panose="02070309020205020404" pitchFamily="49" charset="0"/>
              </a:rPr>
              <a:t>27498  2020-09-30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M     38</a:t>
            </a:r>
          </a:p>
          <a:p>
            <a:r>
              <a:rPr lang="nl-NL" sz="900" dirty="0">
                <a:latin typeface="Courier New" panose="02070309020205020404" pitchFamily="49" charset="0"/>
                <a:cs typeface="Courier New" panose="02070309020205020404" pitchFamily="49" charset="0"/>
              </a:rPr>
              <a:t>32362  2020-10-20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30-39    M     38</a:t>
            </a:r>
          </a:p>
          <a:p>
            <a:r>
              <a:rPr lang="nl-NL" sz="900" dirty="0">
                <a:latin typeface="Courier New" panose="02070309020205020404" pitchFamily="49" charset="0"/>
                <a:cs typeface="Courier New" panose="02070309020205020404" pitchFamily="49" charset="0"/>
              </a:rPr>
              <a:t>33155  2020-10-23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20-29    M     41</a:t>
            </a:r>
          </a:p>
          <a:p>
            <a:r>
              <a:rPr lang="nl-NL" sz="900" dirty="0">
                <a:latin typeface="Courier New" panose="02070309020205020404" pitchFamily="49" charset="0"/>
                <a:cs typeface="Courier New" panose="02070309020205020404" pitchFamily="49" charset="0"/>
              </a:rPr>
              <a:t>32360  2020-10-20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a:t>
            </a:r>
            <a:r>
              <a:rPr lang="nl-NL" sz="900" dirty="0" err="1">
                <a:latin typeface="Courier New" panose="02070309020205020404" pitchFamily="49" charset="0"/>
                <a:cs typeface="Courier New" panose="02070309020205020404" pitchFamily="49" charset="0"/>
              </a:rPr>
              <a:t>NaN</a:t>
            </a:r>
            <a:r>
              <a:rPr lang="nl-NL" sz="900" dirty="0">
                <a:latin typeface="Courier New" panose="02070309020205020404" pitchFamily="49" charset="0"/>
                <a:cs typeface="Courier New" panose="02070309020205020404" pitchFamily="49" charset="0"/>
              </a:rPr>
              <a:t>    20-29    M     45</a:t>
            </a:r>
          </a:p>
        </p:txBody>
      </p:sp>
      <p:sp>
        <p:nvSpPr>
          <p:cNvPr id="7" name="TextBox 6">
            <a:extLst>
              <a:ext uri="{FF2B5EF4-FFF2-40B4-BE49-F238E27FC236}">
                <a16:creationId xmlns:a16="http://schemas.microsoft.com/office/drawing/2014/main" id="{C81AF986-61E7-4949-B110-434718C39B86}"/>
              </a:ext>
            </a:extLst>
          </p:cNvPr>
          <p:cNvSpPr txBox="1"/>
          <p:nvPr/>
        </p:nvSpPr>
        <p:spPr>
          <a:xfrm>
            <a:off x="6303356" y="4001052"/>
            <a:ext cx="990611"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CE944CF4-4576-A942-9A95-10BEC3453CA7}"/>
              </a:ext>
            </a:extLst>
          </p:cNvPr>
          <p:cNvSpPr txBox="1"/>
          <p:nvPr/>
        </p:nvSpPr>
        <p:spPr>
          <a:xfrm>
            <a:off x="1169504" y="4526763"/>
            <a:ext cx="883740" cy="369332"/>
          </a:xfrm>
          <a:prstGeom prst="rect">
            <a:avLst/>
          </a:prstGeom>
          <a:noFill/>
        </p:spPr>
        <p:txBody>
          <a:bodyPr wrap="square" rtlCol="0">
            <a:spAutoFit/>
          </a:bodyPr>
          <a:lstStyle/>
          <a:p>
            <a:r>
              <a:rPr lang="nl-NL" dirty="0"/>
              <a:t>Code:</a:t>
            </a:r>
          </a:p>
        </p:txBody>
      </p:sp>
    </p:spTree>
    <p:extLst>
      <p:ext uri="{BB962C8B-B14F-4D97-AF65-F5344CB8AC3E}">
        <p14:creationId xmlns:p14="http://schemas.microsoft.com/office/powerpoint/2010/main" val="28231017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D4DA11-B73B-C746-A7D0-89E0DD9D3941}"/>
              </a:ext>
            </a:extLst>
          </p:cNvPr>
          <p:cNvSpPr>
            <a:spLocks noGrp="1"/>
          </p:cNvSpPr>
          <p:nvPr>
            <p:ph type="sldNum" sz="quarter" idx="12"/>
          </p:nvPr>
        </p:nvSpPr>
        <p:spPr/>
        <p:txBody>
          <a:bodyPr/>
          <a:lstStyle/>
          <a:p>
            <a:fld id="{D270EDC2-4F5E-5547-954F-5222C286AC2A}" type="slidenum">
              <a:rPr lang="nl-NL" smtClean="0"/>
              <a:t>53</a:t>
            </a:fld>
            <a:endParaRPr lang="nl-NL" dirty="0"/>
          </a:p>
        </p:txBody>
      </p:sp>
      <p:sp>
        <p:nvSpPr>
          <p:cNvPr id="2" name="Title 1">
            <a:extLst>
              <a:ext uri="{FF2B5EF4-FFF2-40B4-BE49-F238E27FC236}">
                <a16:creationId xmlns:a16="http://schemas.microsoft.com/office/drawing/2014/main" id="{9957BDE0-7E57-5846-AC5A-9A16A2376E60}"/>
              </a:ext>
            </a:extLst>
          </p:cNvPr>
          <p:cNvSpPr>
            <a:spLocks noGrp="1"/>
          </p:cNvSpPr>
          <p:nvPr>
            <p:ph type="title"/>
          </p:nvPr>
        </p:nvSpPr>
        <p:spPr/>
        <p:txBody>
          <a:bodyPr/>
          <a:lstStyle/>
          <a:p>
            <a:r>
              <a:rPr lang="nl-NL" dirty="0"/>
              <a:t>Sorteren en groeperen</a:t>
            </a:r>
          </a:p>
        </p:txBody>
      </p:sp>
      <p:sp>
        <p:nvSpPr>
          <p:cNvPr id="5" name="Rectangle 4">
            <a:extLst>
              <a:ext uri="{FF2B5EF4-FFF2-40B4-BE49-F238E27FC236}">
                <a16:creationId xmlns:a16="http://schemas.microsoft.com/office/drawing/2014/main" id="{CFC6A561-6F58-D046-807D-DE7A8AF28438}"/>
              </a:ext>
            </a:extLst>
          </p:cNvPr>
          <p:cNvSpPr/>
          <p:nvPr/>
        </p:nvSpPr>
        <p:spPr>
          <a:xfrm>
            <a:off x="576000" y="3949452"/>
            <a:ext cx="6572250" cy="523220"/>
          </a:xfrm>
          <a:prstGeom prst="rect">
            <a:avLst/>
          </a:prstGeom>
          <a:ln>
            <a:solidFill>
              <a:schemeClr val="tx1"/>
            </a:solidFill>
          </a:ln>
        </p:spPr>
        <p:txBody>
          <a:bodyPr wrap="square">
            <a:spAutoFit/>
          </a:bodyPr>
          <a:lstStyle/>
          <a:p>
            <a:r>
              <a:rPr lang="nl-NL" sz="1400" dirty="0" err="1"/>
              <a:t>df_gegroepeerd</a:t>
            </a:r>
            <a:r>
              <a:rPr lang="nl-NL" sz="1400" dirty="0"/>
              <a:t> = </a:t>
            </a:r>
            <a:r>
              <a:rPr lang="nl-NL" sz="1400" dirty="0" err="1"/>
              <a:t>df.groupby</a:t>
            </a:r>
            <a:r>
              <a:rPr lang="nl-NL" sz="1400" dirty="0"/>
              <a:t>([</a:t>
            </a:r>
            <a:r>
              <a:rPr lang="nl-NL" sz="1400" dirty="0">
                <a:solidFill>
                  <a:srgbClr val="6A8759"/>
                </a:solidFill>
              </a:rPr>
              <a:t>‘provincie'</a:t>
            </a:r>
            <a:r>
              <a:rPr lang="nl-NL" sz="1400" dirty="0">
                <a:solidFill>
                  <a:srgbClr val="CC7832"/>
                </a:solidFill>
              </a:rPr>
              <a:t>, </a:t>
            </a:r>
            <a:r>
              <a:rPr lang="nl-NL" sz="1400" dirty="0">
                <a:solidFill>
                  <a:srgbClr val="6A8759"/>
                </a:solidFill>
              </a:rPr>
              <a:t>‘SEX'</a:t>
            </a:r>
            <a:r>
              <a:rPr lang="nl-NL" sz="1400" dirty="0"/>
              <a:t>]).</a:t>
            </a:r>
            <a:r>
              <a:rPr lang="nl-NL" sz="1400" dirty="0" err="1">
                <a:solidFill>
                  <a:srgbClr val="00B050"/>
                </a:solidFill>
              </a:rPr>
              <a:t>mean</a:t>
            </a:r>
            <a:r>
              <a:rPr lang="nl-NL" sz="1400" dirty="0">
                <a:solidFill>
                  <a:srgbClr val="00B050"/>
                </a:solidFill>
              </a:rPr>
              <a:t>(</a:t>
            </a:r>
            <a:r>
              <a:rPr lang="nl-NL" sz="1400" dirty="0" err="1">
                <a:solidFill>
                  <a:srgbClr val="00B050"/>
                </a:solidFill>
              </a:rPr>
              <a:t>numeric_only</a:t>
            </a:r>
            <a:r>
              <a:rPr lang="nl-NL" sz="1400" dirty="0">
                <a:solidFill>
                  <a:srgbClr val="00B050"/>
                </a:solidFill>
              </a:rPr>
              <a:t>=True)</a:t>
            </a:r>
            <a:br>
              <a:rPr lang="nl-NL" sz="1400" dirty="0">
                <a:solidFill>
                  <a:srgbClr val="00B050"/>
                </a:solidFill>
              </a:rPr>
            </a:br>
            <a:r>
              <a:rPr lang="nl-NL" sz="1400" dirty="0">
                <a:solidFill>
                  <a:srgbClr val="8888C6"/>
                </a:solidFill>
              </a:rPr>
              <a:t>print</a:t>
            </a:r>
            <a:r>
              <a:rPr lang="nl-NL" sz="1400" dirty="0"/>
              <a:t>(</a:t>
            </a:r>
            <a:r>
              <a:rPr lang="nl-NL" sz="1400" dirty="0" err="1"/>
              <a:t>df_gegroepeerd</a:t>
            </a:r>
            <a:r>
              <a:rPr lang="nl-NL" sz="1400" dirty="0"/>
              <a:t>)</a:t>
            </a:r>
          </a:p>
        </p:txBody>
      </p:sp>
      <p:sp>
        <p:nvSpPr>
          <p:cNvPr id="6" name="Rectangle 5">
            <a:extLst>
              <a:ext uri="{FF2B5EF4-FFF2-40B4-BE49-F238E27FC236}">
                <a16:creationId xmlns:a16="http://schemas.microsoft.com/office/drawing/2014/main" id="{89B8A93C-B3DE-8048-917D-95F62867DB20}"/>
              </a:ext>
            </a:extLst>
          </p:cNvPr>
          <p:cNvSpPr/>
          <p:nvPr/>
        </p:nvSpPr>
        <p:spPr>
          <a:xfrm>
            <a:off x="7414867" y="2215098"/>
            <a:ext cx="3071192" cy="3785652"/>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 		CASES</a:t>
            </a:r>
          </a:p>
          <a:p>
            <a:r>
              <a:rPr lang="nl-NL" sz="1000" dirty="0">
                <a:latin typeface="Courier New" panose="02070309020205020404" pitchFamily="49" charset="0"/>
                <a:cs typeface="Courier New" panose="02070309020205020404" pitchFamily="49" charset="0"/>
              </a:rPr>
              <a:t>provincie      SEX           </a:t>
            </a:r>
          </a:p>
          <a:p>
            <a:r>
              <a:rPr lang="nl-NL" sz="1000" dirty="0">
                <a:latin typeface="Courier New" panose="02070309020205020404" pitchFamily="49" charset="0"/>
                <a:cs typeface="Courier New" panose="02070309020205020404" pitchFamily="49" charset="0"/>
              </a:rPr>
              <a:t>Antwerpen      F    16.878144</a:t>
            </a:r>
          </a:p>
          <a:p>
            <a:r>
              <a:rPr lang="nl-NL" sz="1000" dirty="0">
                <a:latin typeface="Courier New" panose="02070309020205020404" pitchFamily="49" charset="0"/>
                <a:cs typeface="Courier New" panose="02070309020205020404" pitchFamily="49" charset="0"/>
              </a:rPr>
              <a:t>               M    14.559720</a:t>
            </a:r>
          </a:p>
          <a:p>
            <a:r>
              <a:rPr lang="nl-NL" sz="1000" dirty="0" err="1">
                <a:latin typeface="Courier New" panose="02070309020205020404" pitchFamily="49" charset="0"/>
                <a:cs typeface="Courier New" panose="02070309020205020404" pitchFamily="49" charset="0"/>
              </a:rPr>
              <a:t>BrabantWallon</a:t>
            </a:r>
            <a:r>
              <a:rPr lang="nl-NL" sz="1000" dirty="0">
                <a:latin typeface="Courier New" panose="02070309020205020404" pitchFamily="49" charset="0"/>
                <a:cs typeface="Courier New" panose="02070309020205020404" pitchFamily="49" charset="0"/>
              </a:rPr>
              <a:t>  F     7.443538</a:t>
            </a:r>
          </a:p>
          <a:p>
            <a:r>
              <a:rPr lang="nl-NL" sz="1000" dirty="0">
                <a:latin typeface="Courier New" panose="02070309020205020404" pitchFamily="49" charset="0"/>
                <a:cs typeface="Courier New" panose="02070309020205020404" pitchFamily="49" charset="0"/>
              </a:rPr>
              <a:t>               M     6.728505</a:t>
            </a:r>
          </a:p>
          <a:p>
            <a:r>
              <a:rPr lang="nl-NL" sz="1000" dirty="0">
                <a:latin typeface="Courier New" panose="02070309020205020404" pitchFamily="49" charset="0"/>
                <a:cs typeface="Courier New" panose="02070309020205020404" pitchFamily="49" charset="0"/>
              </a:rPr>
              <a:t>Brussels       F    17.205200</a:t>
            </a:r>
          </a:p>
          <a:p>
            <a:r>
              <a:rPr lang="nl-NL" sz="1000" dirty="0">
                <a:latin typeface="Courier New" panose="02070309020205020404" pitchFamily="49" charset="0"/>
                <a:cs typeface="Courier New" panose="02070309020205020404" pitchFamily="49" charset="0"/>
              </a:rPr>
              <a:t>               M    15.040816</a:t>
            </a:r>
          </a:p>
          <a:p>
            <a:r>
              <a:rPr lang="nl-NL" sz="1000" dirty="0">
                <a:latin typeface="Courier New" panose="02070309020205020404" pitchFamily="49" charset="0"/>
                <a:cs typeface="Courier New" panose="02070309020205020404" pitchFamily="49" charset="0"/>
              </a:rPr>
              <a:t>Hainaut        F    22.338078</a:t>
            </a:r>
          </a:p>
          <a:p>
            <a:r>
              <a:rPr lang="nl-NL" sz="1000" dirty="0">
                <a:latin typeface="Courier New" panose="02070309020205020404" pitchFamily="49" charset="0"/>
                <a:cs typeface="Courier New" panose="02070309020205020404" pitchFamily="49" charset="0"/>
              </a:rPr>
              <a:t>               M    18.618507</a:t>
            </a:r>
          </a:p>
          <a:p>
            <a:r>
              <a:rPr lang="nl-NL" sz="1000" dirty="0">
                <a:latin typeface="Courier New" panose="02070309020205020404" pitchFamily="49" charset="0"/>
                <a:cs typeface="Courier New" panose="02070309020205020404" pitchFamily="49" charset="0"/>
              </a:rPr>
              <a:t>Limburg        F     7.816667</a:t>
            </a:r>
          </a:p>
          <a:p>
            <a:r>
              <a:rPr lang="nl-NL" sz="1000" dirty="0">
                <a:latin typeface="Courier New" panose="02070309020205020404" pitchFamily="49" charset="0"/>
                <a:cs typeface="Courier New" panose="02070309020205020404" pitchFamily="49" charset="0"/>
              </a:rPr>
              <a:t>               M     6.865580</a:t>
            </a:r>
          </a:p>
          <a:p>
            <a:r>
              <a:rPr lang="nl-NL" sz="1000" dirty="0">
                <a:latin typeface="Courier New" panose="02070309020205020404" pitchFamily="49" charset="0"/>
                <a:cs typeface="Courier New" panose="02070309020205020404" pitchFamily="49" charset="0"/>
              </a:rPr>
              <a:t>Liège          F    20.261800</a:t>
            </a:r>
          </a:p>
          <a:p>
            <a:r>
              <a:rPr lang="nl-NL" sz="1000" dirty="0">
                <a:latin typeface="Courier New" panose="02070309020205020404" pitchFamily="49" charset="0"/>
                <a:cs typeface="Courier New" panose="02070309020205020404" pitchFamily="49" charset="0"/>
              </a:rPr>
              <a:t>               M    17.312344</a:t>
            </a:r>
          </a:p>
          <a:p>
            <a:r>
              <a:rPr lang="nl-NL" sz="1000" dirty="0">
                <a:latin typeface="Courier New" panose="02070309020205020404" pitchFamily="49" charset="0"/>
                <a:cs typeface="Courier New" panose="02070309020205020404" pitchFamily="49" charset="0"/>
              </a:rPr>
              <a:t>Luxembourg     F     6.212285</a:t>
            </a:r>
          </a:p>
          <a:p>
            <a:r>
              <a:rPr lang="nl-NL" sz="1000" dirty="0">
                <a:latin typeface="Courier New" panose="02070309020205020404" pitchFamily="49" charset="0"/>
                <a:cs typeface="Courier New" panose="02070309020205020404" pitchFamily="49" charset="0"/>
              </a:rPr>
              <a:t>               M     5.506507</a:t>
            </a:r>
          </a:p>
          <a:p>
            <a:r>
              <a:rPr lang="nl-NL" sz="1000" dirty="0">
                <a:latin typeface="Courier New" panose="02070309020205020404" pitchFamily="49" charset="0"/>
                <a:cs typeface="Courier New" panose="02070309020205020404" pitchFamily="49" charset="0"/>
              </a:rPr>
              <a:t>Namur          F     9.967206</a:t>
            </a:r>
          </a:p>
          <a:p>
            <a:r>
              <a:rPr lang="nl-NL" sz="1000" dirty="0">
                <a:latin typeface="Courier New" panose="02070309020205020404" pitchFamily="49" charset="0"/>
                <a:cs typeface="Courier New" panose="02070309020205020404" pitchFamily="49" charset="0"/>
              </a:rPr>
              <a:t>               M     8.609306</a:t>
            </a:r>
          </a:p>
          <a:p>
            <a:r>
              <a:rPr lang="nl-NL" sz="1000" dirty="0" err="1">
                <a:latin typeface="Courier New" panose="02070309020205020404" pitchFamily="49" charset="0"/>
                <a:cs typeface="Courier New" panose="02070309020205020404" pitchFamily="49" charset="0"/>
              </a:rPr>
              <a:t>OostVlaanderen</a:t>
            </a:r>
            <a:r>
              <a:rPr lang="nl-NL" sz="1000" dirty="0">
                <a:latin typeface="Courier New" panose="02070309020205020404" pitchFamily="49" charset="0"/>
                <a:cs typeface="Courier New" panose="02070309020205020404" pitchFamily="49" charset="0"/>
              </a:rPr>
              <a:t> F    16.451979</a:t>
            </a:r>
          </a:p>
          <a:p>
            <a:r>
              <a:rPr lang="nl-NL" sz="1000" dirty="0">
                <a:latin typeface="Courier New" panose="02070309020205020404" pitchFamily="49" charset="0"/>
                <a:cs typeface="Courier New" panose="02070309020205020404" pitchFamily="49" charset="0"/>
              </a:rPr>
              <a:t>               M    13.584590</a:t>
            </a:r>
          </a:p>
          <a:p>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F    11.980683</a:t>
            </a:r>
          </a:p>
          <a:p>
            <a:r>
              <a:rPr lang="nl-NL" sz="1000" dirty="0">
                <a:latin typeface="Courier New" panose="02070309020205020404" pitchFamily="49" charset="0"/>
                <a:cs typeface="Courier New" panose="02070309020205020404" pitchFamily="49" charset="0"/>
              </a:rPr>
              <a:t>               M    10.198866</a:t>
            </a:r>
          </a:p>
          <a:p>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F    13.486193</a:t>
            </a:r>
          </a:p>
          <a:p>
            <a:r>
              <a:rPr lang="nl-NL" sz="1000" dirty="0">
                <a:latin typeface="Courier New" panose="02070309020205020404" pitchFamily="49" charset="0"/>
                <a:cs typeface="Courier New" panose="02070309020205020404" pitchFamily="49" charset="0"/>
              </a:rPr>
              <a:t>               M    10.984074</a:t>
            </a:r>
          </a:p>
        </p:txBody>
      </p:sp>
      <p:cxnSp>
        <p:nvCxnSpPr>
          <p:cNvPr id="7" name="Straight Arrow Connector 6">
            <a:extLst>
              <a:ext uri="{FF2B5EF4-FFF2-40B4-BE49-F238E27FC236}">
                <a16:creationId xmlns:a16="http://schemas.microsoft.com/office/drawing/2014/main" id="{514ACF5E-FF7F-284E-98FF-D7A0354BD6FA}"/>
              </a:ext>
            </a:extLst>
          </p:cNvPr>
          <p:cNvCxnSpPr>
            <a:cxnSpLocks/>
          </p:cNvCxnSpPr>
          <p:nvPr/>
        </p:nvCxnSpPr>
        <p:spPr>
          <a:xfrm flipV="1">
            <a:off x="7780848" y="857250"/>
            <a:ext cx="588021" cy="8685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0A77950-4CC1-2A4F-AEA9-276E18DB0318}"/>
              </a:ext>
            </a:extLst>
          </p:cNvPr>
          <p:cNvSpPr txBox="1"/>
          <p:nvPr/>
        </p:nvSpPr>
        <p:spPr>
          <a:xfrm>
            <a:off x="8428383" y="276710"/>
            <a:ext cx="3129303" cy="1384995"/>
          </a:xfrm>
          <a:prstGeom prst="rect">
            <a:avLst/>
          </a:prstGeom>
          <a:noFill/>
        </p:spPr>
        <p:txBody>
          <a:bodyPr wrap="square" rtlCol="0">
            <a:spAutoFit/>
          </a:bodyPr>
          <a:lstStyle/>
          <a:p>
            <a:r>
              <a:rPr lang="nl-NL" sz="1200" dirty="0"/>
              <a:t>Bekijk zeker de mooi </a:t>
            </a:r>
            <a:r>
              <a:rPr lang="nl-NL" sz="1200" dirty="0" err="1"/>
              <a:t>geformateerde</a:t>
            </a:r>
            <a:r>
              <a:rPr lang="nl-NL" sz="1200" dirty="0"/>
              <a:t> output in de .</a:t>
            </a:r>
            <a:r>
              <a:rPr lang="nl-NL" sz="1200" dirty="0" err="1"/>
              <a:t>ipynb</a:t>
            </a:r>
            <a:r>
              <a:rPr lang="nl-NL" sz="1200" dirty="0"/>
              <a:t> files</a:t>
            </a:r>
          </a:p>
          <a:p>
            <a:endParaRPr lang="nl-NL" sz="1200" dirty="0"/>
          </a:p>
          <a:p>
            <a:r>
              <a:rPr lang="nl-NL" sz="1200" dirty="0"/>
              <a:t>Merk op dat enkel </a:t>
            </a:r>
            <a:r>
              <a:rPr lang="nl-NL" sz="1200" dirty="0" err="1"/>
              <a:t>numerische</a:t>
            </a:r>
            <a:r>
              <a:rPr lang="nl-NL" sz="1200" dirty="0"/>
              <a:t> kolommen worden teruggegeven (hier CASES) omdat de aggregatiefunctie </a:t>
            </a:r>
            <a:r>
              <a:rPr lang="nl-NL" sz="1200" dirty="0" err="1">
                <a:latin typeface="Courier New" panose="02070309020205020404" pitchFamily="49" charset="0"/>
                <a:cs typeface="Courier New" panose="02070309020205020404" pitchFamily="49" charset="0"/>
              </a:rPr>
              <a:t>mean</a:t>
            </a:r>
            <a:r>
              <a:rPr lang="nl-NL" sz="1200" dirty="0">
                <a:latin typeface="Courier New" panose="02070309020205020404" pitchFamily="49" charset="0"/>
                <a:cs typeface="Courier New" panose="02070309020205020404" pitchFamily="49" charset="0"/>
              </a:rPr>
              <a:t>()</a:t>
            </a:r>
            <a:r>
              <a:rPr lang="nl-NL" sz="1200" dirty="0"/>
              <a:t> voor getallen is gemaakt</a:t>
            </a:r>
          </a:p>
        </p:txBody>
      </p:sp>
      <p:sp>
        <p:nvSpPr>
          <p:cNvPr id="10" name="TextBox 9">
            <a:extLst>
              <a:ext uri="{FF2B5EF4-FFF2-40B4-BE49-F238E27FC236}">
                <a16:creationId xmlns:a16="http://schemas.microsoft.com/office/drawing/2014/main" id="{038661D8-FD01-FD48-9EA9-E3E1896445D4}"/>
              </a:ext>
            </a:extLst>
          </p:cNvPr>
          <p:cNvSpPr txBox="1"/>
          <p:nvPr/>
        </p:nvSpPr>
        <p:spPr>
          <a:xfrm>
            <a:off x="7412484" y="1824584"/>
            <a:ext cx="956385" cy="369332"/>
          </a:xfrm>
          <a:prstGeom prst="rect">
            <a:avLst/>
          </a:prstGeom>
          <a:noFill/>
        </p:spPr>
        <p:txBody>
          <a:bodyPr wrap="square" rtlCol="0">
            <a:spAutoFit/>
          </a:bodyPr>
          <a:lstStyle/>
          <a:p>
            <a:r>
              <a:rPr lang="nl-NL" dirty="0"/>
              <a:t>Output:</a:t>
            </a:r>
          </a:p>
        </p:txBody>
      </p:sp>
      <p:sp>
        <p:nvSpPr>
          <p:cNvPr id="11" name="TextBox 10">
            <a:extLst>
              <a:ext uri="{FF2B5EF4-FFF2-40B4-BE49-F238E27FC236}">
                <a16:creationId xmlns:a16="http://schemas.microsoft.com/office/drawing/2014/main" id="{2F04BF34-0B5D-6B46-A084-AFC3ADDCBDD9}"/>
              </a:ext>
            </a:extLst>
          </p:cNvPr>
          <p:cNvSpPr txBox="1"/>
          <p:nvPr/>
        </p:nvSpPr>
        <p:spPr>
          <a:xfrm>
            <a:off x="576000" y="3601182"/>
            <a:ext cx="824345" cy="369332"/>
          </a:xfrm>
          <a:prstGeom prst="rect">
            <a:avLst/>
          </a:prstGeom>
          <a:noFill/>
        </p:spPr>
        <p:txBody>
          <a:bodyPr wrap="square" rtlCol="0">
            <a:spAutoFit/>
          </a:bodyPr>
          <a:lstStyle/>
          <a:p>
            <a:r>
              <a:rPr lang="nl-NL" dirty="0"/>
              <a:t>Code:</a:t>
            </a:r>
          </a:p>
        </p:txBody>
      </p:sp>
      <p:cxnSp>
        <p:nvCxnSpPr>
          <p:cNvPr id="3" name="Straight Arrow Connector 2">
            <a:extLst>
              <a:ext uri="{FF2B5EF4-FFF2-40B4-BE49-F238E27FC236}">
                <a16:creationId xmlns:a16="http://schemas.microsoft.com/office/drawing/2014/main" id="{CC0B98EB-0B81-F7C6-FF1B-9969FF293F26}"/>
              </a:ext>
            </a:extLst>
          </p:cNvPr>
          <p:cNvCxnSpPr>
            <a:cxnSpLocks/>
          </p:cNvCxnSpPr>
          <p:nvPr/>
        </p:nvCxnSpPr>
        <p:spPr>
          <a:xfrm flipH="1">
            <a:off x="4756150" y="4232124"/>
            <a:ext cx="352772" cy="5202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D4A6E29-A300-FE40-4677-1F196A2D84FE}"/>
              </a:ext>
            </a:extLst>
          </p:cNvPr>
          <p:cNvSpPr txBox="1"/>
          <p:nvPr/>
        </p:nvSpPr>
        <p:spPr>
          <a:xfrm>
            <a:off x="3278257" y="4668973"/>
            <a:ext cx="3071192" cy="1384995"/>
          </a:xfrm>
          <a:prstGeom prst="rect">
            <a:avLst/>
          </a:prstGeom>
          <a:noFill/>
        </p:spPr>
        <p:txBody>
          <a:bodyPr wrap="square" rtlCol="0">
            <a:spAutoFit/>
          </a:bodyPr>
          <a:lstStyle/>
          <a:p>
            <a:r>
              <a:rPr lang="nl-NL" sz="1200" dirty="0" err="1">
                <a:solidFill>
                  <a:srgbClr val="00B050"/>
                </a:solidFill>
                <a:latin typeface="Courier New" panose="02070309020205020404" pitchFamily="49" charset="0"/>
                <a:cs typeface="Courier New" panose="02070309020205020404" pitchFamily="49" charset="0"/>
              </a:rPr>
              <a:t>mean</a:t>
            </a:r>
            <a:r>
              <a:rPr lang="nl-NL" sz="1200" dirty="0">
                <a:solidFill>
                  <a:srgbClr val="00B050"/>
                </a:solidFill>
                <a:latin typeface="Courier New" panose="02070309020205020404" pitchFamily="49" charset="0"/>
                <a:cs typeface="Courier New" panose="02070309020205020404" pitchFamily="49" charset="0"/>
              </a:rPr>
              <a:t>()</a:t>
            </a:r>
            <a:r>
              <a:rPr lang="nl-NL" sz="1200" dirty="0">
                <a:solidFill>
                  <a:srgbClr val="00B050"/>
                </a:solidFill>
              </a:rPr>
              <a:t> kan dus vervangen worden door andere aggregatiefuncties</a:t>
            </a:r>
          </a:p>
          <a:p>
            <a:endParaRPr lang="nl-NL" sz="1200" dirty="0">
              <a:solidFill>
                <a:srgbClr val="00B050"/>
              </a:solidFill>
            </a:endParaRPr>
          </a:p>
          <a:p>
            <a:r>
              <a:rPr lang="nl-NL" sz="1200" dirty="0">
                <a:solidFill>
                  <a:srgbClr val="00B050"/>
                </a:solidFill>
              </a:rPr>
              <a:t>Merk op: het argument </a:t>
            </a:r>
            <a:r>
              <a:rPr lang="nl-NL" sz="1200" dirty="0" err="1">
                <a:solidFill>
                  <a:srgbClr val="00B050"/>
                </a:solidFill>
                <a:latin typeface="Courier New" panose="02070309020205020404" pitchFamily="49" charset="0"/>
                <a:cs typeface="Courier New" panose="02070309020205020404" pitchFamily="49" charset="0"/>
              </a:rPr>
              <a:t>numeric_only</a:t>
            </a:r>
            <a:r>
              <a:rPr lang="nl-NL" sz="1200" dirty="0">
                <a:solidFill>
                  <a:srgbClr val="00B050"/>
                </a:solidFill>
              </a:rPr>
              <a:t> moet sinds kort standaard worden meegegeven in </a:t>
            </a:r>
            <a:r>
              <a:rPr lang="nl-NL" sz="1200" dirty="0" err="1">
                <a:solidFill>
                  <a:srgbClr val="00B050"/>
                </a:solidFill>
              </a:rPr>
              <a:t>Pandas</a:t>
            </a:r>
            <a:r>
              <a:rPr lang="nl-NL" sz="1200" dirty="0">
                <a:solidFill>
                  <a:srgbClr val="00B050"/>
                </a:solidFill>
              </a:rPr>
              <a:t> (het kan zijn dat dit nog anders is in jouw versie)</a:t>
            </a:r>
          </a:p>
        </p:txBody>
      </p:sp>
    </p:spTree>
    <p:extLst>
      <p:ext uri="{BB962C8B-B14F-4D97-AF65-F5344CB8AC3E}">
        <p14:creationId xmlns:p14="http://schemas.microsoft.com/office/powerpoint/2010/main" val="667821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A2237-554E-E244-9D43-501874F95408}"/>
              </a:ext>
            </a:extLst>
          </p:cNvPr>
          <p:cNvSpPr>
            <a:spLocks noGrp="1"/>
          </p:cNvSpPr>
          <p:nvPr>
            <p:ph idx="1"/>
          </p:nvPr>
        </p:nvSpPr>
        <p:spPr/>
        <p:txBody>
          <a:bodyPr/>
          <a:lstStyle/>
          <a:p>
            <a:r>
              <a:rPr lang="nl-NL" dirty="0"/>
              <a:t>Kan per kolom (</a:t>
            </a:r>
            <a:r>
              <a:rPr lang="nl-NL" dirty="0" err="1"/>
              <a:t>axis</a:t>
            </a:r>
            <a:r>
              <a:rPr lang="nl-NL" dirty="0"/>
              <a:t>=1 – zie </a:t>
            </a:r>
            <a:r>
              <a:rPr lang="nl-NL" dirty="0" err="1"/>
              <a:t>NumPy</a:t>
            </a:r>
            <a:r>
              <a:rPr lang="nl-NL" dirty="0"/>
              <a:t>) of per rij (</a:t>
            </a:r>
            <a:r>
              <a:rPr lang="nl-NL" dirty="0" err="1"/>
              <a:t>axis</a:t>
            </a:r>
            <a:r>
              <a:rPr lang="nl-NL" dirty="0"/>
              <a:t>=0)</a:t>
            </a:r>
          </a:p>
        </p:txBody>
      </p:sp>
      <p:sp>
        <p:nvSpPr>
          <p:cNvPr id="4" name="Slide Number Placeholder 3">
            <a:extLst>
              <a:ext uri="{FF2B5EF4-FFF2-40B4-BE49-F238E27FC236}">
                <a16:creationId xmlns:a16="http://schemas.microsoft.com/office/drawing/2014/main" id="{5D957E1F-E910-D045-993F-9E930CBA9EA9}"/>
              </a:ext>
            </a:extLst>
          </p:cNvPr>
          <p:cNvSpPr>
            <a:spLocks noGrp="1"/>
          </p:cNvSpPr>
          <p:nvPr>
            <p:ph type="sldNum" sz="quarter" idx="12"/>
          </p:nvPr>
        </p:nvSpPr>
        <p:spPr/>
        <p:txBody>
          <a:bodyPr/>
          <a:lstStyle/>
          <a:p>
            <a:fld id="{D270EDC2-4F5E-5547-954F-5222C286AC2A}" type="slidenum">
              <a:rPr lang="nl-NL" smtClean="0"/>
              <a:t>54</a:t>
            </a:fld>
            <a:endParaRPr lang="nl-NL" dirty="0"/>
          </a:p>
        </p:txBody>
      </p:sp>
      <p:sp>
        <p:nvSpPr>
          <p:cNvPr id="2" name="Title 1">
            <a:extLst>
              <a:ext uri="{FF2B5EF4-FFF2-40B4-BE49-F238E27FC236}">
                <a16:creationId xmlns:a16="http://schemas.microsoft.com/office/drawing/2014/main" id="{CC83197B-2868-7E46-BEDC-F2A09E635DF7}"/>
              </a:ext>
            </a:extLst>
          </p:cNvPr>
          <p:cNvSpPr>
            <a:spLocks noGrp="1"/>
          </p:cNvSpPr>
          <p:nvPr>
            <p:ph type="title"/>
          </p:nvPr>
        </p:nvSpPr>
        <p:spPr/>
        <p:txBody>
          <a:bodyPr/>
          <a:lstStyle/>
          <a:p>
            <a:r>
              <a:rPr lang="nl-NL" dirty="0"/>
              <a:t>Verwijderen</a:t>
            </a:r>
          </a:p>
        </p:txBody>
      </p:sp>
      <p:sp>
        <p:nvSpPr>
          <p:cNvPr id="5" name="Rectangle 4">
            <a:extLst>
              <a:ext uri="{FF2B5EF4-FFF2-40B4-BE49-F238E27FC236}">
                <a16:creationId xmlns:a16="http://schemas.microsoft.com/office/drawing/2014/main" id="{DA7247E3-E4EB-8544-919C-1EF335D94706}"/>
              </a:ext>
            </a:extLst>
          </p:cNvPr>
          <p:cNvSpPr/>
          <p:nvPr/>
        </p:nvSpPr>
        <p:spPr>
          <a:xfrm>
            <a:off x="838200" y="3208542"/>
            <a:ext cx="5257800" cy="1384995"/>
          </a:xfrm>
          <a:prstGeom prst="rect">
            <a:avLst/>
          </a:prstGeom>
          <a:ln>
            <a:solidFill>
              <a:schemeClr val="tx1"/>
            </a:solidFill>
          </a:ln>
        </p:spPr>
        <p:txBody>
          <a:bodyPr wrap="square">
            <a:spAutoFit/>
          </a:bodyPr>
          <a:lstStyle/>
          <a:p>
            <a:r>
              <a:rPr lang="nl-NL" sz="1400" dirty="0" err="1"/>
              <a:t>df_zonder_kolommen</a:t>
            </a:r>
            <a:r>
              <a:rPr lang="nl-NL" sz="1400" dirty="0"/>
              <a:t> = </a:t>
            </a:r>
            <a:r>
              <a:rPr lang="nl-NL" sz="1400" dirty="0" err="1"/>
              <a:t>df.drop</a:t>
            </a:r>
            <a:r>
              <a:rPr lang="nl-NL" sz="1400" dirty="0"/>
              <a:t>([</a:t>
            </a:r>
            <a:r>
              <a:rPr lang="nl-NL" sz="1400" dirty="0">
                <a:solidFill>
                  <a:srgbClr val="6A8759"/>
                </a:solidFill>
              </a:rPr>
              <a:t>'regio'</a:t>
            </a:r>
            <a:r>
              <a:rPr lang="nl-NL" sz="1400" dirty="0">
                <a:solidFill>
                  <a:srgbClr val="CC7832"/>
                </a:solidFill>
              </a:rPr>
              <a:t>, </a:t>
            </a:r>
            <a:r>
              <a:rPr lang="nl-NL" sz="1400" dirty="0">
                <a:solidFill>
                  <a:srgbClr val="6A8759"/>
                </a:solidFill>
              </a:rPr>
              <a:t>'SEX'</a:t>
            </a:r>
            <a:r>
              <a:rPr lang="nl-NL" sz="1400" dirty="0"/>
              <a:t>]</a:t>
            </a:r>
            <a:r>
              <a:rPr lang="nl-NL" sz="1400" dirty="0">
                <a:solidFill>
                  <a:srgbClr val="CC7832"/>
                </a:solidFill>
              </a:rPr>
              <a:t>, </a:t>
            </a:r>
            <a:r>
              <a:rPr lang="nl-NL" sz="1400" dirty="0" err="1">
                <a:solidFill>
                  <a:srgbClr val="AA4926"/>
                </a:solidFill>
              </a:rPr>
              <a:t>axis</a:t>
            </a:r>
            <a:r>
              <a:rPr lang="nl-NL" sz="1400" dirty="0"/>
              <a:t>=</a:t>
            </a:r>
            <a:r>
              <a:rPr lang="nl-NL" sz="1400" dirty="0">
                <a:solidFill>
                  <a:srgbClr val="6897BB"/>
                </a:solidFill>
              </a:rPr>
              <a:t>1</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'Zonder 2 kolommen:</a:t>
            </a:r>
            <a:r>
              <a:rPr lang="nl-NL" sz="1400" dirty="0">
                <a:solidFill>
                  <a:srgbClr val="CC7832"/>
                </a:solidFill>
              </a:rPr>
              <a:t>\n</a:t>
            </a:r>
            <a:r>
              <a:rPr lang="nl-NL" sz="1400" dirty="0">
                <a:solidFill>
                  <a:srgbClr val="6A8759"/>
                </a:solidFill>
              </a:rPr>
              <a:t>'</a:t>
            </a:r>
            <a:r>
              <a:rPr lang="nl-NL" sz="1400" dirty="0">
                <a:solidFill>
                  <a:srgbClr val="CC7832"/>
                </a:solidFill>
              </a:rPr>
              <a:t>, </a:t>
            </a:r>
            <a:r>
              <a:rPr lang="nl-NL" sz="1400" dirty="0" err="1"/>
              <a:t>df_zonder_kolommen.head</a:t>
            </a:r>
            <a:r>
              <a:rPr lang="nl-NL" sz="1400" dirty="0"/>
              <a:t>())</a:t>
            </a:r>
            <a:br>
              <a:rPr lang="nl-NL" sz="1400" dirty="0"/>
            </a:br>
            <a:br>
              <a:rPr lang="nl-NL" sz="1400" dirty="0"/>
            </a:br>
            <a:r>
              <a:rPr lang="nl-NL" sz="1400" dirty="0">
                <a:solidFill>
                  <a:srgbClr val="8888C6"/>
                </a:solidFill>
              </a:rPr>
              <a:t>print</a:t>
            </a:r>
            <a:r>
              <a:rPr lang="nl-NL" sz="1400" dirty="0"/>
              <a:t>(</a:t>
            </a:r>
            <a:r>
              <a:rPr lang="nl-NL" sz="1400" dirty="0" err="1">
                <a:solidFill>
                  <a:srgbClr val="8888C6"/>
                </a:solidFill>
              </a:rPr>
              <a:t>len</a:t>
            </a:r>
            <a:r>
              <a:rPr lang="nl-NL" sz="1400" dirty="0"/>
              <a:t>(</a:t>
            </a:r>
            <a:r>
              <a:rPr lang="nl-NL" sz="1400" dirty="0" err="1"/>
              <a:t>df</a:t>
            </a:r>
            <a:r>
              <a:rPr lang="nl-NL" sz="1400" dirty="0"/>
              <a:t>))</a:t>
            </a:r>
            <a:br>
              <a:rPr lang="nl-NL" sz="1400" dirty="0"/>
            </a:br>
            <a:r>
              <a:rPr lang="nl-NL" sz="1400" dirty="0" err="1"/>
              <a:t>df_zonder_rijen</a:t>
            </a:r>
            <a:r>
              <a:rPr lang="nl-NL" sz="1400" dirty="0"/>
              <a:t> = </a:t>
            </a:r>
            <a:r>
              <a:rPr lang="nl-NL" sz="1400" dirty="0" err="1"/>
              <a:t>df.drop</a:t>
            </a:r>
            <a:r>
              <a:rPr lang="nl-NL" sz="1400" dirty="0"/>
              <a:t>(</a:t>
            </a:r>
            <a:r>
              <a:rPr lang="nl-NL" sz="1400" dirty="0">
                <a:solidFill>
                  <a:srgbClr val="8888C6"/>
                </a:solidFill>
              </a:rPr>
              <a:t>range</a:t>
            </a:r>
            <a:r>
              <a:rPr lang="nl-NL" sz="1400" dirty="0"/>
              <a:t>(</a:t>
            </a:r>
            <a:r>
              <a:rPr lang="nl-NL" sz="1400" dirty="0">
                <a:solidFill>
                  <a:srgbClr val="6897BB"/>
                </a:solidFill>
              </a:rPr>
              <a:t>0</a:t>
            </a:r>
            <a:r>
              <a:rPr lang="nl-NL" sz="1400" dirty="0">
                <a:solidFill>
                  <a:srgbClr val="CC7832"/>
                </a:solidFill>
              </a:rPr>
              <a:t>, </a:t>
            </a:r>
            <a:r>
              <a:rPr lang="nl-NL" sz="1400" dirty="0" err="1">
                <a:solidFill>
                  <a:srgbClr val="8888C6"/>
                </a:solidFill>
              </a:rPr>
              <a:t>len</a:t>
            </a:r>
            <a:r>
              <a:rPr lang="nl-NL" sz="1400" dirty="0"/>
              <a:t>(</a:t>
            </a:r>
            <a:r>
              <a:rPr lang="nl-NL" sz="1400" dirty="0" err="1"/>
              <a:t>df</a:t>
            </a:r>
            <a:r>
              <a:rPr lang="nl-NL" sz="1400" dirty="0"/>
              <a:t>)</a:t>
            </a:r>
            <a:r>
              <a:rPr lang="nl-NL" sz="1400" dirty="0">
                <a:solidFill>
                  <a:srgbClr val="CC7832"/>
                </a:solidFill>
              </a:rPr>
              <a:t>, </a:t>
            </a:r>
            <a:r>
              <a:rPr lang="nl-NL" sz="1400" dirty="0">
                <a:solidFill>
                  <a:srgbClr val="6897BB"/>
                </a:solidFill>
              </a:rPr>
              <a:t>5</a:t>
            </a:r>
            <a:r>
              <a:rPr lang="nl-NL" sz="1400" dirty="0"/>
              <a:t>))</a:t>
            </a:r>
            <a:br>
              <a:rPr lang="nl-NL" sz="1400" dirty="0"/>
            </a:br>
            <a:r>
              <a:rPr lang="nl-NL" sz="1400" dirty="0">
                <a:solidFill>
                  <a:srgbClr val="8888C6"/>
                </a:solidFill>
              </a:rPr>
              <a:t>print</a:t>
            </a:r>
            <a:r>
              <a:rPr lang="nl-NL" sz="1400" dirty="0"/>
              <a:t>(</a:t>
            </a:r>
            <a:r>
              <a:rPr lang="nl-NL" sz="1400" dirty="0" err="1">
                <a:solidFill>
                  <a:srgbClr val="8888C6"/>
                </a:solidFill>
              </a:rPr>
              <a:t>len</a:t>
            </a:r>
            <a:r>
              <a:rPr lang="nl-NL" sz="1400" dirty="0"/>
              <a:t>(</a:t>
            </a:r>
            <a:r>
              <a:rPr lang="nl-NL" sz="1400" dirty="0" err="1"/>
              <a:t>df_zonder_rijen</a:t>
            </a:r>
            <a:r>
              <a:rPr lang="nl-NL" sz="1400" dirty="0"/>
              <a:t>))</a:t>
            </a:r>
          </a:p>
        </p:txBody>
      </p:sp>
      <p:sp>
        <p:nvSpPr>
          <p:cNvPr id="6" name="Rectangle 5">
            <a:extLst>
              <a:ext uri="{FF2B5EF4-FFF2-40B4-BE49-F238E27FC236}">
                <a16:creationId xmlns:a16="http://schemas.microsoft.com/office/drawing/2014/main" id="{8102E702-29AB-3F4E-B4CA-8B043A27C535}"/>
              </a:ext>
            </a:extLst>
          </p:cNvPr>
          <p:cNvSpPr/>
          <p:nvPr/>
        </p:nvSpPr>
        <p:spPr>
          <a:xfrm>
            <a:off x="6894714" y="3208542"/>
            <a:ext cx="4160636" cy="1477328"/>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Zonder 2 kolommen:</a:t>
            </a:r>
          </a:p>
          <a:p>
            <a:r>
              <a:rPr lang="nl-NL" sz="1000" dirty="0">
                <a:latin typeface="Courier New" panose="02070309020205020404" pitchFamily="49" charset="0"/>
                <a:cs typeface="Courier New" panose="02070309020205020404" pitchFamily="49" charset="0"/>
              </a:rPr>
              <a:t>          DATE  provincie AGEGROUP  CASES</a:t>
            </a:r>
          </a:p>
          <a:p>
            <a:r>
              <a:rPr lang="nl-NL" sz="1000" dirty="0">
                <a:latin typeface="Courier New" panose="02070309020205020404" pitchFamily="49" charset="0"/>
                <a:cs typeface="Courier New" panose="02070309020205020404" pitchFamily="49" charset="0"/>
              </a:rPr>
              <a:t>0  2020-03-01  Antwerpen    40-49      1</a:t>
            </a:r>
          </a:p>
          <a:p>
            <a:r>
              <a:rPr lang="nl-NL" sz="1000" dirty="0">
                <a:latin typeface="Courier New" panose="02070309020205020404" pitchFamily="49" charset="0"/>
                <a:cs typeface="Courier New" panose="02070309020205020404" pitchFamily="49" charset="0"/>
              </a:rPr>
              <a:t>1  2020-03-01   Brussels    10-19      1</a:t>
            </a:r>
          </a:p>
          <a:p>
            <a:r>
              <a:rPr lang="nl-NL" sz="1000" dirty="0">
                <a:latin typeface="Courier New" panose="02070309020205020404" pitchFamily="49" charset="0"/>
                <a:cs typeface="Courier New" panose="02070309020205020404" pitchFamily="49" charset="0"/>
              </a:rPr>
              <a:t>2  2020-03-01   Brussels    10-19      1</a:t>
            </a:r>
          </a:p>
          <a:p>
            <a:r>
              <a:rPr lang="nl-NL" sz="1000" dirty="0">
                <a:latin typeface="Courier New" panose="02070309020205020404" pitchFamily="49" charset="0"/>
                <a:cs typeface="Courier New" panose="02070309020205020404" pitchFamily="49" charset="0"/>
              </a:rPr>
              <a:t>3  2020-03-01   Brussels    20-29      1</a:t>
            </a:r>
          </a:p>
          <a:p>
            <a:r>
              <a:rPr lang="nl-NL" sz="1000" dirty="0">
                <a:latin typeface="Courier New" panose="02070309020205020404" pitchFamily="49" charset="0"/>
                <a:cs typeface="Courier New" panose="02070309020205020404" pitchFamily="49" charset="0"/>
              </a:rPr>
              <a:t>4  2020-03-01   Brussels    30-39      1</a:t>
            </a:r>
          </a:p>
          <a:p>
            <a:r>
              <a:rPr lang="nl-NL" sz="1000" dirty="0">
                <a:latin typeface="Courier New" panose="02070309020205020404" pitchFamily="49" charset="0"/>
                <a:cs typeface="Courier New" panose="02070309020205020404" pitchFamily="49" charset="0"/>
              </a:rPr>
              <a:t>66175</a:t>
            </a:r>
          </a:p>
          <a:p>
            <a:r>
              <a:rPr lang="nl-NL" sz="1000" dirty="0">
                <a:latin typeface="Courier New" panose="02070309020205020404" pitchFamily="49" charset="0"/>
                <a:cs typeface="Courier New" panose="02070309020205020404" pitchFamily="49" charset="0"/>
              </a:rPr>
              <a:t>52940</a:t>
            </a:r>
          </a:p>
        </p:txBody>
      </p:sp>
      <p:sp>
        <p:nvSpPr>
          <p:cNvPr id="7" name="TextBox 6">
            <a:extLst>
              <a:ext uri="{FF2B5EF4-FFF2-40B4-BE49-F238E27FC236}">
                <a16:creationId xmlns:a16="http://schemas.microsoft.com/office/drawing/2014/main" id="{DFA661C7-D9A1-5B46-8299-A460262AC7E2}"/>
              </a:ext>
            </a:extLst>
          </p:cNvPr>
          <p:cNvSpPr txBox="1"/>
          <p:nvPr/>
        </p:nvSpPr>
        <p:spPr>
          <a:xfrm>
            <a:off x="6894714" y="2839210"/>
            <a:ext cx="1077191"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9A5EABEC-3A2A-0542-9D05-6219DC8465BE}"/>
              </a:ext>
            </a:extLst>
          </p:cNvPr>
          <p:cNvSpPr txBox="1"/>
          <p:nvPr/>
        </p:nvSpPr>
        <p:spPr>
          <a:xfrm>
            <a:off x="838200" y="2839210"/>
            <a:ext cx="940724"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C48DDD0B-6890-5043-99E5-6B232FBEEAC4}"/>
              </a:ext>
            </a:extLst>
          </p:cNvPr>
          <p:cNvCxnSpPr>
            <a:cxnSpLocks/>
          </p:cNvCxnSpPr>
          <p:nvPr/>
        </p:nvCxnSpPr>
        <p:spPr>
          <a:xfrm>
            <a:off x="2968337" y="4306249"/>
            <a:ext cx="563705" cy="4735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A860898-A66B-9744-B3F6-13536A7FF405}"/>
              </a:ext>
            </a:extLst>
          </p:cNvPr>
          <p:cNvSpPr txBox="1"/>
          <p:nvPr/>
        </p:nvSpPr>
        <p:spPr>
          <a:xfrm>
            <a:off x="3095670" y="4779818"/>
            <a:ext cx="2263729" cy="1015663"/>
          </a:xfrm>
          <a:prstGeom prst="rect">
            <a:avLst/>
          </a:prstGeom>
          <a:noFill/>
        </p:spPr>
        <p:txBody>
          <a:bodyPr wrap="square" rtlCol="0">
            <a:spAutoFit/>
          </a:bodyPr>
          <a:lstStyle/>
          <a:p>
            <a:r>
              <a:rPr lang="nl-NL" sz="1200" dirty="0"/>
              <a:t>Verwijder elke vijfde rij – we gebruiken een </a:t>
            </a:r>
            <a:r>
              <a:rPr lang="nl-NL" sz="1200" dirty="0">
                <a:latin typeface="Courier New" panose="02070309020205020404" pitchFamily="49" charset="0"/>
                <a:cs typeface="Courier New" panose="02070309020205020404" pitchFamily="49" charset="0"/>
              </a:rPr>
              <a:t>range() </a:t>
            </a:r>
            <a:r>
              <a:rPr lang="nl-NL" sz="1200" dirty="0"/>
              <a:t>object om de indices mee te geven van de rijen die weg mogen</a:t>
            </a:r>
          </a:p>
        </p:txBody>
      </p:sp>
    </p:spTree>
    <p:extLst>
      <p:ext uri="{BB962C8B-B14F-4D97-AF65-F5344CB8AC3E}">
        <p14:creationId xmlns:p14="http://schemas.microsoft.com/office/powerpoint/2010/main" val="19463350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A086FE-9BB2-C730-64A4-1D2947DA4266}"/>
              </a:ext>
            </a:extLst>
          </p:cNvPr>
          <p:cNvSpPr>
            <a:spLocks noGrp="1"/>
          </p:cNvSpPr>
          <p:nvPr>
            <p:ph type="body" idx="1"/>
          </p:nvPr>
        </p:nvSpPr>
        <p:spPr/>
        <p:txBody>
          <a:bodyPr/>
          <a:lstStyle/>
          <a:p>
            <a:r>
              <a:rPr lang="en-US" b="0" dirty="0">
                <a:latin typeface="Courier New" panose="02070309020205020404" pitchFamily="49" charset="0"/>
                <a:cs typeface="Courier New" panose="02070309020205020404" pitchFamily="49" charset="0"/>
              </a:rPr>
              <a:t>.</a:t>
            </a:r>
            <a:r>
              <a:rPr lang="en-US" b="0" dirty="0" err="1">
                <a:latin typeface="Courier New" panose="02070309020205020404" pitchFamily="49" charset="0"/>
                <a:cs typeface="Courier New" panose="02070309020205020404" pitchFamily="49" charset="0"/>
              </a:rPr>
              <a:t>concat</a:t>
            </a:r>
            <a:r>
              <a:rPr lang="en-US" b="0" dirty="0">
                <a:latin typeface="Courier New" panose="02070309020205020404" pitchFamily="49" charset="0"/>
                <a:cs typeface="Courier New" panose="02070309020205020404" pitchFamily="49" charset="0"/>
              </a:rPr>
              <a:t>()</a:t>
            </a:r>
          </a:p>
        </p:txBody>
      </p:sp>
      <p:graphicFrame>
        <p:nvGraphicFramePr>
          <p:cNvPr id="11" name="Content Placeholder 10">
            <a:extLst>
              <a:ext uri="{FF2B5EF4-FFF2-40B4-BE49-F238E27FC236}">
                <a16:creationId xmlns:a16="http://schemas.microsoft.com/office/drawing/2014/main" id="{1FDE1192-322F-E531-83A6-59107E1CF465}"/>
              </a:ext>
            </a:extLst>
          </p:cNvPr>
          <p:cNvGraphicFramePr>
            <a:graphicFrameLocks noGrp="1"/>
          </p:cNvGraphicFramePr>
          <p:nvPr>
            <p:ph sz="half" idx="2"/>
            <p:extLst>
              <p:ext uri="{D42A27DB-BD31-4B8C-83A1-F6EECF244321}">
                <p14:modId xmlns:p14="http://schemas.microsoft.com/office/powerpoint/2010/main" val="3205611754"/>
              </p:ext>
            </p:extLst>
          </p:nvPr>
        </p:nvGraphicFramePr>
        <p:xfrm>
          <a:off x="1224000" y="4423760"/>
          <a:ext cx="3538185" cy="1066800"/>
        </p:xfrm>
        <a:graphic>
          <a:graphicData uri="http://schemas.openxmlformats.org/drawingml/2006/table">
            <a:tbl>
              <a:tblPr>
                <a:tableStyleId>{69CF1AB2-1976-4502-BF36-3FF5EA218861}</a:tableStyleId>
              </a:tblPr>
              <a:tblGrid>
                <a:gridCol w="1179395">
                  <a:extLst>
                    <a:ext uri="{9D8B030D-6E8A-4147-A177-3AD203B41FA5}">
                      <a16:colId xmlns:a16="http://schemas.microsoft.com/office/drawing/2014/main" val="3513590979"/>
                    </a:ext>
                  </a:extLst>
                </a:gridCol>
                <a:gridCol w="1179395">
                  <a:extLst>
                    <a:ext uri="{9D8B030D-6E8A-4147-A177-3AD203B41FA5}">
                      <a16:colId xmlns:a16="http://schemas.microsoft.com/office/drawing/2014/main" val="3817296532"/>
                    </a:ext>
                  </a:extLst>
                </a:gridCol>
                <a:gridCol w="1179395">
                  <a:extLst>
                    <a:ext uri="{9D8B030D-6E8A-4147-A177-3AD203B41FA5}">
                      <a16:colId xmlns:a16="http://schemas.microsoft.com/office/drawing/2014/main" val="4112816460"/>
                    </a:ext>
                  </a:extLst>
                </a:gridCol>
              </a:tblGrid>
              <a:tr h="0">
                <a:tc>
                  <a:txBody>
                    <a:bodyPr/>
                    <a:lstStyle/>
                    <a:p>
                      <a:pPr algn="r" fontAlgn="ctr">
                        <a:buNone/>
                      </a:pPr>
                      <a:endParaRPr lang="en-BE" sz="900" b="1" i="0" dirty="0">
                        <a:solidFill>
                          <a:srgbClr val="202020"/>
                        </a:solidFill>
                        <a:effectLst/>
                        <a:latin typeface="-apple-system"/>
                      </a:endParaRPr>
                    </a:p>
                  </a:txBody>
                  <a:tcPr marL="76200" marR="76200" marT="38100" marB="38100" anchor="ctr"/>
                </a:tc>
                <a:tc>
                  <a:txBody>
                    <a:bodyPr/>
                    <a:lstStyle/>
                    <a:p>
                      <a:pPr algn="r" fontAlgn="ctr">
                        <a:buNone/>
                      </a:pPr>
                      <a:r>
                        <a:rPr lang="en-BE" sz="900" b="1" dirty="0">
                          <a:effectLst/>
                        </a:rPr>
                        <a:t>naam</a:t>
                      </a:r>
                      <a:endParaRPr lang="en-BE" sz="900" b="1" i="0" dirty="0">
                        <a:solidFill>
                          <a:srgbClr val="202020"/>
                        </a:solidFill>
                        <a:effectLst/>
                        <a:latin typeface="-apple-system"/>
                      </a:endParaRPr>
                    </a:p>
                  </a:txBody>
                  <a:tcPr marL="76200" marR="76200" marT="38100" marB="38100" anchor="ctr"/>
                </a:tc>
                <a:tc>
                  <a:txBody>
                    <a:bodyPr/>
                    <a:lstStyle/>
                    <a:p>
                      <a:pPr algn="r" fontAlgn="ctr">
                        <a:buNone/>
                      </a:pPr>
                      <a:r>
                        <a:rPr lang="en-BE" sz="900" b="1" dirty="0">
                          <a:effectLst/>
                        </a:rPr>
                        <a:t>aantal</a:t>
                      </a:r>
                      <a:endParaRPr lang="en-BE" sz="900" b="1" i="0" dirty="0">
                        <a:solidFill>
                          <a:srgbClr val="202020"/>
                        </a:solidFill>
                        <a:effectLst/>
                        <a:latin typeface="-apple-system"/>
                      </a:endParaRPr>
                    </a:p>
                  </a:txBody>
                  <a:tcPr marL="76200" marR="76200" marT="38100" marB="38100" anchor="ctr"/>
                </a:tc>
                <a:extLst>
                  <a:ext uri="{0D108BD9-81ED-4DB2-BD59-A6C34878D82A}">
                    <a16:rowId xmlns:a16="http://schemas.microsoft.com/office/drawing/2014/main" val="3999606812"/>
                  </a:ext>
                </a:extLst>
              </a:tr>
              <a:tr h="0">
                <a:tc>
                  <a:txBody>
                    <a:bodyPr/>
                    <a:lstStyle/>
                    <a:p>
                      <a:pPr algn="r" fontAlgn="ctr">
                        <a:buNone/>
                      </a:pPr>
                      <a:r>
                        <a:rPr lang="en-BE" sz="900">
                          <a:effectLst/>
                        </a:rPr>
                        <a:t>0</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robin</a:t>
                      </a:r>
                      <a:endParaRPr lang="en-BE" sz="900" b="0" i="0" dirty="0">
                        <a:solidFill>
                          <a:srgbClr val="202020"/>
                        </a:solidFill>
                        <a:effectLst/>
                        <a:latin typeface="-apple-system"/>
                      </a:endParaRPr>
                    </a:p>
                  </a:txBody>
                  <a:tcPr marL="76200" marR="76200" marT="38100" marB="38100" anchor="ctr"/>
                </a:tc>
                <a:tc>
                  <a:txBody>
                    <a:bodyPr/>
                    <a:lstStyle/>
                    <a:p>
                      <a:pPr algn="r" fontAlgn="ctr">
                        <a:buNone/>
                      </a:pPr>
                      <a:r>
                        <a:rPr lang="en-BE" sz="900">
                          <a:effectLst/>
                        </a:rPr>
                        <a:t>10</a:t>
                      </a:r>
                      <a:endParaRPr lang="en-BE" sz="900" b="0" i="0">
                        <a:solidFill>
                          <a:srgbClr val="202020"/>
                        </a:solidFill>
                        <a:effectLst/>
                        <a:latin typeface="-apple-system"/>
                      </a:endParaRPr>
                    </a:p>
                  </a:txBody>
                  <a:tcPr marL="76200" marR="76200" marT="38100" marB="38100" anchor="ctr"/>
                </a:tc>
                <a:extLst>
                  <a:ext uri="{0D108BD9-81ED-4DB2-BD59-A6C34878D82A}">
                    <a16:rowId xmlns:a16="http://schemas.microsoft.com/office/drawing/2014/main" val="1568038526"/>
                  </a:ext>
                </a:extLst>
              </a:tr>
              <a:tr h="0">
                <a:tc>
                  <a:txBody>
                    <a:bodyPr/>
                    <a:lstStyle/>
                    <a:p>
                      <a:pPr algn="r" fontAlgn="ctr">
                        <a:buNone/>
                      </a:pPr>
                      <a:r>
                        <a:rPr lang="en-BE" sz="900">
                          <a:effectLst/>
                        </a:rPr>
                        <a:t>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ted</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20</a:t>
                      </a:r>
                      <a:endParaRPr lang="en-BE" sz="900" b="0" i="0">
                        <a:solidFill>
                          <a:srgbClr val="202020"/>
                        </a:solidFill>
                        <a:effectLst/>
                        <a:latin typeface="-apple-system"/>
                      </a:endParaRPr>
                    </a:p>
                  </a:txBody>
                  <a:tcPr marL="76200" marR="76200" marT="38100" marB="38100" anchor="ctr"/>
                </a:tc>
                <a:extLst>
                  <a:ext uri="{0D108BD9-81ED-4DB2-BD59-A6C34878D82A}">
                    <a16:rowId xmlns:a16="http://schemas.microsoft.com/office/drawing/2014/main" val="2286534881"/>
                  </a:ext>
                </a:extLst>
              </a:tr>
              <a:tr h="0">
                <a:tc>
                  <a:txBody>
                    <a:bodyPr/>
                    <a:lstStyle/>
                    <a:p>
                      <a:pPr algn="r" fontAlgn="ctr">
                        <a:buNone/>
                      </a:pPr>
                      <a:r>
                        <a:rPr lang="en-BE" sz="900">
                          <a:effectLst/>
                        </a:rPr>
                        <a:t>2</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barney</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30</a:t>
                      </a:r>
                      <a:endParaRPr lang="en-BE" sz="900" b="0" i="0" dirty="0">
                        <a:solidFill>
                          <a:srgbClr val="202020"/>
                        </a:solidFill>
                        <a:effectLst/>
                        <a:latin typeface="-apple-system"/>
                      </a:endParaRPr>
                    </a:p>
                  </a:txBody>
                  <a:tcPr marL="76200" marR="76200" marT="38100" marB="38100" anchor="ctr"/>
                </a:tc>
                <a:extLst>
                  <a:ext uri="{0D108BD9-81ED-4DB2-BD59-A6C34878D82A}">
                    <a16:rowId xmlns:a16="http://schemas.microsoft.com/office/drawing/2014/main" val="3518725680"/>
                  </a:ext>
                </a:extLst>
              </a:tr>
              <a:tr h="0">
                <a:tc>
                  <a:txBody>
                    <a:bodyPr/>
                    <a:lstStyle/>
                    <a:p>
                      <a:pPr algn="r" fontAlgn="ctr">
                        <a:buNone/>
                      </a:pPr>
                      <a:r>
                        <a:rPr lang="en-BE" sz="900">
                          <a:effectLst/>
                        </a:rPr>
                        <a:t>3</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lilly</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40</a:t>
                      </a:r>
                      <a:endParaRPr lang="en-BE" sz="900" b="0" i="0" dirty="0">
                        <a:solidFill>
                          <a:srgbClr val="202020"/>
                        </a:solidFill>
                        <a:effectLst/>
                        <a:latin typeface="-apple-system"/>
                      </a:endParaRPr>
                    </a:p>
                  </a:txBody>
                  <a:tcPr marL="76200" marR="76200" marT="38100" marB="38100" anchor="ctr"/>
                </a:tc>
                <a:extLst>
                  <a:ext uri="{0D108BD9-81ED-4DB2-BD59-A6C34878D82A}">
                    <a16:rowId xmlns:a16="http://schemas.microsoft.com/office/drawing/2014/main" val="2226637919"/>
                  </a:ext>
                </a:extLst>
              </a:tr>
            </a:tbl>
          </a:graphicData>
        </a:graphic>
      </p:graphicFrame>
      <p:sp>
        <p:nvSpPr>
          <p:cNvPr id="5" name="Text Placeholder 4">
            <a:extLst>
              <a:ext uri="{FF2B5EF4-FFF2-40B4-BE49-F238E27FC236}">
                <a16:creationId xmlns:a16="http://schemas.microsoft.com/office/drawing/2014/main" id="{E7C8FCC1-068C-AAAC-C88D-BF99BAEC86F1}"/>
              </a:ext>
            </a:extLst>
          </p:cNvPr>
          <p:cNvSpPr>
            <a:spLocks noGrp="1"/>
          </p:cNvSpPr>
          <p:nvPr>
            <p:ph type="body" sz="quarter" idx="3"/>
          </p:nvPr>
        </p:nvSpPr>
        <p:spPr/>
        <p:txBody>
          <a:bodyPr/>
          <a:lstStyle/>
          <a:p>
            <a:r>
              <a:rPr lang="en-US" b="0" dirty="0">
                <a:latin typeface="Courier New" panose="02070309020205020404" pitchFamily="49" charset="0"/>
                <a:cs typeface="Courier New" panose="02070309020205020404" pitchFamily="49" charset="0"/>
              </a:rPr>
              <a:t>.merge()</a:t>
            </a:r>
          </a:p>
        </p:txBody>
      </p:sp>
      <p:sp>
        <p:nvSpPr>
          <p:cNvPr id="7" name="Content Placeholder 6">
            <a:extLst>
              <a:ext uri="{FF2B5EF4-FFF2-40B4-BE49-F238E27FC236}">
                <a16:creationId xmlns:a16="http://schemas.microsoft.com/office/drawing/2014/main" id="{51FA2956-E727-7D8C-13F7-E572D184C9AE}"/>
              </a:ext>
            </a:extLst>
          </p:cNvPr>
          <p:cNvSpPr>
            <a:spLocks noGrp="1"/>
          </p:cNvSpPr>
          <p:nvPr>
            <p:ph sz="quarter" idx="4"/>
          </p:nvPr>
        </p:nvSpPr>
        <p:spPr>
          <a:xfrm>
            <a:off x="576000" y="2290397"/>
            <a:ext cx="5445000" cy="3837658"/>
          </a:xfrm>
        </p:spPr>
        <p:txBody>
          <a:bodyPr>
            <a:normAutofit/>
          </a:bodyPr>
          <a:lstStyle/>
          <a:p>
            <a:r>
              <a:rPr lang="en-US" sz="2000" dirty="0"/>
              <a:t>Onder </a:t>
            </a:r>
            <a:r>
              <a:rPr lang="en-US" sz="2000" dirty="0" err="1"/>
              <a:t>elkaar</a:t>
            </a:r>
            <a:r>
              <a:rPr lang="en-US" sz="2000" dirty="0"/>
              <a:t> </a:t>
            </a:r>
            <a:r>
              <a:rPr lang="en-US" sz="2000" dirty="0" err="1"/>
              <a:t>zetten</a:t>
            </a:r>
            <a:r>
              <a:rPr lang="en-US" sz="2000" dirty="0"/>
              <a:t> van </a:t>
            </a:r>
            <a:r>
              <a:rPr lang="en-US" sz="2000" dirty="0" err="1"/>
              <a:t>dezelfde</a:t>
            </a:r>
            <a:r>
              <a:rPr lang="en-US" sz="2000" dirty="0"/>
              <a:t> </a:t>
            </a:r>
            <a:r>
              <a:rPr lang="en-US" sz="2000" dirty="0" err="1"/>
              <a:t>kolommen</a:t>
            </a:r>
            <a:r>
              <a:rPr lang="en-US" sz="2000" dirty="0"/>
              <a:t>:</a:t>
            </a:r>
          </a:p>
        </p:txBody>
      </p:sp>
      <p:sp>
        <p:nvSpPr>
          <p:cNvPr id="3" name="Slide Number Placeholder 2">
            <a:extLst>
              <a:ext uri="{FF2B5EF4-FFF2-40B4-BE49-F238E27FC236}">
                <a16:creationId xmlns:a16="http://schemas.microsoft.com/office/drawing/2014/main" id="{032C1E9B-5230-9E5D-ECCC-1461A86E951F}"/>
              </a:ext>
            </a:extLst>
          </p:cNvPr>
          <p:cNvSpPr>
            <a:spLocks noGrp="1"/>
          </p:cNvSpPr>
          <p:nvPr>
            <p:ph type="sldNum" sz="quarter" idx="12"/>
          </p:nvPr>
        </p:nvSpPr>
        <p:spPr/>
        <p:txBody>
          <a:bodyPr/>
          <a:lstStyle/>
          <a:p>
            <a:fld id="{D270EDC2-4F5E-5547-954F-5222C286AC2A}" type="slidenum">
              <a:rPr lang="en-BE" smtClean="0"/>
              <a:t>55</a:t>
            </a:fld>
            <a:endParaRPr lang="en-BE"/>
          </a:p>
        </p:txBody>
      </p:sp>
      <p:sp>
        <p:nvSpPr>
          <p:cNvPr id="4" name="Title 3">
            <a:extLst>
              <a:ext uri="{FF2B5EF4-FFF2-40B4-BE49-F238E27FC236}">
                <a16:creationId xmlns:a16="http://schemas.microsoft.com/office/drawing/2014/main" id="{F11BB85B-E7F0-1F4B-0169-685A31481515}"/>
              </a:ext>
            </a:extLst>
          </p:cNvPr>
          <p:cNvSpPr>
            <a:spLocks noGrp="1"/>
          </p:cNvSpPr>
          <p:nvPr>
            <p:ph type="title"/>
          </p:nvPr>
        </p:nvSpPr>
        <p:spPr/>
        <p:txBody>
          <a:bodyPr/>
          <a:lstStyle/>
          <a:p>
            <a:r>
              <a:rPr lang="en-BE" dirty="0"/>
              <a:t>Combineren van dataframes</a:t>
            </a:r>
          </a:p>
        </p:txBody>
      </p:sp>
      <p:sp>
        <p:nvSpPr>
          <p:cNvPr id="6" name="TextBox 5">
            <a:extLst>
              <a:ext uri="{FF2B5EF4-FFF2-40B4-BE49-F238E27FC236}">
                <a16:creationId xmlns:a16="http://schemas.microsoft.com/office/drawing/2014/main" id="{23EB12DA-55A0-B7D1-2DA8-D6984C581C74}"/>
              </a:ext>
            </a:extLst>
          </p:cNvPr>
          <p:cNvSpPr txBox="1"/>
          <p:nvPr/>
        </p:nvSpPr>
        <p:spPr>
          <a:xfrm>
            <a:off x="675654" y="3258025"/>
            <a:ext cx="4453907" cy="767774"/>
          </a:xfrm>
          <a:prstGeom prst="rect">
            <a:avLst/>
          </a:prstGeom>
          <a:noFill/>
          <a:ln>
            <a:solidFill>
              <a:srgbClr val="00B0F0"/>
            </a:solidFill>
          </a:ln>
        </p:spPr>
        <p:txBody>
          <a:bodyPr wrap="square">
            <a:spAutoFit/>
          </a:bodyPr>
          <a:lstStyle/>
          <a:p>
            <a:pPr>
              <a:lnSpc>
                <a:spcPct val="125000"/>
              </a:lnSpc>
              <a:buNone/>
            </a:pPr>
            <a:r>
              <a:rPr lang="en-BE" sz="1200" b="0" dirty="0">
                <a:solidFill>
                  <a:srgbClr val="1F2328"/>
                </a:solidFill>
                <a:effectLst/>
                <a:latin typeface="Menlo" panose="020B0609030804020204" pitchFamily="49" charset="0"/>
              </a:rPr>
              <a:t>deel_1</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267F99"/>
                </a:solidFill>
                <a:effectLst/>
                <a:latin typeface="Menlo" panose="020B0609030804020204" pitchFamily="49" charset="0"/>
              </a:rPr>
              <a:t>pd</a:t>
            </a:r>
            <a:r>
              <a:rPr lang="en-BE" sz="1200" b="0" dirty="0">
                <a:solidFill>
                  <a:srgbClr val="202020"/>
                </a:solidFill>
                <a:effectLst/>
                <a:latin typeface="Menlo" panose="020B0609030804020204" pitchFamily="49" charset="0"/>
              </a:rPr>
              <a:t>.</a:t>
            </a:r>
            <a:r>
              <a:rPr lang="en-BE" sz="1200" b="0" dirty="0">
                <a:solidFill>
                  <a:srgbClr val="267F99"/>
                </a:solidFill>
                <a:effectLst/>
                <a:latin typeface="Menlo" panose="020B0609030804020204" pitchFamily="49" charset="0"/>
              </a:rPr>
              <a:t>DataFrame</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'naam'</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'robin'</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'ted'</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'aantal'</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10</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20</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1F2328"/>
                </a:solidFill>
                <a:effectLst/>
                <a:latin typeface="Menlo" panose="020B0609030804020204" pitchFamily="49" charset="0"/>
              </a:rPr>
              <a:t>deel_2</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267F99"/>
                </a:solidFill>
                <a:effectLst/>
                <a:latin typeface="Menlo" panose="020B0609030804020204" pitchFamily="49" charset="0"/>
              </a:rPr>
              <a:t>pd</a:t>
            </a:r>
            <a:r>
              <a:rPr lang="en-BE" sz="1200" b="0" dirty="0">
                <a:solidFill>
                  <a:srgbClr val="202020"/>
                </a:solidFill>
                <a:effectLst/>
                <a:latin typeface="Menlo" panose="020B0609030804020204" pitchFamily="49" charset="0"/>
              </a:rPr>
              <a:t>.</a:t>
            </a:r>
            <a:r>
              <a:rPr lang="en-BE" sz="1200" b="0" dirty="0">
                <a:solidFill>
                  <a:srgbClr val="267F99"/>
                </a:solidFill>
                <a:effectLst/>
                <a:latin typeface="Menlo" panose="020B0609030804020204" pitchFamily="49" charset="0"/>
              </a:rPr>
              <a:t>DataFrame</a:t>
            </a:r>
            <a:r>
              <a:rPr lang="en-BE" sz="1200" b="0" dirty="0">
                <a:solidFill>
                  <a:srgbClr val="202020"/>
                </a:solidFill>
                <a:effectLst/>
                <a:latin typeface="Menlo" panose="020B0609030804020204" pitchFamily="49" charset="0"/>
              </a:rPr>
              <a:t>({</a:t>
            </a:r>
            <a:r>
              <a:rPr lang="en-BE" sz="1200" b="0" dirty="0">
                <a:solidFill>
                  <a:srgbClr val="0A3069"/>
                </a:solidFill>
                <a:effectLst/>
                <a:latin typeface="Menlo" panose="020B0609030804020204" pitchFamily="49" charset="0"/>
              </a:rPr>
              <a:t>'naam'</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'barney'</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'lilly'</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'aantal'</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30</a:t>
            </a:r>
            <a:r>
              <a:rPr lang="en-BE" sz="1200" b="0" dirty="0">
                <a:solidFill>
                  <a:srgbClr val="202020"/>
                </a:solidFill>
                <a:effectLst/>
                <a:latin typeface="Menlo" panose="020B0609030804020204" pitchFamily="49" charset="0"/>
              </a:rPr>
              <a:t>, </a:t>
            </a:r>
            <a:r>
              <a:rPr lang="en-BE" sz="1200" b="0" dirty="0">
                <a:solidFill>
                  <a:srgbClr val="098658"/>
                </a:solidFill>
                <a:effectLst/>
                <a:latin typeface="Menlo" panose="020B0609030804020204" pitchFamily="49" charset="0"/>
              </a:rPr>
              <a:t>40</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267F99"/>
                </a:solidFill>
                <a:effectLst/>
                <a:latin typeface="Menlo" panose="020B0609030804020204" pitchFamily="49" charset="0"/>
              </a:rPr>
              <a:t>pd</a:t>
            </a:r>
            <a:r>
              <a:rPr lang="en-BE" sz="1200" b="0" dirty="0">
                <a:solidFill>
                  <a:srgbClr val="202020"/>
                </a:solidFill>
                <a:effectLst/>
                <a:latin typeface="Menlo" panose="020B0609030804020204" pitchFamily="49" charset="0"/>
              </a:rPr>
              <a:t>.</a:t>
            </a:r>
            <a:r>
              <a:rPr lang="en-BE" sz="1200" b="0" dirty="0">
                <a:solidFill>
                  <a:srgbClr val="8250DF"/>
                </a:solidFill>
                <a:effectLst/>
                <a:latin typeface="Menlo" panose="020B0609030804020204" pitchFamily="49" charset="0"/>
              </a:rPr>
              <a:t>concat</a:t>
            </a:r>
            <a:r>
              <a:rPr lang="en-BE" sz="1200" b="0" dirty="0">
                <a:solidFill>
                  <a:srgbClr val="202020"/>
                </a:solidFill>
                <a:effectLst/>
                <a:latin typeface="Menlo" panose="020B0609030804020204" pitchFamily="49" charset="0"/>
              </a:rPr>
              <a:t>([</a:t>
            </a:r>
            <a:r>
              <a:rPr lang="en-BE" sz="1200" b="0" dirty="0">
                <a:solidFill>
                  <a:srgbClr val="1F2328"/>
                </a:solidFill>
                <a:effectLst/>
                <a:latin typeface="Menlo" panose="020B0609030804020204" pitchFamily="49" charset="0"/>
              </a:rPr>
              <a:t>deel_1</a:t>
            </a:r>
            <a:r>
              <a:rPr lang="en-BE" sz="1200" b="0" dirty="0">
                <a:solidFill>
                  <a:srgbClr val="202020"/>
                </a:solidFill>
                <a:effectLst/>
                <a:latin typeface="Menlo" panose="020B0609030804020204" pitchFamily="49" charset="0"/>
              </a:rPr>
              <a:t>, </a:t>
            </a:r>
            <a:r>
              <a:rPr lang="en-BE" sz="1200" b="0" dirty="0">
                <a:solidFill>
                  <a:srgbClr val="1F2328"/>
                </a:solidFill>
                <a:effectLst/>
                <a:latin typeface="Menlo" panose="020B0609030804020204" pitchFamily="49" charset="0"/>
              </a:rPr>
              <a:t>deel_2</a:t>
            </a:r>
            <a:r>
              <a:rPr lang="en-BE" sz="1200" b="0" dirty="0">
                <a:solidFill>
                  <a:srgbClr val="202020"/>
                </a:solidFill>
                <a:effectLst/>
                <a:latin typeface="Menlo" panose="020B0609030804020204" pitchFamily="49" charset="0"/>
              </a:rPr>
              <a:t>], </a:t>
            </a:r>
            <a:r>
              <a:rPr lang="en-BE" sz="1200" b="0" dirty="0">
                <a:solidFill>
                  <a:srgbClr val="953800"/>
                </a:solidFill>
                <a:effectLst/>
                <a:latin typeface="Menlo" panose="020B0609030804020204" pitchFamily="49" charset="0"/>
              </a:rPr>
              <a:t>ignore_index</a:t>
            </a:r>
            <a:r>
              <a:rPr lang="en-BE" sz="1200" b="0" dirty="0">
                <a:solidFill>
                  <a:srgbClr val="000000"/>
                </a:solidFill>
                <a:effectLst/>
                <a:latin typeface="Menlo" panose="020B0609030804020204" pitchFamily="49" charset="0"/>
              </a:rPr>
              <a:t>=</a:t>
            </a:r>
            <a:r>
              <a:rPr lang="en-BE" sz="1200" b="0" dirty="0">
                <a:solidFill>
                  <a:srgbClr val="0000FF"/>
                </a:solidFill>
                <a:effectLst/>
                <a:latin typeface="Menlo" panose="020B0609030804020204" pitchFamily="49" charset="0"/>
              </a:rPr>
              <a:t>True</a:t>
            </a:r>
            <a:r>
              <a:rPr lang="en-BE" sz="1200" b="0" dirty="0">
                <a:solidFill>
                  <a:srgbClr val="202020"/>
                </a:solidFill>
                <a:effectLst/>
                <a:latin typeface="Menlo" panose="020B0609030804020204" pitchFamily="49" charset="0"/>
              </a:rPr>
              <a:t>)</a:t>
            </a:r>
          </a:p>
        </p:txBody>
      </p:sp>
      <p:sp>
        <p:nvSpPr>
          <p:cNvPr id="8" name="TextBox 7">
            <a:extLst>
              <a:ext uri="{FF2B5EF4-FFF2-40B4-BE49-F238E27FC236}">
                <a16:creationId xmlns:a16="http://schemas.microsoft.com/office/drawing/2014/main" id="{70D8B5C2-EEF0-E16B-75AA-04B32244B507}"/>
              </a:ext>
            </a:extLst>
          </p:cNvPr>
          <p:cNvSpPr txBox="1"/>
          <p:nvPr/>
        </p:nvSpPr>
        <p:spPr>
          <a:xfrm>
            <a:off x="8714220" y="3441507"/>
            <a:ext cx="3284492" cy="1226233"/>
          </a:xfrm>
          <a:prstGeom prst="rect">
            <a:avLst/>
          </a:prstGeom>
          <a:noFill/>
          <a:ln>
            <a:solidFill>
              <a:srgbClr val="00B0F0"/>
            </a:solidFill>
          </a:ln>
        </p:spPr>
        <p:txBody>
          <a:bodyPr wrap="square">
            <a:spAutoFit/>
          </a:bodyPr>
          <a:lstStyle/>
          <a:p>
            <a:pPr>
              <a:lnSpc>
                <a:spcPct val="125000"/>
              </a:lnSpc>
              <a:buNone/>
            </a:pPr>
            <a:r>
              <a:rPr lang="en-BE" sz="1200" b="0" dirty="0">
                <a:solidFill>
                  <a:srgbClr val="1F2328"/>
                </a:solidFill>
                <a:effectLst/>
                <a:latin typeface="Menlo" panose="020B0609030804020204" pitchFamily="49" charset="0"/>
              </a:rPr>
              <a:t>regio_info</a:t>
            </a:r>
            <a:r>
              <a:rPr lang="en-BE" sz="1200" b="0" dirty="0">
                <a:solidFill>
                  <a:srgbClr val="202020"/>
                </a:solidFill>
                <a:effectLst/>
                <a:latin typeface="Menlo" panose="020B0609030804020204" pitchFamily="49" charset="0"/>
              </a:rPr>
              <a:t> </a:t>
            </a:r>
            <a:r>
              <a:rPr lang="en-BE" sz="1200" b="0" dirty="0">
                <a:solidFill>
                  <a:srgbClr val="000000"/>
                </a:solidFill>
                <a:effectLst/>
                <a:latin typeface="Menlo" panose="020B0609030804020204" pitchFamily="49" charset="0"/>
              </a:rPr>
              <a:t>=</a:t>
            </a:r>
            <a:r>
              <a:rPr lang="en-BE" sz="1200" b="0" dirty="0">
                <a:solidFill>
                  <a:srgbClr val="202020"/>
                </a:solidFill>
                <a:effectLst/>
                <a:latin typeface="Menlo" panose="020B0609030804020204" pitchFamily="49" charset="0"/>
              </a:rPr>
              <a:t> </a:t>
            </a:r>
            <a:r>
              <a:rPr lang="en-BE" sz="1200" b="0" dirty="0">
                <a:solidFill>
                  <a:srgbClr val="267F99"/>
                </a:solidFill>
                <a:effectLst/>
                <a:latin typeface="Menlo" panose="020B0609030804020204" pitchFamily="49" charset="0"/>
              </a:rPr>
              <a:t>pd</a:t>
            </a:r>
            <a:r>
              <a:rPr lang="en-BE" sz="1200" b="0" dirty="0">
                <a:solidFill>
                  <a:srgbClr val="202020"/>
                </a:solidFill>
                <a:effectLst/>
                <a:latin typeface="Menlo" panose="020B0609030804020204" pitchFamily="49" charset="0"/>
              </a:rPr>
              <a:t>.</a:t>
            </a:r>
            <a:r>
              <a:rPr lang="en-BE" sz="1200" b="0" dirty="0">
                <a:solidFill>
                  <a:srgbClr val="267F99"/>
                </a:solidFill>
                <a:effectLst/>
                <a:latin typeface="Menlo" panose="020B0609030804020204" pitchFamily="49" charset="0"/>
              </a:rPr>
              <a:t>DataFrame</a:t>
            </a:r>
            <a:r>
              <a:rPr lang="en-BE" sz="1200" b="0" dirty="0">
                <a:solidFill>
                  <a:srgbClr val="202020"/>
                </a:solidFill>
                <a:effectLst/>
                <a:latin typeface="Menlo" panose="020B0609030804020204" pitchFamily="49" charset="0"/>
              </a:rPr>
              <a:t>({</a:t>
            </a:r>
          </a:p>
          <a:p>
            <a:pPr>
              <a:lnSpc>
                <a:spcPct val="125000"/>
              </a:lnSpc>
              <a:buNone/>
            </a:pPr>
            <a:r>
              <a:rPr lang="en-US" sz="1200" b="0" dirty="0">
                <a:solidFill>
                  <a:srgbClr val="0A3069"/>
                </a:solidFill>
                <a:effectLst/>
                <a:latin typeface="Menlo" panose="020B0609030804020204" pitchFamily="49" charset="0"/>
              </a:rPr>
              <a:t>  </a:t>
            </a:r>
            <a:r>
              <a:rPr lang="en-BE" sz="1200" b="0" dirty="0">
                <a:solidFill>
                  <a:srgbClr val="0A3069"/>
                </a:solidFill>
                <a:effectLst/>
                <a:latin typeface="Menlo" panose="020B0609030804020204" pitchFamily="49" charset="0"/>
              </a:rPr>
              <a:t>'regio'</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'Flanders'</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'Wallonia'</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'Brussels’</a:t>
            </a:r>
            <a:r>
              <a:rPr lang="en-BE" sz="1200" b="0" dirty="0">
                <a:solidFill>
                  <a:srgbClr val="202020"/>
                </a:solidFill>
                <a:effectLst/>
                <a:latin typeface="Menlo" panose="020B0609030804020204" pitchFamily="49" charset="0"/>
              </a:rPr>
              <a:t>],</a:t>
            </a:r>
          </a:p>
          <a:p>
            <a:pPr>
              <a:lnSpc>
                <a:spcPct val="125000"/>
              </a:lnSpc>
              <a:buNone/>
            </a:pPr>
            <a:r>
              <a:rPr lang="en-US" sz="1200" b="0" dirty="0">
                <a:solidFill>
                  <a:srgbClr val="0A3069"/>
                </a:solidFill>
                <a:effectLst/>
                <a:latin typeface="Menlo" panose="020B0609030804020204" pitchFamily="49" charset="0"/>
              </a:rPr>
              <a:t>  </a:t>
            </a:r>
            <a:r>
              <a:rPr lang="en-BE" sz="1200" b="0" dirty="0">
                <a:solidFill>
                  <a:srgbClr val="0A3069"/>
                </a:solidFill>
                <a:effectLst/>
                <a:latin typeface="Menlo" panose="020B0609030804020204" pitchFamily="49" charset="0"/>
              </a:rPr>
              <a:t>'hoofdstad'</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'Brussel'</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'Namen'</a:t>
            </a:r>
            <a:r>
              <a:rPr lang="en-BE" sz="1200" b="0" dirty="0">
                <a:solidFill>
                  <a:srgbClr val="202020"/>
                </a:solidFill>
                <a:effectLst/>
                <a:latin typeface="Menlo" panose="020B0609030804020204" pitchFamily="49" charset="0"/>
              </a:rPr>
              <a:t>, </a:t>
            </a:r>
            <a:r>
              <a:rPr lang="en-BE" sz="1200" b="0" dirty="0">
                <a:solidFill>
                  <a:srgbClr val="0A3069"/>
                </a:solidFill>
                <a:effectLst/>
                <a:latin typeface="Menlo" panose="020B0609030804020204" pitchFamily="49" charset="0"/>
              </a:rPr>
              <a:t>'Brussel'</a:t>
            </a: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202020"/>
                </a:solidFill>
                <a:effectLst/>
                <a:latin typeface="Menlo" panose="020B0609030804020204" pitchFamily="49" charset="0"/>
              </a:rPr>
              <a:t>})</a:t>
            </a:r>
          </a:p>
          <a:p>
            <a:pPr>
              <a:lnSpc>
                <a:spcPct val="125000"/>
              </a:lnSpc>
              <a:buNone/>
            </a:pPr>
            <a:r>
              <a:rPr lang="en-BE" sz="1200" b="0" dirty="0">
                <a:solidFill>
                  <a:srgbClr val="1F2328"/>
                </a:solidFill>
                <a:effectLst/>
                <a:latin typeface="Menlo" panose="020B0609030804020204" pitchFamily="49" charset="0"/>
              </a:rPr>
              <a:t>covid</a:t>
            </a:r>
            <a:r>
              <a:rPr lang="en-BE" sz="1200" b="0" dirty="0">
                <a:solidFill>
                  <a:srgbClr val="202020"/>
                </a:solidFill>
                <a:effectLst/>
                <a:latin typeface="Menlo" panose="020B0609030804020204" pitchFamily="49" charset="0"/>
              </a:rPr>
              <a:t>.merge(</a:t>
            </a:r>
            <a:r>
              <a:rPr lang="en-BE" sz="1200" b="0" dirty="0">
                <a:solidFill>
                  <a:srgbClr val="1F2328"/>
                </a:solidFill>
                <a:effectLst/>
                <a:latin typeface="Menlo" panose="020B0609030804020204" pitchFamily="49" charset="0"/>
              </a:rPr>
              <a:t>regio_info</a:t>
            </a:r>
            <a:r>
              <a:rPr lang="en-BE" sz="1200" b="0" dirty="0">
                <a:solidFill>
                  <a:srgbClr val="202020"/>
                </a:solidFill>
                <a:effectLst/>
                <a:latin typeface="Menlo" panose="020B0609030804020204" pitchFamily="49" charset="0"/>
              </a:rPr>
              <a:t>, </a:t>
            </a:r>
            <a:r>
              <a:rPr lang="en-BE" sz="1200" b="0" dirty="0">
                <a:solidFill>
                  <a:srgbClr val="953800"/>
                </a:solidFill>
                <a:effectLst/>
                <a:latin typeface="Menlo" panose="020B0609030804020204" pitchFamily="49" charset="0"/>
              </a:rPr>
              <a:t>on</a:t>
            </a:r>
            <a:r>
              <a:rPr lang="en-BE" sz="1200" b="0" dirty="0">
                <a:solidFill>
                  <a:srgbClr val="000000"/>
                </a:solidFill>
                <a:effectLst/>
                <a:latin typeface="Menlo" panose="020B0609030804020204" pitchFamily="49" charset="0"/>
              </a:rPr>
              <a:t>=</a:t>
            </a:r>
            <a:r>
              <a:rPr lang="en-BE" sz="1200" b="0" dirty="0">
                <a:solidFill>
                  <a:srgbClr val="0A3069"/>
                </a:solidFill>
                <a:effectLst/>
                <a:latin typeface="Menlo" panose="020B0609030804020204" pitchFamily="49" charset="0"/>
              </a:rPr>
              <a:t>'regio'</a:t>
            </a:r>
            <a:r>
              <a:rPr lang="en-BE" sz="1200" b="0" dirty="0">
                <a:solidFill>
                  <a:srgbClr val="202020"/>
                </a:solidFill>
                <a:effectLst/>
                <a:latin typeface="Menlo" panose="020B0609030804020204" pitchFamily="49" charset="0"/>
              </a:rPr>
              <a:t>).head(</a:t>
            </a:r>
            <a:r>
              <a:rPr lang="en-BE" sz="1200" b="0" dirty="0">
                <a:solidFill>
                  <a:srgbClr val="098658"/>
                </a:solidFill>
                <a:effectLst/>
                <a:latin typeface="Menlo" panose="020B0609030804020204" pitchFamily="49" charset="0"/>
              </a:rPr>
              <a:t>3</a:t>
            </a:r>
            <a:r>
              <a:rPr lang="en-BE" sz="1200" b="0" dirty="0">
                <a:solidFill>
                  <a:srgbClr val="202020"/>
                </a:solidFill>
                <a:effectLst/>
                <a:latin typeface="Menlo" panose="020B0609030804020204" pitchFamily="49" charset="0"/>
              </a:rPr>
              <a:t>)</a:t>
            </a:r>
          </a:p>
        </p:txBody>
      </p:sp>
      <p:graphicFrame>
        <p:nvGraphicFramePr>
          <p:cNvPr id="12" name="Table 11">
            <a:extLst>
              <a:ext uri="{FF2B5EF4-FFF2-40B4-BE49-F238E27FC236}">
                <a16:creationId xmlns:a16="http://schemas.microsoft.com/office/drawing/2014/main" id="{6FA75289-4ED7-4E3F-87FF-EE764F991A8E}"/>
              </a:ext>
            </a:extLst>
          </p:cNvPr>
          <p:cNvGraphicFramePr>
            <a:graphicFrameLocks noGrp="1"/>
          </p:cNvGraphicFramePr>
          <p:nvPr>
            <p:extLst>
              <p:ext uri="{D42A27DB-BD31-4B8C-83A1-F6EECF244321}">
                <p14:modId xmlns:p14="http://schemas.microsoft.com/office/powerpoint/2010/main" val="1811054078"/>
              </p:ext>
            </p:extLst>
          </p:nvPr>
        </p:nvGraphicFramePr>
        <p:xfrm>
          <a:off x="6170802" y="5032525"/>
          <a:ext cx="5344704" cy="853440"/>
        </p:xfrm>
        <a:graphic>
          <a:graphicData uri="http://schemas.openxmlformats.org/drawingml/2006/table">
            <a:tbl>
              <a:tblPr>
                <a:tableStyleId>{69CF1AB2-1976-4502-BF36-3FF5EA218861}</a:tableStyleId>
              </a:tblPr>
              <a:tblGrid>
                <a:gridCol w="360481">
                  <a:extLst>
                    <a:ext uri="{9D8B030D-6E8A-4147-A177-3AD203B41FA5}">
                      <a16:colId xmlns:a16="http://schemas.microsoft.com/office/drawing/2014/main" val="1741082147"/>
                    </a:ext>
                  </a:extLst>
                </a:gridCol>
                <a:gridCol w="794758">
                  <a:extLst>
                    <a:ext uri="{9D8B030D-6E8A-4147-A177-3AD203B41FA5}">
                      <a16:colId xmlns:a16="http://schemas.microsoft.com/office/drawing/2014/main" val="1046451028"/>
                    </a:ext>
                  </a:extLst>
                </a:gridCol>
                <a:gridCol w="794759">
                  <a:extLst>
                    <a:ext uri="{9D8B030D-6E8A-4147-A177-3AD203B41FA5}">
                      <a16:colId xmlns:a16="http://schemas.microsoft.com/office/drawing/2014/main" val="3656832071"/>
                    </a:ext>
                  </a:extLst>
                </a:gridCol>
                <a:gridCol w="623843">
                  <a:extLst>
                    <a:ext uri="{9D8B030D-6E8A-4147-A177-3AD203B41FA5}">
                      <a16:colId xmlns:a16="http://schemas.microsoft.com/office/drawing/2014/main" val="3629144549"/>
                    </a:ext>
                  </a:extLst>
                </a:gridCol>
                <a:gridCol w="854580">
                  <a:extLst>
                    <a:ext uri="{9D8B030D-6E8A-4147-A177-3AD203B41FA5}">
                      <a16:colId xmlns:a16="http://schemas.microsoft.com/office/drawing/2014/main" val="146825514"/>
                    </a:ext>
                  </a:extLst>
                </a:gridCol>
                <a:gridCol w="461473">
                  <a:extLst>
                    <a:ext uri="{9D8B030D-6E8A-4147-A177-3AD203B41FA5}">
                      <a16:colId xmlns:a16="http://schemas.microsoft.com/office/drawing/2014/main" val="371833808"/>
                    </a:ext>
                  </a:extLst>
                </a:gridCol>
                <a:gridCol w="606751">
                  <a:extLst>
                    <a:ext uri="{9D8B030D-6E8A-4147-A177-3AD203B41FA5}">
                      <a16:colId xmlns:a16="http://schemas.microsoft.com/office/drawing/2014/main" val="352098565"/>
                    </a:ext>
                  </a:extLst>
                </a:gridCol>
                <a:gridCol w="848059">
                  <a:extLst>
                    <a:ext uri="{9D8B030D-6E8A-4147-A177-3AD203B41FA5}">
                      <a16:colId xmlns:a16="http://schemas.microsoft.com/office/drawing/2014/main" val="976070814"/>
                    </a:ext>
                  </a:extLst>
                </a:gridCol>
              </a:tblGrid>
              <a:tr h="213360">
                <a:tc>
                  <a:txBody>
                    <a:bodyPr/>
                    <a:lstStyle/>
                    <a:p>
                      <a:pPr algn="r" fontAlgn="ctr">
                        <a:buNone/>
                      </a:pPr>
                      <a:endParaRPr lang="en-BE" sz="900" b="1" i="0">
                        <a:solidFill>
                          <a:srgbClr val="202020"/>
                        </a:solidFill>
                        <a:effectLst/>
                        <a:latin typeface="-apple-system"/>
                      </a:endParaRPr>
                    </a:p>
                  </a:txBody>
                  <a:tcPr marL="76200" marR="76200" marT="38100" marB="38100" anchor="ctr"/>
                </a:tc>
                <a:tc>
                  <a:txBody>
                    <a:bodyPr/>
                    <a:lstStyle/>
                    <a:p>
                      <a:pPr algn="r" fontAlgn="ctr">
                        <a:buNone/>
                      </a:pPr>
                      <a:r>
                        <a:rPr lang="en-BE" sz="900" b="1">
                          <a:effectLst/>
                        </a:rPr>
                        <a:t>DATE</a:t>
                      </a:r>
                      <a:endParaRPr lang="en-BE" sz="900" b="1" i="0">
                        <a:solidFill>
                          <a:srgbClr val="202020"/>
                        </a:solidFill>
                        <a:effectLst/>
                        <a:latin typeface="-apple-system"/>
                      </a:endParaRPr>
                    </a:p>
                  </a:txBody>
                  <a:tcPr marL="76200" marR="76200" marT="38100" marB="38100" anchor="ctr"/>
                </a:tc>
                <a:tc>
                  <a:txBody>
                    <a:bodyPr/>
                    <a:lstStyle/>
                    <a:p>
                      <a:pPr algn="r" fontAlgn="ctr">
                        <a:buNone/>
                      </a:pPr>
                      <a:r>
                        <a:rPr lang="en-BE" sz="900" b="1" dirty="0">
                          <a:effectLst/>
                        </a:rPr>
                        <a:t>provincie</a:t>
                      </a:r>
                      <a:endParaRPr lang="en-BE" sz="900" b="1" i="0" dirty="0">
                        <a:solidFill>
                          <a:srgbClr val="202020"/>
                        </a:solidFill>
                        <a:effectLst/>
                        <a:latin typeface="-apple-system"/>
                      </a:endParaRPr>
                    </a:p>
                  </a:txBody>
                  <a:tcPr marL="76200" marR="76200" marT="38100" marB="38100" anchor="ctr"/>
                </a:tc>
                <a:tc>
                  <a:txBody>
                    <a:bodyPr/>
                    <a:lstStyle/>
                    <a:p>
                      <a:pPr algn="r" fontAlgn="ctr">
                        <a:buNone/>
                      </a:pPr>
                      <a:r>
                        <a:rPr lang="en-BE" sz="900" b="1" dirty="0">
                          <a:effectLst/>
                        </a:rPr>
                        <a:t>regio</a:t>
                      </a:r>
                      <a:endParaRPr lang="en-BE" sz="900" b="1" i="0" dirty="0">
                        <a:solidFill>
                          <a:srgbClr val="202020"/>
                        </a:solidFill>
                        <a:effectLst/>
                        <a:latin typeface="-apple-system"/>
                      </a:endParaRPr>
                    </a:p>
                  </a:txBody>
                  <a:tcPr marL="76200" marR="76200" marT="38100" marB="38100" anchor="ctr">
                    <a:solidFill>
                      <a:schemeClr val="accent5">
                        <a:lumMod val="60000"/>
                        <a:lumOff val="40000"/>
                      </a:schemeClr>
                    </a:solidFill>
                  </a:tcPr>
                </a:tc>
                <a:tc>
                  <a:txBody>
                    <a:bodyPr/>
                    <a:lstStyle/>
                    <a:p>
                      <a:pPr algn="r" fontAlgn="ctr">
                        <a:buNone/>
                      </a:pPr>
                      <a:r>
                        <a:rPr lang="en-BE" sz="900" b="1">
                          <a:effectLst/>
                        </a:rPr>
                        <a:t>AGEGROUP</a:t>
                      </a:r>
                      <a:endParaRPr lang="en-BE" sz="900" b="1" i="0">
                        <a:solidFill>
                          <a:srgbClr val="202020"/>
                        </a:solidFill>
                        <a:effectLst/>
                        <a:latin typeface="-apple-system"/>
                      </a:endParaRPr>
                    </a:p>
                  </a:txBody>
                  <a:tcPr marL="76200" marR="76200" marT="38100" marB="38100" anchor="ctr"/>
                </a:tc>
                <a:tc>
                  <a:txBody>
                    <a:bodyPr/>
                    <a:lstStyle/>
                    <a:p>
                      <a:pPr algn="r" fontAlgn="ctr">
                        <a:buNone/>
                      </a:pPr>
                      <a:r>
                        <a:rPr lang="en-BE" sz="900" b="1">
                          <a:effectLst/>
                        </a:rPr>
                        <a:t>SEX</a:t>
                      </a:r>
                      <a:endParaRPr lang="en-BE" sz="900" b="1" i="0">
                        <a:solidFill>
                          <a:srgbClr val="202020"/>
                        </a:solidFill>
                        <a:effectLst/>
                        <a:latin typeface="-apple-system"/>
                      </a:endParaRPr>
                    </a:p>
                  </a:txBody>
                  <a:tcPr marL="76200" marR="76200" marT="38100" marB="38100" anchor="ctr"/>
                </a:tc>
                <a:tc>
                  <a:txBody>
                    <a:bodyPr/>
                    <a:lstStyle/>
                    <a:p>
                      <a:pPr algn="r" fontAlgn="ctr">
                        <a:buNone/>
                      </a:pPr>
                      <a:r>
                        <a:rPr lang="en-BE" sz="900" b="1">
                          <a:effectLst/>
                        </a:rPr>
                        <a:t>CASES</a:t>
                      </a:r>
                      <a:endParaRPr lang="en-BE" sz="900" b="1" i="0">
                        <a:solidFill>
                          <a:srgbClr val="202020"/>
                        </a:solidFill>
                        <a:effectLst/>
                        <a:latin typeface="-apple-system"/>
                      </a:endParaRPr>
                    </a:p>
                  </a:txBody>
                  <a:tcPr marL="76200" marR="76200" marT="38100" marB="38100" anchor="ctr"/>
                </a:tc>
                <a:tc>
                  <a:txBody>
                    <a:bodyPr/>
                    <a:lstStyle/>
                    <a:p>
                      <a:pPr algn="r" fontAlgn="ctr">
                        <a:buNone/>
                      </a:pPr>
                      <a:r>
                        <a:rPr lang="en-BE" sz="900" b="1" dirty="0">
                          <a:effectLst/>
                        </a:rPr>
                        <a:t>hoofdstad</a:t>
                      </a:r>
                      <a:endParaRPr lang="en-BE" sz="900" b="1" i="0" dirty="0">
                        <a:solidFill>
                          <a:srgbClr val="202020"/>
                        </a:solidFill>
                        <a:effectLst/>
                        <a:latin typeface="-apple-system"/>
                      </a:endParaRPr>
                    </a:p>
                  </a:txBody>
                  <a:tcPr marL="76200" marR="76200" marT="38100" marB="38100" anchor="ctr">
                    <a:solidFill>
                      <a:schemeClr val="accent3">
                        <a:lumMod val="40000"/>
                        <a:lumOff val="60000"/>
                      </a:schemeClr>
                    </a:solidFill>
                  </a:tcPr>
                </a:tc>
                <a:extLst>
                  <a:ext uri="{0D108BD9-81ED-4DB2-BD59-A6C34878D82A}">
                    <a16:rowId xmlns:a16="http://schemas.microsoft.com/office/drawing/2014/main" val="1802033354"/>
                  </a:ext>
                </a:extLst>
              </a:tr>
              <a:tr h="213360">
                <a:tc>
                  <a:txBody>
                    <a:bodyPr/>
                    <a:lstStyle/>
                    <a:p>
                      <a:pPr algn="r" fontAlgn="ctr">
                        <a:buNone/>
                      </a:pPr>
                      <a:r>
                        <a:rPr lang="en-BE" sz="900">
                          <a:effectLst/>
                        </a:rPr>
                        <a:t>0</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2020-03-01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Antwerpen</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Flanders</a:t>
                      </a:r>
                      <a:endParaRPr lang="en-BE" sz="900" b="0" i="0" dirty="0">
                        <a:solidFill>
                          <a:srgbClr val="202020"/>
                        </a:solidFill>
                        <a:effectLst/>
                        <a:latin typeface="-apple-system"/>
                      </a:endParaRPr>
                    </a:p>
                  </a:txBody>
                  <a:tcPr marL="76200" marR="76200" marT="38100" marB="38100" anchor="ctr">
                    <a:solidFill>
                      <a:schemeClr val="accent5">
                        <a:lumMod val="60000"/>
                        <a:lumOff val="40000"/>
                      </a:schemeClr>
                    </a:solidFill>
                  </a:tcPr>
                </a:tc>
                <a:tc>
                  <a:txBody>
                    <a:bodyPr/>
                    <a:lstStyle/>
                    <a:p>
                      <a:pPr algn="r" fontAlgn="ctr">
                        <a:buNone/>
                      </a:pPr>
                      <a:r>
                        <a:rPr lang="en-BE" sz="900">
                          <a:effectLst/>
                        </a:rPr>
                        <a:t>40-49</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M</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Brussel</a:t>
                      </a:r>
                      <a:endParaRPr lang="en-BE" sz="900" b="0" i="0" dirty="0">
                        <a:solidFill>
                          <a:srgbClr val="202020"/>
                        </a:solidFill>
                        <a:effectLst/>
                        <a:latin typeface="-apple-system"/>
                      </a:endParaRPr>
                    </a:p>
                  </a:txBody>
                  <a:tcPr marL="76200" marR="76200" marT="38100" marB="38100" anchor="ctr">
                    <a:solidFill>
                      <a:schemeClr val="accent3">
                        <a:lumMod val="40000"/>
                        <a:lumOff val="60000"/>
                      </a:schemeClr>
                    </a:solidFill>
                  </a:tcPr>
                </a:tc>
                <a:extLst>
                  <a:ext uri="{0D108BD9-81ED-4DB2-BD59-A6C34878D82A}">
                    <a16:rowId xmlns:a16="http://schemas.microsoft.com/office/drawing/2014/main" val="3808678976"/>
                  </a:ext>
                </a:extLst>
              </a:tr>
              <a:tr h="213360">
                <a:tc>
                  <a:txBody>
                    <a:bodyPr/>
                    <a:lstStyle/>
                    <a:p>
                      <a:pPr algn="r" fontAlgn="ctr">
                        <a:buNone/>
                      </a:pPr>
                      <a:r>
                        <a:rPr lang="en-BE" sz="900">
                          <a:effectLst/>
                        </a:rPr>
                        <a:t>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2020-03-01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Brussels</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Brussels</a:t>
                      </a:r>
                      <a:endParaRPr lang="en-BE" sz="900" b="0" i="0" dirty="0">
                        <a:solidFill>
                          <a:srgbClr val="202020"/>
                        </a:solidFill>
                        <a:effectLst/>
                        <a:latin typeface="-apple-system"/>
                      </a:endParaRPr>
                    </a:p>
                  </a:txBody>
                  <a:tcPr marL="76200" marR="76200" marT="38100" marB="38100" anchor="ctr">
                    <a:solidFill>
                      <a:schemeClr val="accent5">
                        <a:lumMod val="60000"/>
                        <a:lumOff val="40000"/>
                      </a:schemeClr>
                    </a:solidFill>
                  </a:tcPr>
                </a:tc>
                <a:tc>
                  <a:txBody>
                    <a:bodyPr/>
                    <a:lstStyle/>
                    <a:p>
                      <a:pPr algn="r" fontAlgn="ctr">
                        <a:buNone/>
                      </a:pPr>
                      <a:r>
                        <a:rPr lang="en-BE" sz="900" dirty="0">
                          <a:effectLst/>
                        </a:rPr>
                        <a:t>10-19</a:t>
                      </a:r>
                      <a:endParaRPr lang="en-BE" sz="900" b="0" i="0" dirty="0">
                        <a:solidFill>
                          <a:srgbClr val="202020"/>
                        </a:solidFill>
                        <a:effectLst/>
                        <a:latin typeface="-apple-system"/>
                      </a:endParaRPr>
                    </a:p>
                  </a:txBody>
                  <a:tcPr marL="76200" marR="76200" marT="38100" marB="38100" anchor="ctr"/>
                </a:tc>
                <a:tc>
                  <a:txBody>
                    <a:bodyPr/>
                    <a:lstStyle/>
                    <a:p>
                      <a:pPr algn="r" fontAlgn="ctr">
                        <a:buNone/>
                      </a:pPr>
                      <a:r>
                        <a:rPr lang="en-BE" sz="900">
                          <a:effectLst/>
                        </a:rPr>
                        <a:t>F</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Brussel</a:t>
                      </a:r>
                      <a:endParaRPr lang="en-BE" sz="900" b="0" i="0" dirty="0">
                        <a:solidFill>
                          <a:srgbClr val="202020"/>
                        </a:solidFill>
                        <a:effectLst/>
                        <a:latin typeface="-apple-system"/>
                      </a:endParaRPr>
                    </a:p>
                  </a:txBody>
                  <a:tcPr marL="76200" marR="76200" marT="38100" marB="38100" anchor="ctr">
                    <a:solidFill>
                      <a:schemeClr val="accent3">
                        <a:lumMod val="40000"/>
                        <a:lumOff val="60000"/>
                      </a:schemeClr>
                    </a:solidFill>
                  </a:tcPr>
                </a:tc>
                <a:extLst>
                  <a:ext uri="{0D108BD9-81ED-4DB2-BD59-A6C34878D82A}">
                    <a16:rowId xmlns:a16="http://schemas.microsoft.com/office/drawing/2014/main" val="2853063461"/>
                  </a:ext>
                </a:extLst>
              </a:tr>
              <a:tr h="213360">
                <a:tc>
                  <a:txBody>
                    <a:bodyPr/>
                    <a:lstStyle/>
                    <a:p>
                      <a:pPr algn="r" fontAlgn="ctr">
                        <a:buNone/>
                      </a:pPr>
                      <a:r>
                        <a:rPr lang="en-BE" sz="900">
                          <a:effectLst/>
                        </a:rPr>
                        <a:t>2</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2020-03-01</a:t>
                      </a:r>
                      <a:endParaRPr lang="en-BE" sz="900" b="0" i="0" dirty="0">
                        <a:solidFill>
                          <a:srgbClr val="202020"/>
                        </a:solidFill>
                        <a:effectLst/>
                        <a:latin typeface="-apple-system"/>
                      </a:endParaRPr>
                    </a:p>
                  </a:txBody>
                  <a:tcPr marL="76200" marR="76200" marT="38100" marB="38100" anchor="ctr"/>
                </a:tc>
                <a:tc>
                  <a:txBody>
                    <a:bodyPr/>
                    <a:lstStyle/>
                    <a:p>
                      <a:pPr algn="r" fontAlgn="ctr">
                        <a:buNone/>
                      </a:pPr>
                      <a:r>
                        <a:rPr lang="en-BE" sz="900">
                          <a:effectLst/>
                        </a:rPr>
                        <a:t>Brussels</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Brussels</a:t>
                      </a:r>
                      <a:endParaRPr lang="en-BE" sz="900" b="0" i="0" dirty="0">
                        <a:solidFill>
                          <a:srgbClr val="202020"/>
                        </a:solidFill>
                        <a:effectLst/>
                        <a:latin typeface="-apple-system"/>
                      </a:endParaRPr>
                    </a:p>
                  </a:txBody>
                  <a:tcPr marL="76200" marR="76200" marT="38100" marB="38100" anchor="ctr">
                    <a:solidFill>
                      <a:schemeClr val="accent5">
                        <a:lumMod val="60000"/>
                        <a:lumOff val="40000"/>
                      </a:schemeClr>
                    </a:solidFill>
                  </a:tcPr>
                </a:tc>
                <a:tc>
                  <a:txBody>
                    <a:bodyPr/>
                    <a:lstStyle/>
                    <a:p>
                      <a:pPr algn="r" fontAlgn="ctr">
                        <a:buNone/>
                      </a:pPr>
                      <a:r>
                        <a:rPr lang="en-BE" sz="900" dirty="0">
                          <a:effectLst/>
                        </a:rPr>
                        <a:t>10-19</a:t>
                      </a:r>
                      <a:endParaRPr lang="en-BE" sz="900" b="0" i="0" dirty="0">
                        <a:solidFill>
                          <a:srgbClr val="202020"/>
                        </a:solidFill>
                        <a:effectLst/>
                        <a:latin typeface="-apple-system"/>
                      </a:endParaRPr>
                    </a:p>
                  </a:txBody>
                  <a:tcPr marL="76200" marR="76200" marT="38100" marB="38100" anchor="ctr"/>
                </a:tc>
                <a:tc>
                  <a:txBody>
                    <a:bodyPr/>
                    <a:lstStyle/>
                    <a:p>
                      <a:pPr algn="r" fontAlgn="ctr">
                        <a:buNone/>
                      </a:pPr>
                      <a:r>
                        <a:rPr lang="en-BE" sz="900">
                          <a:effectLst/>
                        </a:rPr>
                        <a:t>M</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a:effectLst/>
                        </a:rPr>
                        <a:t>1</a:t>
                      </a:r>
                      <a:endParaRPr lang="en-BE" sz="900" b="0" i="0">
                        <a:solidFill>
                          <a:srgbClr val="202020"/>
                        </a:solidFill>
                        <a:effectLst/>
                        <a:latin typeface="-apple-system"/>
                      </a:endParaRPr>
                    </a:p>
                  </a:txBody>
                  <a:tcPr marL="76200" marR="76200" marT="38100" marB="38100" anchor="ctr"/>
                </a:tc>
                <a:tc>
                  <a:txBody>
                    <a:bodyPr/>
                    <a:lstStyle/>
                    <a:p>
                      <a:pPr algn="r" fontAlgn="ctr">
                        <a:buNone/>
                      </a:pPr>
                      <a:r>
                        <a:rPr lang="en-BE" sz="900" dirty="0">
                          <a:effectLst/>
                        </a:rPr>
                        <a:t>Brussel</a:t>
                      </a:r>
                      <a:endParaRPr lang="en-BE" sz="900" b="0" i="0" dirty="0">
                        <a:solidFill>
                          <a:srgbClr val="202020"/>
                        </a:solidFill>
                        <a:effectLst/>
                        <a:latin typeface="-apple-system"/>
                      </a:endParaRPr>
                    </a:p>
                  </a:txBody>
                  <a:tcPr marL="76200" marR="76200" marT="38100" marB="38100" anchor="ctr">
                    <a:solidFill>
                      <a:schemeClr val="accent3">
                        <a:lumMod val="40000"/>
                        <a:lumOff val="60000"/>
                      </a:schemeClr>
                    </a:solidFill>
                  </a:tcPr>
                </a:tc>
                <a:extLst>
                  <a:ext uri="{0D108BD9-81ED-4DB2-BD59-A6C34878D82A}">
                    <a16:rowId xmlns:a16="http://schemas.microsoft.com/office/drawing/2014/main" val="1600242676"/>
                  </a:ext>
                </a:extLst>
              </a:tr>
            </a:tbl>
          </a:graphicData>
        </a:graphic>
      </p:graphicFrame>
      <p:sp>
        <p:nvSpPr>
          <p:cNvPr id="9" name="Content Placeholder 6">
            <a:extLst>
              <a:ext uri="{FF2B5EF4-FFF2-40B4-BE49-F238E27FC236}">
                <a16:creationId xmlns:a16="http://schemas.microsoft.com/office/drawing/2014/main" id="{49DE4B24-1E95-1491-4C3C-3B18E4E74030}"/>
              </a:ext>
            </a:extLst>
          </p:cNvPr>
          <p:cNvSpPr txBox="1">
            <a:spLocks/>
          </p:cNvSpPr>
          <p:nvPr/>
        </p:nvSpPr>
        <p:spPr>
          <a:xfrm>
            <a:off x="6120654" y="2196000"/>
            <a:ext cx="5445000" cy="383765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t>Join van </a:t>
            </a:r>
            <a:r>
              <a:rPr lang="en-US" sz="2000" dirty="0" err="1"/>
              <a:t>tabellen</a:t>
            </a:r>
            <a:r>
              <a:rPr lang="en-US" sz="2000" dirty="0"/>
              <a:t> op </a:t>
            </a:r>
            <a:r>
              <a:rPr lang="en-US" sz="2000" dirty="0" err="1"/>
              <a:t>bepaalde</a:t>
            </a:r>
            <a:r>
              <a:rPr lang="en-US" sz="2000" dirty="0"/>
              <a:t> </a:t>
            </a:r>
            <a:r>
              <a:rPr lang="en-US" sz="2000" dirty="0" err="1"/>
              <a:t>kolommen</a:t>
            </a:r>
            <a:r>
              <a:rPr lang="en-US" sz="2000" dirty="0"/>
              <a:t> (</a:t>
            </a:r>
            <a:r>
              <a:rPr lang="en-US" sz="2000" dirty="0" err="1"/>
              <a:t>zie</a:t>
            </a:r>
            <a:r>
              <a:rPr lang="en-US" sz="2000" dirty="0"/>
              <a:t> SQL in BIS)</a:t>
            </a:r>
          </a:p>
          <a:p>
            <a:pPr lvl="1"/>
            <a:r>
              <a:rPr lang="en-US" sz="1800" dirty="0" err="1"/>
              <a:t>Deze</a:t>
            </a:r>
            <a:r>
              <a:rPr lang="en-US" sz="1800" dirty="0"/>
              <a:t> </a:t>
            </a:r>
            <a:r>
              <a:rPr lang="en-US" sz="1800" dirty="0" err="1"/>
              <a:t>moeten</a:t>
            </a:r>
            <a:r>
              <a:rPr lang="en-US" sz="1800" dirty="0"/>
              <a:t> </a:t>
            </a:r>
            <a:r>
              <a:rPr lang="en-US" sz="1800" dirty="0" err="1"/>
              <a:t>uiteraard</a:t>
            </a:r>
            <a:r>
              <a:rPr lang="en-US" sz="1800" dirty="0"/>
              <a:t> </a:t>
            </a:r>
            <a:r>
              <a:rPr lang="en-US" sz="1800" dirty="0" err="1"/>
              <a:t>overeenkomen</a:t>
            </a:r>
            <a:r>
              <a:rPr lang="en-US" sz="1800" dirty="0"/>
              <a:t> qua </a:t>
            </a:r>
            <a:r>
              <a:rPr lang="en-US" sz="1800" dirty="0" err="1"/>
              <a:t>waardes</a:t>
            </a:r>
            <a:endParaRPr lang="en-US" sz="1800" dirty="0"/>
          </a:p>
          <a:p>
            <a:r>
              <a:rPr lang="en-US" sz="2000" dirty="0" err="1"/>
              <a:t>Simpele</a:t>
            </a:r>
            <a:r>
              <a:rPr lang="en-US" sz="2000" dirty="0"/>
              <a:t> (left) join:</a:t>
            </a:r>
          </a:p>
        </p:txBody>
      </p:sp>
      <p:sp>
        <p:nvSpPr>
          <p:cNvPr id="10" name="TextBox 9">
            <a:extLst>
              <a:ext uri="{FF2B5EF4-FFF2-40B4-BE49-F238E27FC236}">
                <a16:creationId xmlns:a16="http://schemas.microsoft.com/office/drawing/2014/main" id="{E2D0F7E8-879F-EF6A-B6A5-37DACB227E81}"/>
              </a:ext>
            </a:extLst>
          </p:cNvPr>
          <p:cNvSpPr txBox="1"/>
          <p:nvPr/>
        </p:nvSpPr>
        <p:spPr>
          <a:xfrm>
            <a:off x="5186356" y="5885965"/>
            <a:ext cx="3308919" cy="338554"/>
          </a:xfrm>
          <a:prstGeom prst="rect">
            <a:avLst/>
          </a:prstGeom>
          <a:noFill/>
        </p:spPr>
        <p:txBody>
          <a:bodyPr wrap="none" rtlCol="0">
            <a:spAutoFit/>
          </a:bodyPr>
          <a:lstStyle/>
          <a:p>
            <a:r>
              <a:rPr lang="en-US" sz="1600" dirty="0">
                <a:solidFill>
                  <a:schemeClr val="accent5">
                    <a:lumMod val="75000"/>
                  </a:schemeClr>
                </a:solidFill>
              </a:rPr>
              <a:t>Regio </a:t>
            </a:r>
            <a:r>
              <a:rPr lang="en-US" sz="1600" dirty="0" err="1">
                <a:solidFill>
                  <a:schemeClr val="accent5">
                    <a:lumMod val="75000"/>
                  </a:schemeClr>
                </a:solidFill>
              </a:rPr>
              <a:t>bestaat</a:t>
            </a:r>
            <a:r>
              <a:rPr lang="en-US" sz="1600" dirty="0">
                <a:solidFill>
                  <a:schemeClr val="accent5">
                    <a:lumMod val="75000"/>
                  </a:schemeClr>
                </a:solidFill>
              </a:rPr>
              <a:t> in </a:t>
            </a:r>
            <a:r>
              <a:rPr lang="en-US" sz="1600" dirty="0" err="1">
                <a:solidFill>
                  <a:schemeClr val="accent5">
                    <a:lumMod val="75000"/>
                  </a:schemeClr>
                </a:solidFill>
              </a:rPr>
              <a:t>beide</a:t>
            </a:r>
            <a:r>
              <a:rPr lang="en-US" sz="1600" dirty="0">
                <a:solidFill>
                  <a:schemeClr val="accent5">
                    <a:lumMod val="75000"/>
                  </a:schemeClr>
                </a:solidFill>
              </a:rPr>
              <a:t> </a:t>
            </a:r>
            <a:r>
              <a:rPr lang="en-US" sz="1600" dirty="0" err="1">
                <a:solidFill>
                  <a:schemeClr val="accent5">
                    <a:lumMod val="75000"/>
                  </a:schemeClr>
                </a:solidFill>
              </a:rPr>
              <a:t>dataframes</a:t>
            </a:r>
            <a:endParaRPr lang="en-US" sz="1600" dirty="0">
              <a:solidFill>
                <a:schemeClr val="accent5">
                  <a:lumMod val="75000"/>
                </a:schemeClr>
              </a:solidFill>
            </a:endParaRPr>
          </a:p>
        </p:txBody>
      </p:sp>
      <p:sp>
        <p:nvSpPr>
          <p:cNvPr id="14" name="TextBox 13">
            <a:extLst>
              <a:ext uri="{FF2B5EF4-FFF2-40B4-BE49-F238E27FC236}">
                <a16:creationId xmlns:a16="http://schemas.microsoft.com/office/drawing/2014/main" id="{8F6C27D8-26F2-6FCF-1F0F-D8DA56110F14}"/>
              </a:ext>
            </a:extLst>
          </p:cNvPr>
          <p:cNvSpPr txBox="1"/>
          <p:nvPr/>
        </p:nvSpPr>
        <p:spPr>
          <a:xfrm>
            <a:off x="8905599" y="5885965"/>
            <a:ext cx="2783134" cy="338554"/>
          </a:xfrm>
          <a:prstGeom prst="rect">
            <a:avLst/>
          </a:prstGeom>
          <a:noFill/>
        </p:spPr>
        <p:txBody>
          <a:bodyPr wrap="none" rtlCol="0">
            <a:spAutoFit/>
          </a:bodyPr>
          <a:lstStyle/>
          <a:p>
            <a:r>
              <a:rPr lang="en-US" sz="1600" dirty="0" err="1">
                <a:solidFill>
                  <a:srgbClr val="00B0F0"/>
                </a:solidFill>
              </a:rPr>
              <a:t>Hoofdstad</a:t>
            </a:r>
            <a:r>
              <a:rPr lang="en-US" sz="1600" dirty="0">
                <a:solidFill>
                  <a:srgbClr val="00B0F0"/>
                </a:solidFill>
              </a:rPr>
              <a:t> </a:t>
            </a:r>
            <a:r>
              <a:rPr lang="en-US" sz="1600" dirty="0" err="1">
                <a:solidFill>
                  <a:srgbClr val="00B0F0"/>
                </a:solidFill>
              </a:rPr>
              <a:t>wordt</a:t>
            </a:r>
            <a:r>
              <a:rPr lang="en-US" sz="1600" dirty="0">
                <a:solidFill>
                  <a:srgbClr val="00B0F0"/>
                </a:solidFill>
              </a:rPr>
              <a:t> nu </a:t>
            </a:r>
            <a:r>
              <a:rPr lang="en-US" sz="1600" dirty="0" err="1">
                <a:solidFill>
                  <a:srgbClr val="00B0F0"/>
                </a:solidFill>
              </a:rPr>
              <a:t>ingevuld</a:t>
            </a:r>
            <a:endParaRPr lang="en-US" sz="1600" dirty="0">
              <a:solidFill>
                <a:srgbClr val="00B0F0"/>
              </a:solidFill>
            </a:endParaRPr>
          </a:p>
        </p:txBody>
      </p:sp>
    </p:spTree>
    <p:extLst>
      <p:ext uri="{BB962C8B-B14F-4D97-AF65-F5344CB8AC3E}">
        <p14:creationId xmlns:p14="http://schemas.microsoft.com/office/powerpoint/2010/main" val="10703253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print(len(df[df['CASES'] &gt; 5]))</a:t>
            </a:r>
          </a:p>
          <a:p>
            <a:pPr marL="0" indent="0">
              <a:lnSpc>
                <a:spcPts val="2400"/>
              </a:lnSpc>
              <a:spcBef>
                <a:spcPts val="0"/>
              </a:spcBef>
              <a:spcAft>
                <a:spcPts val="0"/>
              </a:spcAft>
              <a:buNone/>
            </a:pPr>
            <a:r>
              <a:rPr lang="nl-NL" sz="2000" dirty="0">
                <a:latin typeface="Consolas"/>
                <a:cs typeface="Consolas"/>
              </a:rPr>
              <a:t>print(list(df[df['CASES'] &gt; 5]['provincie']))</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print(list(df.sort_values(by='CASES')['CASES']))</a:t>
            </a:r>
          </a:p>
          <a:p>
            <a:pPr marL="0" indent="0">
              <a:lnSpc>
                <a:spcPts val="2400"/>
              </a:lnSpc>
              <a:spcBef>
                <a:spcPts val="0"/>
              </a:spcBef>
              <a:spcAft>
                <a:spcPts val="0"/>
              </a:spcAft>
              <a:buNone/>
            </a:pPr>
            <a:r>
              <a:rPr lang="nl-NL" sz="2000" dirty="0">
                <a:latin typeface="Consolas"/>
                <a:cs typeface="Consolas"/>
              </a:rPr>
              <a:t>print(df.groupby('provincie')['CASES'].sum())</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df.drop(['SEX'], axis=1)</a:t>
            </a:r>
          </a:p>
          <a:p>
            <a:pPr marL="0" indent="0">
              <a:lnSpc>
                <a:spcPts val="2400"/>
              </a:lnSpc>
              <a:spcBef>
                <a:spcPts val="0"/>
              </a:spcBef>
              <a:spcAft>
                <a:spcPts val="0"/>
              </a:spcAft>
              <a:buNone/>
            </a:pPr>
            <a:r>
              <a:rPr lang="nl-NL" sz="2000" dirty="0">
                <a:latin typeface="Consolas"/>
                <a:cs typeface="Consolas"/>
              </a:rPr>
              <a:t>print(list(df.columns))</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p:txBody>
      </p:sp>
      <p:sp>
        <p:nvSpPr>
          <p:cNvPr id="3" name="Title 2"/>
          <p:cNvSpPr>
            <a:spLocks noGrp="1"/>
          </p:cNvSpPr>
          <p:nvPr>
            <p:ph type="title"/>
          </p:nvPr>
        </p:nvSpPr>
        <p:spPr/>
        <p:txBody>
          <a:bodyPr/>
          <a:lstStyle/>
          <a:p>
            <a:r>
              <a:t>Oefening 1B.7: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56</a:t>
            </a:fld>
            <a:endParaRPr lang="nl-NL" dirty="0"/>
          </a:p>
        </p:txBody>
      </p:sp>
      <p:sp>
        <p:nvSpPr>
          <p:cNvPr id="5" name="TextBox 4"/>
          <p:cNvSpPr txBox="1"/>
          <p:nvPr/>
        </p:nvSpPr>
        <p:spPr>
          <a:xfrm>
            <a:off x="7916000" y="1656000"/>
            <a:ext cx="3700000" cy="2200000"/>
          </a:xfrm>
          <a:prstGeom prst="rect">
            <a:avLst/>
          </a:prstGeom>
          <a:noFill/>
          <a:ln w="9525">
            <a:solidFill>
              <a:srgbClr val="BFBFBF"/>
            </a:solidFill>
          </a:ln>
        </p:spPr>
        <p:txBody>
          <a:bodyPr wrap="none">
            <a:spAutoFit/>
          </a:bodyPr>
          <a:lstStyle/>
          <a:p>
            <a:r>
              <a:rPr sz="1600" b="1">
                <a:solidFill>
                  <a:srgbClr val="1D8DB0"/>
                </a:solidFill>
              </a:rPr>
              <a:t>Gegeven df:</a:t>
            </a:r>
          </a:p>
          <a:p>
            <a:r>
              <a:rPr sz="1500">
                <a:latin typeface="Consolas"/>
                <a:cs typeface="Consolas"/>
              </a:rPr>
              <a:t>   provincie SEX  CASES</a:t>
            </a:r>
          </a:p>
          <a:p>
            <a:r>
              <a:rPr sz="1500">
                <a:latin typeface="Consolas"/>
                <a:cs typeface="Consolas"/>
              </a:rPr>
              <a:t>0  Antwerpen   M     12</a:t>
            </a:r>
          </a:p>
          <a:p>
            <a:r>
              <a:rPr sz="1500">
                <a:latin typeface="Consolas"/>
                <a:cs typeface="Consolas"/>
              </a:rPr>
              <a:t>1    Limburg   F      3</a:t>
            </a:r>
          </a:p>
          <a:p>
            <a:r>
              <a:rPr sz="1500">
                <a:latin typeface="Consolas"/>
                <a:cs typeface="Consolas"/>
              </a:rPr>
              <a:t>2  Antwerpen   F     25</a:t>
            </a:r>
          </a:p>
          <a:p>
            <a:r>
              <a:rPr sz="1500">
                <a:latin typeface="Consolas"/>
                <a:cs typeface="Consolas"/>
              </a:rPr>
              <a:t>3    Limburg   M      8</a:t>
            </a:r>
          </a:p>
          <a:p>
            <a:r>
              <a:rPr sz="1500">
                <a:latin typeface="Consolas"/>
                <a:cs typeface="Consolas"/>
              </a:rPr>
              <a:t>4      Namen   F      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8E769-D2FA-1842-BD14-71F488C54D21}"/>
              </a:ext>
            </a:extLst>
          </p:cNvPr>
          <p:cNvSpPr>
            <a:spLocks noGrp="1"/>
          </p:cNvSpPr>
          <p:nvPr>
            <p:ph idx="1"/>
          </p:nvPr>
        </p:nvSpPr>
        <p:spPr/>
        <p:txBody>
          <a:bodyPr>
            <a:normAutofit/>
          </a:bodyPr>
          <a:lstStyle/>
          <a:p>
            <a:pPr marL="514350" indent="-514350">
              <a:buFont typeface="+mj-lt"/>
              <a:buAutoNum type="arabicPeriod"/>
            </a:pPr>
            <a:r>
              <a:rPr lang="nl-NL" sz="2000" dirty="0"/>
              <a:t>Verwijder alle rijen met </a:t>
            </a:r>
            <a:r>
              <a:rPr lang="nl-NL" sz="2000" dirty="0" err="1">
                <a:latin typeface="Courier New" panose="02070309020205020404" pitchFamily="49" charset="0"/>
                <a:cs typeface="Courier New" panose="02070309020205020404" pitchFamily="49" charset="0"/>
              </a:rPr>
              <a:t>nan</a:t>
            </a:r>
            <a:r>
              <a:rPr lang="nl-NL" sz="2000" dirty="0" err="1"/>
              <a:t>s</a:t>
            </a:r>
            <a:r>
              <a:rPr lang="nl-NL" sz="2000" dirty="0"/>
              <a:t> uit een dataframe</a:t>
            </a:r>
          </a:p>
          <a:p>
            <a:pPr marL="514350" indent="-514350">
              <a:buFont typeface="+mj-lt"/>
              <a:buAutoNum type="arabicPeriod"/>
            </a:pPr>
            <a:r>
              <a:rPr lang="nl-NL" sz="2000" dirty="0"/>
              <a:t>Verwijder alle rijen waarbij de </a:t>
            </a:r>
            <a:r>
              <a:rPr lang="nl-NL" sz="2000" dirty="0" err="1"/>
              <a:t>numerische</a:t>
            </a:r>
            <a:r>
              <a:rPr lang="nl-NL" sz="2000" dirty="0"/>
              <a:t> waarde groter is dan 3 standaarddeviaties van het gemiddelde voor een bepaalde kolom</a:t>
            </a:r>
          </a:p>
          <a:p>
            <a:pPr marL="514350" indent="-514350">
              <a:buFont typeface="+mj-lt"/>
              <a:buAutoNum type="arabicPeriod"/>
            </a:pPr>
            <a:r>
              <a:rPr lang="nl-NL" sz="2000" dirty="0"/>
              <a:t>Verwijder alle rijen voor provincies die minder dan in 8% van de gevallen voorkomen</a:t>
            </a:r>
          </a:p>
        </p:txBody>
      </p:sp>
      <p:sp>
        <p:nvSpPr>
          <p:cNvPr id="4" name="Slide Number Placeholder 3">
            <a:extLst>
              <a:ext uri="{FF2B5EF4-FFF2-40B4-BE49-F238E27FC236}">
                <a16:creationId xmlns:a16="http://schemas.microsoft.com/office/drawing/2014/main" id="{398365DE-34B3-A449-B70E-075A5C79C8B4}"/>
              </a:ext>
            </a:extLst>
          </p:cNvPr>
          <p:cNvSpPr>
            <a:spLocks noGrp="1"/>
          </p:cNvSpPr>
          <p:nvPr>
            <p:ph type="sldNum" sz="quarter" idx="12"/>
          </p:nvPr>
        </p:nvSpPr>
        <p:spPr/>
        <p:txBody>
          <a:bodyPr/>
          <a:lstStyle/>
          <a:p>
            <a:fld id="{D270EDC2-4F5E-5547-954F-5222C286AC2A}" type="slidenum">
              <a:rPr lang="nl-NL" smtClean="0"/>
              <a:t>57</a:t>
            </a:fld>
            <a:endParaRPr lang="nl-NL" dirty="0"/>
          </a:p>
        </p:txBody>
      </p:sp>
      <p:sp>
        <p:nvSpPr>
          <p:cNvPr id="2" name="Title 1">
            <a:extLst>
              <a:ext uri="{FF2B5EF4-FFF2-40B4-BE49-F238E27FC236}">
                <a16:creationId xmlns:a16="http://schemas.microsoft.com/office/drawing/2014/main" id="{443DD0A9-DF85-9248-95C2-E152E9D52752}"/>
              </a:ext>
            </a:extLst>
          </p:cNvPr>
          <p:cNvSpPr>
            <a:spLocks noGrp="1"/>
          </p:cNvSpPr>
          <p:nvPr>
            <p:ph type="title"/>
          </p:nvPr>
        </p:nvSpPr>
        <p:spPr/>
        <p:txBody>
          <a:bodyPr/>
          <a:lstStyle/>
          <a:p>
            <a:r>
              <a:rPr lang="nl-NL" dirty="0"/>
              <a:t>Enkele </a:t>
            </a:r>
            <a:r>
              <a:rPr lang="nl-NL" dirty="0" err="1"/>
              <a:t>use</a:t>
            </a:r>
            <a:r>
              <a:rPr lang="nl-NL" dirty="0"/>
              <a:t> cases</a:t>
            </a:r>
          </a:p>
        </p:txBody>
      </p:sp>
    </p:spTree>
    <p:extLst>
      <p:ext uri="{BB962C8B-B14F-4D97-AF65-F5344CB8AC3E}">
        <p14:creationId xmlns:p14="http://schemas.microsoft.com/office/powerpoint/2010/main" val="30636596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5AA868-97B0-6D49-A27D-6A236632DEEB}"/>
              </a:ext>
            </a:extLst>
          </p:cNvPr>
          <p:cNvSpPr/>
          <p:nvPr/>
        </p:nvSpPr>
        <p:spPr>
          <a:xfrm>
            <a:off x="913988" y="2522557"/>
            <a:ext cx="6096000" cy="3108543"/>
          </a:xfrm>
          <a:prstGeom prst="rect">
            <a:avLst/>
          </a:prstGeom>
          <a:ln>
            <a:solidFill>
              <a:schemeClr val="tx1"/>
            </a:solidFill>
          </a:ln>
        </p:spPr>
        <p:txBody>
          <a:bodyPr>
            <a:spAutoFit/>
          </a:bodyPr>
          <a:lstStyle/>
          <a:p>
            <a:r>
              <a:rPr lang="nl-NL" sz="1400" dirty="0" err="1"/>
              <a:t>rijen_met_nans</a:t>
            </a:r>
            <a:r>
              <a:rPr lang="nl-NL" sz="1400" dirty="0"/>
              <a:t> = []</a:t>
            </a:r>
            <a:br>
              <a:rPr lang="nl-NL" sz="1400" dirty="0"/>
            </a:br>
            <a:r>
              <a:rPr lang="nl-NL" sz="1400" dirty="0" err="1">
                <a:solidFill>
                  <a:srgbClr val="CC7832"/>
                </a:solidFill>
              </a:rPr>
              <a:t>for</a:t>
            </a:r>
            <a:r>
              <a:rPr lang="nl-NL" sz="1400" dirty="0">
                <a:solidFill>
                  <a:srgbClr val="CC7832"/>
                </a:solidFill>
              </a:rPr>
              <a:t> </a:t>
            </a:r>
            <a:r>
              <a:rPr lang="nl-NL" sz="1400" dirty="0"/>
              <a:t>r</a:t>
            </a:r>
            <a:r>
              <a:rPr lang="nl-NL" sz="1400" dirty="0">
                <a:solidFill>
                  <a:srgbClr val="CC7832"/>
                </a:solidFill>
              </a:rPr>
              <a:t>, </a:t>
            </a:r>
            <a:r>
              <a:rPr lang="nl-NL" sz="1400" dirty="0"/>
              <a:t>rij </a:t>
            </a:r>
            <a:r>
              <a:rPr lang="nl-NL" sz="1400" dirty="0">
                <a:solidFill>
                  <a:srgbClr val="CC7832"/>
                </a:solidFill>
              </a:rPr>
              <a:t>in </a:t>
            </a:r>
            <a:r>
              <a:rPr lang="nl-NL" sz="1400" dirty="0" err="1"/>
              <a:t>df.iterrows</a:t>
            </a:r>
            <a:r>
              <a:rPr lang="nl-NL" sz="1400" dirty="0"/>
              <a:t>():</a:t>
            </a:r>
            <a:br>
              <a:rPr lang="nl-NL" sz="1400" dirty="0"/>
            </a:br>
            <a:r>
              <a:rPr lang="nl-NL" sz="1400" dirty="0"/>
              <a:t>    </a:t>
            </a:r>
            <a:r>
              <a:rPr lang="nl-NL" sz="1400" dirty="0">
                <a:solidFill>
                  <a:srgbClr val="808080"/>
                </a:solidFill>
              </a:rPr>
              <a:t># </a:t>
            </a:r>
            <a:r>
              <a:rPr lang="nl-NL" sz="1400" dirty="0" err="1">
                <a:solidFill>
                  <a:srgbClr val="808080"/>
                </a:solidFill>
              </a:rPr>
              <a:t>if</a:t>
            </a:r>
            <a:r>
              <a:rPr lang="nl-NL" sz="1400" dirty="0">
                <a:solidFill>
                  <a:srgbClr val="808080"/>
                </a:solidFill>
              </a:rPr>
              <a:t> </a:t>
            </a:r>
            <a:r>
              <a:rPr lang="nl-NL" sz="1400" dirty="0" err="1">
                <a:solidFill>
                  <a:srgbClr val="808080"/>
                </a:solidFill>
              </a:rPr>
              <a:t>rij.isnull</a:t>
            </a:r>
            <a:r>
              <a:rPr lang="nl-NL" sz="1400" dirty="0">
                <a:solidFill>
                  <a:srgbClr val="808080"/>
                </a:solidFill>
              </a:rPr>
              <a:t>().</a:t>
            </a:r>
            <a:r>
              <a:rPr lang="nl-NL" sz="1400" dirty="0" err="1">
                <a:solidFill>
                  <a:srgbClr val="808080"/>
                </a:solidFill>
              </a:rPr>
              <a:t>any</a:t>
            </a:r>
            <a:r>
              <a:rPr lang="nl-NL" sz="1400" dirty="0">
                <a:solidFill>
                  <a:srgbClr val="808080"/>
                </a:solidFill>
              </a:rPr>
              <a:t>():</a:t>
            </a:r>
            <a:br>
              <a:rPr lang="nl-NL" sz="1400" dirty="0">
                <a:solidFill>
                  <a:srgbClr val="808080"/>
                </a:solidFill>
              </a:rPr>
            </a:br>
            <a:r>
              <a:rPr lang="nl-NL" sz="1400" dirty="0">
                <a:solidFill>
                  <a:srgbClr val="808080"/>
                </a:solidFill>
              </a:rPr>
              <a:t>    #     </a:t>
            </a:r>
            <a:r>
              <a:rPr lang="nl-NL" sz="1400" dirty="0" err="1">
                <a:solidFill>
                  <a:srgbClr val="808080"/>
                </a:solidFill>
              </a:rPr>
              <a:t>rijen_met_nans.append</a:t>
            </a:r>
            <a:r>
              <a:rPr lang="nl-NL" sz="1400" dirty="0">
                <a:solidFill>
                  <a:srgbClr val="808080"/>
                </a:solidFill>
              </a:rPr>
              <a:t>(r)</a:t>
            </a:r>
            <a:br>
              <a:rPr lang="nl-NL" sz="1400" dirty="0">
                <a:solidFill>
                  <a:srgbClr val="808080"/>
                </a:solidFill>
              </a:rPr>
            </a:br>
            <a:r>
              <a:rPr lang="nl-NL" sz="1400" dirty="0">
                <a:solidFill>
                  <a:srgbClr val="808080"/>
                </a:solidFill>
              </a:rPr>
              <a:t>    </a:t>
            </a:r>
            <a:r>
              <a:rPr lang="nl-NL" sz="1400" dirty="0" err="1">
                <a:solidFill>
                  <a:srgbClr val="CC7832"/>
                </a:solidFill>
              </a:rPr>
              <a:t>for</a:t>
            </a:r>
            <a:r>
              <a:rPr lang="nl-NL" sz="1400" dirty="0">
                <a:solidFill>
                  <a:srgbClr val="CC7832"/>
                </a:solidFill>
              </a:rPr>
              <a:t> </a:t>
            </a:r>
            <a:r>
              <a:rPr lang="nl-NL" sz="1400" dirty="0" err="1"/>
              <a:t>cell</a:t>
            </a:r>
            <a:r>
              <a:rPr lang="nl-NL" sz="1400" dirty="0"/>
              <a:t> </a:t>
            </a:r>
            <a:r>
              <a:rPr lang="nl-NL" sz="1400" dirty="0">
                <a:solidFill>
                  <a:srgbClr val="CC7832"/>
                </a:solidFill>
              </a:rPr>
              <a:t>in </a:t>
            </a:r>
            <a:r>
              <a:rPr lang="nl-NL" sz="1400" dirty="0"/>
              <a:t>rij:</a:t>
            </a:r>
            <a:br>
              <a:rPr lang="nl-NL" sz="1400" dirty="0"/>
            </a:br>
            <a:r>
              <a:rPr lang="nl-NL" sz="1400" dirty="0"/>
              <a:t>        </a:t>
            </a:r>
            <a:r>
              <a:rPr lang="nl-NL" sz="1400" dirty="0" err="1">
                <a:solidFill>
                  <a:srgbClr val="CC7832"/>
                </a:solidFill>
              </a:rPr>
              <a:t>if</a:t>
            </a:r>
            <a:r>
              <a:rPr lang="nl-NL" sz="1400" dirty="0">
                <a:solidFill>
                  <a:srgbClr val="CC7832"/>
                </a:solidFill>
              </a:rPr>
              <a:t> </a:t>
            </a:r>
            <a:r>
              <a:rPr lang="nl-NL" sz="1400" dirty="0" err="1"/>
              <a:t>cell</a:t>
            </a:r>
            <a:r>
              <a:rPr lang="nl-NL" sz="1400" dirty="0"/>
              <a:t> </a:t>
            </a:r>
            <a:r>
              <a:rPr lang="nl-NL" sz="1400" dirty="0">
                <a:solidFill>
                  <a:srgbClr val="CC7832"/>
                </a:solidFill>
              </a:rPr>
              <a:t>in </a:t>
            </a:r>
            <a:r>
              <a:rPr lang="nl-NL" sz="1400" dirty="0"/>
              <a:t>{</a:t>
            </a:r>
            <a:r>
              <a:rPr lang="nl-NL" sz="1400" dirty="0" err="1"/>
              <a:t>np.nan</a:t>
            </a:r>
            <a:r>
              <a:rPr lang="nl-NL" sz="1400" dirty="0"/>
              <a:t>}:</a:t>
            </a:r>
            <a:br>
              <a:rPr lang="nl-NL" sz="1400" dirty="0"/>
            </a:br>
            <a:r>
              <a:rPr lang="nl-NL" sz="1400" dirty="0"/>
              <a:t>            </a:t>
            </a:r>
            <a:r>
              <a:rPr lang="nl-NL" sz="1400" dirty="0" err="1"/>
              <a:t>rijen_met_nans.append</a:t>
            </a:r>
            <a:r>
              <a:rPr lang="nl-NL" sz="1400" dirty="0"/>
              <a:t>(r)</a:t>
            </a:r>
            <a:br>
              <a:rPr lang="nl-NL" sz="1400" dirty="0"/>
            </a:br>
            <a:r>
              <a:rPr lang="nl-NL" sz="1400" dirty="0"/>
              <a:t>            </a:t>
            </a:r>
            <a:r>
              <a:rPr lang="nl-NL" sz="1400" dirty="0">
                <a:solidFill>
                  <a:srgbClr val="CC7832"/>
                </a:solidFill>
              </a:rPr>
              <a:t>break</a:t>
            </a:r>
            <a:br>
              <a:rPr lang="nl-NL" sz="1400" dirty="0">
                <a:solidFill>
                  <a:srgbClr val="CC7832"/>
                </a:solidFill>
              </a:rPr>
            </a:br>
            <a:br>
              <a:rPr lang="nl-NL" sz="1400" dirty="0">
                <a:solidFill>
                  <a:srgbClr val="CC7832"/>
                </a:solidFill>
              </a:rPr>
            </a:br>
            <a:r>
              <a:rPr lang="nl-NL" sz="1400" dirty="0">
                <a:solidFill>
                  <a:srgbClr val="808080"/>
                </a:solidFill>
              </a:rPr>
              <a:t># alternatief</a:t>
            </a:r>
            <a:br>
              <a:rPr lang="nl-NL" sz="1400" dirty="0">
                <a:solidFill>
                  <a:srgbClr val="808080"/>
                </a:solidFill>
              </a:rPr>
            </a:br>
            <a:r>
              <a:rPr lang="nl-NL" sz="1400" dirty="0">
                <a:solidFill>
                  <a:srgbClr val="8888C6"/>
                </a:solidFill>
              </a:rPr>
              <a:t>print</a:t>
            </a:r>
            <a:r>
              <a:rPr lang="nl-NL" sz="1400" dirty="0"/>
              <a:t>(</a:t>
            </a:r>
            <a:r>
              <a:rPr lang="nl-NL" sz="1400" dirty="0">
                <a:solidFill>
                  <a:srgbClr val="6A8759"/>
                </a:solidFill>
              </a:rPr>
              <a:t>'Lengte dataframe met </a:t>
            </a:r>
            <a:r>
              <a:rPr lang="nl-NL" sz="1400" dirty="0" err="1">
                <a:solidFill>
                  <a:srgbClr val="6A8759"/>
                </a:solidFill>
              </a:rPr>
              <a:t>nan’s</a:t>
            </a:r>
            <a:r>
              <a:rPr lang="nl-NL" sz="1400" dirty="0">
                <a:solidFill>
                  <a:srgbClr val="6A8759"/>
                </a:solidFill>
              </a:rPr>
              <a:t>:'</a:t>
            </a:r>
            <a:r>
              <a:rPr lang="nl-NL" sz="1400" dirty="0">
                <a:solidFill>
                  <a:srgbClr val="CC7832"/>
                </a:solidFill>
              </a:rPr>
              <a:t>, </a:t>
            </a:r>
            <a:r>
              <a:rPr lang="nl-NL" sz="1400" dirty="0" err="1">
                <a:solidFill>
                  <a:srgbClr val="8888C6"/>
                </a:solidFill>
              </a:rPr>
              <a:t>len</a:t>
            </a:r>
            <a:r>
              <a:rPr lang="nl-NL" sz="1400" dirty="0"/>
              <a:t>(</a:t>
            </a:r>
            <a:r>
              <a:rPr lang="nl-NL" sz="1400" dirty="0" err="1"/>
              <a:t>df</a:t>
            </a:r>
            <a:r>
              <a:rPr lang="nl-NL" sz="1400" dirty="0"/>
              <a:t>))</a:t>
            </a:r>
            <a:br>
              <a:rPr lang="nl-NL" sz="1400" dirty="0"/>
            </a:br>
            <a:r>
              <a:rPr lang="nl-NL" sz="1400" dirty="0" err="1"/>
              <a:t>df_zonder_nans</a:t>
            </a:r>
            <a:r>
              <a:rPr lang="nl-NL" sz="1400" dirty="0"/>
              <a:t> = </a:t>
            </a:r>
            <a:r>
              <a:rPr lang="nl-NL" sz="1400" dirty="0" err="1"/>
              <a:t>df.drop</a:t>
            </a:r>
            <a:r>
              <a:rPr lang="nl-NL" sz="1400" dirty="0"/>
              <a:t>(</a:t>
            </a:r>
            <a:r>
              <a:rPr lang="nl-NL" sz="1400" dirty="0" err="1"/>
              <a:t>rijen_met_nans</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'Lengte zonder </a:t>
            </a:r>
            <a:r>
              <a:rPr lang="nl-NL" sz="1400" dirty="0" err="1">
                <a:solidFill>
                  <a:srgbClr val="6A8759"/>
                </a:solidFill>
              </a:rPr>
              <a:t>nan’s</a:t>
            </a:r>
            <a:r>
              <a:rPr lang="nl-NL" sz="1400" dirty="0">
                <a:solidFill>
                  <a:srgbClr val="6A8759"/>
                </a:solidFill>
              </a:rPr>
              <a:t>:'</a:t>
            </a:r>
            <a:r>
              <a:rPr lang="nl-NL" sz="1400" dirty="0">
                <a:solidFill>
                  <a:srgbClr val="CC7832"/>
                </a:solidFill>
              </a:rPr>
              <a:t>, </a:t>
            </a:r>
            <a:r>
              <a:rPr lang="nl-NL" sz="1400" dirty="0" err="1">
                <a:solidFill>
                  <a:srgbClr val="8888C6"/>
                </a:solidFill>
              </a:rPr>
              <a:t>len</a:t>
            </a:r>
            <a:r>
              <a:rPr lang="nl-NL" sz="1400" dirty="0"/>
              <a:t>(</a:t>
            </a:r>
            <a:r>
              <a:rPr lang="nl-NL" sz="1400" dirty="0" err="1"/>
              <a:t>df_zonder_nans</a:t>
            </a:r>
            <a:r>
              <a:rPr lang="nl-NL" sz="1400" dirty="0"/>
              <a:t>))</a:t>
            </a:r>
            <a:br>
              <a:rPr lang="nl-NL" sz="1400" dirty="0"/>
            </a:br>
            <a:r>
              <a:rPr lang="nl-NL" sz="1400" dirty="0">
                <a:solidFill>
                  <a:srgbClr val="8888C6"/>
                </a:solidFill>
              </a:rPr>
              <a:t>print</a:t>
            </a:r>
            <a:r>
              <a:rPr lang="nl-NL" sz="1400" dirty="0"/>
              <a:t>(</a:t>
            </a:r>
            <a:r>
              <a:rPr lang="nl-NL" sz="1400" dirty="0">
                <a:solidFill>
                  <a:srgbClr val="6A8759"/>
                </a:solidFill>
              </a:rPr>
              <a:t>'Lengte zonder </a:t>
            </a:r>
            <a:r>
              <a:rPr lang="nl-NL" sz="1400" dirty="0" err="1">
                <a:solidFill>
                  <a:srgbClr val="6A8759"/>
                </a:solidFill>
              </a:rPr>
              <a:t>nan’s</a:t>
            </a:r>
            <a:r>
              <a:rPr lang="nl-NL" sz="1400" dirty="0">
                <a:solidFill>
                  <a:srgbClr val="6A8759"/>
                </a:solidFill>
              </a:rPr>
              <a:t>:'</a:t>
            </a:r>
            <a:r>
              <a:rPr lang="nl-NL" sz="1400" dirty="0">
                <a:solidFill>
                  <a:srgbClr val="CC7832"/>
                </a:solidFill>
              </a:rPr>
              <a:t>, </a:t>
            </a:r>
            <a:r>
              <a:rPr lang="nl-NL" sz="1400" dirty="0" err="1">
                <a:solidFill>
                  <a:srgbClr val="8888C6"/>
                </a:solidFill>
              </a:rPr>
              <a:t>len</a:t>
            </a:r>
            <a:r>
              <a:rPr lang="nl-NL" sz="1400" dirty="0"/>
              <a:t>(</a:t>
            </a:r>
            <a:r>
              <a:rPr lang="nl-NL" sz="1400" dirty="0" err="1"/>
              <a:t>df.dropna</a:t>
            </a:r>
            <a:r>
              <a:rPr lang="nl-NL" sz="1400" dirty="0"/>
              <a:t>()))</a:t>
            </a:r>
          </a:p>
        </p:txBody>
      </p:sp>
      <p:sp>
        <p:nvSpPr>
          <p:cNvPr id="3" name="Content Placeholder 2">
            <a:extLst>
              <a:ext uri="{FF2B5EF4-FFF2-40B4-BE49-F238E27FC236}">
                <a16:creationId xmlns:a16="http://schemas.microsoft.com/office/drawing/2014/main" id="{078045B9-051E-2640-AC4E-4782C479B4E6}"/>
              </a:ext>
            </a:extLst>
          </p:cNvPr>
          <p:cNvSpPr>
            <a:spLocks noGrp="1"/>
          </p:cNvSpPr>
          <p:nvPr>
            <p:ph idx="1"/>
          </p:nvPr>
        </p:nvSpPr>
        <p:spPr/>
        <p:txBody>
          <a:bodyPr>
            <a:normAutofit/>
          </a:bodyPr>
          <a:lstStyle/>
          <a:p>
            <a:r>
              <a:rPr lang="nl-NL" sz="2000" dirty="0"/>
              <a:t>Verwijder alle rijen met </a:t>
            </a:r>
            <a:r>
              <a:rPr lang="nl-NL" sz="2000" dirty="0" err="1">
                <a:latin typeface="Courier New" panose="02070309020205020404" pitchFamily="49" charset="0"/>
                <a:cs typeface="Courier New" panose="02070309020205020404" pitchFamily="49" charset="0"/>
              </a:rPr>
              <a:t>nan</a:t>
            </a:r>
            <a:r>
              <a:rPr lang="nl-NL" sz="2000" dirty="0" err="1"/>
              <a:t>s</a:t>
            </a:r>
            <a:r>
              <a:rPr lang="nl-NL" sz="2000" dirty="0"/>
              <a:t> uit een dataframe</a:t>
            </a:r>
          </a:p>
          <a:p>
            <a:endParaRPr lang="nl-NL" sz="2000" dirty="0"/>
          </a:p>
        </p:txBody>
      </p:sp>
      <p:sp>
        <p:nvSpPr>
          <p:cNvPr id="4" name="Slide Number Placeholder 3">
            <a:extLst>
              <a:ext uri="{FF2B5EF4-FFF2-40B4-BE49-F238E27FC236}">
                <a16:creationId xmlns:a16="http://schemas.microsoft.com/office/drawing/2014/main" id="{E9F959FA-22C4-344B-BDA2-E9F6EC2325B7}"/>
              </a:ext>
            </a:extLst>
          </p:cNvPr>
          <p:cNvSpPr>
            <a:spLocks noGrp="1"/>
          </p:cNvSpPr>
          <p:nvPr>
            <p:ph type="sldNum" sz="quarter" idx="12"/>
          </p:nvPr>
        </p:nvSpPr>
        <p:spPr/>
        <p:txBody>
          <a:bodyPr/>
          <a:lstStyle/>
          <a:p>
            <a:fld id="{D270EDC2-4F5E-5547-954F-5222C286AC2A}" type="slidenum">
              <a:rPr lang="nl-NL" smtClean="0"/>
              <a:t>58</a:t>
            </a:fld>
            <a:endParaRPr lang="nl-NL" dirty="0"/>
          </a:p>
        </p:txBody>
      </p:sp>
      <p:sp>
        <p:nvSpPr>
          <p:cNvPr id="2" name="Title 1">
            <a:extLst>
              <a:ext uri="{FF2B5EF4-FFF2-40B4-BE49-F238E27FC236}">
                <a16:creationId xmlns:a16="http://schemas.microsoft.com/office/drawing/2014/main" id="{E4F52B0B-7A9A-8D43-B102-ADD864DD9FEB}"/>
              </a:ext>
            </a:extLst>
          </p:cNvPr>
          <p:cNvSpPr>
            <a:spLocks noGrp="1"/>
          </p:cNvSpPr>
          <p:nvPr>
            <p:ph type="title"/>
          </p:nvPr>
        </p:nvSpPr>
        <p:spPr/>
        <p:txBody>
          <a:bodyPr/>
          <a:lstStyle/>
          <a:p>
            <a:r>
              <a:rPr lang="nl-NL" dirty="0" err="1"/>
              <a:t>Use</a:t>
            </a:r>
            <a:r>
              <a:rPr lang="nl-NL" dirty="0"/>
              <a:t> case 1</a:t>
            </a:r>
          </a:p>
        </p:txBody>
      </p:sp>
      <p:cxnSp>
        <p:nvCxnSpPr>
          <p:cNvPr id="6" name="Straight Arrow Connector 5">
            <a:extLst>
              <a:ext uri="{FF2B5EF4-FFF2-40B4-BE49-F238E27FC236}">
                <a16:creationId xmlns:a16="http://schemas.microsoft.com/office/drawing/2014/main" id="{8AEA953F-38BB-5F4C-8012-9BDCD54CDAF8}"/>
              </a:ext>
            </a:extLst>
          </p:cNvPr>
          <p:cNvCxnSpPr>
            <a:cxnSpLocks/>
            <a:endCxn id="7" idx="1"/>
          </p:cNvCxnSpPr>
          <p:nvPr/>
        </p:nvCxnSpPr>
        <p:spPr>
          <a:xfrm>
            <a:off x="2128752" y="4201177"/>
            <a:ext cx="813954" cy="1561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DF7A715-1BC8-6240-B810-8AECB4D17B13}"/>
              </a:ext>
            </a:extLst>
          </p:cNvPr>
          <p:cNvSpPr txBox="1"/>
          <p:nvPr/>
        </p:nvSpPr>
        <p:spPr>
          <a:xfrm>
            <a:off x="2942706" y="4218777"/>
            <a:ext cx="2043674" cy="276999"/>
          </a:xfrm>
          <a:prstGeom prst="rect">
            <a:avLst/>
          </a:prstGeom>
          <a:noFill/>
        </p:spPr>
        <p:txBody>
          <a:bodyPr wrap="square" rtlCol="0">
            <a:spAutoFit/>
          </a:bodyPr>
          <a:lstStyle/>
          <a:p>
            <a:r>
              <a:rPr lang="nl-NL" sz="1200" dirty="0"/>
              <a:t>Bewijs van het tegendeel</a:t>
            </a:r>
          </a:p>
        </p:txBody>
      </p:sp>
      <p:sp>
        <p:nvSpPr>
          <p:cNvPr id="14" name="TextBox 13">
            <a:extLst>
              <a:ext uri="{FF2B5EF4-FFF2-40B4-BE49-F238E27FC236}">
                <a16:creationId xmlns:a16="http://schemas.microsoft.com/office/drawing/2014/main" id="{10746A7D-CC99-D74D-B23D-C6856EBDA732}"/>
              </a:ext>
            </a:extLst>
          </p:cNvPr>
          <p:cNvSpPr txBox="1"/>
          <p:nvPr/>
        </p:nvSpPr>
        <p:spPr>
          <a:xfrm>
            <a:off x="4212288" y="5728747"/>
            <a:ext cx="2626130" cy="461665"/>
          </a:xfrm>
          <a:prstGeom prst="rect">
            <a:avLst/>
          </a:prstGeom>
          <a:noFill/>
        </p:spPr>
        <p:txBody>
          <a:bodyPr wrap="square" rtlCol="0">
            <a:spAutoFit/>
          </a:bodyPr>
          <a:lstStyle/>
          <a:p>
            <a:r>
              <a:rPr lang="nl-NL" sz="1200" dirty="0"/>
              <a:t>Gebruik veel snellere ingebouwde functie van </a:t>
            </a:r>
            <a:r>
              <a:rPr lang="nl-NL" sz="1200" dirty="0" err="1"/>
              <a:t>Pandas</a:t>
            </a:r>
            <a:endParaRPr lang="nl-NL" sz="1200" dirty="0"/>
          </a:p>
        </p:txBody>
      </p:sp>
      <p:cxnSp>
        <p:nvCxnSpPr>
          <p:cNvPr id="15" name="Straight Arrow Connector 14">
            <a:extLst>
              <a:ext uri="{FF2B5EF4-FFF2-40B4-BE49-F238E27FC236}">
                <a16:creationId xmlns:a16="http://schemas.microsoft.com/office/drawing/2014/main" id="{80D01F20-480B-1249-8949-427AC67D6ADE}"/>
              </a:ext>
            </a:extLst>
          </p:cNvPr>
          <p:cNvCxnSpPr>
            <a:cxnSpLocks/>
          </p:cNvCxnSpPr>
          <p:nvPr/>
        </p:nvCxnSpPr>
        <p:spPr>
          <a:xfrm>
            <a:off x="3961988" y="5566518"/>
            <a:ext cx="500601" cy="1807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621103A-BE49-FE44-9D99-B74A13F86163}"/>
              </a:ext>
            </a:extLst>
          </p:cNvPr>
          <p:cNvSpPr txBox="1"/>
          <p:nvPr/>
        </p:nvSpPr>
        <p:spPr>
          <a:xfrm>
            <a:off x="7586338" y="3049226"/>
            <a:ext cx="2919146" cy="1384995"/>
          </a:xfrm>
          <a:prstGeom prst="rect">
            <a:avLst/>
          </a:prstGeom>
          <a:noFill/>
        </p:spPr>
        <p:txBody>
          <a:bodyPr wrap="square" rtlCol="0">
            <a:spAutoFit/>
          </a:bodyPr>
          <a:lstStyle/>
          <a:p>
            <a:pPr marL="228600" indent="-228600">
              <a:buFont typeface="Arial"/>
              <a:buChar char="•"/>
            </a:pPr>
            <a:r>
              <a:rPr lang="nl-NL" sz="1400" dirty="0"/>
              <a:t>Loop door de rijen, loop door de kolommen in de rijen en houdt de rijnummers bij van de rijen met </a:t>
            </a:r>
            <a:r>
              <a:rPr lang="nl-NL" sz="1400" dirty="0" err="1">
                <a:latin typeface="Courier New" panose="02070309020205020404" pitchFamily="49" charset="0"/>
                <a:cs typeface="Courier New" panose="02070309020205020404" pitchFamily="49" charset="0"/>
              </a:rPr>
              <a:t>nan</a:t>
            </a:r>
            <a:r>
              <a:rPr lang="nl-NL" sz="1400" dirty="0" err="1"/>
              <a:t>s</a:t>
            </a:r>
            <a:r>
              <a:rPr lang="nl-NL" sz="1400" dirty="0"/>
              <a:t> om later te verwijderen (dit is naïef en traag)</a:t>
            </a:r>
          </a:p>
        </p:txBody>
      </p:sp>
      <p:sp>
        <p:nvSpPr>
          <p:cNvPr id="17" name="Right Brace 16">
            <a:extLst>
              <a:ext uri="{FF2B5EF4-FFF2-40B4-BE49-F238E27FC236}">
                <a16:creationId xmlns:a16="http://schemas.microsoft.com/office/drawing/2014/main" id="{7EE14A06-EEBD-2F4D-8B67-A639C7C10248}"/>
              </a:ext>
            </a:extLst>
          </p:cNvPr>
          <p:cNvSpPr/>
          <p:nvPr/>
        </p:nvSpPr>
        <p:spPr>
          <a:xfrm>
            <a:off x="7223760" y="2560320"/>
            <a:ext cx="199634" cy="165845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8" name="Rectangle 17">
            <a:extLst>
              <a:ext uri="{FF2B5EF4-FFF2-40B4-BE49-F238E27FC236}">
                <a16:creationId xmlns:a16="http://schemas.microsoft.com/office/drawing/2014/main" id="{C9F107ED-6AC7-504F-BA13-CA38375D2AEE}"/>
              </a:ext>
            </a:extLst>
          </p:cNvPr>
          <p:cNvSpPr/>
          <p:nvPr/>
        </p:nvSpPr>
        <p:spPr>
          <a:xfrm>
            <a:off x="7439842" y="5030936"/>
            <a:ext cx="3886200" cy="600164"/>
          </a:xfrm>
          <a:prstGeom prst="rect">
            <a:avLst/>
          </a:prstGeom>
          <a:ln>
            <a:solidFill>
              <a:schemeClr val="tx1"/>
            </a:solidFill>
          </a:ln>
        </p:spPr>
        <p:txBody>
          <a:bodyPr wrap="square">
            <a:spAutoFit/>
          </a:bodyPr>
          <a:lstStyle/>
          <a:p>
            <a:r>
              <a:rPr lang="nl-NL" sz="1100" dirty="0">
                <a:latin typeface="Courier New" panose="02070309020205020404" pitchFamily="49" charset="0"/>
                <a:cs typeface="Courier New" panose="02070309020205020404" pitchFamily="49" charset="0"/>
              </a:rPr>
              <a:t>Lengte dataframe met </a:t>
            </a:r>
            <a:r>
              <a:rPr lang="nl-NL" sz="1100" dirty="0" err="1">
                <a:latin typeface="Courier New" panose="02070309020205020404" pitchFamily="49" charset="0"/>
                <a:cs typeface="Courier New" panose="02070309020205020404" pitchFamily="49" charset="0"/>
              </a:rPr>
              <a:t>nan’s</a:t>
            </a:r>
            <a:r>
              <a:rPr lang="nl-NL" sz="1100" dirty="0">
                <a:latin typeface="Courier New" panose="02070309020205020404" pitchFamily="49" charset="0"/>
                <a:cs typeface="Courier New" panose="02070309020205020404" pitchFamily="49" charset="0"/>
              </a:rPr>
              <a:t>: 66175</a:t>
            </a:r>
          </a:p>
          <a:p>
            <a:r>
              <a:rPr lang="nl-NL" sz="1100" dirty="0">
                <a:latin typeface="Courier New" panose="02070309020205020404" pitchFamily="49" charset="0"/>
                <a:cs typeface="Courier New" panose="02070309020205020404" pitchFamily="49" charset="0"/>
              </a:rPr>
              <a:t>Lengte zonder </a:t>
            </a:r>
            <a:r>
              <a:rPr lang="nl-NL" sz="1100" dirty="0" err="1">
                <a:latin typeface="Courier New" panose="02070309020205020404" pitchFamily="49" charset="0"/>
                <a:cs typeface="Courier New" panose="02070309020205020404" pitchFamily="49" charset="0"/>
              </a:rPr>
              <a:t>nan’s</a:t>
            </a:r>
            <a:r>
              <a:rPr lang="nl-NL" sz="1100" dirty="0">
                <a:latin typeface="Courier New" panose="02070309020205020404" pitchFamily="49" charset="0"/>
                <a:cs typeface="Courier New" panose="02070309020205020404" pitchFamily="49" charset="0"/>
              </a:rPr>
              <a:t>: 59923</a:t>
            </a:r>
          </a:p>
          <a:p>
            <a:r>
              <a:rPr lang="nl-NL" sz="1100" dirty="0">
                <a:latin typeface="Courier New" panose="02070309020205020404" pitchFamily="49" charset="0"/>
                <a:cs typeface="Courier New" panose="02070309020205020404" pitchFamily="49" charset="0"/>
              </a:rPr>
              <a:t>Lengte zonder </a:t>
            </a:r>
            <a:r>
              <a:rPr lang="nl-NL" sz="1100" dirty="0" err="1">
                <a:latin typeface="Courier New" panose="02070309020205020404" pitchFamily="49" charset="0"/>
                <a:cs typeface="Courier New" panose="02070309020205020404" pitchFamily="49" charset="0"/>
              </a:rPr>
              <a:t>nan’s</a:t>
            </a:r>
            <a:r>
              <a:rPr lang="nl-NL" sz="1100" dirty="0">
                <a:latin typeface="Courier New" panose="02070309020205020404" pitchFamily="49" charset="0"/>
                <a:cs typeface="Courier New" panose="02070309020205020404" pitchFamily="49" charset="0"/>
              </a:rPr>
              <a:t>: 59923</a:t>
            </a:r>
          </a:p>
        </p:txBody>
      </p:sp>
      <p:sp>
        <p:nvSpPr>
          <p:cNvPr id="19" name="TextBox 18">
            <a:extLst>
              <a:ext uri="{FF2B5EF4-FFF2-40B4-BE49-F238E27FC236}">
                <a16:creationId xmlns:a16="http://schemas.microsoft.com/office/drawing/2014/main" id="{75CDEABB-5295-0747-8E67-2DB79F6C4C59}"/>
              </a:ext>
            </a:extLst>
          </p:cNvPr>
          <p:cNvSpPr txBox="1"/>
          <p:nvPr/>
        </p:nvSpPr>
        <p:spPr>
          <a:xfrm>
            <a:off x="7423394" y="4661604"/>
            <a:ext cx="1005776" cy="369332"/>
          </a:xfrm>
          <a:prstGeom prst="rect">
            <a:avLst/>
          </a:prstGeom>
          <a:noFill/>
        </p:spPr>
        <p:txBody>
          <a:bodyPr wrap="square" rtlCol="0">
            <a:spAutoFit/>
          </a:bodyPr>
          <a:lstStyle/>
          <a:p>
            <a:r>
              <a:rPr lang="nl-NL" dirty="0"/>
              <a:t>Output:</a:t>
            </a:r>
          </a:p>
        </p:txBody>
      </p:sp>
      <p:sp>
        <p:nvSpPr>
          <p:cNvPr id="20" name="TextBox 19">
            <a:extLst>
              <a:ext uri="{FF2B5EF4-FFF2-40B4-BE49-F238E27FC236}">
                <a16:creationId xmlns:a16="http://schemas.microsoft.com/office/drawing/2014/main" id="{3AE5CBF1-F315-9246-8508-70F36E671B05}"/>
              </a:ext>
            </a:extLst>
          </p:cNvPr>
          <p:cNvSpPr txBox="1"/>
          <p:nvPr/>
        </p:nvSpPr>
        <p:spPr>
          <a:xfrm>
            <a:off x="108513" y="2638563"/>
            <a:ext cx="805475" cy="369332"/>
          </a:xfrm>
          <a:prstGeom prst="rect">
            <a:avLst/>
          </a:prstGeom>
          <a:noFill/>
        </p:spPr>
        <p:txBody>
          <a:bodyPr wrap="square" rtlCol="0">
            <a:spAutoFit/>
          </a:bodyPr>
          <a:lstStyle/>
          <a:p>
            <a:r>
              <a:rPr lang="nl-NL" dirty="0"/>
              <a:t>Code:</a:t>
            </a:r>
          </a:p>
        </p:txBody>
      </p:sp>
      <p:cxnSp>
        <p:nvCxnSpPr>
          <p:cNvPr id="21" name="Straight Arrow Connector 20">
            <a:extLst>
              <a:ext uri="{FF2B5EF4-FFF2-40B4-BE49-F238E27FC236}">
                <a16:creationId xmlns:a16="http://schemas.microsoft.com/office/drawing/2014/main" id="{97165EB7-3BD3-C345-84C4-779B80B09666}"/>
              </a:ext>
            </a:extLst>
          </p:cNvPr>
          <p:cNvCxnSpPr>
            <a:cxnSpLocks/>
          </p:cNvCxnSpPr>
          <p:nvPr/>
        </p:nvCxnSpPr>
        <p:spPr>
          <a:xfrm flipV="1">
            <a:off x="3618846" y="2979186"/>
            <a:ext cx="843743" cy="2278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AD3ABD0-B03C-B848-B830-FFE2F8D7638E}"/>
              </a:ext>
            </a:extLst>
          </p:cNvPr>
          <p:cNvSpPr txBox="1"/>
          <p:nvPr/>
        </p:nvSpPr>
        <p:spPr>
          <a:xfrm>
            <a:off x="4617068" y="2644327"/>
            <a:ext cx="2185336" cy="461665"/>
          </a:xfrm>
          <a:prstGeom prst="rect">
            <a:avLst/>
          </a:prstGeom>
          <a:noFill/>
        </p:spPr>
        <p:txBody>
          <a:bodyPr wrap="square" rtlCol="0">
            <a:spAutoFit/>
          </a:bodyPr>
          <a:lstStyle/>
          <a:p>
            <a:r>
              <a:rPr lang="nl-NL" sz="1200" dirty="0"/>
              <a:t>Korter alternatief gebaseerd op de </a:t>
            </a:r>
            <a:r>
              <a:rPr lang="nl-NL" sz="1200" dirty="0" err="1">
                <a:latin typeface="Courier New" panose="02070309020205020404" pitchFamily="49" charset="0"/>
                <a:cs typeface="Courier New" panose="02070309020205020404" pitchFamily="49" charset="0"/>
              </a:rPr>
              <a:t>isnull</a:t>
            </a:r>
            <a:r>
              <a:rPr lang="nl-NL" sz="1200" dirty="0">
                <a:latin typeface="Courier New" panose="02070309020205020404" pitchFamily="49" charset="0"/>
                <a:cs typeface="Courier New" panose="02070309020205020404" pitchFamily="49" charset="0"/>
              </a:rPr>
              <a:t>()</a:t>
            </a:r>
            <a:r>
              <a:rPr lang="nl-NL" sz="1200" dirty="0"/>
              <a:t> methode</a:t>
            </a:r>
          </a:p>
        </p:txBody>
      </p:sp>
    </p:spTree>
    <p:extLst>
      <p:ext uri="{BB962C8B-B14F-4D97-AF65-F5344CB8AC3E}">
        <p14:creationId xmlns:p14="http://schemas.microsoft.com/office/powerpoint/2010/main" val="3412264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8415CCBD-ACD4-3C86-A1BB-FEE726999C76}"/>
              </a:ext>
            </a:extLst>
          </p:cNvPr>
          <p:cNvSpPr txBox="1"/>
          <p:nvPr/>
        </p:nvSpPr>
        <p:spPr>
          <a:xfrm>
            <a:off x="1224000" y="3190669"/>
            <a:ext cx="8241836" cy="1766446"/>
          </a:xfrm>
          <a:prstGeom prst="rect">
            <a:avLst/>
          </a:prstGeom>
          <a:noFill/>
          <a:ln>
            <a:solidFill>
              <a:schemeClr val="accent1"/>
            </a:solidFill>
          </a:ln>
        </p:spPr>
        <p:txBody>
          <a:bodyPr wrap="square">
            <a:spAutoFit/>
          </a:bodyPr>
          <a:lstStyle/>
          <a:p>
            <a:pPr>
              <a:lnSpc>
                <a:spcPct val="125000"/>
              </a:lnSpc>
              <a:buNone/>
            </a:pPr>
            <a:r>
              <a:rPr lang="en-BE" sz="1100" b="0" dirty="0">
                <a:solidFill>
                  <a:srgbClr val="1F2328"/>
                </a:solidFill>
                <a:effectLst/>
                <a:latin typeface="Menlo" panose="020B0609030804020204" pitchFamily="49" charset="0"/>
              </a:rPr>
              <a:t>std</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df</a:t>
            </a:r>
            <a:r>
              <a:rPr lang="en-BE" sz="1100" b="0" dirty="0">
                <a:solidFill>
                  <a:srgbClr val="202020"/>
                </a:solidFill>
                <a:effectLst/>
                <a:latin typeface="Menlo" panose="020B0609030804020204" pitchFamily="49" charset="0"/>
              </a:rPr>
              <a:t>[</a:t>
            </a:r>
            <a:r>
              <a:rPr lang="en-BE" sz="1100" b="0" dirty="0">
                <a:solidFill>
                  <a:srgbClr val="0A3069"/>
                </a:solidFill>
                <a:effectLst/>
                <a:latin typeface="Menlo" panose="020B0609030804020204" pitchFamily="49" charset="0"/>
              </a:rPr>
              <a:t>'CASES'</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std</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gem</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df</a:t>
            </a:r>
            <a:r>
              <a:rPr lang="en-BE" sz="1100" b="0" dirty="0">
                <a:solidFill>
                  <a:srgbClr val="202020"/>
                </a:solidFill>
                <a:effectLst/>
                <a:latin typeface="Menlo" panose="020B0609030804020204" pitchFamily="49" charset="0"/>
              </a:rPr>
              <a:t>[</a:t>
            </a:r>
            <a:r>
              <a:rPr lang="en-BE" sz="1100" b="0" dirty="0">
                <a:solidFill>
                  <a:srgbClr val="0A3069"/>
                </a:solidFill>
                <a:effectLst/>
                <a:latin typeface="Menlo" panose="020B0609030804020204" pitchFamily="49" charset="0"/>
              </a:rPr>
              <a:t>'CASES'</a:t>
            </a:r>
            <a:r>
              <a:rPr lang="en-BE" sz="1100" b="0" dirty="0">
                <a:solidFill>
                  <a:srgbClr val="202020"/>
                </a:solidFill>
                <a:effectLst/>
                <a:latin typeface="Menlo" panose="020B0609030804020204" pitchFamily="49" charset="0"/>
              </a:rPr>
              <a:t>].</a:t>
            </a:r>
            <a:r>
              <a:rPr lang="en-BE" sz="1100" b="0" dirty="0">
                <a:solidFill>
                  <a:srgbClr val="8250DF"/>
                </a:solidFill>
                <a:effectLst/>
                <a:latin typeface="Menlo" panose="020B0609030804020204" pitchFamily="49" charset="0"/>
              </a:rPr>
              <a:t>mean</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gem</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std</a:t>
            </a:r>
          </a:p>
          <a:p>
            <a:pPr>
              <a:lnSpc>
                <a:spcPct val="125000"/>
              </a:lnSpc>
              <a:buNone/>
            </a:pPr>
            <a:r>
              <a:rPr lang="en-BE" sz="1100" b="0" dirty="0">
                <a:solidFill>
                  <a:srgbClr val="1F2328"/>
                </a:solidFill>
                <a:effectLst/>
                <a:latin typeface="Menlo" panose="020B0609030804020204" pitchFamily="49" charset="0"/>
              </a:rPr>
              <a:t>absol</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795E26"/>
                </a:solidFill>
                <a:effectLst/>
                <a:latin typeface="Menlo" panose="020B0609030804020204" pitchFamily="49" charset="0"/>
              </a:rPr>
              <a:t>abs</a:t>
            </a:r>
            <a:r>
              <a:rPr lang="en-BE" sz="1100" b="0" dirty="0">
                <a:solidFill>
                  <a:srgbClr val="202020"/>
                </a:solidFill>
                <a:effectLst/>
                <a:latin typeface="Menlo" panose="020B0609030804020204" pitchFamily="49" charset="0"/>
              </a:rPr>
              <a:t>(</a:t>
            </a:r>
            <a:r>
              <a:rPr lang="en-BE" sz="1100" b="0" dirty="0">
                <a:solidFill>
                  <a:srgbClr val="1F2328"/>
                </a:solidFill>
                <a:effectLst/>
                <a:latin typeface="Menlo" panose="020B0609030804020204" pitchFamily="49" charset="0"/>
              </a:rPr>
              <a:t>df</a:t>
            </a:r>
            <a:r>
              <a:rPr lang="en-BE" sz="1100" b="0" dirty="0">
                <a:solidFill>
                  <a:srgbClr val="202020"/>
                </a:solidFill>
                <a:effectLst/>
                <a:latin typeface="Menlo" panose="020B0609030804020204" pitchFamily="49" charset="0"/>
              </a:rPr>
              <a:t>[</a:t>
            </a:r>
            <a:r>
              <a:rPr lang="en-BE" sz="1100" b="0" dirty="0">
                <a:solidFill>
                  <a:srgbClr val="0A3069"/>
                </a:solidFill>
                <a:effectLst/>
                <a:latin typeface="Menlo" panose="020B0609030804020204" pitchFamily="49" charset="0"/>
              </a:rPr>
              <a:t>'CASES'</a:t>
            </a:r>
            <a:r>
              <a:rPr lang="en-BE" sz="1100" b="0" dirty="0">
                <a:solidFill>
                  <a:srgbClr val="202020"/>
                </a:solidFill>
                <a:effectLst/>
                <a:latin typeface="Menlo" panose="020B0609030804020204" pitchFamily="49" charset="0"/>
              </a:rPr>
              <a:t>] </a:t>
            </a:r>
            <a:r>
              <a:rPr lang="en-BE" sz="1100" b="0" dirty="0">
                <a:solidFill>
                  <a:srgbClr val="795E26"/>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gem</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absol</a:t>
            </a:r>
            <a:endParaRPr lang="en-BE" sz="1100" b="0" dirty="0">
              <a:solidFill>
                <a:srgbClr val="202020"/>
              </a:solidFill>
              <a:effectLst/>
              <a:latin typeface="Menlo" panose="020B0609030804020204" pitchFamily="49" charset="0"/>
            </a:endParaRPr>
          </a:p>
          <a:p>
            <a:pPr>
              <a:lnSpc>
                <a:spcPct val="125000"/>
              </a:lnSpc>
              <a:buNone/>
            </a:pPr>
            <a:r>
              <a:rPr lang="en-BE" sz="1100" b="0" dirty="0">
                <a:solidFill>
                  <a:srgbClr val="8250DF"/>
                </a:solidFill>
                <a:effectLst/>
                <a:latin typeface="Menlo" panose="020B0609030804020204" pitchFamily="49" charset="0"/>
              </a:rPr>
              <a:t>print</a:t>
            </a:r>
            <a:r>
              <a:rPr lang="en-BE" sz="1100" b="0" dirty="0">
                <a:solidFill>
                  <a:srgbClr val="202020"/>
                </a:solidFill>
                <a:effectLst/>
                <a:latin typeface="Menlo" panose="020B0609030804020204" pitchFamily="49" charset="0"/>
              </a:rPr>
              <a:t>(</a:t>
            </a:r>
            <a:r>
              <a:rPr lang="en-BE" sz="1100" b="0" dirty="0">
                <a:solidFill>
                  <a:srgbClr val="0A3069"/>
                </a:solidFill>
                <a:effectLst/>
                <a:latin typeface="Menlo" panose="020B0609030804020204" pitchFamily="49" charset="0"/>
              </a:rPr>
              <a:t>'Lengte dataframe met afwijkende waarden:'</a:t>
            </a:r>
            <a:r>
              <a:rPr lang="en-BE" sz="1100" b="0" dirty="0">
                <a:solidFill>
                  <a:srgbClr val="202020"/>
                </a:solidFill>
                <a:effectLst/>
                <a:latin typeface="Menlo" panose="020B0609030804020204" pitchFamily="49" charset="0"/>
              </a:rPr>
              <a:t>, </a:t>
            </a:r>
            <a:r>
              <a:rPr lang="en-BE" sz="1100" b="0" dirty="0">
                <a:solidFill>
                  <a:srgbClr val="795E26"/>
                </a:solidFill>
                <a:effectLst/>
                <a:latin typeface="Menlo" panose="020B0609030804020204" pitchFamily="49" charset="0"/>
              </a:rPr>
              <a:t>len</a:t>
            </a:r>
            <a:r>
              <a:rPr lang="en-BE" sz="1100" b="0" dirty="0">
                <a:solidFill>
                  <a:srgbClr val="202020"/>
                </a:solidFill>
                <a:effectLst/>
                <a:latin typeface="Menlo" panose="020B0609030804020204" pitchFamily="49" charset="0"/>
              </a:rPr>
              <a:t>(</a:t>
            </a:r>
            <a:r>
              <a:rPr lang="en-BE" sz="1100" b="0" dirty="0">
                <a:solidFill>
                  <a:srgbClr val="1F2328"/>
                </a:solidFill>
                <a:effectLst/>
                <a:latin typeface="Menlo" panose="020B0609030804020204" pitchFamily="49" charset="0"/>
              </a:rPr>
              <a:t>df</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1F2328"/>
                </a:solidFill>
                <a:effectLst/>
                <a:latin typeface="Menlo" panose="020B0609030804020204" pitchFamily="49" charset="0"/>
              </a:rPr>
              <a:t>df_zonder_afwijkende_waarden</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df</a:t>
            </a:r>
            <a:r>
              <a:rPr lang="en-BE" sz="1100" b="0" dirty="0">
                <a:solidFill>
                  <a:srgbClr val="202020"/>
                </a:solidFill>
                <a:effectLst/>
                <a:latin typeface="Menlo" panose="020B0609030804020204" pitchFamily="49" charset="0"/>
              </a:rPr>
              <a:t>[</a:t>
            </a:r>
            <a:r>
              <a:rPr lang="en-BE" sz="1100" b="0" dirty="0">
                <a:solidFill>
                  <a:srgbClr val="1F2328"/>
                </a:solidFill>
                <a:effectLst/>
                <a:latin typeface="Menlo" panose="020B0609030804020204" pitchFamily="49" charset="0"/>
              </a:rPr>
              <a:t>absol</a:t>
            </a:r>
            <a:r>
              <a:rPr lang="en-BE" sz="1100" b="0" dirty="0">
                <a:solidFill>
                  <a:srgbClr val="202020"/>
                </a:solidFill>
                <a:effectLst/>
                <a:latin typeface="Menlo" panose="020B0609030804020204" pitchFamily="49" charset="0"/>
              </a:rPr>
              <a:t> </a:t>
            </a:r>
            <a:r>
              <a:rPr lang="en-BE" sz="1100" b="0" dirty="0">
                <a:solidFill>
                  <a:srgbClr val="795E26"/>
                </a:solidFill>
                <a:effectLst/>
                <a:latin typeface="Menlo" panose="020B0609030804020204" pitchFamily="49" charset="0"/>
              </a:rPr>
              <a:t>&lt;</a:t>
            </a:r>
            <a:r>
              <a:rPr lang="en-BE" sz="1100" b="0" dirty="0">
                <a:solidFill>
                  <a:srgbClr val="202020"/>
                </a:solidFill>
                <a:effectLst/>
                <a:latin typeface="Menlo" panose="020B0609030804020204" pitchFamily="49" charset="0"/>
              </a:rPr>
              <a:t> </a:t>
            </a:r>
            <a:r>
              <a:rPr lang="en-BE" sz="1100" b="0" dirty="0">
                <a:solidFill>
                  <a:srgbClr val="1F2328"/>
                </a:solidFill>
                <a:effectLst/>
                <a:latin typeface="Menlo" panose="020B0609030804020204" pitchFamily="49" charset="0"/>
              </a:rPr>
              <a:t>std</a:t>
            </a:r>
            <a:r>
              <a:rPr lang="en-BE" sz="1100" b="0" dirty="0">
                <a:solidFill>
                  <a:srgbClr val="202020"/>
                </a:solidFill>
                <a:effectLst/>
                <a:latin typeface="Menlo" panose="020B0609030804020204" pitchFamily="49" charset="0"/>
              </a:rPr>
              <a:t> </a:t>
            </a:r>
            <a:r>
              <a:rPr lang="en-BE" sz="1100" b="0" dirty="0">
                <a:solidFill>
                  <a:srgbClr val="000000"/>
                </a:solidFill>
                <a:effectLst/>
                <a:latin typeface="Menlo" panose="020B0609030804020204" pitchFamily="49" charset="0"/>
              </a:rPr>
              <a:t>*</a:t>
            </a:r>
            <a:r>
              <a:rPr lang="en-BE" sz="1100" b="0" dirty="0">
                <a:solidFill>
                  <a:srgbClr val="202020"/>
                </a:solidFill>
                <a:effectLst/>
                <a:latin typeface="Menlo" panose="020B0609030804020204" pitchFamily="49" charset="0"/>
              </a:rPr>
              <a:t> </a:t>
            </a:r>
            <a:r>
              <a:rPr lang="en-BE" sz="1100" b="0" dirty="0">
                <a:solidFill>
                  <a:srgbClr val="098658"/>
                </a:solidFill>
                <a:effectLst/>
                <a:latin typeface="Menlo" panose="020B0609030804020204" pitchFamily="49" charset="0"/>
              </a:rPr>
              <a:t>3</a:t>
            </a:r>
            <a:r>
              <a:rPr lang="en-BE" sz="1100" b="0" dirty="0">
                <a:solidFill>
                  <a:srgbClr val="202020"/>
                </a:solidFill>
                <a:effectLst/>
                <a:latin typeface="Menlo" panose="020B0609030804020204" pitchFamily="49" charset="0"/>
              </a:rPr>
              <a:t>]</a:t>
            </a:r>
          </a:p>
          <a:p>
            <a:pPr>
              <a:lnSpc>
                <a:spcPct val="125000"/>
              </a:lnSpc>
              <a:buNone/>
            </a:pPr>
            <a:r>
              <a:rPr lang="en-BE" sz="1100" b="0" dirty="0">
                <a:solidFill>
                  <a:srgbClr val="8250DF"/>
                </a:solidFill>
                <a:effectLst/>
                <a:latin typeface="Menlo" panose="020B0609030804020204" pitchFamily="49" charset="0"/>
              </a:rPr>
              <a:t>print</a:t>
            </a:r>
            <a:r>
              <a:rPr lang="en-BE" sz="1100" b="0" dirty="0">
                <a:solidFill>
                  <a:srgbClr val="202020"/>
                </a:solidFill>
                <a:effectLst/>
                <a:latin typeface="Menlo" panose="020B0609030804020204" pitchFamily="49" charset="0"/>
              </a:rPr>
              <a:t>(</a:t>
            </a:r>
            <a:r>
              <a:rPr lang="en-BE" sz="1100" b="0" dirty="0">
                <a:solidFill>
                  <a:srgbClr val="0A3069"/>
                </a:solidFill>
                <a:effectLst/>
                <a:latin typeface="Menlo" panose="020B0609030804020204" pitchFamily="49" charset="0"/>
              </a:rPr>
              <a:t>'Lengte dataframe zonder afwijkende waarden:'</a:t>
            </a:r>
            <a:r>
              <a:rPr lang="en-BE" sz="1100" b="0" dirty="0">
                <a:solidFill>
                  <a:srgbClr val="202020"/>
                </a:solidFill>
                <a:effectLst/>
                <a:latin typeface="Menlo" panose="020B0609030804020204" pitchFamily="49" charset="0"/>
              </a:rPr>
              <a:t>, </a:t>
            </a:r>
            <a:r>
              <a:rPr lang="en-BE" sz="1100" b="0" dirty="0">
                <a:solidFill>
                  <a:srgbClr val="795E26"/>
                </a:solidFill>
                <a:effectLst/>
                <a:latin typeface="Menlo" panose="020B0609030804020204" pitchFamily="49" charset="0"/>
              </a:rPr>
              <a:t>len</a:t>
            </a:r>
            <a:r>
              <a:rPr lang="en-BE" sz="1100" b="0" dirty="0">
                <a:solidFill>
                  <a:srgbClr val="202020"/>
                </a:solidFill>
                <a:effectLst/>
                <a:latin typeface="Menlo" panose="020B0609030804020204" pitchFamily="49" charset="0"/>
              </a:rPr>
              <a:t>(</a:t>
            </a:r>
            <a:r>
              <a:rPr lang="en-BE" sz="1100" b="0" dirty="0">
                <a:solidFill>
                  <a:srgbClr val="1F2328"/>
                </a:solidFill>
                <a:effectLst/>
                <a:latin typeface="Menlo" panose="020B0609030804020204" pitchFamily="49" charset="0"/>
              </a:rPr>
              <a:t>df_zonder_afwijkende_waarden</a:t>
            </a:r>
            <a:r>
              <a:rPr lang="en-BE" sz="1100" b="0" dirty="0">
                <a:solidFill>
                  <a:srgbClr val="202020"/>
                </a:solidFill>
                <a:effectLst/>
                <a:latin typeface="Menlo" panose="020B0609030804020204" pitchFamily="49" charset="0"/>
              </a:rPr>
              <a:t>))</a:t>
            </a:r>
          </a:p>
        </p:txBody>
      </p:sp>
      <p:sp>
        <p:nvSpPr>
          <p:cNvPr id="3" name="Content Placeholder 2">
            <a:extLst>
              <a:ext uri="{FF2B5EF4-FFF2-40B4-BE49-F238E27FC236}">
                <a16:creationId xmlns:a16="http://schemas.microsoft.com/office/drawing/2014/main" id="{D5D6018D-0902-2749-A87A-4D2E252AD824}"/>
              </a:ext>
            </a:extLst>
          </p:cNvPr>
          <p:cNvSpPr>
            <a:spLocks noGrp="1"/>
          </p:cNvSpPr>
          <p:nvPr>
            <p:ph idx="1"/>
          </p:nvPr>
        </p:nvSpPr>
        <p:spPr/>
        <p:txBody>
          <a:bodyPr/>
          <a:lstStyle/>
          <a:p>
            <a:r>
              <a:rPr lang="nl-NL" dirty="0"/>
              <a:t>Verwijder alle rijen waarbij de </a:t>
            </a:r>
            <a:r>
              <a:rPr lang="nl-NL" dirty="0" err="1"/>
              <a:t>numerische</a:t>
            </a:r>
            <a:r>
              <a:rPr lang="nl-NL" dirty="0"/>
              <a:t> waarde groter is dan 3 standaarddeviaties van het gemiddelde voor een bepaalde kolom</a:t>
            </a:r>
          </a:p>
          <a:p>
            <a:endParaRPr lang="nl-NL" dirty="0"/>
          </a:p>
        </p:txBody>
      </p:sp>
      <p:sp>
        <p:nvSpPr>
          <p:cNvPr id="4" name="Slide Number Placeholder 3">
            <a:extLst>
              <a:ext uri="{FF2B5EF4-FFF2-40B4-BE49-F238E27FC236}">
                <a16:creationId xmlns:a16="http://schemas.microsoft.com/office/drawing/2014/main" id="{1E6E2A15-ED12-004A-9983-6D3773743617}"/>
              </a:ext>
            </a:extLst>
          </p:cNvPr>
          <p:cNvSpPr>
            <a:spLocks noGrp="1"/>
          </p:cNvSpPr>
          <p:nvPr>
            <p:ph type="sldNum" sz="quarter" idx="12"/>
          </p:nvPr>
        </p:nvSpPr>
        <p:spPr/>
        <p:txBody>
          <a:bodyPr/>
          <a:lstStyle/>
          <a:p>
            <a:fld id="{D270EDC2-4F5E-5547-954F-5222C286AC2A}" type="slidenum">
              <a:rPr lang="nl-NL" smtClean="0"/>
              <a:t>59</a:t>
            </a:fld>
            <a:endParaRPr lang="nl-NL" dirty="0"/>
          </a:p>
        </p:txBody>
      </p:sp>
      <p:sp>
        <p:nvSpPr>
          <p:cNvPr id="2" name="Title 1">
            <a:extLst>
              <a:ext uri="{FF2B5EF4-FFF2-40B4-BE49-F238E27FC236}">
                <a16:creationId xmlns:a16="http://schemas.microsoft.com/office/drawing/2014/main" id="{7FEA6554-4729-994D-A846-ED838E2E2FC2}"/>
              </a:ext>
            </a:extLst>
          </p:cNvPr>
          <p:cNvSpPr>
            <a:spLocks noGrp="1"/>
          </p:cNvSpPr>
          <p:nvPr>
            <p:ph type="title"/>
          </p:nvPr>
        </p:nvSpPr>
        <p:spPr/>
        <p:txBody>
          <a:bodyPr/>
          <a:lstStyle/>
          <a:p>
            <a:r>
              <a:rPr lang="nl-NL" dirty="0" err="1"/>
              <a:t>Use</a:t>
            </a:r>
            <a:r>
              <a:rPr lang="nl-NL" dirty="0"/>
              <a:t> case 2</a:t>
            </a:r>
          </a:p>
        </p:txBody>
      </p:sp>
      <p:sp>
        <p:nvSpPr>
          <p:cNvPr id="7" name="Rectangle 6">
            <a:extLst>
              <a:ext uri="{FF2B5EF4-FFF2-40B4-BE49-F238E27FC236}">
                <a16:creationId xmlns:a16="http://schemas.microsoft.com/office/drawing/2014/main" id="{49877389-2746-1C46-8A3D-41D9F9DA3C6B}"/>
              </a:ext>
            </a:extLst>
          </p:cNvPr>
          <p:cNvSpPr/>
          <p:nvPr/>
        </p:nvSpPr>
        <p:spPr>
          <a:xfrm>
            <a:off x="1228856" y="5438903"/>
            <a:ext cx="6096000" cy="430887"/>
          </a:xfrm>
          <a:prstGeom prst="rect">
            <a:avLst/>
          </a:prstGeom>
          <a:ln>
            <a:solidFill>
              <a:schemeClr val="tx1"/>
            </a:solidFill>
          </a:ln>
        </p:spPr>
        <p:txBody>
          <a:bodyPr>
            <a:spAutoFit/>
          </a:bodyPr>
          <a:lstStyle/>
          <a:p>
            <a:r>
              <a:rPr lang="nl-NL" sz="1050" dirty="0">
                <a:latin typeface="Courier New" panose="02070309020205020404" pitchFamily="49" charset="0"/>
                <a:cs typeface="Courier New" panose="02070309020205020404" pitchFamily="49" charset="0"/>
              </a:rPr>
              <a:t>Lengte dataframe met afwijkende waarden: 66175</a:t>
            </a:r>
          </a:p>
          <a:p>
            <a:r>
              <a:rPr lang="nl-NL" sz="1050" dirty="0">
                <a:latin typeface="Courier New" panose="02070309020205020404" pitchFamily="49" charset="0"/>
                <a:cs typeface="Courier New" panose="02070309020205020404" pitchFamily="49" charset="0"/>
              </a:rPr>
              <a:t>Lengte dataframe zonder afwijkende waarden: 64570</a:t>
            </a:r>
          </a:p>
        </p:txBody>
      </p:sp>
      <p:sp>
        <p:nvSpPr>
          <p:cNvPr id="8" name="TextBox 7">
            <a:extLst>
              <a:ext uri="{FF2B5EF4-FFF2-40B4-BE49-F238E27FC236}">
                <a16:creationId xmlns:a16="http://schemas.microsoft.com/office/drawing/2014/main" id="{9EBA4F1D-2A86-D646-A421-C5FD0D45ACC0}"/>
              </a:ext>
            </a:extLst>
          </p:cNvPr>
          <p:cNvSpPr txBox="1"/>
          <p:nvPr/>
        </p:nvSpPr>
        <p:spPr>
          <a:xfrm>
            <a:off x="1228856" y="5025254"/>
            <a:ext cx="1108363" cy="369332"/>
          </a:xfrm>
          <a:prstGeom prst="rect">
            <a:avLst/>
          </a:prstGeom>
          <a:noFill/>
        </p:spPr>
        <p:txBody>
          <a:bodyPr wrap="square" rtlCol="0">
            <a:spAutoFit/>
          </a:bodyPr>
          <a:lstStyle/>
          <a:p>
            <a:r>
              <a:rPr lang="nl-NL" dirty="0"/>
              <a:t>Output:</a:t>
            </a:r>
          </a:p>
        </p:txBody>
      </p:sp>
      <p:sp>
        <p:nvSpPr>
          <p:cNvPr id="9" name="TextBox 8">
            <a:extLst>
              <a:ext uri="{FF2B5EF4-FFF2-40B4-BE49-F238E27FC236}">
                <a16:creationId xmlns:a16="http://schemas.microsoft.com/office/drawing/2014/main" id="{30AD7C80-ABD5-C547-811C-2B92D50BCEC1}"/>
              </a:ext>
            </a:extLst>
          </p:cNvPr>
          <p:cNvSpPr txBox="1"/>
          <p:nvPr/>
        </p:nvSpPr>
        <p:spPr>
          <a:xfrm>
            <a:off x="1102822" y="2752259"/>
            <a:ext cx="918841" cy="369332"/>
          </a:xfrm>
          <a:prstGeom prst="rect">
            <a:avLst/>
          </a:prstGeom>
          <a:noFill/>
        </p:spPr>
        <p:txBody>
          <a:bodyPr wrap="square" rtlCol="0">
            <a:spAutoFit/>
          </a:bodyPr>
          <a:lstStyle/>
          <a:p>
            <a:r>
              <a:rPr lang="nl-NL" dirty="0"/>
              <a:t>Code:</a:t>
            </a:r>
          </a:p>
        </p:txBody>
      </p:sp>
      <p:cxnSp>
        <p:nvCxnSpPr>
          <p:cNvPr id="10" name="Straight Arrow Connector 9">
            <a:extLst>
              <a:ext uri="{FF2B5EF4-FFF2-40B4-BE49-F238E27FC236}">
                <a16:creationId xmlns:a16="http://schemas.microsoft.com/office/drawing/2014/main" id="{EE943DFB-EC03-484F-A1FD-E60F9EB73A2E}"/>
              </a:ext>
            </a:extLst>
          </p:cNvPr>
          <p:cNvCxnSpPr>
            <a:cxnSpLocks/>
          </p:cNvCxnSpPr>
          <p:nvPr/>
        </p:nvCxnSpPr>
        <p:spPr>
          <a:xfrm flipV="1">
            <a:off x="2595074" y="2936925"/>
            <a:ext cx="604635" cy="2537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4FB1EA1-F5F8-0542-9351-FFD4A24C3CBB}"/>
              </a:ext>
            </a:extLst>
          </p:cNvPr>
          <p:cNvSpPr txBox="1"/>
          <p:nvPr/>
        </p:nvSpPr>
        <p:spPr>
          <a:xfrm>
            <a:off x="3392737" y="2659926"/>
            <a:ext cx="2626130" cy="461665"/>
          </a:xfrm>
          <a:prstGeom prst="rect">
            <a:avLst/>
          </a:prstGeom>
          <a:noFill/>
        </p:spPr>
        <p:txBody>
          <a:bodyPr wrap="square" rtlCol="0">
            <a:spAutoFit/>
          </a:bodyPr>
          <a:lstStyle/>
          <a:p>
            <a:r>
              <a:rPr lang="nl-NL" sz="1200" dirty="0"/>
              <a:t>Er is maar 1 </a:t>
            </a:r>
            <a:r>
              <a:rPr lang="nl-NL" sz="1200" dirty="0" err="1"/>
              <a:t>numerische</a:t>
            </a:r>
            <a:r>
              <a:rPr lang="nl-NL" sz="1200" dirty="0"/>
              <a:t> variabele (‘CASES’) – die gebruiken we hier</a:t>
            </a:r>
          </a:p>
        </p:txBody>
      </p:sp>
      <p:cxnSp>
        <p:nvCxnSpPr>
          <p:cNvPr id="13" name="Straight Arrow Connector 12">
            <a:extLst>
              <a:ext uri="{FF2B5EF4-FFF2-40B4-BE49-F238E27FC236}">
                <a16:creationId xmlns:a16="http://schemas.microsoft.com/office/drawing/2014/main" id="{25D74570-E1D4-3B49-9913-EB16B99A90C9}"/>
              </a:ext>
            </a:extLst>
          </p:cNvPr>
          <p:cNvCxnSpPr>
            <a:cxnSpLocks/>
          </p:cNvCxnSpPr>
          <p:nvPr/>
        </p:nvCxnSpPr>
        <p:spPr>
          <a:xfrm flipV="1">
            <a:off x="3490614" y="3100669"/>
            <a:ext cx="3176253" cy="3078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546C6FB-8A4D-6844-962A-236305BDB8FA}"/>
              </a:ext>
            </a:extLst>
          </p:cNvPr>
          <p:cNvSpPr txBox="1"/>
          <p:nvPr/>
        </p:nvSpPr>
        <p:spPr>
          <a:xfrm>
            <a:off x="6753286" y="2858759"/>
            <a:ext cx="4450250" cy="276999"/>
          </a:xfrm>
          <a:prstGeom prst="rect">
            <a:avLst/>
          </a:prstGeom>
          <a:noFill/>
        </p:spPr>
        <p:txBody>
          <a:bodyPr wrap="square" rtlCol="0">
            <a:spAutoFit/>
          </a:bodyPr>
          <a:lstStyle/>
          <a:p>
            <a:r>
              <a:rPr lang="nl-NL" sz="1200" dirty="0"/>
              <a:t>De </a:t>
            </a:r>
            <a:r>
              <a:rPr lang="nl-NL" sz="1200" dirty="0" err="1">
                <a:latin typeface="Courier New" panose="02070309020205020404" pitchFamily="49" charset="0"/>
                <a:cs typeface="Courier New" panose="02070309020205020404" pitchFamily="49" charset="0"/>
              </a:rPr>
              <a:t>std</a:t>
            </a:r>
            <a:r>
              <a:rPr lang="nl-NL" sz="1200" dirty="0">
                <a:latin typeface="Courier New" panose="02070309020205020404" pitchFamily="49" charset="0"/>
                <a:cs typeface="Courier New" panose="02070309020205020404" pitchFamily="49" charset="0"/>
              </a:rPr>
              <a:t>()</a:t>
            </a:r>
            <a:r>
              <a:rPr lang="nl-NL" sz="1200" dirty="0"/>
              <a:t> functie berekent de standaarddeviatie (zie </a:t>
            </a:r>
            <a:r>
              <a:rPr lang="nl-NL" sz="1200" dirty="0" err="1"/>
              <a:t>NumPy</a:t>
            </a:r>
            <a:r>
              <a:rPr lang="nl-NL" sz="1200" dirty="0"/>
              <a:t>)</a:t>
            </a:r>
          </a:p>
        </p:txBody>
      </p:sp>
    </p:spTree>
    <p:extLst>
      <p:ext uri="{BB962C8B-B14F-4D97-AF65-F5344CB8AC3E}">
        <p14:creationId xmlns:p14="http://schemas.microsoft.com/office/powerpoint/2010/main" val="7878540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4F2A0D-05CB-6B47-A06E-C131530F353F}"/>
              </a:ext>
            </a:extLst>
          </p:cNvPr>
          <p:cNvSpPr>
            <a:spLocks noGrp="1"/>
          </p:cNvSpPr>
          <p:nvPr>
            <p:ph idx="1"/>
          </p:nvPr>
        </p:nvSpPr>
        <p:spPr/>
        <p:txBody>
          <a:bodyPr>
            <a:normAutofit/>
          </a:bodyPr>
          <a:lstStyle/>
          <a:p>
            <a:r>
              <a:rPr lang="nl-NL" sz="2000" dirty="0"/>
              <a:t>Verwijder alle rijen voor provincies die in minder dan 8% van de gevallen voorkomen</a:t>
            </a:r>
          </a:p>
          <a:p>
            <a:endParaRPr lang="nl-NL" sz="2000" dirty="0"/>
          </a:p>
        </p:txBody>
      </p:sp>
      <p:sp>
        <p:nvSpPr>
          <p:cNvPr id="4" name="Slide Number Placeholder 3">
            <a:extLst>
              <a:ext uri="{FF2B5EF4-FFF2-40B4-BE49-F238E27FC236}">
                <a16:creationId xmlns:a16="http://schemas.microsoft.com/office/drawing/2014/main" id="{4FEDF4A5-72B4-2E44-8AF5-0AA0725F0DA5}"/>
              </a:ext>
            </a:extLst>
          </p:cNvPr>
          <p:cNvSpPr>
            <a:spLocks noGrp="1"/>
          </p:cNvSpPr>
          <p:nvPr>
            <p:ph type="sldNum" sz="quarter" idx="12"/>
          </p:nvPr>
        </p:nvSpPr>
        <p:spPr/>
        <p:txBody>
          <a:bodyPr/>
          <a:lstStyle/>
          <a:p>
            <a:fld id="{D270EDC2-4F5E-5547-954F-5222C286AC2A}" type="slidenum">
              <a:rPr lang="nl-NL" smtClean="0"/>
              <a:t>60</a:t>
            </a:fld>
            <a:endParaRPr lang="nl-NL" dirty="0"/>
          </a:p>
        </p:txBody>
      </p:sp>
      <p:sp>
        <p:nvSpPr>
          <p:cNvPr id="2" name="Title 1">
            <a:extLst>
              <a:ext uri="{FF2B5EF4-FFF2-40B4-BE49-F238E27FC236}">
                <a16:creationId xmlns:a16="http://schemas.microsoft.com/office/drawing/2014/main" id="{8D84DF41-8C58-DD4D-B0A7-FADA55CE27DF}"/>
              </a:ext>
            </a:extLst>
          </p:cNvPr>
          <p:cNvSpPr>
            <a:spLocks noGrp="1"/>
          </p:cNvSpPr>
          <p:nvPr>
            <p:ph type="title"/>
          </p:nvPr>
        </p:nvSpPr>
        <p:spPr/>
        <p:txBody>
          <a:bodyPr/>
          <a:lstStyle/>
          <a:p>
            <a:r>
              <a:rPr lang="nl-NL" dirty="0" err="1"/>
              <a:t>Use</a:t>
            </a:r>
            <a:r>
              <a:rPr lang="nl-NL" dirty="0"/>
              <a:t> case 3</a:t>
            </a:r>
          </a:p>
        </p:txBody>
      </p:sp>
      <p:sp>
        <p:nvSpPr>
          <p:cNvPr id="5" name="Rectangle 4">
            <a:extLst>
              <a:ext uri="{FF2B5EF4-FFF2-40B4-BE49-F238E27FC236}">
                <a16:creationId xmlns:a16="http://schemas.microsoft.com/office/drawing/2014/main" id="{C7208522-A5B7-9145-B8C7-C4375F21F243}"/>
              </a:ext>
            </a:extLst>
          </p:cNvPr>
          <p:cNvSpPr/>
          <p:nvPr/>
        </p:nvSpPr>
        <p:spPr>
          <a:xfrm>
            <a:off x="346363" y="4001294"/>
            <a:ext cx="4892388" cy="1107996"/>
          </a:xfrm>
          <a:prstGeom prst="rect">
            <a:avLst/>
          </a:prstGeom>
          <a:ln>
            <a:solidFill>
              <a:schemeClr val="tx1"/>
            </a:solidFill>
          </a:ln>
        </p:spPr>
        <p:txBody>
          <a:bodyPr wrap="square">
            <a:spAutoFit/>
          </a:bodyPr>
          <a:lstStyle/>
          <a:p>
            <a:r>
              <a:rPr lang="nl-NL" sz="1100" dirty="0">
                <a:solidFill>
                  <a:srgbClr val="8888C6"/>
                </a:solidFill>
              </a:rPr>
              <a:t>print</a:t>
            </a:r>
            <a:r>
              <a:rPr lang="nl-NL" sz="1100" dirty="0"/>
              <a:t>(</a:t>
            </a:r>
            <a:r>
              <a:rPr lang="nl-NL" sz="1100" dirty="0">
                <a:solidFill>
                  <a:srgbClr val="6A8759"/>
                </a:solidFill>
              </a:rPr>
              <a:t>'Aanwezigheden in dataframe met </a:t>
            </a:r>
            <a:r>
              <a:rPr lang="nl-NL" sz="1100" dirty="0" err="1">
                <a:solidFill>
                  <a:srgbClr val="6A8759"/>
                </a:solidFill>
              </a:rPr>
              <a:t>infrequente</a:t>
            </a:r>
            <a:r>
              <a:rPr lang="nl-NL" sz="1100" dirty="0">
                <a:solidFill>
                  <a:srgbClr val="6A8759"/>
                </a:solidFill>
              </a:rPr>
              <a:t> provincies:</a:t>
            </a:r>
            <a:r>
              <a:rPr lang="nl-NL" sz="1100" dirty="0">
                <a:solidFill>
                  <a:srgbClr val="CC7832"/>
                </a:solidFill>
              </a:rPr>
              <a:t>\n</a:t>
            </a:r>
            <a:r>
              <a:rPr lang="nl-NL" sz="1100" dirty="0">
                <a:solidFill>
                  <a:srgbClr val="6A8759"/>
                </a:solidFill>
              </a:rPr>
              <a:t>'</a:t>
            </a:r>
            <a:r>
              <a:rPr lang="nl-NL" sz="1100" dirty="0">
                <a:solidFill>
                  <a:srgbClr val="CC7832"/>
                </a:solidFill>
              </a:rPr>
              <a:t>, </a:t>
            </a:r>
            <a:r>
              <a:rPr lang="nl-NL" sz="1100" dirty="0" err="1"/>
              <a:t>df</a:t>
            </a:r>
            <a:r>
              <a:rPr lang="nl-NL" sz="1100" dirty="0"/>
              <a:t>[</a:t>
            </a:r>
            <a:r>
              <a:rPr lang="nl-NL" sz="1100" dirty="0">
                <a:solidFill>
                  <a:srgbClr val="6A8759"/>
                </a:solidFill>
              </a:rPr>
              <a:t>'PROVINCE'</a:t>
            </a:r>
            <a:r>
              <a:rPr lang="nl-NL" sz="1100" dirty="0"/>
              <a:t>].</a:t>
            </a:r>
            <a:r>
              <a:rPr lang="nl-NL" sz="1100" dirty="0" err="1"/>
              <a:t>value_counts</a:t>
            </a:r>
            <a:r>
              <a:rPr lang="nl-NL" sz="1100" dirty="0"/>
              <a:t>(</a:t>
            </a:r>
            <a:r>
              <a:rPr lang="nl-NL" sz="1100" dirty="0" err="1">
                <a:solidFill>
                  <a:srgbClr val="AA4926"/>
                </a:solidFill>
              </a:rPr>
              <a:t>normalize</a:t>
            </a:r>
            <a:r>
              <a:rPr lang="nl-NL" sz="1100" dirty="0"/>
              <a:t>=</a:t>
            </a:r>
            <a:r>
              <a:rPr lang="nl-NL" sz="1100" dirty="0">
                <a:solidFill>
                  <a:srgbClr val="CC7832"/>
                </a:solidFill>
              </a:rPr>
              <a:t>True</a:t>
            </a:r>
            <a:r>
              <a:rPr lang="nl-NL" sz="1100" dirty="0"/>
              <a:t>))</a:t>
            </a:r>
          </a:p>
          <a:p>
            <a:br>
              <a:rPr lang="nl-NL" sz="1100" dirty="0"/>
            </a:br>
            <a:r>
              <a:rPr lang="nl-NL" sz="1100" dirty="0" err="1"/>
              <a:t>value_counts</a:t>
            </a:r>
            <a:r>
              <a:rPr lang="nl-NL" sz="1100" dirty="0"/>
              <a:t> = </a:t>
            </a:r>
            <a:r>
              <a:rPr lang="nl-NL" sz="1100" dirty="0" err="1"/>
              <a:t>df</a:t>
            </a:r>
            <a:r>
              <a:rPr lang="nl-NL" sz="1100" dirty="0"/>
              <a:t>[</a:t>
            </a:r>
            <a:r>
              <a:rPr lang="nl-NL" sz="1100" dirty="0">
                <a:solidFill>
                  <a:srgbClr val="6A8759"/>
                </a:solidFill>
              </a:rPr>
              <a:t>'PROVINCE'</a:t>
            </a:r>
            <a:r>
              <a:rPr lang="nl-NL" sz="1100" dirty="0"/>
              <a:t>].</a:t>
            </a:r>
            <a:r>
              <a:rPr lang="nl-NL" sz="1100" dirty="0" err="1"/>
              <a:t>value_counts</a:t>
            </a:r>
            <a:r>
              <a:rPr lang="nl-NL" sz="1100" dirty="0"/>
              <a:t>(</a:t>
            </a:r>
            <a:r>
              <a:rPr lang="nl-NL" sz="1100" dirty="0" err="1">
                <a:solidFill>
                  <a:srgbClr val="AA4926"/>
                </a:solidFill>
              </a:rPr>
              <a:t>normalize</a:t>
            </a:r>
            <a:r>
              <a:rPr lang="nl-NL" sz="1100" dirty="0"/>
              <a:t>=</a:t>
            </a:r>
            <a:r>
              <a:rPr lang="nl-NL" sz="1100" dirty="0">
                <a:solidFill>
                  <a:srgbClr val="CC7832"/>
                </a:solidFill>
              </a:rPr>
              <a:t>True</a:t>
            </a:r>
            <a:r>
              <a:rPr lang="nl-NL" sz="1100" dirty="0"/>
              <a:t>)</a:t>
            </a:r>
            <a:br>
              <a:rPr lang="nl-NL" sz="1100" dirty="0"/>
            </a:br>
            <a:r>
              <a:rPr lang="nl-NL" sz="1100" dirty="0" err="1"/>
              <a:t>te_behouden</a:t>
            </a:r>
            <a:r>
              <a:rPr lang="nl-NL" sz="1100" dirty="0"/>
              <a:t> = </a:t>
            </a:r>
            <a:r>
              <a:rPr lang="nl-NL" sz="1100" dirty="0" err="1"/>
              <a:t>value_counts</a:t>
            </a:r>
            <a:r>
              <a:rPr lang="nl-NL" sz="1100" dirty="0"/>
              <a:t>[</a:t>
            </a:r>
            <a:r>
              <a:rPr lang="nl-NL" sz="1100" dirty="0" err="1"/>
              <a:t>value_counts</a:t>
            </a:r>
            <a:r>
              <a:rPr lang="nl-NL" sz="1100" dirty="0"/>
              <a:t> &gt; </a:t>
            </a:r>
            <a:r>
              <a:rPr lang="nl-NL" sz="1100" dirty="0">
                <a:solidFill>
                  <a:srgbClr val="6897BB"/>
                </a:solidFill>
              </a:rPr>
              <a:t>0.08</a:t>
            </a:r>
            <a:r>
              <a:rPr lang="nl-NL" sz="1100" dirty="0"/>
              <a:t>]</a:t>
            </a:r>
            <a:br>
              <a:rPr lang="nl-NL" sz="1100" dirty="0"/>
            </a:br>
            <a:r>
              <a:rPr lang="nl-NL" sz="1100" dirty="0">
                <a:solidFill>
                  <a:srgbClr val="8888C6"/>
                </a:solidFill>
              </a:rPr>
              <a:t>print</a:t>
            </a:r>
            <a:r>
              <a:rPr lang="nl-NL" sz="1100" dirty="0"/>
              <a:t>(</a:t>
            </a:r>
            <a:r>
              <a:rPr lang="nl-NL" sz="1100" dirty="0">
                <a:solidFill>
                  <a:srgbClr val="6A8759"/>
                </a:solidFill>
              </a:rPr>
              <a:t>'Te behouden:</a:t>
            </a:r>
            <a:r>
              <a:rPr lang="nl-NL" sz="1100" dirty="0">
                <a:solidFill>
                  <a:srgbClr val="CC7832"/>
                </a:solidFill>
              </a:rPr>
              <a:t>\n</a:t>
            </a:r>
            <a:r>
              <a:rPr lang="nl-NL" sz="1100" dirty="0">
                <a:solidFill>
                  <a:srgbClr val="6A8759"/>
                </a:solidFill>
              </a:rPr>
              <a:t>'</a:t>
            </a:r>
            <a:r>
              <a:rPr lang="nl-NL" sz="1100" dirty="0">
                <a:solidFill>
                  <a:srgbClr val="CC7832"/>
                </a:solidFill>
              </a:rPr>
              <a:t>, </a:t>
            </a:r>
            <a:r>
              <a:rPr lang="nl-NL" sz="1100" dirty="0" err="1"/>
              <a:t>te_behouden</a:t>
            </a:r>
            <a:r>
              <a:rPr lang="nl-NL" sz="1100" dirty="0"/>
              <a:t>)</a:t>
            </a:r>
          </a:p>
        </p:txBody>
      </p:sp>
      <p:sp>
        <p:nvSpPr>
          <p:cNvPr id="6" name="Rectangle 5">
            <a:extLst>
              <a:ext uri="{FF2B5EF4-FFF2-40B4-BE49-F238E27FC236}">
                <a16:creationId xmlns:a16="http://schemas.microsoft.com/office/drawing/2014/main" id="{58769706-FDB1-4240-9D57-66893E3A51C8}"/>
              </a:ext>
            </a:extLst>
          </p:cNvPr>
          <p:cNvSpPr/>
          <p:nvPr/>
        </p:nvSpPr>
        <p:spPr>
          <a:xfrm>
            <a:off x="6556662" y="2333685"/>
            <a:ext cx="4587587" cy="3785652"/>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Aanwezigheden in dataframe met </a:t>
            </a:r>
            <a:r>
              <a:rPr lang="nl-NL" sz="1000" dirty="0" err="1">
                <a:latin typeface="Courier New" panose="02070309020205020404" pitchFamily="49" charset="0"/>
                <a:cs typeface="Courier New" panose="02070309020205020404" pitchFamily="49" charset="0"/>
              </a:rPr>
              <a:t>infrequente</a:t>
            </a:r>
            <a:r>
              <a:rPr lang="nl-NL" sz="1000" dirty="0">
                <a:latin typeface="Courier New" panose="02070309020205020404" pitchFamily="49" charset="0"/>
                <a:cs typeface="Courier New" panose="02070309020205020404" pitchFamily="49" charset="0"/>
              </a:rPr>
              <a:t> provincies:</a:t>
            </a:r>
          </a:p>
          <a:p>
            <a:r>
              <a:rPr lang="nl-NL" sz="1000" dirty="0">
                <a:latin typeface="Courier New" panose="02070309020205020404" pitchFamily="49" charset="0"/>
                <a:cs typeface="Courier New" panose="02070309020205020404" pitchFamily="49" charset="0"/>
              </a:rPr>
              <a:t>Antwerpen         0.107718</a:t>
            </a:r>
          </a:p>
          <a:p>
            <a:r>
              <a:rPr lang="nl-NL" sz="1000" dirty="0">
                <a:latin typeface="Courier New" panose="02070309020205020404" pitchFamily="49" charset="0"/>
                <a:cs typeface="Courier New" panose="02070309020205020404" pitchFamily="49" charset="0"/>
              </a:rPr>
              <a:t>Brussels          0.105345</a:t>
            </a:r>
          </a:p>
          <a:p>
            <a:r>
              <a:rPr lang="nl-NL" sz="1000" dirty="0" err="1">
                <a:latin typeface="Courier New" panose="02070309020205020404" pitchFamily="49" charset="0"/>
                <a:cs typeface="Courier New" panose="02070309020205020404" pitchFamily="49" charset="0"/>
              </a:rPr>
              <a:t>OostVlaanderen</a:t>
            </a:r>
            <a:r>
              <a:rPr lang="nl-NL" sz="1000" dirty="0">
                <a:latin typeface="Courier New" panose="02070309020205020404" pitchFamily="49" charset="0"/>
                <a:cs typeface="Courier New" panose="02070309020205020404" pitchFamily="49" charset="0"/>
              </a:rPr>
              <a:t>    0.098950</a:t>
            </a:r>
          </a:p>
          <a:p>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0.098918</a:t>
            </a:r>
          </a:p>
          <a:p>
            <a:r>
              <a:rPr lang="nl-NL" sz="1000" dirty="0">
                <a:latin typeface="Courier New" panose="02070309020205020404" pitchFamily="49" charset="0"/>
                <a:cs typeface="Courier New" panose="02070309020205020404" pitchFamily="49" charset="0"/>
              </a:rPr>
              <a:t>Hainaut           0.098014</a:t>
            </a:r>
          </a:p>
          <a:p>
            <a:r>
              <a:rPr lang="nl-NL" sz="1000" dirty="0">
                <a:latin typeface="Courier New" panose="02070309020205020404" pitchFamily="49" charset="0"/>
                <a:cs typeface="Courier New" panose="02070309020205020404" pitchFamily="49" charset="0"/>
              </a:rPr>
              <a:t>Liège             0.093977</a:t>
            </a:r>
          </a:p>
          <a:p>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0.093218</a:t>
            </a:r>
          </a:p>
          <a:p>
            <a:r>
              <a:rPr lang="nl-NL" sz="1000" dirty="0">
                <a:latin typeface="Courier New" panose="02070309020205020404" pitchFamily="49" charset="0"/>
                <a:cs typeface="Courier New" panose="02070309020205020404" pitchFamily="49" charset="0"/>
              </a:rPr>
              <a:t>Limburg           0.091167</a:t>
            </a:r>
          </a:p>
          <a:p>
            <a:r>
              <a:rPr lang="nl-NL" sz="1000" dirty="0">
                <a:latin typeface="Courier New" panose="02070309020205020404" pitchFamily="49" charset="0"/>
                <a:cs typeface="Courier New" panose="02070309020205020404" pitchFamily="49" charset="0"/>
              </a:rPr>
              <a:t>Namur             0.075892</a:t>
            </a:r>
          </a:p>
          <a:p>
            <a:r>
              <a:rPr lang="nl-NL" sz="1000" dirty="0" err="1">
                <a:latin typeface="Courier New" panose="02070309020205020404" pitchFamily="49" charset="0"/>
                <a:cs typeface="Courier New" panose="02070309020205020404" pitchFamily="49" charset="0"/>
              </a:rPr>
              <a:t>BrabantWallon</a:t>
            </a:r>
            <a:r>
              <a:rPr lang="nl-NL" sz="1000" dirty="0">
                <a:latin typeface="Courier New" panose="02070309020205020404" pitchFamily="49" charset="0"/>
                <a:cs typeface="Courier New" panose="02070309020205020404" pitchFamily="49" charset="0"/>
              </a:rPr>
              <a:t>     0.072469</a:t>
            </a:r>
          </a:p>
          <a:p>
            <a:r>
              <a:rPr lang="nl-NL" sz="1000" dirty="0">
                <a:latin typeface="Courier New" panose="02070309020205020404" pitchFamily="49" charset="0"/>
                <a:cs typeface="Courier New" panose="02070309020205020404" pitchFamily="49" charset="0"/>
              </a:rPr>
              <a:t>Luxembourg        0.064331</a:t>
            </a:r>
          </a:p>
          <a:p>
            <a:r>
              <a:rPr lang="nl-NL" sz="1000" dirty="0">
                <a:latin typeface="Courier New" panose="02070309020205020404" pitchFamily="49" charset="0"/>
                <a:cs typeface="Courier New" panose="02070309020205020404" pitchFamily="49" charset="0"/>
              </a:rPr>
              <a:t>Name: PROVINCE, </a:t>
            </a:r>
            <a:r>
              <a:rPr lang="nl-NL" sz="1000" dirty="0" err="1">
                <a:latin typeface="Courier New" panose="02070309020205020404" pitchFamily="49" charset="0"/>
                <a:cs typeface="Courier New" panose="02070309020205020404" pitchFamily="49" charset="0"/>
              </a:rPr>
              <a:t>dtype</a:t>
            </a:r>
            <a:r>
              <a:rPr lang="nl-NL" sz="1000" dirty="0">
                <a:latin typeface="Courier New" panose="02070309020205020404" pitchFamily="49" charset="0"/>
                <a:cs typeface="Courier New" panose="02070309020205020404" pitchFamily="49" charset="0"/>
              </a:rPr>
              <a:t>: float64</a:t>
            </a:r>
          </a:p>
          <a:p>
            <a:endParaRPr lang="nl-NL" sz="1000" dirty="0">
              <a:latin typeface="Courier New" panose="02070309020205020404" pitchFamily="49" charset="0"/>
              <a:cs typeface="Courier New" panose="02070309020205020404" pitchFamily="49" charset="0"/>
            </a:endParaRPr>
          </a:p>
          <a:p>
            <a:r>
              <a:rPr lang="nl-NL" sz="1000" dirty="0">
                <a:latin typeface="Courier New" panose="02070309020205020404" pitchFamily="49" charset="0"/>
                <a:cs typeface="Courier New" panose="02070309020205020404" pitchFamily="49" charset="0"/>
              </a:rPr>
              <a:t>Te behouden:</a:t>
            </a:r>
          </a:p>
          <a:p>
            <a:r>
              <a:rPr lang="nl-NL" sz="1000" dirty="0">
                <a:latin typeface="Courier New" panose="02070309020205020404" pitchFamily="49" charset="0"/>
                <a:cs typeface="Courier New" panose="02070309020205020404" pitchFamily="49" charset="0"/>
              </a:rPr>
              <a:t>Antwerpen         0.107718</a:t>
            </a:r>
          </a:p>
          <a:p>
            <a:r>
              <a:rPr lang="nl-NL" sz="1000" dirty="0">
                <a:latin typeface="Courier New" panose="02070309020205020404" pitchFamily="49" charset="0"/>
                <a:cs typeface="Courier New" panose="02070309020205020404" pitchFamily="49" charset="0"/>
              </a:rPr>
              <a:t>Brussels          0.105345</a:t>
            </a:r>
          </a:p>
          <a:p>
            <a:r>
              <a:rPr lang="nl-NL" sz="1000" dirty="0" err="1">
                <a:latin typeface="Courier New" panose="02070309020205020404" pitchFamily="49" charset="0"/>
                <a:cs typeface="Courier New" panose="02070309020205020404" pitchFamily="49" charset="0"/>
              </a:rPr>
              <a:t>OostVlaanderen</a:t>
            </a:r>
            <a:r>
              <a:rPr lang="nl-NL" sz="1000" dirty="0">
                <a:latin typeface="Courier New" panose="02070309020205020404" pitchFamily="49" charset="0"/>
                <a:cs typeface="Courier New" panose="02070309020205020404" pitchFamily="49" charset="0"/>
              </a:rPr>
              <a:t>    0.098950</a:t>
            </a:r>
          </a:p>
          <a:p>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0.098918</a:t>
            </a:r>
          </a:p>
          <a:p>
            <a:r>
              <a:rPr lang="nl-NL" sz="1000" dirty="0">
                <a:latin typeface="Courier New" panose="02070309020205020404" pitchFamily="49" charset="0"/>
                <a:cs typeface="Courier New" panose="02070309020205020404" pitchFamily="49" charset="0"/>
              </a:rPr>
              <a:t>Hainaut           0.098014</a:t>
            </a:r>
          </a:p>
          <a:p>
            <a:r>
              <a:rPr lang="nl-NL" sz="1000" dirty="0">
                <a:latin typeface="Courier New" panose="02070309020205020404" pitchFamily="49" charset="0"/>
                <a:cs typeface="Courier New" panose="02070309020205020404" pitchFamily="49" charset="0"/>
              </a:rPr>
              <a:t>Liège             0.093977</a:t>
            </a:r>
          </a:p>
          <a:p>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0.093218</a:t>
            </a:r>
          </a:p>
          <a:p>
            <a:r>
              <a:rPr lang="nl-NL" sz="1000" dirty="0">
                <a:latin typeface="Courier New" panose="02070309020205020404" pitchFamily="49" charset="0"/>
                <a:cs typeface="Courier New" panose="02070309020205020404" pitchFamily="49" charset="0"/>
              </a:rPr>
              <a:t>Limburg           0.091167</a:t>
            </a:r>
          </a:p>
          <a:p>
            <a:r>
              <a:rPr lang="nl-NL" sz="1000" dirty="0">
                <a:latin typeface="Courier New" panose="02070309020205020404" pitchFamily="49" charset="0"/>
                <a:cs typeface="Courier New" panose="02070309020205020404" pitchFamily="49" charset="0"/>
              </a:rPr>
              <a:t>Name: PROVINCE, </a:t>
            </a:r>
            <a:r>
              <a:rPr lang="nl-NL" sz="1000" dirty="0" err="1">
                <a:latin typeface="Courier New" panose="02070309020205020404" pitchFamily="49" charset="0"/>
                <a:cs typeface="Courier New" panose="02070309020205020404" pitchFamily="49" charset="0"/>
              </a:rPr>
              <a:t>dtype</a:t>
            </a:r>
            <a:r>
              <a:rPr lang="nl-NL" sz="1000" dirty="0">
                <a:latin typeface="Courier New" panose="02070309020205020404" pitchFamily="49" charset="0"/>
                <a:cs typeface="Courier New" panose="02070309020205020404" pitchFamily="49" charset="0"/>
              </a:rPr>
              <a:t>: float64</a:t>
            </a:r>
          </a:p>
        </p:txBody>
      </p:sp>
      <p:sp>
        <p:nvSpPr>
          <p:cNvPr id="7" name="TextBox 6">
            <a:extLst>
              <a:ext uri="{FF2B5EF4-FFF2-40B4-BE49-F238E27FC236}">
                <a16:creationId xmlns:a16="http://schemas.microsoft.com/office/drawing/2014/main" id="{E731F1BD-2E89-0448-AB63-26032D4D7A78}"/>
              </a:ext>
            </a:extLst>
          </p:cNvPr>
          <p:cNvSpPr txBox="1"/>
          <p:nvPr/>
        </p:nvSpPr>
        <p:spPr>
          <a:xfrm>
            <a:off x="5513944" y="2333685"/>
            <a:ext cx="1040235"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6182CAEA-6887-E541-B702-1BC95460D4C2}"/>
              </a:ext>
            </a:extLst>
          </p:cNvPr>
          <p:cNvSpPr txBox="1"/>
          <p:nvPr/>
        </p:nvSpPr>
        <p:spPr>
          <a:xfrm>
            <a:off x="346363" y="3631962"/>
            <a:ext cx="942110"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6BFFF8BB-5A28-974E-A5D4-03F2C6D02B1F}"/>
              </a:ext>
            </a:extLst>
          </p:cNvPr>
          <p:cNvCxnSpPr>
            <a:cxnSpLocks/>
          </p:cNvCxnSpPr>
          <p:nvPr/>
        </p:nvCxnSpPr>
        <p:spPr>
          <a:xfrm>
            <a:off x="3449953" y="4901985"/>
            <a:ext cx="232757" cy="3925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5D4B87-7140-114C-B76B-5E0DBB9CC1A1}"/>
              </a:ext>
            </a:extLst>
          </p:cNvPr>
          <p:cNvSpPr txBox="1"/>
          <p:nvPr/>
        </p:nvSpPr>
        <p:spPr>
          <a:xfrm>
            <a:off x="3119870" y="5244146"/>
            <a:ext cx="2626130" cy="461665"/>
          </a:xfrm>
          <a:prstGeom prst="rect">
            <a:avLst/>
          </a:prstGeom>
          <a:noFill/>
        </p:spPr>
        <p:txBody>
          <a:bodyPr wrap="square" rtlCol="0">
            <a:spAutoFit/>
          </a:bodyPr>
          <a:lstStyle/>
          <a:p>
            <a:r>
              <a:rPr lang="nl-NL" sz="1200" dirty="0"/>
              <a:t>Vermits dit een </a:t>
            </a:r>
            <a:r>
              <a:rPr lang="nl-NL" sz="1200" dirty="0">
                <a:latin typeface="Courier New" panose="02070309020205020404" pitchFamily="49" charset="0"/>
                <a:cs typeface="Courier New" panose="02070309020205020404" pitchFamily="49" charset="0"/>
              </a:rPr>
              <a:t>Series</a:t>
            </a:r>
            <a:r>
              <a:rPr lang="nl-NL" sz="1200" dirty="0"/>
              <a:t> object is kunnen we ook filteren</a:t>
            </a:r>
          </a:p>
        </p:txBody>
      </p:sp>
    </p:spTree>
    <p:extLst>
      <p:ext uri="{BB962C8B-B14F-4D97-AF65-F5344CB8AC3E}">
        <p14:creationId xmlns:p14="http://schemas.microsoft.com/office/powerpoint/2010/main" val="2832803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4F2A0D-05CB-6B47-A06E-C131530F353F}"/>
              </a:ext>
            </a:extLst>
          </p:cNvPr>
          <p:cNvSpPr>
            <a:spLocks noGrp="1"/>
          </p:cNvSpPr>
          <p:nvPr>
            <p:ph idx="1"/>
          </p:nvPr>
        </p:nvSpPr>
        <p:spPr/>
        <p:txBody>
          <a:bodyPr>
            <a:normAutofit/>
          </a:bodyPr>
          <a:lstStyle/>
          <a:p>
            <a:r>
              <a:rPr lang="nl-NL" sz="2000" dirty="0"/>
              <a:t>Verwijder alle rijen voor provincies die minder dan in 8% van de gevallen voorkomen</a:t>
            </a:r>
          </a:p>
          <a:p>
            <a:endParaRPr lang="nl-NL" sz="2000" dirty="0"/>
          </a:p>
        </p:txBody>
      </p:sp>
      <p:sp>
        <p:nvSpPr>
          <p:cNvPr id="4" name="Slide Number Placeholder 3">
            <a:extLst>
              <a:ext uri="{FF2B5EF4-FFF2-40B4-BE49-F238E27FC236}">
                <a16:creationId xmlns:a16="http://schemas.microsoft.com/office/drawing/2014/main" id="{4FEDF4A5-72B4-2E44-8AF5-0AA0725F0DA5}"/>
              </a:ext>
            </a:extLst>
          </p:cNvPr>
          <p:cNvSpPr>
            <a:spLocks noGrp="1"/>
          </p:cNvSpPr>
          <p:nvPr>
            <p:ph type="sldNum" sz="quarter" idx="12"/>
          </p:nvPr>
        </p:nvSpPr>
        <p:spPr/>
        <p:txBody>
          <a:bodyPr/>
          <a:lstStyle/>
          <a:p>
            <a:fld id="{D270EDC2-4F5E-5547-954F-5222C286AC2A}" type="slidenum">
              <a:rPr lang="nl-NL" smtClean="0"/>
              <a:t>61</a:t>
            </a:fld>
            <a:endParaRPr lang="nl-NL" dirty="0"/>
          </a:p>
        </p:txBody>
      </p:sp>
      <p:sp>
        <p:nvSpPr>
          <p:cNvPr id="2" name="Title 1">
            <a:extLst>
              <a:ext uri="{FF2B5EF4-FFF2-40B4-BE49-F238E27FC236}">
                <a16:creationId xmlns:a16="http://schemas.microsoft.com/office/drawing/2014/main" id="{8D84DF41-8C58-DD4D-B0A7-FADA55CE27DF}"/>
              </a:ext>
            </a:extLst>
          </p:cNvPr>
          <p:cNvSpPr>
            <a:spLocks noGrp="1"/>
          </p:cNvSpPr>
          <p:nvPr>
            <p:ph type="title"/>
          </p:nvPr>
        </p:nvSpPr>
        <p:spPr/>
        <p:txBody>
          <a:bodyPr/>
          <a:lstStyle/>
          <a:p>
            <a:r>
              <a:rPr lang="nl-NL" dirty="0" err="1"/>
              <a:t>Use</a:t>
            </a:r>
            <a:r>
              <a:rPr lang="nl-NL" dirty="0"/>
              <a:t> case 3 (</a:t>
            </a:r>
            <a:r>
              <a:rPr lang="nl-NL" dirty="0" err="1"/>
              <a:t>cont</a:t>
            </a:r>
            <a:r>
              <a:rPr lang="nl-NL" dirty="0"/>
              <a:t>.)</a:t>
            </a:r>
          </a:p>
        </p:txBody>
      </p:sp>
      <p:sp>
        <p:nvSpPr>
          <p:cNvPr id="7" name="TextBox 6">
            <a:extLst>
              <a:ext uri="{FF2B5EF4-FFF2-40B4-BE49-F238E27FC236}">
                <a16:creationId xmlns:a16="http://schemas.microsoft.com/office/drawing/2014/main" id="{E731F1BD-2E89-0448-AB63-26032D4D7A78}"/>
              </a:ext>
            </a:extLst>
          </p:cNvPr>
          <p:cNvSpPr txBox="1"/>
          <p:nvPr/>
        </p:nvSpPr>
        <p:spPr>
          <a:xfrm>
            <a:off x="7291977" y="2734023"/>
            <a:ext cx="1170379" cy="369332"/>
          </a:xfrm>
          <a:prstGeom prst="rect">
            <a:avLst/>
          </a:prstGeom>
          <a:noFill/>
        </p:spPr>
        <p:txBody>
          <a:bodyPr wrap="square" rtlCol="0">
            <a:spAutoFit/>
          </a:bodyPr>
          <a:lstStyle/>
          <a:p>
            <a:r>
              <a:rPr lang="nl-NL" dirty="0"/>
              <a:t>Output:</a:t>
            </a:r>
          </a:p>
        </p:txBody>
      </p:sp>
      <p:sp>
        <p:nvSpPr>
          <p:cNvPr id="8" name="TextBox 7">
            <a:extLst>
              <a:ext uri="{FF2B5EF4-FFF2-40B4-BE49-F238E27FC236}">
                <a16:creationId xmlns:a16="http://schemas.microsoft.com/office/drawing/2014/main" id="{6182CAEA-6887-E541-B702-1BC95460D4C2}"/>
              </a:ext>
            </a:extLst>
          </p:cNvPr>
          <p:cNvSpPr txBox="1"/>
          <p:nvPr/>
        </p:nvSpPr>
        <p:spPr>
          <a:xfrm>
            <a:off x="346363" y="3631962"/>
            <a:ext cx="877637" cy="369332"/>
          </a:xfrm>
          <a:prstGeom prst="rect">
            <a:avLst/>
          </a:prstGeom>
          <a:noFill/>
        </p:spPr>
        <p:txBody>
          <a:bodyPr wrap="square" rtlCol="0">
            <a:spAutoFit/>
          </a:bodyPr>
          <a:lstStyle/>
          <a:p>
            <a:r>
              <a:rPr lang="nl-NL" dirty="0"/>
              <a:t>Code:</a:t>
            </a:r>
          </a:p>
        </p:txBody>
      </p:sp>
      <p:cxnSp>
        <p:nvCxnSpPr>
          <p:cNvPr id="9" name="Straight Arrow Connector 8">
            <a:extLst>
              <a:ext uri="{FF2B5EF4-FFF2-40B4-BE49-F238E27FC236}">
                <a16:creationId xmlns:a16="http://schemas.microsoft.com/office/drawing/2014/main" id="{6BFFF8BB-5A28-974E-A5D4-03F2C6D02B1F}"/>
              </a:ext>
            </a:extLst>
          </p:cNvPr>
          <p:cNvCxnSpPr>
            <a:cxnSpLocks/>
          </p:cNvCxnSpPr>
          <p:nvPr/>
        </p:nvCxnSpPr>
        <p:spPr>
          <a:xfrm flipH="1" flipV="1">
            <a:off x="2648858" y="3609888"/>
            <a:ext cx="759360" cy="46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5D4B87-7140-114C-B76B-5E0DBB9CC1A1}"/>
              </a:ext>
            </a:extLst>
          </p:cNvPr>
          <p:cNvSpPr txBox="1"/>
          <p:nvPr/>
        </p:nvSpPr>
        <p:spPr>
          <a:xfrm>
            <a:off x="1365905" y="2943818"/>
            <a:ext cx="2626130" cy="646331"/>
          </a:xfrm>
          <a:prstGeom prst="rect">
            <a:avLst/>
          </a:prstGeom>
          <a:noFill/>
        </p:spPr>
        <p:txBody>
          <a:bodyPr wrap="square" rtlCol="0">
            <a:spAutoFit/>
          </a:bodyPr>
          <a:lstStyle/>
          <a:p>
            <a:r>
              <a:rPr lang="nl-NL" sz="1200" dirty="0"/>
              <a:t>We zetten de index van de Series die de provincies bevat om in een lijst (dit is niet strikt noodzakelijk)</a:t>
            </a:r>
          </a:p>
        </p:txBody>
      </p:sp>
      <p:sp>
        <p:nvSpPr>
          <p:cNvPr id="13" name="Rectangle 12">
            <a:extLst>
              <a:ext uri="{FF2B5EF4-FFF2-40B4-BE49-F238E27FC236}">
                <a16:creationId xmlns:a16="http://schemas.microsoft.com/office/drawing/2014/main" id="{D4BF1259-6F28-5C4F-B69E-90C34FBF58B8}"/>
              </a:ext>
            </a:extLst>
          </p:cNvPr>
          <p:cNvSpPr/>
          <p:nvPr/>
        </p:nvSpPr>
        <p:spPr>
          <a:xfrm>
            <a:off x="346363" y="4021728"/>
            <a:ext cx="6652831" cy="1384995"/>
          </a:xfrm>
          <a:prstGeom prst="rect">
            <a:avLst/>
          </a:prstGeom>
          <a:ln>
            <a:solidFill>
              <a:schemeClr val="tx1"/>
            </a:solidFill>
          </a:ln>
        </p:spPr>
        <p:txBody>
          <a:bodyPr wrap="square">
            <a:spAutoFit/>
          </a:bodyPr>
          <a:lstStyle/>
          <a:p>
            <a:r>
              <a:rPr lang="nl-NL" sz="1200" dirty="0" err="1"/>
              <a:t>lijst_frequente_provincies</a:t>
            </a:r>
            <a:r>
              <a:rPr lang="nl-NL" sz="1200" dirty="0"/>
              <a:t> = </a:t>
            </a:r>
            <a:r>
              <a:rPr lang="nl-NL" sz="1200" dirty="0">
                <a:solidFill>
                  <a:srgbClr val="8888C6"/>
                </a:solidFill>
              </a:rPr>
              <a:t>list</a:t>
            </a:r>
            <a:r>
              <a:rPr lang="nl-NL" sz="1200" dirty="0"/>
              <a:t>(</a:t>
            </a:r>
            <a:r>
              <a:rPr lang="nl-NL" sz="1200" dirty="0" err="1"/>
              <a:t>te_behouden.index</a:t>
            </a:r>
            <a:r>
              <a:rPr lang="nl-NL" sz="1200" dirty="0"/>
              <a:t>)</a:t>
            </a:r>
            <a:br>
              <a:rPr lang="nl-NL" sz="1200" dirty="0"/>
            </a:br>
            <a:r>
              <a:rPr lang="nl-NL" sz="1200" dirty="0">
                <a:solidFill>
                  <a:srgbClr val="8888C6"/>
                </a:solidFill>
              </a:rPr>
              <a:t>print</a:t>
            </a:r>
            <a:r>
              <a:rPr lang="nl-NL" sz="1200" dirty="0"/>
              <a:t>(</a:t>
            </a:r>
            <a:r>
              <a:rPr lang="nl-NL" sz="1200" dirty="0" err="1"/>
              <a:t>lijst_frequente_provincies</a:t>
            </a:r>
            <a:r>
              <a:rPr lang="nl-NL" sz="1200" dirty="0"/>
              <a:t>)</a:t>
            </a:r>
          </a:p>
          <a:p>
            <a:br>
              <a:rPr lang="nl-NL" sz="1200" dirty="0"/>
            </a:br>
            <a:r>
              <a:rPr lang="nl-NL" sz="1200" dirty="0" err="1"/>
              <a:t>df_zonder_infrequente_provincies</a:t>
            </a:r>
            <a:r>
              <a:rPr lang="nl-NL" sz="1200" dirty="0"/>
              <a:t> = </a:t>
            </a:r>
            <a:r>
              <a:rPr lang="nl-NL" sz="1200" dirty="0" err="1"/>
              <a:t>df</a:t>
            </a:r>
            <a:r>
              <a:rPr lang="nl-NL" sz="1200" dirty="0"/>
              <a:t>[</a:t>
            </a:r>
            <a:r>
              <a:rPr lang="nl-NL" sz="1200" dirty="0" err="1"/>
              <a:t>df</a:t>
            </a:r>
            <a:r>
              <a:rPr lang="nl-NL" sz="1200" dirty="0"/>
              <a:t>[</a:t>
            </a:r>
            <a:r>
              <a:rPr lang="nl-NL" sz="1200" dirty="0">
                <a:solidFill>
                  <a:srgbClr val="6A8759"/>
                </a:solidFill>
              </a:rPr>
              <a:t>'PROVINCE'</a:t>
            </a:r>
            <a:r>
              <a:rPr lang="nl-NL" sz="1200" dirty="0"/>
              <a:t>].</a:t>
            </a:r>
            <a:r>
              <a:rPr lang="nl-NL" sz="1200" dirty="0" err="1"/>
              <a:t>isin</a:t>
            </a:r>
            <a:r>
              <a:rPr lang="nl-NL" sz="1200" dirty="0"/>
              <a:t>(</a:t>
            </a:r>
            <a:r>
              <a:rPr lang="nl-NL" sz="1200" dirty="0" err="1"/>
              <a:t>lijst_frequente_provincies</a:t>
            </a:r>
            <a:r>
              <a:rPr lang="nl-NL" sz="1200" dirty="0"/>
              <a:t>)]</a:t>
            </a:r>
          </a:p>
          <a:p>
            <a:br>
              <a:rPr lang="nl-NL" sz="1200" dirty="0"/>
            </a:br>
            <a:r>
              <a:rPr lang="nl-NL" sz="1200" dirty="0">
                <a:solidFill>
                  <a:srgbClr val="8888C6"/>
                </a:solidFill>
              </a:rPr>
              <a:t>print</a:t>
            </a:r>
            <a:r>
              <a:rPr lang="nl-NL" sz="1200" dirty="0"/>
              <a:t>(</a:t>
            </a:r>
            <a:r>
              <a:rPr lang="nl-NL" sz="1200" dirty="0">
                <a:solidFill>
                  <a:srgbClr val="6A8759"/>
                </a:solidFill>
              </a:rPr>
              <a:t>'Aanwezigheden zonder </a:t>
            </a:r>
            <a:r>
              <a:rPr lang="nl-NL" sz="1200" dirty="0" err="1">
                <a:solidFill>
                  <a:srgbClr val="6A8759"/>
                </a:solidFill>
              </a:rPr>
              <a:t>infrequente</a:t>
            </a:r>
            <a:r>
              <a:rPr lang="nl-NL" sz="1200" dirty="0">
                <a:solidFill>
                  <a:srgbClr val="6A8759"/>
                </a:solidFill>
              </a:rPr>
              <a:t> provincies:</a:t>
            </a:r>
            <a:r>
              <a:rPr lang="nl-NL" sz="1200" dirty="0">
                <a:solidFill>
                  <a:srgbClr val="CC7832"/>
                </a:solidFill>
              </a:rPr>
              <a:t>\n</a:t>
            </a:r>
            <a:r>
              <a:rPr lang="nl-NL" sz="1200" dirty="0">
                <a:solidFill>
                  <a:srgbClr val="6A8759"/>
                </a:solidFill>
              </a:rPr>
              <a:t>'</a:t>
            </a:r>
            <a:r>
              <a:rPr lang="nl-NL" sz="1200" dirty="0">
                <a:solidFill>
                  <a:srgbClr val="CC7832"/>
                </a:solidFill>
              </a:rPr>
              <a:t>, </a:t>
            </a:r>
            <a:r>
              <a:rPr lang="nl-NL" sz="1200" dirty="0" err="1"/>
              <a:t>df_zonder_infrequente_provincies</a:t>
            </a:r>
            <a:r>
              <a:rPr lang="nl-NL" sz="1200" dirty="0"/>
              <a:t>[</a:t>
            </a:r>
            <a:r>
              <a:rPr lang="nl-NL" sz="1200" dirty="0">
                <a:solidFill>
                  <a:srgbClr val="6A8759"/>
                </a:solidFill>
              </a:rPr>
              <a:t>'PROVINCE'</a:t>
            </a:r>
            <a:r>
              <a:rPr lang="nl-NL" sz="1200" dirty="0"/>
              <a:t>].</a:t>
            </a:r>
            <a:r>
              <a:rPr lang="nl-NL" sz="1200" dirty="0" err="1"/>
              <a:t>value_counts</a:t>
            </a:r>
            <a:r>
              <a:rPr lang="nl-NL" sz="1200" dirty="0"/>
              <a:t>(</a:t>
            </a:r>
            <a:r>
              <a:rPr lang="nl-NL" sz="1200" dirty="0" err="1">
                <a:solidFill>
                  <a:srgbClr val="AA4926"/>
                </a:solidFill>
              </a:rPr>
              <a:t>normalize</a:t>
            </a:r>
            <a:r>
              <a:rPr lang="nl-NL" sz="1200" dirty="0"/>
              <a:t>=</a:t>
            </a:r>
            <a:r>
              <a:rPr lang="nl-NL" sz="1200" dirty="0">
                <a:solidFill>
                  <a:srgbClr val="CC7832"/>
                </a:solidFill>
              </a:rPr>
              <a:t>True</a:t>
            </a:r>
            <a:r>
              <a:rPr lang="nl-NL" sz="1200" dirty="0"/>
              <a:t>))</a:t>
            </a:r>
          </a:p>
        </p:txBody>
      </p:sp>
      <p:sp>
        <p:nvSpPr>
          <p:cNvPr id="14" name="Rectangle 13">
            <a:extLst>
              <a:ext uri="{FF2B5EF4-FFF2-40B4-BE49-F238E27FC236}">
                <a16:creationId xmlns:a16="http://schemas.microsoft.com/office/drawing/2014/main" id="{C4EB38E2-6AED-2C43-9B12-2156F94BAEFA}"/>
              </a:ext>
            </a:extLst>
          </p:cNvPr>
          <p:cNvSpPr/>
          <p:nvPr/>
        </p:nvSpPr>
        <p:spPr>
          <a:xfrm>
            <a:off x="7285741" y="3084591"/>
            <a:ext cx="4445780" cy="2246769"/>
          </a:xfrm>
          <a:prstGeom prst="rect">
            <a:avLst/>
          </a:prstGeom>
          <a:ln>
            <a:solidFill>
              <a:schemeClr val="tx1"/>
            </a:solidFill>
          </a:ln>
        </p:spPr>
        <p:txBody>
          <a:bodyPr wrap="square">
            <a:spAutoFit/>
          </a:bodyPr>
          <a:lstStyle/>
          <a:p>
            <a:r>
              <a:rPr lang="nl-NL" sz="1000" dirty="0">
                <a:latin typeface="Courier New" panose="02070309020205020404" pitchFamily="49" charset="0"/>
                <a:cs typeface="Courier New" panose="02070309020205020404" pitchFamily="49" charset="0"/>
              </a:rPr>
              <a:t>['Antwerpen', 'Brussels', '</a:t>
            </a:r>
            <a:r>
              <a:rPr lang="nl-NL" sz="1000" dirty="0" err="1">
                <a:latin typeface="Courier New" panose="02070309020205020404" pitchFamily="49" charset="0"/>
                <a:cs typeface="Courier New" panose="02070309020205020404" pitchFamily="49" charset="0"/>
              </a:rPr>
              <a:t>OostVlaanderen</a:t>
            </a:r>
            <a:r>
              <a:rPr lang="nl-NL" sz="1000" dirty="0">
                <a:latin typeface="Courier New" panose="02070309020205020404" pitchFamily="49" charset="0"/>
                <a:cs typeface="Courier New" panose="02070309020205020404" pitchFamily="49" charset="0"/>
              </a:rPr>
              <a:t>', '</a:t>
            </a:r>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'Hainaut', 'Liège', '</a:t>
            </a:r>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'Limburg’]</a:t>
            </a:r>
          </a:p>
          <a:p>
            <a:endParaRPr lang="nl-NL" sz="1000" dirty="0">
              <a:latin typeface="Courier New" panose="02070309020205020404" pitchFamily="49" charset="0"/>
              <a:cs typeface="Courier New" panose="02070309020205020404" pitchFamily="49" charset="0"/>
            </a:endParaRPr>
          </a:p>
          <a:p>
            <a:r>
              <a:rPr lang="nl-NL" sz="1000" dirty="0">
                <a:latin typeface="Courier New" panose="02070309020205020404" pitchFamily="49" charset="0"/>
                <a:cs typeface="Courier New" panose="02070309020205020404" pitchFamily="49" charset="0"/>
              </a:rPr>
              <a:t>Aanwezigheden zonder </a:t>
            </a:r>
            <a:r>
              <a:rPr lang="nl-NL" sz="1000" dirty="0" err="1">
                <a:latin typeface="Courier New" panose="02070309020205020404" pitchFamily="49" charset="0"/>
                <a:cs typeface="Courier New" panose="02070309020205020404" pitchFamily="49" charset="0"/>
              </a:rPr>
              <a:t>infrequente</a:t>
            </a:r>
            <a:r>
              <a:rPr lang="nl-NL" sz="1000" dirty="0">
                <a:latin typeface="Courier New" panose="02070309020205020404" pitchFamily="49" charset="0"/>
                <a:cs typeface="Courier New" panose="02070309020205020404" pitchFamily="49" charset="0"/>
              </a:rPr>
              <a:t> provincies:</a:t>
            </a:r>
          </a:p>
          <a:p>
            <a:r>
              <a:rPr lang="nl-NL" sz="1000" dirty="0">
                <a:latin typeface="Courier New" panose="02070309020205020404" pitchFamily="49" charset="0"/>
                <a:cs typeface="Courier New" panose="02070309020205020404" pitchFamily="49" charset="0"/>
              </a:rPr>
              <a:t>Antwerpen         0.136819</a:t>
            </a:r>
          </a:p>
          <a:p>
            <a:r>
              <a:rPr lang="nl-NL" sz="1000" dirty="0">
                <a:latin typeface="Courier New" panose="02070309020205020404" pitchFamily="49" charset="0"/>
                <a:cs typeface="Courier New" panose="02070309020205020404" pitchFamily="49" charset="0"/>
              </a:rPr>
              <a:t>Brussels          0.133804</a:t>
            </a:r>
          </a:p>
          <a:p>
            <a:r>
              <a:rPr lang="nl-NL" sz="1000" dirty="0" err="1">
                <a:latin typeface="Courier New" panose="02070309020205020404" pitchFamily="49" charset="0"/>
                <a:cs typeface="Courier New" panose="02070309020205020404" pitchFamily="49" charset="0"/>
              </a:rPr>
              <a:t>OostVlaanderen</a:t>
            </a:r>
            <a:r>
              <a:rPr lang="nl-NL" sz="1000" dirty="0">
                <a:latin typeface="Courier New" panose="02070309020205020404" pitchFamily="49" charset="0"/>
                <a:cs typeface="Courier New" panose="02070309020205020404" pitchFamily="49" charset="0"/>
              </a:rPr>
              <a:t>    0.125682</a:t>
            </a:r>
          </a:p>
          <a:p>
            <a:r>
              <a:rPr lang="nl-NL" sz="1000" dirty="0" err="1">
                <a:latin typeface="Courier New" panose="02070309020205020404" pitchFamily="49" charset="0"/>
                <a:cs typeface="Courier New" panose="02070309020205020404" pitchFamily="49" charset="0"/>
              </a:rPr>
              <a:t>WestVlaanderen</a:t>
            </a:r>
            <a:r>
              <a:rPr lang="nl-NL" sz="1000" dirty="0">
                <a:latin typeface="Courier New" panose="02070309020205020404" pitchFamily="49" charset="0"/>
                <a:cs typeface="Courier New" panose="02070309020205020404" pitchFamily="49" charset="0"/>
              </a:rPr>
              <a:t>    0.125641</a:t>
            </a:r>
          </a:p>
          <a:p>
            <a:r>
              <a:rPr lang="nl-NL" sz="1000" dirty="0">
                <a:latin typeface="Courier New" panose="02070309020205020404" pitchFamily="49" charset="0"/>
                <a:cs typeface="Courier New" panose="02070309020205020404" pitchFamily="49" charset="0"/>
              </a:rPr>
              <a:t>Hainaut           0.124492</a:t>
            </a:r>
          </a:p>
          <a:p>
            <a:r>
              <a:rPr lang="nl-NL" sz="1000" dirty="0">
                <a:latin typeface="Courier New" panose="02070309020205020404" pitchFamily="49" charset="0"/>
                <a:cs typeface="Courier New" panose="02070309020205020404" pitchFamily="49" charset="0"/>
              </a:rPr>
              <a:t>Liège             0.119365</a:t>
            </a:r>
          </a:p>
          <a:p>
            <a:r>
              <a:rPr lang="nl-NL" sz="1000" dirty="0" err="1">
                <a:latin typeface="Courier New" panose="02070309020205020404" pitchFamily="49" charset="0"/>
                <a:cs typeface="Courier New" panose="02070309020205020404" pitchFamily="49" charset="0"/>
              </a:rPr>
              <a:t>VlaamsBrabant</a:t>
            </a:r>
            <a:r>
              <a:rPr lang="nl-NL" sz="1000" dirty="0">
                <a:latin typeface="Courier New" panose="02070309020205020404" pitchFamily="49" charset="0"/>
                <a:cs typeface="Courier New" panose="02070309020205020404" pitchFamily="49" charset="0"/>
              </a:rPr>
              <a:t>     0.118401</a:t>
            </a:r>
          </a:p>
          <a:p>
            <a:r>
              <a:rPr lang="nl-NL" sz="1000" dirty="0">
                <a:latin typeface="Courier New" panose="02070309020205020404" pitchFamily="49" charset="0"/>
                <a:cs typeface="Courier New" panose="02070309020205020404" pitchFamily="49" charset="0"/>
              </a:rPr>
              <a:t>Limburg           0.115796</a:t>
            </a:r>
          </a:p>
          <a:p>
            <a:r>
              <a:rPr lang="nl-NL" sz="1000" dirty="0">
                <a:latin typeface="Courier New" panose="02070309020205020404" pitchFamily="49" charset="0"/>
                <a:cs typeface="Courier New" panose="02070309020205020404" pitchFamily="49" charset="0"/>
              </a:rPr>
              <a:t>Name: PROVINCE, </a:t>
            </a:r>
            <a:r>
              <a:rPr lang="nl-NL" sz="1000" dirty="0" err="1">
                <a:latin typeface="Courier New" panose="02070309020205020404" pitchFamily="49" charset="0"/>
                <a:cs typeface="Courier New" panose="02070309020205020404" pitchFamily="49" charset="0"/>
              </a:rPr>
              <a:t>dtype</a:t>
            </a:r>
            <a:r>
              <a:rPr lang="nl-NL" sz="1000" dirty="0">
                <a:latin typeface="Courier New" panose="02070309020205020404" pitchFamily="49" charset="0"/>
                <a:cs typeface="Courier New" panose="02070309020205020404" pitchFamily="49" charset="0"/>
              </a:rPr>
              <a:t>: float64</a:t>
            </a:r>
          </a:p>
        </p:txBody>
      </p:sp>
      <p:cxnSp>
        <p:nvCxnSpPr>
          <p:cNvPr id="17" name="Straight Arrow Connector 16">
            <a:extLst>
              <a:ext uri="{FF2B5EF4-FFF2-40B4-BE49-F238E27FC236}">
                <a16:creationId xmlns:a16="http://schemas.microsoft.com/office/drawing/2014/main" id="{AD96A94D-71A4-6A44-AD65-470DF44621C4}"/>
              </a:ext>
            </a:extLst>
          </p:cNvPr>
          <p:cNvCxnSpPr>
            <a:cxnSpLocks/>
          </p:cNvCxnSpPr>
          <p:nvPr/>
        </p:nvCxnSpPr>
        <p:spPr>
          <a:xfrm flipV="1">
            <a:off x="4281890" y="3540331"/>
            <a:ext cx="500050" cy="10634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09DE3C9-133A-F94D-B4C1-9D0F3686B4CE}"/>
              </a:ext>
            </a:extLst>
          </p:cNvPr>
          <p:cNvSpPr txBox="1"/>
          <p:nvPr/>
        </p:nvSpPr>
        <p:spPr>
          <a:xfrm>
            <a:off x="4281890" y="2734023"/>
            <a:ext cx="2626130" cy="830997"/>
          </a:xfrm>
          <a:prstGeom prst="rect">
            <a:avLst/>
          </a:prstGeom>
          <a:noFill/>
        </p:spPr>
        <p:txBody>
          <a:bodyPr wrap="square" rtlCol="0">
            <a:spAutoFit/>
          </a:bodyPr>
          <a:lstStyle/>
          <a:p>
            <a:r>
              <a:rPr lang="nl-NL" sz="1200" dirty="0"/>
              <a:t>Zo kunnen we de </a:t>
            </a:r>
            <a:r>
              <a:rPr lang="nl-NL" sz="1200" dirty="0" err="1">
                <a:latin typeface="Courier New" panose="02070309020205020404" pitchFamily="49" charset="0"/>
                <a:cs typeface="Courier New" panose="02070309020205020404" pitchFamily="49" charset="0"/>
              </a:rPr>
              <a:t>isin</a:t>
            </a:r>
            <a:r>
              <a:rPr lang="nl-NL" sz="1200" dirty="0">
                <a:latin typeface="Courier New" panose="02070309020205020404" pitchFamily="49" charset="0"/>
                <a:cs typeface="Courier New" panose="02070309020205020404" pitchFamily="49" charset="0"/>
              </a:rPr>
              <a:t>()</a:t>
            </a:r>
            <a:r>
              <a:rPr lang="nl-NL" sz="1200" dirty="0"/>
              <a:t> methode van </a:t>
            </a:r>
            <a:r>
              <a:rPr lang="nl-NL" sz="1200" dirty="0" err="1"/>
              <a:t>DataFrames</a:t>
            </a:r>
            <a:r>
              <a:rPr lang="nl-NL" sz="1200" dirty="0"/>
              <a:t> gebruiken waarvoor een </a:t>
            </a:r>
            <a:r>
              <a:rPr lang="nl-NL" sz="1200" dirty="0" err="1"/>
              <a:t>itereerbaar</a:t>
            </a:r>
            <a:r>
              <a:rPr lang="nl-NL" sz="1200" dirty="0"/>
              <a:t> object nodig is</a:t>
            </a:r>
          </a:p>
        </p:txBody>
      </p:sp>
    </p:spTree>
    <p:extLst>
      <p:ext uri="{BB962C8B-B14F-4D97-AF65-F5344CB8AC3E}">
        <p14:creationId xmlns:p14="http://schemas.microsoft.com/office/powerpoint/2010/main" val="538813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7C18E4-69B3-7745-A57B-10E4766BDC98}"/>
              </a:ext>
            </a:extLst>
          </p:cNvPr>
          <p:cNvSpPr>
            <a:spLocks noGrp="1"/>
          </p:cNvSpPr>
          <p:nvPr>
            <p:ph type="ctrTitle"/>
          </p:nvPr>
        </p:nvSpPr>
        <p:spPr/>
        <p:txBody>
          <a:bodyPr/>
          <a:lstStyle/>
          <a:p>
            <a:r>
              <a:rPr lang="nl-NL" noProof="0" dirty="0"/>
              <a:t>Marketingvoorbeelden</a:t>
            </a:r>
          </a:p>
        </p:txBody>
      </p:sp>
      <p:sp>
        <p:nvSpPr>
          <p:cNvPr id="8" name="Subtitle 7">
            <a:extLst>
              <a:ext uri="{FF2B5EF4-FFF2-40B4-BE49-F238E27FC236}">
                <a16:creationId xmlns:a16="http://schemas.microsoft.com/office/drawing/2014/main" id="{B53618F0-C113-3E4E-98C4-0FC2DCCCA6E0}"/>
              </a:ext>
            </a:extLst>
          </p:cNvPr>
          <p:cNvSpPr>
            <a:spLocks noGrp="1"/>
          </p:cNvSpPr>
          <p:nvPr>
            <p:ph type="subTitle" idx="1"/>
          </p:nvPr>
        </p:nvSpPr>
        <p:spPr/>
        <p:txBody>
          <a:bodyPr/>
          <a:lstStyle/>
          <a:p>
            <a:r>
              <a:rPr lang="nl-NL" dirty="0"/>
              <a:t>1B.5-marketing_voorbeelden.</a:t>
            </a:r>
            <a:r>
              <a:rPr lang="nl-NL" noProof="0" dirty="0" err="1"/>
              <a:t>ipynb</a:t>
            </a:r>
            <a:endParaRPr lang="nl-NL" noProof="0" dirty="0"/>
          </a:p>
        </p:txBody>
      </p:sp>
      <p:sp>
        <p:nvSpPr>
          <p:cNvPr id="4" name="Slide Number Placeholder 3">
            <a:extLst>
              <a:ext uri="{FF2B5EF4-FFF2-40B4-BE49-F238E27FC236}">
                <a16:creationId xmlns:a16="http://schemas.microsoft.com/office/drawing/2014/main" id="{D2A6B954-E82D-3B4F-BAAA-8D8BFBC30E1C}"/>
              </a:ext>
            </a:extLst>
          </p:cNvPr>
          <p:cNvSpPr>
            <a:spLocks noGrp="1"/>
          </p:cNvSpPr>
          <p:nvPr>
            <p:ph type="sldNum" sz="quarter" idx="12"/>
          </p:nvPr>
        </p:nvSpPr>
        <p:spPr/>
        <p:txBody>
          <a:bodyPr/>
          <a:lstStyle/>
          <a:p>
            <a:fld id="{D270EDC2-4F5E-5547-954F-5222C286AC2A}" type="slidenum">
              <a:rPr lang="nl-NL" noProof="0" smtClean="0"/>
              <a:t>62</a:t>
            </a:fld>
            <a:endParaRPr lang="nl-NL" noProof="0" dirty="0"/>
          </a:p>
        </p:txBody>
      </p:sp>
    </p:spTree>
    <p:extLst>
      <p:ext uri="{BB962C8B-B14F-4D97-AF65-F5344CB8AC3E}">
        <p14:creationId xmlns:p14="http://schemas.microsoft.com/office/powerpoint/2010/main" val="23154973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7FE3A40-AD39-111A-A52E-14EEDDE463CC}"/>
              </a:ext>
            </a:extLst>
          </p:cNvPr>
          <p:cNvSpPr>
            <a:spLocks noGrp="1"/>
          </p:cNvSpPr>
          <p:nvPr>
            <p:ph idx="1"/>
          </p:nvPr>
        </p:nvSpPr>
        <p:spPr/>
        <p:txBody>
          <a:bodyPr/>
          <a:lstStyle/>
          <a:p>
            <a:r>
              <a:rPr lang="nl-NL" noProof="0" dirty="0"/>
              <a:t>We gebruiken </a:t>
            </a:r>
            <a:r>
              <a:rPr lang="nl-NL" noProof="0" dirty="0" err="1"/>
              <a:t>NumPy</a:t>
            </a:r>
            <a:r>
              <a:rPr lang="nl-NL" noProof="0" dirty="0"/>
              <a:t> en </a:t>
            </a:r>
            <a:r>
              <a:rPr lang="nl-NL" noProof="0" dirty="0" err="1"/>
              <a:t>Pandas</a:t>
            </a:r>
            <a:r>
              <a:rPr lang="nl-NL" noProof="0" dirty="0"/>
              <a:t> om data te genereren en te bevragen</a:t>
            </a:r>
          </a:p>
          <a:p>
            <a:endParaRPr lang="nl-NL" noProof="0" dirty="0"/>
          </a:p>
        </p:txBody>
      </p:sp>
      <p:sp>
        <p:nvSpPr>
          <p:cNvPr id="4" name="Slide Number Placeholder 3">
            <a:extLst>
              <a:ext uri="{FF2B5EF4-FFF2-40B4-BE49-F238E27FC236}">
                <a16:creationId xmlns:a16="http://schemas.microsoft.com/office/drawing/2014/main" id="{1DFA6F38-256D-7391-8364-C7132B272B68}"/>
              </a:ext>
            </a:extLst>
          </p:cNvPr>
          <p:cNvSpPr>
            <a:spLocks noGrp="1"/>
          </p:cNvSpPr>
          <p:nvPr>
            <p:ph type="sldNum" sz="quarter" idx="12"/>
          </p:nvPr>
        </p:nvSpPr>
        <p:spPr/>
        <p:txBody>
          <a:bodyPr/>
          <a:lstStyle/>
          <a:p>
            <a:fld id="{D270EDC2-4F5E-5547-954F-5222C286AC2A}" type="slidenum">
              <a:rPr lang="nl-NL" noProof="0" smtClean="0"/>
              <a:t>63</a:t>
            </a:fld>
            <a:endParaRPr lang="nl-NL" noProof="0" dirty="0"/>
          </a:p>
        </p:txBody>
      </p:sp>
      <p:sp>
        <p:nvSpPr>
          <p:cNvPr id="5" name="Title 4">
            <a:extLst>
              <a:ext uri="{FF2B5EF4-FFF2-40B4-BE49-F238E27FC236}">
                <a16:creationId xmlns:a16="http://schemas.microsoft.com/office/drawing/2014/main" id="{56B8D954-D8A5-51C9-815D-B75123F9D108}"/>
              </a:ext>
            </a:extLst>
          </p:cNvPr>
          <p:cNvSpPr>
            <a:spLocks noGrp="1"/>
          </p:cNvSpPr>
          <p:nvPr>
            <p:ph type="title"/>
          </p:nvPr>
        </p:nvSpPr>
        <p:spPr/>
        <p:txBody>
          <a:bodyPr/>
          <a:lstStyle/>
          <a:p>
            <a:r>
              <a:rPr lang="nl-NL" noProof="0" dirty="0"/>
              <a:t>Klantengegevens</a:t>
            </a:r>
          </a:p>
        </p:txBody>
      </p:sp>
      <p:sp>
        <p:nvSpPr>
          <p:cNvPr id="2" name="Rectangle 1">
            <a:extLst>
              <a:ext uri="{FF2B5EF4-FFF2-40B4-BE49-F238E27FC236}">
                <a16:creationId xmlns:a16="http://schemas.microsoft.com/office/drawing/2014/main" id="{A0E7EBE8-B181-8492-6343-A7A8B46CC3CF}"/>
              </a:ext>
            </a:extLst>
          </p:cNvPr>
          <p:cNvSpPr>
            <a:spLocks noChangeArrowheads="1"/>
          </p:cNvSpPr>
          <p:nvPr/>
        </p:nvSpPr>
        <p:spPr bwMode="auto">
          <a:xfrm>
            <a:off x="578821" y="2323462"/>
            <a:ext cx="5924529" cy="378565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noProof="0" dirty="0">
                <a:ln>
                  <a:noFill/>
                </a:ln>
                <a:solidFill>
                  <a:srgbClr val="0033B3"/>
                </a:solidFill>
                <a:effectLst/>
                <a:latin typeface="JetBrains Mono"/>
              </a:rPr>
              <a:t>import </a:t>
            </a:r>
            <a:r>
              <a:rPr kumimoji="0" lang="nl-NL" sz="1200" b="0" i="0" u="none" strike="noStrike" cap="none" normalizeH="0" baseline="0" noProof="0" dirty="0" err="1">
                <a:ln>
                  <a:noFill/>
                </a:ln>
                <a:solidFill>
                  <a:srgbClr val="080808"/>
                </a:solidFill>
                <a:effectLst/>
                <a:latin typeface="JetBrains Mono"/>
              </a:rPr>
              <a:t>numpy</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as </a:t>
            </a:r>
            <a:r>
              <a:rPr kumimoji="0" lang="nl-NL" sz="1200" b="0" i="0" u="none" strike="noStrike" cap="none" normalizeH="0" baseline="0" noProof="0" dirty="0" err="1">
                <a:ln>
                  <a:noFill/>
                </a:ln>
                <a:solidFill>
                  <a:srgbClr val="080808"/>
                </a:solidFill>
                <a:effectLst/>
                <a:latin typeface="JetBrains Mono"/>
              </a:rPr>
              <a:t>np</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033B3"/>
                </a:solidFill>
                <a:effectLst/>
                <a:latin typeface="JetBrains Mono"/>
              </a:rPr>
              <a:t>import </a:t>
            </a:r>
            <a:r>
              <a:rPr kumimoji="0" lang="nl-NL" sz="1200" b="0" i="0" u="none" strike="noStrike" cap="none" normalizeH="0" baseline="0" noProof="0" dirty="0" err="1">
                <a:ln>
                  <a:noFill/>
                </a:ln>
                <a:solidFill>
                  <a:srgbClr val="080808"/>
                </a:solidFill>
                <a:effectLst/>
                <a:latin typeface="JetBrains Mono"/>
              </a:rPr>
              <a:t>pandas</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as </a:t>
            </a:r>
            <a:r>
              <a:rPr kumimoji="0" lang="nl-NL" sz="1200" b="0" i="0" u="none" strike="noStrike" cap="none" normalizeH="0" baseline="0" noProof="0" dirty="0" err="1">
                <a:ln>
                  <a:noFill/>
                </a:ln>
                <a:solidFill>
                  <a:srgbClr val="080808"/>
                </a:solidFill>
                <a:effectLst/>
                <a:latin typeface="JetBrains Mono"/>
              </a:rPr>
              <a:t>pd</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np.random.seed</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42</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n_klanten</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a:ln>
                  <a:noFill/>
                </a:ln>
                <a:solidFill>
                  <a:srgbClr val="1750EB"/>
                </a:solidFill>
                <a:effectLst/>
                <a:latin typeface="JetBrains Mono"/>
              </a:rPr>
              <a:t>100</a:t>
            </a:r>
            <a:br>
              <a:rPr kumimoji="0" lang="nl-NL" sz="1200" b="0" i="0" u="none" strike="noStrike" cap="none" normalizeH="0" baseline="0" noProof="0" dirty="0">
                <a:ln>
                  <a:noFill/>
                </a:ln>
                <a:solidFill>
                  <a:srgbClr val="1750EB"/>
                </a:solidFill>
                <a:effectLst/>
                <a:latin typeface="JetBrains Mono"/>
              </a:rPr>
            </a:br>
            <a:br>
              <a:rPr kumimoji="0" lang="nl-NL" sz="1200" b="0" i="0" u="none" strike="noStrike" cap="none" normalizeH="0" baseline="0" noProof="0" dirty="0">
                <a:ln>
                  <a:noFill/>
                </a:ln>
                <a:solidFill>
                  <a:srgbClr val="1750EB"/>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klant_ids</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np.arange</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80808"/>
                </a:solidFill>
                <a:effectLst/>
                <a:latin typeface="JetBrains Mono"/>
              </a:rPr>
              <a:t>n_klanten</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a:ln>
                  <a:noFill/>
                </a:ln>
                <a:solidFill>
                  <a:srgbClr val="1750EB"/>
                </a:solidFill>
                <a:effectLst/>
                <a:latin typeface="JetBrains Mono"/>
              </a:rPr>
              <a:t>1</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leeftijden = </a:t>
            </a:r>
            <a:r>
              <a:rPr kumimoji="0" lang="nl-NL" sz="1200" b="0" i="0" u="none" strike="noStrike" cap="none" normalizeH="0" baseline="0" noProof="0" dirty="0" err="1">
                <a:ln>
                  <a:noFill/>
                </a:ln>
                <a:solidFill>
                  <a:srgbClr val="080808"/>
                </a:solidFill>
                <a:effectLst/>
                <a:latin typeface="JetBrains Mono"/>
              </a:rPr>
              <a:t>np.random.randint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18</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1750EB"/>
                </a:solidFill>
                <a:effectLst/>
                <a:latin typeface="JetBrains Mono"/>
              </a:rPr>
              <a:t>70</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660099"/>
                </a:solidFill>
                <a:effectLst/>
                <a:latin typeface="JetBrains Mono"/>
              </a:rPr>
              <a:t>size</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n_klanten</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maandelijkse_uitgaven</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np.round</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np.random.uniform</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50</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1750EB"/>
                </a:solidFill>
                <a:effectLst/>
                <a:latin typeface="JetBrains Mono"/>
              </a:rPr>
              <a:t>1000</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660099"/>
                </a:solidFill>
                <a:effectLst/>
                <a:latin typeface="JetBrains Mono"/>
              </a:rPr>
              <a:t>size</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n_klanten</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1750EB"/>
                </a:solidFill>
                <a:effectLst/>
                <a:latin typeface="JetBrains Mono"/>
              </a:rPr>
              <a:t>2</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1" u="none" strike="noStrike" cap="none" normalizeH="0" baseline="0" noProof="0" dirty="0">
                <a:ln>
                  <a:noFill/>
                </a:ln>
                <a:solidFill>
                  <a:srgbClr val="8C8C8C"/>
                </a:solidFill>
                <a:effectLst/>
                <a:latin typeface="JetBrains Mono"/>
              </a:rPr>
              <a:t># Score van 1 tot 10</a:t>
            </a:r>
            <a:br>
              <a:rPr kumimoji="0" lang="nl-NL" sz="1200" b="0" i="1" u="none" strike="noStrike" cap="none" normalizeH="0" baseline="0" noProof="0" dirty="0">
                <a:ln>
                  <a:noFill/>
                </a:ln>
                <a:solidFill>
                  <a:srgbClr val="8C8C8C"/>
                </a:solidFill>
                <a:effectLst/>
                <a:latin typeface="JetBrains Mono"/>
              </a:rPr>
            </a:br>
            <a:r>
              <a:rPr kumimoji="0" lang="nl-NL" sz="1200" b="0" i="0" u="none" strike="noStrike" cap="none" normalizeH="0" baseline="0" noProof="0" dirty="0">
                <a:ln>
                  <a:noFill/>
                </a:ln>
                <a:solidFill>
                  <a:srgbClr val="080808"/>
                </a:solidFill>
                <a:effectLst/>
                <a:latin typeface="JetBrains Mono"/>
              </a:rPr>
              <a:t>loyaliteitsscore = </a:t>
            </a:r>
            <a:r>
              <a:rPr kumimoji="0" lang="nl-NL" sz="1200" b="0" i="0" u="none" strike="noStrike" cap="none" normalizeH="0" baseline="0" noProof="0" dirty="0" err="1">
                <a:ln>
                  <a:noFill/>
                </a:ln>
                <a:solidFill>
                  <a:srgbClr val="080808"/>
                </a:solidFill>
                <a:effectLst/>
                <a:latin typeface="JetBrains Mono"/>
              </a:rPr>
              <a:t>np.random.randint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1750EB"/>
                </a:solidFill>
                <a:effectLst/>
                <a:latin typeface="JetBrains Mono"/>
              </a:rPr>
              <a:t>11</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660099"/>
                </a:solidFill>
                <a:effectLst/>
                <a:latin typeface="JetBrains Mono"/>
              </a:rPr>
              <a:t>size</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n_klanten</a:t>
            </a:r>
            <a:r>
              <a:rPr kumimoji="0" lang="nl-NL" sz="1200" b="0" i="0" u="none" strike="noStrike" cap="none" normalizeH="0" baseline="0" noProof="0" dirty="0">
                <a:ln>
                  <a:noFill/>
                </a:ln>
                <a:solidFill>
                  <a:srgbClr val="080808"/>
                </a:solidFill>
                <a:effectLst/>
                <a:latin typeface="JetBrains Mono"/>
              </a:rPr>
              <a:t>)  </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pd.DataFrame</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80808"/>
                </a:solidFill>
                <a:effectLst/>
                <a:latin typeface="JetBrains Mono"/>
              </a:rPr>
              <a:t>klant_ids</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"Leeftijd"</a:t>
            </a:r>
            <a:r>
              <a:rPr kumimoji="0" lang="nl-NL" sz="1200" b="0" i="0" u="none" strike="noStrike" cap="none" normalizeH="0" baseline="0" noProof="0" dirty="0">
                <a:ln>
                  <a:noFill/>
                </a:ln>
                <a:solidFill>
                  <a:srgbClr val="080808"/>
                </a:solidFill>
                <a:effectLst/>
                <a:latin typeface="JetBrains Mono"/>
              </a:rPr>
              <a:t>: leeftijden,</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Maandelijkse_Uitgaven</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80808"/>
                </a:solidFill>
                <a:effectLst/>
                <a:latin typeface="JetBrains Mono"/>
              </a:rPr>
              <a:t>maandelijkse_uitgaven</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"Loyaliteitsscore"</a:t>
            </a:r>
            <a:r>
              <a:rPr kumimoji="0" lang="nl-NL" sz="1200" b="0" i="0" u="none" strike="noStrike" cap="none" normalizeH="0" baseline="0" noProof="0" dirty="0">
                <a:ln>
                  <a:noFill/>
                </a:ln>
                <a:solidFill>
                  <a:srgbClr val="080808"/>
                </a:solidFill>
                <a:effectLst/>
                <a:latin typeface="JetBrains Mono"/>
              </a:rPr>
              <a:t>: loyaliteitsscore</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klant_data.head</a:t>
            </a:r>
            <a:r>
              <a:rPr kumimoji="0" lang="nl-NL" sz="1200" b="0" i="0" u="none" strike="noStrike" cap="none" normalizeH="0" baseline="0" noProof="0" dirty="0">
                <a:ln>
                  <a:noFill/>
                </a:ln>
                <a:solidFill>
                  <a:srgbClr val="080808"/>
                </a:solidFill>
                <a:effectLst/>
                <a:latin typeface="JetBrains Mono"/>
              </a:rPr>
              <a:t>()</a:t>
            </a:r>
            <a:endParaRPr kumimoji="0" lang="nl-NL" sz="3200" b="0" i="0" u="none" strike="noStrike" cap="none" normalizeH="0" baseline="0" noProof="0" dirty="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DFB1C206-08A9-AD6B-E52B-BD70D603D99B}"/>
              </a:ext>
            </a:extLst>
          </p:cNvPr>
          <p:cNvGraphicFramePr>
            <a:graphicFrameLocks noGrp="1"/>
          </p:cNvGraphicFramePr>
          <p:nvPr>
            <p:extLst>
              <p:ext uri="{D42A27DB-BD31-4B8C-83A1-F6EECF244321}">
                <p14:modId xmlns:p14="http://schemas.microsoft.com/office/powerpoint/2010/main" val="2692289758"/>
              </p:ext>
            </p:extLst>
          </p:nvPr>
        </p:nvGraphicFramePr>
        <p:xfrm>
          <a:off x="7075918" y="3552679"/>
          <a:ext cx="4922378" cy="1722120"/>
        </p:xfrm>
        <a:graphic>
          <a:graphicData uri="http://schemas.openxmlformats.org/drawingml/2006/table">
            <a:tbl>
              <a:tblPr/>
              <a:tblGrid>
                <a:gridCol w="413637">
                  <a:extLst>
                    <a:ext uri="{9D8B030D-6E8A-4147-A177-3AD203B41FA5}">
                      <a16:colId xmlns:a16="http://schemas.microsoft.com/office/drawing/2014/main" val="532114742"/>
                    </a:ext>
                  </a:extLst>
                </a:gridCol>
                <a:gridCol w="923642">
                  <a:extLst>
                    <a:ext uri="{9D8B030D-6E8A-4147-A177-3AD203B41FA5}">
                      <a16:colId xmlns:a16="http://schemas.microsoft.com/office/drawing/2014/main" val="1199804636"/>
                    </a:ext>
                  </a:extLst>
                </a:gridCol>
                <a:gridCol w="846626">
                  <a:extLst>
                    <a:ext uri="{9D8B030D-6E8A-4147-A177-3AD203B41FA5}">
                      <a16:colId xmlns:a16="http://schemas.microsoft.com/office/drawing/2014/main" val="3078470607"/>
                    </a:ext>
                  </a:extLst>
                </a:gridCol>
                <a:gridCol w="1753997">
                  <a:extLst>
                    <a:ext uri="{9D8B030D-6E8A-4147-A177-3AD203B41FA5}">
                      <a16:colId xmlns:a16="http://schemas.microsoft.com/office/drawing/2014/main" val="659858307"/>
                    </a:ext>
                  </a:extLst>
                </a:gridCol>
                <a:gridCol w="984476">
                  <a:extLst>
                    <a:ext uri="{9D8B030D-6E8A-4147-A177-3AD203B41FA5}">
                      <a16:colId xmlns:a16="http://schemas.microsoft.com/office/drawing/2014/main" val="3098430775"/>
                    </a:ext>
                  </a:extLst>
                </a:gridCol>
              </a:tblGrid>
              <a:tr h="0">
                <a:tc>
                  <a:txBody>
                    <a:bodyPr/>
                    <a:lstStyle/>
                    <a:p>
                      <a:pPr algn="r" fontAlgn="ctr"/>
                      <a:endParaRPr lang="nl-NL" sz="1100" b="1" noProof="0" dirty="0">
                        <a:effectLst/>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r>
                        <a:rPr lang="nl-NL" sz="1100" b="1" noProof="0">
                          <a:effectLst/>
                        </a:rPr>
                        <a:t>Klant_ID</a:t>
                      </a:r>
                      <a:endParaRPr lang="nl-NL" sz="1100" b="1" noProof="0"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r>
                        <a:rPr lang="nl-NL" sz="1100" b="1" noProof="0">
                          <a:effectLst/>
                        </a:rPr>
                        <a:t>Leeftijd</a:t>
                      </a:r>
                      <a:endParaRPr lang="nl-NL" sz="1100" b="1" noProof="0"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r>
                        <a:rPr lang="nl-NL" sz="1100" b="1" noProof="0">
                          <a:effectLst/>
                        </a:rPr>
                        <a:t>Maandelijkse_Uitgaven</a:t>
                      </a:r>
                      <a:endParaRPr lang="nl-NL" sz="1100" b="1" noProof="0"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r>
                        <a:rPr lang="nl-NL" sz="1100" b="1" noProof="0">
                          <a:effectLst/>
                        </a:rPr>
                        <a:t>Loyaliteitsscore</a:t>
                      </a:r>
                      <a:endParaRPr lang="nl-NL" sz="1100" b="1" noProof="0" dirty="0">
                        <a:effectLst/>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93485679"/>
                  </a:ext>
                </a:extLst>
              </a:tr>
              <a:tr h="0">
                <a:tc>
                  <a:txBody>
                    <a:bodyPr/>
                    <a:lstStyle/>
                    <a:p>
                      <a:pPr algn="r" fontAlgn="ctr"/>
                      <a:r>
                        <a:rPr lang="nl-NL" sz="1100" b="1" noProof="0">
                          <a:effectLst/>
                        </a:rPr>
                        <a:t>0</a:t>
                      </a:r>
                      <a:endParaRPr lang="nl-NL" sz="1100" b="1" noProof="0" dirty="0">
                        <a:effectLst/>
                      </a:endParaRPr>
                    </a:p>
                  </a:txBody>
                  <a:tcPr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100" noProof="0">
                          <a:effectLst/>
                        </a:rPr>
                        <a:t>1</a:t>
                      </a:r>
                      <a:endParaRPr lang="nl-NL" sz="1100" noProof="0" dirty="0">
                        <a:effectLst/>
                      </a:endParaRPr>
                    </a:p>
                  </a:txBody>
                  <a:tcPr anchor="ctr">
                    <a:lnL>
                      <a:noFill/>
                    </a:lnL>
                    <a:lnR>
                      <a:noFill/>
                    </a:lnR>
                    <a:lnT>
                      <a:noFill/>
                    </a:lnT>
                    <a:lnB>
                      <a:noFill/>
                    </a:lnB>
                    <a:solidFill>
                      <a:srgbClr val="F5F5F5"/>
                    </a:solidFill>
                  </a:tcPr>
                </a:tc>
                <a:tc>
                  <a:txBody>
                    <a:bodyPr/>
                    <a:lstStyle/>
                    <a:p>
                      <a:pPr algn="r" fontAlgn="ctr"/>
                      <a:r>
                        <a:rPr lang="nl-NL" sz="1100" noProof="0">
                          <a:effectLst/>
                        </a:rPr>
                        <a:t>56</a:t>
                      </a:r>
                      <a:endParaRPr lang="nl-NL" sz="1100" noProof="0" dirty="0">
                        <a:effectLst/>
                      </a:endParaRPr>
                    </a:p>
                  </a:txBody>
                  <a:tcPr anchor="ctr">
                    <a:lnL>
                      <a:noFill/>
                    </a:lnL>
                    <a:lnR>
                      <a:noFill/>
                    </a:lnR>
                    <a:lnT>
                      <a:noFill/>
                    </a:lnT>
                    <a:lnB>
                      <a:noFill/>
                    </a:lnB>
                    <a:solidFill>
                      <a:srgbClr val="F5F5F5"/>
                    </a:solidFill>
                  </a:tcPr>
                </a:tc>
                <a:tc>
                  <a:txBody>
                    <a:bodyPr/>
                    <a:lstStyle/>
                    <a:p>
                      <a:pPr algn="r" fontAlgn="ctr"/>
                      <a:r>
                        <a:rPr lang="nl-NL" sz="1100" noProof="0">
                          <a:effectLst/>
                        </a:rPr>
                        <a:t>207.00</a:t>
                      </a:r>
                      <a:endParaRPr lang="nl-NL" sz="1100" noProof="0" dirty="0">
                        <a:effectLst/>
                      </a:endParaRPr>
                    </a:p>
                  </a:txBody>
                  <a:tcPr anchor="ctr">
                    <a:lnL>
                      <a:noFill/>
                    </a:lnL>
                    <a:lnR>
                      <a:noFill/>
                    </a:lnR>
                    <a:lnT>
                      <a:noFill/>
                    </a:lnT>
                    <a:lnB>
                      <a:noFill/>
                    </a:lnB>
                    <a:solidFill>
                      <a:srgbClr val="F5F5F5"/>
                    </a:solidFill>
                  </a:tcPr>
                </a:tc>
                <a:tc>
                  <a:txBody>
                    <a:bodyPr/>
                    <a:lstStyle/>
                    <a:p>
                      <a:pPr algn="r" fontAlgn="ctr"/>
                      <a:r>
                        <a:rPr lang="nl-NL" sz="1100" noProof="0">
                          <a:effectLst/>
                        </a:rPr>
                        <a:t>3</a:t>
                      </a:r>
                      <a:endParaRPr lang="nl-NL" sz="1100" noProof="0" dirty="0">
                        <a:effectLst/>
                      </a:endParaRPr>
                    </a:p>
                  </a:txBody>
                  <a:tcPr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483757557"/>
                  </a:ext>
                </a:extLst>
              </a:tr>
              <a:tr h="0">
                <a:tc>
                  <a:txBody>
                    <a:bodyPr/>
                    <a:lstStyle/>
                    <a:p>
                      <a:pPr algn="r" fontAlgn="ctr"/>
                      <a:r>
                        <a:rPr lang="nl-NL" sz="1100" b="1" noProof="0">
                          <a:effectLst/>
                        </a:rPr>
                        <a:t>1</a:t>
                      </a:r>
                      <a:endParaRPr lang="nl-NL" sz="1100" b="1" noProof="0" dirty="0">
                        <a:effectLst/>
                      </a:endParaRPr>
                    </a:p>
                  </a:txBody>
                  <a:tcPr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ctr"/>
                      <a:r>
                        <a:rPr lang="nl-NL" sz="1100" noProof="0">
                          <a:effectLst/>
                        </a:rPr>
                        <a:t>2</a:t>
                      </a:r>
                      <a:endParaRPr lang="nl-NL" sz="1100" noProof="0" dirty="0">
                        <a:effectLst/>
                      </a:endParaRPr>
                    </a:p>
                  </a:txBody>
                  <a:tcPr anchor="ctr">
                    <a:lnL>
                      <a:noFill/>
                    </a:lnL>
                    <a:lnR>
                      <a:noFill/>
                    </a:lnR>
                    <a:lnT>
                      <a:noFill/>
                    </a:lnT>
                    <a:lnB>
                      <a:noFill/>
                    </a:lnB>
                    <a:solidFill>
                      <a:srgbClr val="FFFFFF"/>
                    </a:solidFill>
                  </a:tcPr>
                </a:tc>
                <a:tc>
                  <a:txBody>
                    <a:bodyPr/>
                    <a:lstStyle/>
                    <a:p>
                      <a:pPr algn="r" fontAlgn="ctr"/>
                      <a:r>
                        <a:rPr lang="nl-NL" sz="1100" noProof="0">
                          <a:effectLst/>
                        </a:rPr>
                        <a:t>69</a:t>
                      </a:r>
                      <a:endParaRPr lang="nl-NL" sz="1100" noProof="0" dirty="0">
                        <a:effectLst/>
                      </a:endParaRPr>
                    </a:p>
                  </a:txBody>
                  <a:tcPr anchor="ctr">
                    <a:lnL>
                      <a:noFill/>
                    </a:lnL>
                    <a:lnR>
                      <a:noFill/>
                    </a:lnR>
                    <a:lnT>
                      <a:noFill/>
                    </a:lnT>
                    <a:lnB>
                      <a:noFill/>
                    </a:lnB>
                    <a:solidFill>
                      <a:srgbClr val="FFFFFF"/>
                    </a:solidFill>
                  </a:tcPr>
                </a:tc>
                <a:tc>
                  <a:txBody>
                    <a:bodyPr/>
                    <a:lstStyle/>
                    <a:p>
                      <a:pPr algn="r" fontAlgn="ctr"/>
                      <a:r>
                        <a:rPr lang="nl-NL" sz="1100" noProof="0">
                          <a:effectLst/>
                        </a:rPr>
                        <a:t>64.85</a:t>
                      </a:r>
                      <a:endParaRPr lang="nl-NL" sz="1100" noProof="0" dirty="0">
                        <a:effectLst/>
                      </a:endParaRPr>
                    </a:p>
                  </a:txBody>
                  <a:tcPr anchor="ctr">
                    <a:lnL>
                      <a:noFill/>
                    </a:lnL>
                    <a:lnR>
                      <a:noFill/>
                    </a:lnR>
                    <a:lnT>
                      <a:noFill/>
                    </a:lnT>
                    <a:lnB>
                      <a:noFill/>
                    </a:lnB>
                    <a:solidFill>
                      <a:srgbClr val="FFFFFF"/>
                    </a:solidFill>
                  </a:tcPr>
                </a:tc>
                <a:tc>
                  <a:txBody>
                    <a:bodyPr/>
                    <a:lstStyle/>
                    <a:p>
                      <a:pPr algn="r" fontAlgn="ctr"/>
                      <a:r>
                        <a:rPr lang="nl-NL" sz="1100" noProof="0">
                          <a:effectLst/>
                        </a:rPr>
                        <a:t>4</a:t>
                      </a:r>
                      <a:endParaRPr lang="nl-NL" sz="1100" noProof="0" dirty="0">
                        <a:effectLst/>
                      </a:endParaRPr>
                    </a:p>
                  </a:txBody>
                  <a:tcPr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93965705"/>
                  </a:ext>
                </a:extLst>
              </a:tr>
              <a:tr h="0">
                <a:tc>
                  <a:txBody>
                    <a:bodyPr/>
                    <a:lstStyle/>
                    <a:p>
                      <a:pPr algn="r" fontAlgn="ctr"/>
                      <a:r>
                        <a:rPr lang="nl-NL" sz="1100" b="1" noProof="0">
                          <a:effectLst/>
                        </a:rPr>
                        <a:t>2</a:t>
                      </a:r>
                      <a:endParaRPr lang="nl-NL" sz="1100" b="1" noProof="0" dirty="0">
                        <a:effectLst/>
                      </a:endParaRPr>
                    </a:p>
                  </a:txBody>
                  <a:tcPr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100" noProof="0">
                          <a:effectLst/>
                        </a:rPr>
                        <a:t>3</a:t>
                      </a:r>
                      <a:endParaRPr lang="nl-NL" sz="1100" noProof="0" dirty="0">
                        <a:effectLst/>
                      </a:endParaRPr>
                    </a:p>
                  </a:txBody>
                  <a:tcPr anchor="ctr">
                    <a:lnL>
                      <a:noFill/>
                    </a:lnL>
                    <a:lnR>
                      <a:noFill/>
                    </a:lnR>
                    <a:lnT>
                      <a:noFill/>
                    </a:lnT>
                    <a:lnB>
                      <a:noFill/>
                    </a:lnB>
                    <a:solidFill>
                      <a:srgbClr val="F5F5F5"/>
                    </a:solidFill>
                  </a:tcPr>
                </a:tc>
                <a:tc>
                  <a:txBody>
                    <a:bodyPr/>
                    <a:lstStyle/>
                    <a:p>
                      <a:pPr algn="r" fontAlgn="ctr"/>
                      <a:r>
                        <a:rPr lang="nl-NL" sz="1100" noProof="0">
                          <a:effectLst/>
                        </a:rPr>
                        <a:t>46</a:t>
                      </a:r>
                      <a:endParaRPr lang="nl-NL" sz="1100" noProof="0" dirty="0">
                        <a:effectLst/>
                      </a:endParaRPr>
                    </a:p>
                  </a:txBody>
                  <a:tcPr anchor="ctr">
                    <a:lnL>
                      <a:noFill/>
                    </a:lnL>
                    <a:lnR>
                      <a:noFill/>
                    </a:lnR>
                    <a:lnT>
                      <a:noFill/>
                    </a:lnT>
                    <a:lnB>
                      <a:noFill/>
                    </a:lnB>
                    <a:solidFill>
                      <a:srgbClr val="F5F5F5"/>
                    </a:solidFill>
                  </a:tcPr>
                </a:tc>
                <a:tc>
                  <a:txBody>
                    <a:bodyPr/>
                    <a:lstStyle/>
                    <a:p>
                      <a:pPr algn="r" fontAlgn="ctr"/>
                      <a:r>
                        <a:rPr lang="nl-NL" sz="1100" noProof="0">
                          <a:effectLst/>
                        </a:rPr>
                        <a:t>452.23</a:t>
                      </a:r>
                      <a:endParaRPr lang="nl-NL" sz="1100" noProof="0" dirty="0">
                        <a:effectLst/>
                      </a:endParaRPr>
                    </a:p>
                  </a:txBody>
                  <a:tcPr anchor="ctr">
                    <a:lnL>
                      <a:noFill/>
                    </a:lnL>
                    <a:lnR>
                      <a:noFill/>
                    </a:lnR>
                    <a:lnT>
                      <a:noFill/>
                    </a:lnT>
                    <a:lnB>
                      <a:noFill/>
                    </a:lnB>
                    <a:solidFill>
                      <a:srgbClr val="F5F5F5"/>
                    </a:solidFill>
                  </a:tcPr>
                </a:tc>
                <a:tc>
                  <a:txBody>
                    <a:bodyPr/>
                    <a:lstStyle/>
                    <a:p>
                      <a:pPr algn="r" fontAlgn="ctr"/>
                      <a:r>
                        <a:rPr lang="nl-NL" sz="1100" noProof="0">
                          <a:effectLst/>
                        </a:rPr>
                        <a:t>4</a:t>
                      </a:r>
                      <a:endParaRPr lang="nl-NL" sz="1100" noProof="0" dirty="0">
                        <a:effectLst/>
                      </a:endParaRPr>
                    </a:p>
                  </a:txBody>
                  <a:tcPr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379399774"/>
                  </a:ext>
                </a:extLst>
              </a:tr>
              <a:tr h="0">
                <a:tc>
                  <a:txBody>
                    <a:bodyPr/>
                    <a:lstStyle/>
                    <a:p>
                      <a:pPr algn="r" fontAlgn="ctr"/>
                      <a:r>
                        <a:rPr lang="nl-NL" sz="1100" b="1" noProof="0">
                          <a:effectLst/>
                        </a:rPr>
                        <a:t>3</a:t>
                      </a:r>
                      <a:endParaRPr lang="nl-NL" sz="1100" b="1" noProof="0" dirty="0">
                        <a:effectLst/>
                      </a:endParaRPr>
                    </a:p>
                  </a:txBody>
                  <a:tcPr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ctr"/>
                      <a:r>
                        <a:rPr lang="nl-NL" sz="1100" noProof="0">
                          <a:effectLst/>
                        </a:rPr>
                        <a:t>4</a:t>
                      </a:r>
                      <a:endParaRPr lang="nl-NL" sz="1100" noProof="0" dirty="0">
                        <a:effectLst/>
                      </a:endParaRPr>
                    </a:p>
                  </a:txBody>
                  <a:tcPr anchor="ctr">
                    <a:lnL>
                      <a:noFill/>
                    </a:lnL>
                    <a:lnR>
                      <a:noFill/>
                    </a:lnR>
                    <a:lnT>
                      <a:noFill/>
                    </a:lnT>
                    <a:lnB>
                      <a:noFill/>
                    </a:lnB>
                    <a:solidFill>
                      <a:srgbClr val="FFFFFF"/>
                    </a:solidFill>
                  </a:tcPr>
                </a:tc>
                <a:tc>
                  <a:txBody>
                    <a:bodyPr/>
                    <a:lstStyle/>
                    <a:p>
                      <a:pPr algn="r" fontAlgn="ctr"/>
                      <a:r>
                        <a:rPr lang="nl-NL" sz="1100" noProof="0">
                          <a:effectLst/>
                        </a:rPr>
                        <a:t>32</a:t>
                      </a:r>
                      <a:endParaRPr lang="nl-NL" sz="1100" noProof="0" dirty="0">
                        <a:effectLst/>
                      </a:endParaRPr>
                    </a:p>
                  </a:txBody>
                  <a:tcPr anchor="ctr">
                    <a:lnL>
                      <a:noFill/>
                    </a:lnL>
                    <a:lnR>
                      <a:noFill/>
                    </a:lnR>
                    <a:lnT>
                      <a:noFill/>
                    </a:lnT>
                    <a:lnB>
                      <a:noFill/>
                    </a:lnB>
                    <a:solidFill>
                      <a:srgbClr val="FFFFFF"/>
                    </a:solidFill>
                  </a:tcPr>
                </a:tc>
                <a:tc>
                  <a:txBody>
                    <a:bodyPr/>
                    <a:lstStyle/>
                    <a:p>
                      <a:pPr algn="r" fontAlgn="ctr"/>
                      <a:r>
                        <a:rPr lang="nl-NL" sz="1100" noProof="0">
                          <a:effectLst/>
                        </a:rPr>
                        <a:t>425.14</a:t>
                      </a:r>
                      <a:endParaRPr lang="nl-NL" sz="1100" noProof="0" dirty="0">
                        <a:effectLst/>
                      </a:endParaRPr>
                    </a:p>
                  </a:txBody>
                  <a:tcPr anchor="ctr">
                    <a:lnL>
                      <a:noFill/>
                    </a:lnL>
                    <a:lnR>
                      <a:noFill/>
                    </a:lnR>
                    <a:lnT>
                      <a:noFill/>
                    </a:lnT>
                    <a:lnB>
                      <a:noFill/>
                    </a:lnB>
                    <a:solidFill>
                      <a:srgbClr val="FFFFFF"/>
                    </a:solidFill>
                  </a:tcPr>
                </a:tc>
                <a:tc>
                  <a:txBody>
                    <a:bodyPr/>
                    <a:lstStyle/>
                    <a:p>
                      <a:pPr algn="r" fontAlgn="ctr"/>
                      <a:r>
                        <a:rPr lang="nl-NL" sz="1100" noProof="0">
                          <a:effectLst/>
                        </a:rPr>
                        <a:t>3</a:t>
                      </a:r>
                      <a:endParaRPr lang="nl-NL" sz="1100" noProof="0" dirty="0">
                        <a:effectLst/>
                      </a:endParaRPr>
                    </a:p>
                  </a:txBody>
                  <a:tcPr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189047525"/>
                  </a:ext>
                </a:extLst>
              </a:tr>
              <a:tr h="0">
                <a:tc>
                  <a:txBody>
                    <a:bodyPr/>
                    <a:lstStyle/>
                    <a:p>
                      <a:pPr algn="r" fontAlgn="ctr"/>
                      <a:r>
                        <a:rPr lang="nl-NL" sz="1100" b="1" noProof="0">
                          <a:effectLst/>
                        </a:rPr>
                        <a:t>4</a:t>
                      </a:r>
                      <a:endParaRPr lang="nl-NL" sz="1100" b="1" noProof="0" dirty="0">
                        <a:effectLst/>
                      </a:endParaRP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5F5F5"/>
                    </a:solidFill>
                  </a:tcPr>
                </a:tc>
                <a:tc>
                  <a:txBody>
                    <a:bodyPr/>
                    <a:lstStyle/>
                    <a:p>
                      <a:pPr algn="r" fontAlgn="ctr"/>
                      <a:r>
                        <a:rPr lang="nl-NL" sz="1100" noProof="0">
                          <a:effectLst/>
                        </a:rPr>
                        <a:t>5</a:t>
                      </a:r>
                      <a:endParaRPr lang="nl-NL" sz="1100" noProof="0" dirty="0">
                        <a:effectLst/>
                      </a:endParaRPr>
                    </a:p>
                  </a:txBody>
                  <a:tcPr anchor="ctr">
                    <a:lnL>
                      <a:noFill/>
                    </a:lnL>
                    <a:lnR>
                      <a:noFill/>
                    </a:lnR>
                    <a:lnT>
                      <a:noFill/>
                    </a:lnT>
                    <a:lnB w="12700" cap="flat" cmpd="sng" algn="ctr">
                      <a:solidFill>
                        <a:schemeClr val="tx1"/>
                      </a:solidFill>
                      <a:prstDash val="solid"/>
                      <a:round/>
                      <a:headEnd type="none" w="med" len="med"/>
                      <a:tailEnd type="none" w="med" len="med"/>
                    </a:lnB>
                    <a:solidFill>
                      <a:srgbClr val="F5F5F5"/>
                    </a:solidFill>
                  </a:tcPr>
                </a:tc>
                <a:tc>
                  <a:txBody>
                    <a:bodyPr/>
                    <a:lstStyle/>
                    <a:p>
                      <a:pPr algn="r" fontAlgn="ctr"/>
                      <a:r>
                        <a:rPr lang="nl-NL" sz="1100" noProof="0">
                          <a:effectLst/>
                        </a:rPr>
                        <a:t>60</a:t>
                      </a:r>
                      <a:endParaRPr lang="nl-NL" sz="1100" noProof="0" dirty="0">
                        <a:effectLst/>
                      </a:endParaRPr>
                    </a:p>
                  </a:txBody>
                  <a:tcPr anchor="ctr">
                    <a:lnL>
                      <a:noFill/>
                    </a:lnL>
                    <a:lnR>
                      <a:noFill/>
                    </a:lnR>
                    <a:lnT>
                      <a:noFill/>
                    </a:lnT>
                    <a:lnB w="12700" cap="flat" cmpd="sng" algn="ctr">
                      <a:solidFill>
                        <a:schemeClr val="tx1"/>
                      </a:solidFill>
                      <a:prstDash val="solid"/>
                      <a:round/>
                      <a:headEnd type="none" w="med" len="med"/>
                      <a:tailEnd type="none" w="med" len="med"/>
                    </a:lnB>
                    <a:solidFill>
                      <a:srgbClr val="F5F5F5"/>
                    </a:solidFill>
                  </a:tcPr>
                </a:tc>
                <a:tc>
                  <a:txBody>
                    <a:bodyPr/>
                    <a:lstStyle/>
                    <a:p>
                      <a:pPr algn="r" fontAlgn="ctr"/>
                      <a:r>
                        <a:rPr lang="nl-NL" sz="1100" noProof="0">
                          <a:effectLst/>
                        </a:rPr>
                        <a:t>328.81</a:t>
                      </a:r>
                      <a:endParaRPr lang="nl-NL" sz="1100" noProof="0" dirty="0">
                        <a:effectLst/>
                      </a:endParaRPr>
                    </a:p>
                  </a:txBody>
                  <a:tcPr anchor="ctr">
                    <a:lnL>
                      <a:noFill/>
                    </a:lnL>
                    <a:lnR>
                      <a:noFill/>
                    </a:lnR>
                    <a:lnT>
                      <a:noFill/>
                    </a:lnT>
                    <a:lnB w="12700" cap="flat" cmpd="sng" algn="ctr">
                      <a:solidFill>
                        <a:schemeClr val="tx1"/>
                      </a:solidFill>
                      <a:prstDash val="solid"/>
                      <a:round/>
                      <a:headEnd type="none" w="med" len="med"/>
                      <a:tailEnd type="none" w="med" len="med"/>
                    </a:lnB>
                    <a:solidFill>
                      <a:srgbClr val="F5F5F5"/>
                    </a:solidFill>
                  </a:tcPr>
                </a:tc>
                <a:tc>
                  <a:txBody>
                    <a:bodyPr/>
                    <a:lstStyle/>
                    <a:p>
                      <a:pPr algn="r" fontAlgn="ctr"/>
                      <a:r>
                        <a:rPr lang="nl-NL" sz="1100" noProof="0" dirty="0">
                          <a:effectLst/>
                        </a:rPr>
                        <a:t>10</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4113415766"/>
                  </a:ext>
                </a:extLst>
              </a:tr>
            </a:tbl>
          </a:graphicData>
        </a:graphic>
      </p:graphicFrame>
    </p:spTree>
    <p:extLst>
      <p:ext uri="{BB962C8B-B14F-4D97-AF65-F5344CB8AC3E}">
        <p14:creationId xmlns:p14="http://schemas.microsoft.com/office/powerpoint/2010/main" val="8809499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A962A8-070C-B227-72ED-8CA1C2CC17D5}"/>
              </a:ext>
            </a:extLst>
          </p:cNvPr>
          <p:cNvSpPr>
            <a:spLocks noGrp="1"/>
          </p:cNvSpPr>
          <p:nvPr>
            <p:ph idx="1"/>
          </p:nvPr>
        </p:nvSpPr>
        <p:spPr/>
        <p:txBody>
          <a:bodyPr/>
          <a:lstStyle/>
          <a:p>
            <a:r>
              <a:rPr lang="nl-NL" noProof="0" dirty="0"/>
              <a:t>We maken regels die per klant bepalen hoe we ze gaan benaderen</a:t>
            </a:r>
          </a:p>
          <a:p>
            <a:r>
              <a:rPr lang="nl-NL" noProof="0" dirty="0" err="1">
                <a:latin typeface="Courier New" panose="02070309020205020404" pitchFamily="49" charset="0"/>
                <a:cs typeface="Courier New" panose="02070309020205020404" pitchFamily="49" charset="0"/>
              </a:rPr>
              <a:t>apply</a:t>
            </a:r>
            <a:r>
              <a:rPr lang="nl-NL" noProof="0" dirty="0">
                <a:latin typeface="Courier New" panose="02070309020205020404" pitchFamily="49" charset="0"/>
                <a:cs typeface="Courier New" panose="02070309020205020404" pitchFamily="49" charset="0"/>
              </a:rPr>
              <a:t>()</a:t>
            </a:r>
            <a:r>
              <a:rPr lang="nl-NL" noProof="0" dirty="0"/>
              <a:t> wordt gebruikt om een functie toe te passen op elke rij</a:t>
            </a:r>
          </a:p>
          <a:p>
            <a:r>
              <a:rPr lang="nl-NL" noProof="0" dirty="0"/>
              <a:t>Merk op hoe krachtig dit is:</a:t>
            </a:r>
          </a:p>
          <a:p>
            <a:pPr lvl="1"/>
            <a:r>
              <a:rPr lang="nl-NL" sz="2000" noProof="0" dirty="0"/>
              <a:t>Geen </a:t>
            </a:r>
            <a:r>
              <a:rPr lang="nl-NL" sz="2000" noProof="0" dirty="0" err="1"/>
              <a:t>for</a:t>
            </a:r>
            <a:r>
              <a:rPr lang="nl-NL" sz="2000" noProof="0" dirty="0"/>
              <a:t>-lussen nodig</a:t>
            </a:r>
          </a:p>
          <a:p>
            <a:pPr lvl="1"/>
            <a:r>
              <a:rPr lang="nl-NL" sz="2000" noProof="0" dirty="0"/>
              <a:t>Logica makkelijk aan te passen achteraf</a:t>
            </a:r>
          </a:p>
        </p:txBody>
      </p:sp>
      <p:sp>
        <p:nvSpPr>
          <p:cNvPr id="3" name="Slide Number Placeholder 2">
            <a:extLst>
              <a:ext uri="{FF2B5EF4-FFF2-40B4-BE49-F238E27FC236}">
                <a16:creationId xmlns:a16="http://schemas.microsoft.com/office/drawing/2014/main" id="{51AC90A0-41CF-A325-9B05-B92F69D23F32}"/>
              </a:ext>
            </a:extLst>
          </p:cNvPr>
          <p:cNvSpPr>
            <a:spLocks noGrp="1"/>
          </p:cNvSpPr>
          <p:nvPr>
            <p:ph type="sldNum" sz="quarter" idx="12"/>
          </p:nvPr>
        </p:nvSpPr>
        <p:spPr/>
        <p:txBody>
          <a:bodyPr/>
          <a:lstStyle/>
          <a:p>
            <a:fld id="{D270EDC2-4F5E-5547-954F-5222C286AC2A}" type="slidenum">
              <a:rPr lang="nl-NL" noProof="0" smtClean="0"/>
              <a:t>64</a:t>
            </a:fld>
            <a:endParaRPr lang="nl-NL" noProof="0" dirty="0"/>
          </a:p>
        </p:txBody>
      </p:sp>
      <p:sp>
        <p:nvSpPr>
          <p:cNvPr id="4" name="Title 3">
            <a:extLst>
              <a:ext uri="{FF2B5EF4-FFF2-40B4-BE49-F238E27FC236}">
                <a16:creationId xmlns:a16="http://schemas.microsoft.com/office/drawing/2014/main" id="{FB7054DC-5FDD-8F55-F5DF-F683C8031F1C}"/>
              </a:ext>
            </a:extLst>
          </p:cNvPr>
          <p:cNvSpPr>
            <a:spLocks noGrp="1"/>
          </p:cNvSpPr>
          <p:nvPr>
            <p:ph type="title"/>
          </p:nvPr>
        </p:nvSpPr>
        <p:spPr/>
        <p:txBody>
          <a:bodyPr/>
          <a:lstStyle/>
          <a:p>
            <a:r>
              <a:rPr lang="nl-NL" noProof="0" dirty="0"/>
              <a:t>Marketingactie toewijzen</a:t>
            </a:r>
          </a:p>
        </p:txBody>
      </p:sp>
    </p:spTree>
    <p:extLst>
      <p:ext uri="{BB962C8B-B14F-4D97-AF65-F5344CB8AC3E}">
        <p14:creationId xmlns:p14="http://schemas.microsoft.com/office/powerpoint/2010/main" val="13722572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D6461D-E5DD-D9EA-B63C-B0F16A706444}"/>
              </a:ext>
            </a:extLst>
          </p:cNvPr>
          <p:cNvSpPr>
            <a:spLocks noGrp="1"/>
          </p:cNvSpPr>
          <p:nvPr>
            <p:ph idx="1"/>
          </p:nvPr>
        </p:nvSpPr>
        <p:spPr/>
        <p:txBody>
          <a:bodyPr/>
          <a:lstStyle/>
          <a:p>
            <a:r>
              <a:rPr lang="nl-NL" noProof="0" dirty="0"/>
              <a:t>Maandelijkse uitgaven &gt; 500 	-&gt; Exclusieve aanbieding</a:t>
            </a:r>
          </a:p>
          <a:p>
            <a:r>
              <a:rPr lang="nl-NL" noProof="0" dirty="0"/>
              <a:t>Loyaliteitsscore &gt; 7 		-&gt; Speciale beloning</a:t>
            </a:r>
          </a:p>
          <a:p>
            <a:r>
              <a:rPr lang="nl-NL" noProof="0" dirty="0"/>
              <a:t>Maandelijkse uitgaven &lt; 200 	-&gt; </a:t>
            </a:r>
            <a:r>
              <a:rPr lang="nl-NL" noProof="0" dirty="0" err="1"/>
              <a:t>Kortingsbon</a:t>
            </a:r>
            <a:r>
              <a:rPr lang="nl-NL" noProof="0" dirty="0"/>
              <a:t> voor meer uitgaven</a:t>
            </a:r>
          </a:p>
          <a:p>
            <a:r>
              <a:rPr lang="nl-NL" noProof="0" dirty="0"/>
              <a:t>Anders 				-&gt; Standaardaanbieding</a:t>
            </a:r>
          </a:p>
        </p:txBody>
      </p:sp>
      <p:sp>
        <p:nvSpPr>
          <p:cNvPr id="3" name="Slide Number Placeholder 2">
            <a:extLst>
              <a:ext uri="{FF2B5EF4-FFF2-40B4-BE49-F238E27FC236}">
                <a16:creationId xmlns:a16="http://schemas.microsoft.com/office/drawing/2014/main" id="{FCAE57ED-0F62-62BF-F748-37874C154908}"/>
              </a:ext>
            </a:extLst>
          </p:cNvPr>
          <p:cNvSpPr>
            <a:spLocks noGrp="1"/>
          </p:cNvSpPr>
          <p:nvPr>
            <p:ph type="sldNum" sz="quarter" idx="12"/>
          </p:nvPr>
        </p:nvSpPr>
        <p:spPr/>
        <p:txBody>
          <a:bodyPr/>
          <a:lstStyle/>
          <a:p>
            <a:fld id="{D270EDC2-4F5E-5547-954F-5222C286AC2A}" type="slidenum">
              <a:rPr lang="nl-NL" noProof="0" smtClean="0"/>
              <a:t>65</a:t>
            </a:fld>
            <a:endParaRPr lang="nl-NL" noProof="0" dirty="0"/>
          </a:p>
        </p:txBody>
      </p:sp>
      <p:sp>
        <p:nvSpPr>
          <p:cNvPr id="4" name="Title 3">
            <a:extLst>
              <a:ext uri="{FF2B5EF4-FFF2-40B4-BE49-F238E27FC236}">
                <a16:creationId xmlns:a16="http://schemas.microsoft.com/office/drawing/2014/main" id="{2208D66C-CE72-69DD-BAE7-A9DD9F12E47E}"/>
              </a:ext>
            </a:extLst>
          </p:cNvPr>
          <p:cNvSpPr>
            <a:spLocks noGrp="1"/>
          </p:cNvSpPr>
          <p:nvPr>
            <p:ph type="title"/>
          </p:nvPr>
        </p:nvSpPr>
        <p:spPr/>
        <p:txBody>
          <a:bodyPr/>
          <a:lstStyle/>
          <a:p>
            <a:r>
              <a:rPr lang="nl-NL" noProof="0" dirty="0"/>
              <a:t>Regels</a:t>
            </a:r>
          </a:p>
        </p:txBody>
      </p:sp>
    </p:spTree>
    <p:extLst>
      <p:ext uri="{BB962C8B-B14F-4D97-AF65-F5344CB8AC3E}">
        <p14:creationId xmlns:p14="http://schemas.microsoft.com/office/powerpoint/2010/main" val="23047914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A036867-7C3E-F6D3-35EC-25D374D961C3}"/>
              </a:ext>
            </a:extLst>
          </p:cNvPr>
          <p:cNvGraphicFramePr>
            <a:graphicFrameLocks noGrp="1"/>
          </p:cNvGraphicFramePr>
          <p:nvPr>
            <p:ph idx="1"/>
          </p:nvPr>
        </p:nvGraphicFramePr>
        <p:xfrm>
          <a:off x="5548207" y="2183824"/>
          <a:ext cx="5938398" cy="2684139"/>
        </p:xfrm>
        <a:graphic>
          <a:graphicData uri="http://schemas.openxmlformats.org/drawingml/2006/table">
            <a:tbl>
              <a:tblPr/>
              <a:tblGrid>
                <a:gridCol w="608061">
                  <a:extLst>
                    <a:ext uri="{9D8B030D-6E8A-4147-A177-3AD203B41FA5}">
                      <a16:colId xmlns:a16="http://schemas.microsoft.com/office/drawing/2014/main" val="3862215905"/>
                    </a:ext>
                  </a:extLst>
                </a:gridCol>
                <a:gridCol w="646451">
                  <a:extLst>
                    <a:ext uri="{9D8B030D-6E8A-4147-A177-3AD203B41FA5}">
                      <a16:colId xmlns:a16="http://schemas.microsoft.com/office/drawing/2014/main" val="1318716355"/>
                    </a:ext>
                  </a:extLst>
                </a:gridCol>
                <a:gridCol w="913075">
                  <a:extLst>
                    <a:ext uri="{9D8B030D-6E8A-4147-A177-3AD203B41FA5}">
                      <a16:colId xmlns:a16="http://schemas.microsoft.com/office/drawing/2014/main" val="957214976"/>
                    </a:ext>
                  </a:extLst>
                </a:gridCol>
                <a:gridCol w="1262743">
                  <a:extLst>
                    <a:ext uri="{9D8B030D-6E8A-4147-A177-3AD203B41FA5}">
                      <a16:colId xmlns:a16="http://schemas.microsoft.com/office/drawing/2014/main" val="744658625"/>
                    </a:ext>
                  </a:extLst>
                </a:gridCol>
                <a:gridCol w="957943">
                  <a:extLst>
                    <a:ext uri="{9D8B030D-6E8A-4147-A177-3AD203B41FA5}">
                      <a16:colId xmlns:a16="http://schemas.microsoft.com/office/drawing/2014/main" val="1146004422"/>
                    </a:ext>
                  </a:extLst>
                </a:gridCol>
                <a:gridCol w="1550125">
                  <a:extLst>
                    <a:ext uri="{9D8B030D-6E8A-4147-A177-3AD203B41FA5}">
                      <a16:colId xmlns:a16="http://schemas.microsoft.com/office/drawing/2014/main" val="4026807200"/>
                    </a:ext>
                  </a:extLst>
                </a:gridCol>
              </a:tblGrid>
              <a:tr h="232099">
                <a:tc>
                  <a:txBody>
                    <a:bodyPr/>
                    <a:lstStyle/>
                    <a:p>
                      <a:pPr algn="r" fontAlgn="ct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r" fontAlgn="ctr"/>
                      <a:r>
                        <a:rPr lang="nl-NL" sz="800" b="1" noProof="0">
                          <a:effectLst/>
                        </a:rPr>
                        <a:t>Klant_ID</a:t>
                      </a:r>
                      <a:endParaRPr lang="nl-NL" sz="800" b="1" noProof="0" dirty="0">
                        <a:effectLst/>
                      </a:endParaRPr>
                    </a:p>
                  </a:txBody>
                  <a:tcPr marL="53784" marR="53784" marT="26892" marB="26892"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ctr"/>
                      <a:r>
                        <a:rPr lang="nl-NL" sz="800" b="1" noProof="0">
                          <a:effectLst/>
                        </a:rPr>
                        <a:t>Leeftijd</a:t>
                      </a:r>
                      <a:endParaRPr lang="nl-NL" sz="800" b="1" noProof="0" dirty="0">
                        <a:effectLst/>
                      </a:endParaRPr>
                    </a:p>
                  </a:txBody>
                  <a:tcPr marL="53784" marR="53784" marT="26892" marB="26892"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ctr"/>
                      <a:r>
                        <a:rPr lang="nl-NL" sz="800" b="1" noProof="0">
                          <a:effectLst/>
                        </a:rPr>
                        <a:t>Maandelijkse_Uitgaven</a:t>
                      </a:r>
                      <a:endParaRPr lang="nl-NL" sz="800" b="1" noProof="0" dirty="0">
                        <a:effectLst/>
                      </a:endParaRPr>
                    </a:p>
                  </a:txBody>
                  <a:tcPr marL="53784" marR="53784" marT="26892" marB="26892"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ctr"/>
                      <a:r>
                        <a:rPr lang="nl-NL" sz="800" b="1" noProof="0">
                          <a:effectLst/>
                        </a:rPr>
                        <a:t>Loyaliteitsscore</a:t>
                      </a:r>
                      <a:endParaRPr lang="nl-NL" sz="800" b="1" noProof="0" dirty="0">
                        <a:effectLst/>
                      </a:endParaRPr>
                    </a:p>
                  </a:txBody>
                  <a:tcPr marL="53784" marR="53784" marT="26892" marB="26892"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ctr"/>
                      <a:r>
                        <a:rPr lang="nl-NL" sz="800" b="1" noProof="0">
                          <a:effectLst/>
                        </a:rPr>
                        <a:t>Campagne_Aanbieding</a:t>
                      </a:r>
                      <a:endParaRPr lang="nl-NL" sz="800" b="1" noProof="0" dirty="0">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36358939"/>
                  </a:ext>
                </a:extLst>
              </a:tr>
              <a:tr h="232099">
                <a:tc>
                  <a:txBody>
                    <a:bodyPr/>
                    <a:lstStyle/>
                    <a:p>
                      <a:pPr algn="r" fontAlgn="ctr"/>
                      <a:r>
                        <a:rPr lang="nl-NL" sz="800" b="1" noProof="0">
                          <a:effectLst/>
                        </a:rPr>
                        <a:t>0</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800" noProof="0">
                          <a:effectLst/>
                        </a:rPr>
                        <a:t>1</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56</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207.00</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3</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solidFill>
                            <a:srgbClr val="00B050"/>
                          </a:solidFill>
                          <a:effectLst/>
                        </a:rPr>
                        <a:t>Standaardaanbieding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B>
                      <a:noFill/>
                    </a:lnB>
                    <a:solidFill>
                      <a:srgbClr val="F5F5F5"/>
                    </a:solidFill>
                  </a:tcPr>
                </a:tc>
                <a:extLst>
                  <a:ext uri="{0D108BD9-81ED-4DB2-BD59-A6C34878D82A}">
                    <a16:rowId xmlns:a16="http://schemas.microsoft.com/office/drawing/2014/main" val="3501027091"/>
                  </a:ext>
                </a:extLst>
              </a:tr>
              <a:tr h="271398">
                <a:tc>
                  <a:txBody>
                    <a:bodyPr/>
                    <a:lstStyle/>
                    <a:p>
                      <a:pPr algn="r" fontAlgn="ctr"/>
                      <a:r>
                        <a:rPr lang="nl-NL" sz="800" b="1" noProof="0">
                          <a:effectLst/>
                        </a:rPr>
                        <a:t>1</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tcPr>
                </a:tc>
                <a:tc>
                  <a:txBody>
                    <a:bodyPr/>
                    <a:lstStyle/>
                    <a:p>
                      <a:pPr algn="r" fontAlgn="ctr"/>
                      <a:r>
                        <a:rPr lang="nl-NL" sz="800" noProof="0">
                          <a:effectLst/>
                        </a:rPr>
                        <a:t>2</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69</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64.85</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4</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solidFill>
                            <a:srgbClr val="00B050"/>
                          </a:solidFill>
                          <a:effectLst/>
                        </a:rPr>
                        <a:t>Kortingsbon voor meer uitgaven</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237898845"/>
                  </a:ext>
                </a:extLst>
              </a:tr>
              <a:tr h="232099">
                <a:tc>
                  <a:txBody>
                    <a:bodyPr/>
                    <a:lstStyle/>
                    <a:p>
                      <a:pPr algn="r" fontAlgn="ctr"/>
                      <a:r>
                        <a:rPr lang="nl-NL" sz="800" b="1" noProof="0">
                          <a:effectLst/>
                        </a:rPr>
                        <a:t>2</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800" noProof="0">
                          <a:effectLst/>
                        </a:rPr>
                        <a:t>3</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46</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452.23</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4</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solidFill>
                            <a:srgbClr val="00B050"/>
                          </a:solidFill>
                          <a:effectLst/>
                        </a:rPr>
                        <a:t>Standaardaanbieding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3417207126"/>
                  </a:ext>
                </a:extLst>
              </a:tr>
              <a:tr h="232099">
                <a:tc>
                  <a:txBody>
                    <a:bodyPr/>
                    <a:lstStyle/>
                    <a:p>
                      <a:pPr algn="r" fontAlgn="ctr"/>
                      <a:r>
                        <a:rPr lang="nl-NL" sz="800" b="1" noProof="0">
                          <a:effectLst/>
                        </a:rPr>
                        <a:t>3</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tcPr>
                </a:tc>
                <a:tc>
                  <a:txBody>
                    <a:bodyPr/>
                    <a:lstStyle/>
                    <a:p>
                      <a:pPr algn="r" fontAlgn="ctr"/>
                      <a:r>
                        <a:rPr lang="nl-NL" sz="800" noProof="0">
                          <a:effectLst/>
                        </a:rPr>
                        <a:t>4</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32</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425.14</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3</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solidFill>
                            <a:srgbClr val="00B050"/>
                          </a:solidFill>
                          <a:effectLst/>
                        </a:rPr>
                        <a:t>Standaardaanbieding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257806029"/>
                  </a:ext>
                </a:extLst>
              </a:tr>
              <a:tr h="232099">
                <a:tc>
                  <a:txBody>
                    <a:bodyPr/>
                    <a:lstStyle/>
                    <a:p>
                      <a:pPr algn="r" fontAlgn="ctr"/>
                      <a:r>
                        <a:rPr lang="nl-NL" sz="800" b="1" noProof="0">
                          <a:effectLst/>
                        </a:rPr>
                        <a:t>4</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800" noProof="0">
                          <a:effectLst/>
                        </a:rPr>
                        <a:t>5</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60</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328.81</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10</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solidFill>
                            <a:srgbClr val="00B050"/>
                          </a:solidFill>
                          <a:effectLst/>
                        </a:rPr>
                        <a:t>Speciale beloning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3290390715"/>
                  </a:ext>
                </a:extLst>
              </a:tr>
              <a:tr h="271398">
                <a:tc>
                  <a:txBody>
                    <a:bodyPr/>
                    <a:lstStyle/>
                    <a:p>
                      <a:pPr algn="r" fontAlgn="ctr"/>
                      <a:r>
                        <a:rPr lang="nl-NL" sz="800" b="1" noProof="0">
                          <a:effectLst/>
                        </a:rPr>
                        <a:t>5</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tcPr>
                </a:tc>
                <a:tc>
                  <a:txBody>
                    <a:bodyPr/>
                    <a:lstStyle/>
                    <a:p>
                      <a:pPr algn="r" fontAlgn="ctr"/>
                      <a:r>
                        <a:rPr lang="nl-NL" sz="800" noProof="0">
                          <a:effectLst/>
                        </a:rPr>
                        <a:t>6</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25</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63.38</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3</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solidFill>
                            <a:srgbClr val="00B050"/>
                          </a:solidFill>
                          <a:effectLst/>
                        </a:rPr>
                        <a:t>Kortingsbon voor meer uitgaven</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960913151"/>
                  </a:ext>
                </a:extLst>
              </a:tr>
              <a:tr h="232099">
                <a:tc>
                  <a:txBody>
                    <a:bodyPr/>
                    <a:lstStyle/>
                    <a:p>
                      <a:pPr algn="r" fontAlgn="ctr"/>
                      <a:r>
                        <a:rPr lang="nl-NL" sz="800" b="1" noProof="0">
                          <a:effectLst/>
                        </a:rPr>
                        <a:t>6</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800" noProof="0">
                          <a:effectLst/>
                        </a:rPr>
                        <a:t>7</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38</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238.90</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3</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solidFill>
                            <a:srgbClr val="00B050"/>
                          </a:solidFill>
                          <a:effectLst/>
                        </a:rPr>
                        <a:t>Standaardaanbieding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1865329937"/>
                  </a:ext>
                </a:extLst>
              </a:tr>
              <a:tr h="232099">
                <a:tc>
                  <a:txBody>
                    <a:bodyPr/>
                    <a:lstStyle/>
                    <a:p>
                      <a:pPr algn="r" fontAlgn="ctr"/>
                      <a:r>
                        <a:rPr lang="nl-NL" sz="800" b="1" noProof="0">
                          <a:effectLst/>
                        </a:rPr>
                        <a:t>7</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tcPr>
                </a:tc>
                <a:tc>
                  <a:txBody>
                    <a:bodyPr/>
                    <a:lstStyle/>
                    <a:p>
                      <a:pPr algn="r" fontAlgn="ctr"/>
                      <a:r>
                        <a:rPr lang="nl-NL" sz="800" noProof="0">
                          <a:effectLst/>
                        </a:rPr>
                        <a:t>8</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56</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725.77</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effectLst/>
                        </a:rPr>
                        <a:t>4</a:t>
                      </a:r>
                      <a:endParaRPr lang="nl-NL" sz="800" noProof="0" dirty="0">
                        <a:effectLst/>
                      </a:endParaRPr>
                    </a:p>
                  </a:txBody>
                  <a:tcPr marL="53784" marR="53784" marT="26892" marB="26892" anchor="ctr">
                    <a:lnL>
                      <a:noFill/>
                    </a:lnL>
                    <a:lnR>
                      <a:noFill/>
                    </a:lnR>
                    <a:lnT>
                      <a:noFill/>
                    </a:lnT>
                    <a:lnB>
                      <a:noFill/>
                    </a:lnB>
                  </a:tcPr>
                </a:tc>
                <a:tc>
                  <a:txBody>
                    <a:bodyPr/>
                    <a:lstStyle/>
                    <a:p>
                      <a:pPr algn="r" fontAlgn="ctr"/>
                      <a:r>
                        <a:rPr lang="nl-NL" sz="800" noProof="0">
                          <a:solidFill>
                            <a:srgbClr val="00B050"/>
                          </a:solidFill>
                          <a:effectLst/>
                        </a:rPr>
                        <a:t>Exclusieve 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262040654"/>
                  </a:ext>
                </a:extLst>
              </a:tr>
              <a:tr h="232099">
                <a:tc>
                  <a:txBody>
                    <a:bodyPr/>
                    <a:lstStyle/>
                    <a:p>
                      <a:pPr algn="r" fontAlgn="ctr"/>
                      <a:r>
                        <a:rPr lang="nl-NL" sz="800" b="1" noProof="0">
                          <a:effectLst/>
                        </a:rPr>
                        <a:t>8</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800" noProof="0">
                          <a:effectLst/>
                        </a:rPr>
                        <a:t>9</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36</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800.67</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effectLst/>
                        </a:rPr>
                        <a:t>7</a:t>
                      </a:r>
                      <a:endParaRPr lang="nl-NL" sz="800" noProof="0" dirty="0">
                        <a:effectLst/>
                      </a:endParaRPr>
                    </a:p>
                  </a:txBody>
                  <a:tcPr marL="53784" marR="53784" marT="26892" marB="26892" anchor="ctr">
                    <a:lnL>
                      <a:noFill/>
                    </a:lnL>
                    <a:lnR>
                      <a:noFill/>
                    </a:lnR>
                    <a:lnT>
                      <a:noFill/>
                    </a:lnT>
                    <a:lnB>
                      <a:noFill/>
                    </a:lnB>
                    <a:solidFill>
                      <a:srgbClr val="F5F5F5"/>
                    </a:solidFill>
                  </a:tcPr>
                </a:tc>
                <a:tc>
                  <a:txBody>
                    <a:bodyPr/>
                    <a:lstStyle/>
                    <a:p>
                      <a:pPr algn="r" fontAlgn="ctr"/>
                      <a:r>
                        <a:rPr lang="nl-NL" sz="800" noProof="0">
                          <a:solidFill>
                            <a:srgbClr val="00B050"/>
                          </a:solidFill>
                          <a:effectLst/>
                        </a:rPr>
                        <a:t>Exclusieve 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195428516"/>
                  </a:ext>
                </a:extLst>
              </a:tr>
              <a:tr h="232099">
                <a:tc>
                  <a:txBody>
                    <a:bodyPr/>
                    <a:lstStyle/>
                    <a:p>
                      <a:pPr algn="r" fontAlgn="ctr"/>
                      <a:r>
                        <a:rPr lang="nl-NL" sz="800" b="1" noProof="0">
                          <a:effectLst/>
                        </a:rPr>
                        <a:t>9</a:t>
                      </a:r>
                      <a:endParaRPr lang="nl-NL" sz="800" b="1" noProof="0" dirty="0">
                        <a:effectLst/>
                      </a:endParaRPr>
                    </a:p>
                  </a:txBody>
                  <a:tcPr marL="53784" marR="53784" marT="26892" marB="26892"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pPr algn="r" fontAlgn="ctr"/>
                      <a:r>
                        <a:rPr lang="nl-NL" sz="800" noProof="0">
                          <a:effectLst/>
                        </a:rPr>
                        <a:t>10</a:t>
                      </a:r>
                      <a:endParaRPr lang="nl-NL" sz="800" noProof="0" dirty="0">
                        <a:effectLst/>
                      </a:endParaRPr>
                    </a:p>
                  </a:txBody>
                  <a:tcPr marL="53784" marR="53784" marT="26892" marB="26892"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ctr"/>
                      <a:r>
                        <a:rPr lang="nl-NL" sz="800" noProof="0">
                          <a:effectLst/>
                        </a:rPr>
                        <a:t>40</a:t>
                      </a:r>
                      <a:endParaRPr lang="nl-NL" sz="800" noProof="0" dirty="0">
                        <a:effectLst/>
                      </a:endParaRPr>
                    </a:p>
                  </a:txBody>
                  <a:tcPr marL="53784" marR="53784" marT="26892" marB="26892"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ctr"/>
                      <a:r>
                        <a:rPr lang="nl-NL" sz="800" noProof="0">
                          <a:effectLst/>
                        </a:rPr>
                        <a:t>625.66</a:t>
                      </a:r>
                      <a:endParaRPr lang="nl-NL" sz="800" noProof="0" dirty="0">
                        <a:effectLst/>
                      </a:endParaRPr>
                    </a:p>
                  </a:txBody>
                  <a:tcPr marL="53784" marR="53784" marT="26892" marB="26892"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ctr"/>
                      <a:r>
                        <a:rPr lang="nl-NL" sz="800" noProof="0">
                          <a:effectLst/>
                        </a:rPr>
                        <a:t>4</a:t>
                      </a:r>
                      <a:endParaRPr lang="nl-NL" sz="800" noProof="0" dirty="0">
                        <a:effectLst/>
                      </a:endParaRPr>
                    </a:p>
                  </a:txBody>
                  <a:tcPr marL="53784" marR="53784" marT="26892" marB="26892"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ctr"/>
                      <a:r>
                        <a:rPr lang="nl-NL" sz="800" noProof="0">
                          <a:solidFill>
                            <a:srgbClr val="00B050"/>
                          </a:solidFill>
                          <a:effectLst/>
                        </a:rPr>
                        <a:t>Exclusieve aanbieding</a:t>
                      </a:r>
                      <a:endParaRPr lang="nl-NL" sz="800" noProof="0" dirty="0">
                        <a:solidFill>
                          <a:srgbClr val="00B050"/>
                        </a:solidFill>
                        <a:effectLst/>
                      </a:endParaRPr>
                    </a:p>
                  </a:txBody>
                  <a:tcPr marL="53784" marR="53784" marT="26892" marB="26892"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163143"/>
                  </a:ext>
                </a:extLst>
              </a:tr>
            </a:tbl>
          </a:graphicData>
        </a:graphic>
      </p:graphicFrame>
      <p:sp>
        <p:nvSpPr>
          <p:cNvPr id="3" name="Slide Number Placeholder 2">
            <a:extLst>
              <a:ext uri="{FF2B5EF4-FFF2-40B4-BE49-F238E27FC236}">
                <a16:creationId xmlns:a16="http://schemas.microsoft.com/office/drawing/2014/main" id="{D1B16199-1231-B70E-CB5E-41AF26F08DB5}"/>
              </a:ext>
            </a:extLst>
          </p:cNvPr>
          <p:cNvSpPr>
            <a:spLocks noGrp="1"/>
          </p:cNvSpPr>
          <p:nvPr>
            <p:ph type="sldNum" sz="quarter" idx="12"/>
          </p:nvPr>
        </p:nvSpPr>
        <p:spPr/>
        <p:txBody>
          <a:bodyPr/>
          <a:lstStyle/>
          <a:p>
            <a:fld id="{D270EDC2-4F5E-5547-954F-5222C286AC2A}" type="slidenum">
              <a:rPr lang="nl-NL" noProof="0" smtClean="0"/>
              <a:t>66</a:t>
            </a:fld>
            <a:endParaRPr lang="nl-NL" noProof="0" dirty="0"/>
          </a:p>
        </p:txBody>
      </p:sp>
      <p:sp>
        <p:nvSpPr>
          <p:cNvPr id="4" name="Title 3">
            <a:extLst>
              <a:ext uri="{FF2B5EF4-FFF2-40B4-BE49-F238E27FC236}">
                <a16:creationId xmlns:a16="http://schemas.microsoft.com/office/drawing/2014/main" id="{1EDD521A-B589-5CD1-281F-063013967AB3}"/>
              </a:ext>
            </a:extLst>
          </p:cNvPr>
          <p:cNvSpPr>
            <a:spLocks noGrp="1"/>
          </p:cNvSpPr>
          <p:nvPr>
            <p:ph type="title"/>
          </p:nvPr>
        </p:nvSpPr>
        <p:spPr/>
        <p:txBody>
          <a:bodyPr/>
          <a:lstStyle/>
          <a:p>
            <a:r>
              <a:rPr lang="nl-NL" noProof="0" dirty="0"/>
              <a:t>Code marketingacties</a:t>
            </a:r>
          </a:p>
        </p:txBody>
      </p:sp>
      <p:sp>
        <p:nvSpPr>
          <p:cNvPr id="5" name="Rectangle 1">
            <a:extLst>
              <a:ext uri="{FF2B5EF4-FFF2-40B4-BE49-F238E27FC236}">
                <a16:creationId xmlns:a16="http://schemas.microsoft.com/office/drawing/2014/main" id="{1CF798E3-7E47-57A0-FF96-7E7A3AC57E4D}"/>
              </a:ext>
            </a:extLst>
          </p:cNvPr>
          <p:cNvSpPr>
            <a:spLocks noChangeArrowheads="1"/>
          </p:cNvSpPr>
          <p:nvPr/>
        </p:nvSpPr>
        <p:spPr bwMode="auto">
          <a:xfrm>
            <a:off x="576000" y="1997839"/>
            <a:ext cx="4523679" cy="286232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noProof="0" dirty="0" err="1">
                <a:ln>
                  <a:noFill/>
                </a:ln>
                <a:solidFill>
                  <a:srgbClr val="0033B3"/>
                </a:solidFill>
                <a:effectLst/>
                <a:latin typeface="JetBrains Mono"/>
              </a:rPr>
              <a:t>def</a:t>
            </a:r>
            <a:r>
              <a:rPr kumimoji="0" lang="nl-NL" sz="1200" b="0" i="0" u="none" strike="noStrike" cap="none" normalizeH="0" baseline="0" noProof="0" dirty="0">
                <a:ln>
                  <a:noFill/>
                </a:ln>
                <a:solidFill>
                  <a:srgbClr val="0033B3"/>
                </a:solidFill>
                <a:effectLst/>
                <a:latin typeface="JetBrains Mono"/>
              </a:rPr>
              <a:t> </a:t>
            </a:r>
            <a:r>
              <a:rPr kumimoji="0" lang="nl-NL" sz="1200" b="0" i="0" u="none" strike="noStrike" cap="none" normalizeH="0" baseline="0" noProof="0" dirty="0" err="1">
                <a:ln>
                  <a:noFill/>
                </a:ln>
                <a:solidFill>
                  <a:srgbClr val="00627A"/>
                </a:solidFill>
                <a:effectLst/>
                <a:latin typeface="JetBrains Mono"/>
              </a:rPr>
              <a:t>marketing_campagne</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00000"/>
                </a:solidFill>
                <a:effectLst/>
                <a:latin typeface="JetBrains Mono"/>
              </a:rPr>
              <a:t>rij</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033B3"/>
                </a:solidFill>
                <a:effectLst/>
                <a:latin typeface="JetBrains Mono"/>
              </a:rPr>
              <a:t>if</a:t>
            </a:r>
            <a:r>
              <a:rPr kumimoji="0" lang="nl-NL" sz="1200" b="0" i="0" u="none" strike="noStrike" cap="none" normalizeH="0" baseline="0" noProof="0" dirty="0">
                <a:ln>
                  <a:noFill/>
                </a:ln>
                <a:solidFill>
                  <a:srgbClr val="0033B3"/>
                </a:solidFill>
                <a:effectLst/>
                <a:latin typeface="JetBrains Mono"/>
              </a:rPr>
              <a:t> </a:t>
            </a:r>
            <a:r>
              <a:rPr kumimoji="0" lang="nl-NL" sz="1200" b="0" i="0" u="none" strike="noStrike" cap="none" normalizeH="0" baseline="0" noProof="0" dirty="0">
                <a:ln>
                  <a:noFill/>
                </a:ln>
                <a:solidFill>
                  <a:srgbClr val="000000"/>
                </a:solidFill>
                <a:effectLst/>
                <a:latin typeface="JetBrains Mono"/>
              </a:rPr>
              <a:t>rij</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Maandelijkse_Uitgaven</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&gt; </a:t>
            </a:r>
            <a:r>
              <a:rPr kumimoji="0" lang="nl-NL" sz="1200" b="0" i="0" u="none" strike="noStrike" cap="none" normalizeH="0" baseline="0" noProof="0" dirty="0">
                <a:ln>
                  <a:noFill/>
                </a:ln>
                <a:solidFill>
                  <a:srgbClr val="1750EB"/>
                </a:solidFill>
                <a:effectLst/>
                <a:latin typeface="JetBrains Mono"/>
              </a:rPr>
              <a:t>500</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return </a:t>
            </a:r>
            <a:r>
              <a:rPr kumimoji="0" lang="nl-NL" sz="1200" b="0" i="0" u="none" strike="noStrike" cap="none" normalizeH="0" baseline="0" noProof="0" dirty="0">
                <a:ln>
                  <a:noFill/>
                </a:ln>
                <a:solidFill>
                  <a:srgbClr val="067D17"/>
                </a:solidFill>
                <a:effectLst/>
                <a:latin typeface="JetBrains Mono"/>
              </a:rPr>
              <a:t>'Exclusieve aanbieding'</a:t>
            </a:r>
            <a:br>
              <a:rPr kumimoji="0" lang="nl-NL" sz="1200" b="0" i="0" u="none" strike="noStrike" cap="none" normalizeH="0" baseline="0" noProof="0" dirty="0">
                <a:ln>
                  <a:noFill/>
                </a:ln>
                <a:solidFill>
                  <a:srgbClr val="067D17"/>
                </a:solidFill>
                <a:effectLst/>
                <a:latin typeface="JetBrains Mono"/>
              </a:rPr>
            </a:br>
            <a:r>
              <a:rPr kumimoji="0" lang="nl-NL" sz="1200" b="0" i="0" u="none" strike="noStrike" cap="none" normalizeH="0" baseline="0" noProof="0" dirty="0">
                <a:ln>
                  <a:noFill/>
                </a:ln>
                <a:solidFill>
                  <a:srgbClr val="067D17"/>
                </a:solidFill>
                <a:effectLst/>
                <a:latin typeface="JetBrains Mono"/>
              </a:rPr>
              <a:t>    </a:t>
            </a:r>
            <a:r>
              <a:rPr kumimoji="0" lang="nl-NL" sz="1200" b="0" i="0" u="none" strike="noStrike" cap="none" normalizeH="0" baseline="0" noProof="0" dirty="0" err="1">
                <a:ln>
                  <a:noFill/>
                </a:ln>
                <a:solidFill>
                  <a:srgbClr val="0033B3"/>
                </a:solidFill>
                <a:effectLst/>
                <a:latin typeface="JetBrains Mono"/>
              </a:rPr>
              <a:t>elif</a:t>
            </a:r>
            <a:r>
              <a:rPr kumimoji="0" lang="nl-NL" sz="1200" b="0" i="0" u="none" strike="noStrike" cap="none" normalizeH="0" baseline="0" noProof="0" dirty="0">
                <a:ln>
                  <a:noFill/>
                </a:ln>
                <a:solidFill>
                  <a:srgbClr val="0033B3"/>
                </a:solidFill>
                <a:effectLst/>
                <a:latin typeface="JetBrains Mono"/>
              </a:rPr>
              <a:t> </a:t>
            </a:r>
            <a:r>
              <a:rPr kumimoji="0" lang="nl-NL" sz="1200" b="0" i="0" u="none" strike="noStrike" cap="none" normalizeH="0" baseline="0" noProof="0" dirty="0">
                <a:ln>
                  <a:noFill/>
                </a:ln>
                <a:solidFill>
                  <a:srgbClr val="000000"/>
                </a:solidFill>
                <a:effectLst/>
                <a:latin typeface="JetBrains Mono"/>
              </a:rPr>
              <a:t>rij</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'Loyaliteitsscore'</a:t>
            </a:r>
            <a:r>
              <a:rPr kumimoji="0" lang="nl-NL" sz="1200" b="0" i="0" u="none" strike="noStrike" cap="none" normalizeH="0" baseline="0" noProof="0" dirty="0">
                <a:ln>
                  <a:noFill/>
                </a:ln>
                <a:solidFill>
                  <a:srgbClr val="080808"/>
                </a:solidFill>
                <a:effectLst/>
                <a:latin typeface="JetBrains Mono"/>
              </a:rPr>
              <a:t>] &gt; </a:t>
            </a:r>
            <a:r>
              <a:rPr kumimoji="0" lang="nl-NL" sz="1200" b="0" i="0" u="none" strike="noStrike" cap="none" normalizeH="0" baseline="0" noProof="0" dirty="0">
                <a:ln>
                  <a:noFill/>
                </a:ln>
                <a:solidFill>
                  <a:srgbClr val="1750EB"/>
                </a:solidFill>
                <a:effectLst/>
                <a:latin typeface="JetBrains Mono"/>
              </a:rPr>
              <a:t>7</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return </a:t>
            </a:r>
            <a:r>
              <a:rPr kumimoji="0" lang="nl-NL" sz="1200" b="0" i="0" u="none" strike="noStrike" cap="none" normalizeH="0" baseline="0" noProof="0" dirty="0">
                <a:ln>
                  <a:noFill/>
                </a:ln>
                <a:solidFill>
                  <a:srgbClr val="067D17"/>
                </a:solidFill>
                <a:effectLst/>
                <a:latin typeface="JetBrains Mono"/>
              </a:rPr>
              <a:t>'Speciale beloning'</a:t>
            </a:r>
            <a:br>
              <a:rPr kumimoji="0" lang="nl-NL" sz="1200" b="0" i="0" u="none" strike="noStrike" cap="none" normalizeH="0" baseline="0" noProof="0" dirty="0">
                <a:ln>
                  <a:noFill/>
                </a:ln>
                <a:solidFill>
                  <a:srgbClr val="067D17"/>
                </a:solidFill>
                <a:effectLst/>
                <a:latin typeface="JetBrains Mono"/>
              </a:rPr>
            </a:br>
            <a:r>
              <a:rPr kumimoji="0" lang="nl-NL" sz="1200" b="0" i="0" u="none" strike="noStrike" cap="none" normalizeH="0" baseline="0" noProof="0" dirty="0">
                <a:ln>
                  <a:noFill/>
                </a:ln>
                <a:solidFill>
                  <a:srgbClr val="067D17"/>
                </a:solidFill>
                <a:effectLst/>
                <a:latin typeface="JetBrains Mono"/>
              </a:rPr>
              <a:t>    </a:t>
            </a:r>
            <a:r>
              <a:rPr kumimoji="0" lang="nl-NL" sz="1200" b="0" i="0" u="none" strike="noStrike" cap="none" normalizeH="0" baseline="0" noProof="0" dirty="0" err="1">
                <a:ln>
                  <a:noFill/>
                </a:ln>
                <a:solidFill>
                  <a:srgbClr val="0033B3"/>
                </a:solidFill>
                <a:effectLst/>
                <a:latin typeface="JetBrains Mono"/>
              </a:rPr>
              <a:t>elif</a:t>
            </a:r>
            <a:r>
              <a:rPr kumimoji="0" lang="nl-NL" sz="1200" b="0" i="0" u="none" strike="noStrike" cap="none" normalizeH="0" baseline="0" noProof="0" dirty="0">
                <a:ln>
                  <a:noFill/>
                </a:ln>
                <a:solidFill>
                  <a:srgbClr val="0033B3"/>
                </a:solidFill>
                <a:effectLst/>
                <a:latin typeface="JetBrains Mono"/>
              </a:rPr>
              <a:t> </a:t>
            </a:r>
            <a:r>
              <a:rPr kumimoji="0" lang="nl-NL" sz="1200" b="0" i="0" u="none" strike="noStrike" cap="none" normalizeH="0" baseline="0" noProof="0" dirty="0">
                <a:ln>
                  <a:noFill/>
                </a:ln>
                <a:solidFill>
                  <a:srgbClr val="000000"/>
                </a:solidFill>
                <a:effectLst/>
                <a:latin typeface="JetBrains Mono"/>
              </a:rPr>
              <a:t>rij</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Maandelijkse_Uitgaven</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&lt; </a:t>
            </a:r>
            <a:r>
              <a:rPr kumimoji="0" lang="nl-NL" sz="1200" b="0" i="0" u="none" strike="noStrike" cap="none" normalizeH="0" baseline="0" noProof="0" dirty="0">
                <a:ln>
                  <a:noFill/>
                </a:ln>
                <a:solidFill>
                  <a:srgbClr val="1750EB"/>
                </a:solidFill>
                <a:effectLst/>
                <a:latin typeface="JetBrains Mono"/>
              </a:rPr>
              <a:t>200</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return </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Kortingsbon</a:t>
            </a:r>
            <a:r>
              <a:rPr kumimoji="0" lang="nl-NL" sz="1200" b="0" i="0" u="none" strike="noStrike" cap="none" normalizeH="0" baseline="0" noProof="0" dirty="0">
                <a:ln>
                  <a:noFill/>
                </a:ln>
                <a:solidFill>
                  <a:srgbClr val="067D17"/>
                </a:solidFill>
                <a:effectLst/>
                <a:latin typeface="JetBrains Mono"/>
              </a:rPr>
              <a:t> voor meer uitgaven'</a:t>
            </a:r>
            <a:br>
              <a:rPr kumimoji="0" lang="nl-NL" sz="1200" b="0" i="0" u="none" strike="noStrike" cap="none" normalizeH="0" baseline="0" noProof="0" dirty="0">
                <a:ln>
                  <a:noFill/>
                </a:ln>
                <a:solidFill>
                  <a:srgbClr val="067D17"/>
                </a:solidFill>
                <a:effectLst/>
                <a:latin typeface="JetBrains Mono"/>
              </a:rPr>
            </a:br>
            <a:r>
              <a:rPr kumimoji="0" lang="nl-NL" sz="1200" b="0" i="0" u="none" strike="noStrike" cap="none" normalizeH="0" baseline="0" noProof="0" dirty="0">
                <a:ln>
                  <a:noFill/>
                </a:ln>
                <a:solidFill>
                  <a:srgbClr val="067D17"/>
                </a:solidFill>
                <a:effectLst/>
                <a:latin typeface="JetBrains Mono"/>
              </a:rPr>
              <a:t>    </a:t>
            </a:r>
            <a:r>
              <a:rPr kumimoji="0" lang="nl-NL" sz="1200" b="0" i="0" u="none" strike="noStrike" cap="none" normalizeH="0" baseline="0" noProof="0" dirty="0" err="1">
                <a:ln>
                  <a:noFill/>
                </a:ln>
                <a:solidFill>
                  <a:srgbClr val="0033B3"/>
                </a:solidFill>
                <a:effectLst/>
                <a:latin typeface="JetBrains Mono"/>
              </a:rPr>
              <a:t>else</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return </a:t>
            </a:r>
            <a:r>
              <a:rPr kumimoji="0" lang="nl-NL" sz="1200" b="0" i="0" u="none" strike="noStrike" cap="none" normalizeH="0" baseline="0" noProof="0" dirty="0">
                <a:ln>
                  <a:noFill/>
                </a:ln>
                <a:solidFill>
                  <a:srgbClr val="067D17"/>
                </a:solidFill>
                <a:effectLst/>
                <a:latin typeface="JetBrains Mono"/>
              </a:rPr>
              <a:t>'Standaardaanbieding'</a:t>
            </a:r>
            <a:br>
              <a:rPr kumimoji="0" lang="nl-NL" sz="1200" b="0" i="0" u="none" strike="noStrike" cap="none" normalizeH="0" baseline="0" noProof="0" dirty="0">
                <a:ln>
                  <a:noFill/>
                </a:ln>
                <a:solidFill>
                  <a:srgbClr val="067D17"/>
                </a:solidFill>
                <a:effectLst/>
                <a:latin typeface="JetBrains Mono"/>
              </a:rPr>
            </a:br>
            <a:br>
              <a:rPr kumimoji="0" lang="nl-NL" sz="1200" b="0" i="0" u="none" strike="noStrike" cap="none" normalizeH="0" baseline="0" noProof="0" dirty="0">
                <a:ln>
                  <a:noFill/>
                </a:ln>
                <a:solidFill>
                  <a:srgbClr val="067D17"/>
                </a:solidFill>
                <a:effectLst/>
                <a:latin typeface="JetBrains Mono"/>
              </a:rPr>
            </a:br>
            <a:r>
              <a:rPr kumimoji="0" lang="nl-NL" sz="1200" b="0" i="1" u="none" strike="noStrike" cap="none" normalizeH="0" baseline="0" noProof="0" dirty="0">
                <a:ln>
                  <a:noFill/>
                </a:ln>
                <a:solidFill>
                  <a:srgbClr val="8C8C8C"/>
                </a:solidFill>
                <a:effectLst/>
                <a:latin typeface="JetBrains Mono"/>
              </a:rPr>
              <a:t># pas functie op elke rij toe en stop resultaat in een nieuwe kolom</a:t>
            </a:r>
            <a:br>
              <a:rPr kumimoji="0" lang="nl-NL" sz="1200" b="0" i="1" u="none" strike="noStrike" cap="none" normalizeH="0" baseline="0" noProof="0" dirty="0">
                <a:ln>
                  <a:noFill/>
                </a:ln>
                <a:solidFill>
                  <a:srgbClr val="8C8C8C"/>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Campagne_Aanbieding</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klant_data.apply</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marketing_campagne</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660099"/>
                </a:solidFill>
                <a:effectLst/>
                <a:latin typeface="JetBrains Mono"/>
              </a:rPr>
              <a:t>axis</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klant_data.head</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10</a:t>
            </a:r>
            <a:r>
              <a:rPr kumimoji="0" lang="nl-NL" sz="1200" b="0" i="0" u="none" strike="noStrike" cap="none" normalizeH="0" baseline="0" noProof="0" dirty="0">
                <a:ln>
                  <a:noFill/>
                </a:ln>
                <a:solidFill>
                  <a:srgbClr val="080808"/>
                </a:solidFill>
                <a:effectLst/>
                <a:latin typeface="JetBrains Mono"/>
              </a:rPr>
              <a:t>)</a:t>
            </a:r>
            <a:endParaRPr kumimoji="0" lang="nl-NL" sz="3200" b="0" i="0" u="none" strike="noStrike" cap="none" normalizeH="0" baseline="0" noProof="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0EC56CF6-DAC6-B5FC-3A68-6821B216B5EA}"/>
              </a:ext>
            </a:extLst>
          </p:cNvPr>
          <p:cNvSpPr txBox="1"/>
          <p:nvPr/>
        </p:nvSpPr>
        <p:spPr>
          <a:xfrm>
            <a:off x="1581561" y="5223284"/>
            <a:ext cx="9905044" cy="923330"/>
          </a:xfrm>
          <a:prstGeom prst="rect">
            <a:avLst/>
          </a:prstGeom>
          <a:noFill/>
        </p:spPr>
        <p:txBody>
          <a:bodyPr wrap="square" rtlCol="0">
            <a:spAutoFit/>
          </a:bodyPr>
          <a:lstStyle/>
          <a:p>
            <a:pPr marL="285750" indent="-285750">
              <a:buFont typeface="Arial" panose="020B0604020202020204" pitchFamily="34" charset="0"/>
              <a:buChar char="•"/>
            </a:pPr>
            <a:r>
              <a:rPr lang="nl-NL" noProof="0" dirty="0"/>
              <a:t>Merk op: </a:t>
            </a:r>
            <a:r>
              <a:rPr lang="nl-NL" noProof="0" dirty="0" err="1">
                <a:latin typeface="Courier New" panose="02070309020205020404" pitchFamily="49" charset="0"/>
                <a:cs typeface="Courier New" panose="02070309020205020404" pitchFamily="49" charset="0"/>
              </a:rPr>
              <a:t>apply</a:t>
            </a:r>
            <a:r>
              <a:rPr lang="nl-NL" noProof="0" dirty="0">
                <a:latin typeface="Courier New" panose="02070309020205020404" pitchFamily="49" charset="0"/>
                <a:cs typeface="Courier New" panose="02070309020205020404" pitchFamily="49" charset="0"/>
              </a:rPr>
              <a:t>()</a:t>
            </a:r>
            <a:r>
              <a:rPr lang="nl-NL" noProof="0" dirty="0"/>
              <a:t> met </a:t>
            </a:r>
            <a:r>
              <a:rPr lang="nl-NL" noProof="0" dirty="0" err="1">
                <a:latin typeface="Courier New" panose="02070309020205020404" pitchFamily="49" charset="0"/>
                <a:cs typeface="Courier New" panose="02070309020205020404" pitchFamily="49" charset="0"/>
              </a:rPr>
              <a:t>axis</a:t>
            </a:r>
            <a:r>
              <a:rPr lang="nl-NL" noProof="0" dirty="0">
                <a:latin typeface="Courier New" panose="02070309020205020404" pitchFamily="49" charset="0"/>
                <a:cs typeface="Courier New" panose="02070309020205020404" pitchFamily="49" charset="0"/>
              </a:rPr>
              <a:t>=1</a:t>
            </a:r>
            <a:r>
              <a:rPr lang="nl-NL" noProof="0" dirty="0"/>
              <a:t> (langs de kolommen -&gt; per rij) zal de functie </a:t>
            </a:r>
            <a:r>
              <a:rPr lang="nl-NL" noProof="0" dirty="0" err="1">
                <a:latin typeface="Courier New" panose="02070309020205020404" pitchFamily="49" charset="0"/>
                <a:cs typeface="Courier New" panose="02070309020205020404" pitchFamily="49" charset="0"/>
              </a:rPr>
              <a:t>marketing_campagne</a:t>
            </a:r>
            <a:r>
              <a:rPr lang="nl-NL" noProof="0" dirty="0">
                <a:latin typeface="Courier New" panose="02070309020205020404" pitchFamily="49" charset="0"/>
                <a:cs typeface="Courier New" panose="02070309020205020404" pitchFamily="49" charset="0"/>
              </a:rPr>
              <a:t>()</a:t>
            </a:r>
            <a:r>
              <a:rPr lang="nl-NL" noProof="0" dirty="0"/>
              <a:t> toepassen op elke rij</a:t>
            </a:r>
          </a:p>
          <a:p>
            <a:pPr marL="285750" indent="-285750">
              <a:buFont typeface="Arial" panose="020B0604020202020204" pitchFamily="34" charset="0"/>
              <a:buChar char="•"/>
            </a:pPr>
            <a:r>
              <a:rPr lang="nl-NL" noProof="0" dirty="0"/>
              <a:t>1 rij = een </a:t>
            </a:r>
            <a:r>
              <a:rPr lang="nl-NL" noProof="0" dirty="0">
                <a:latin typeface="Courier New" panose="02070309020205020404" pitchFamily="49" charset="0"/>
                <a:cs typeface="Courier New" panose="02070309020205020404" pitchFamily="49" charset="0"/>
              </a:rPr>
              <a:t>Series</a:t>
            </a:r>
            <a:r>
              <a:rPr lang="nl-NL" noProof="0" dirty="0"/>
              <a:t>-object, dus we kunnen een cel in de rij opvragen met de kolomnaam</a:t>
            </a:r>
          </a:p>
        </p:txBody>
      </p:sp>
    </p:spTree>
    <p:extLst>
      <p:ext uri="{BB962C8B-B14F-4D97-AF65-F5344CB8AC3E}">
        <p14:creationId xmlns:p14="http://schemas.microsoft.com/office/powerpoint/2010/main" val="35009021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9BE8B10-3C3E-A67B-B16B-138CEC510709}"/>
                  </a:ext>
                </a:extLst>
              </p:cNvPr>
              <p:cNvSpPr>
                <a:spLocks noGrp="1"/>
              </p:cNvSpPr>
              <p:nvPr>
                <p:ph idx="1"/>
              </p:nvPr>
            </p:nvSpPr>
            <p:spPr/>
            <p:txBody>
              <a:bodyPr/>
              <a:lstStyle/>
              <a:p>
                <a:r>
                  <a:rPr lang="nl-NL" noProof="0" dirty="0"/>
                  <a:t>Customer </a:t>
                </a:r>
                <a:r>
                  <a:rPr lang="nl-NL" noProof="0" dirty="0" err="1"/>
                  <a:t>Lifetime</a:t>
                </a:r>
                <a:r>
                  <a:rPr lang="nl-NL" noProof="0" dirty="0"/>
                  <a:t> Value (CLV) is een wijdverspreid instrument om in te schatten of klanten nog veel zullen opbrengen</a:t>
                </a:r>
              </a:p>
              <a:p>
                <a:r>
                  <a:rPr lang="nl-NL" noProof="0" dirty="0"/>
                  <a:t>Formule: </a:t>
                </a:r>
                <a14:m>
                  <m:oMath xmlns:m="http://schemas.openxmlformats.org/officeDocument/2006/math">
                    <m:r>
                      <a:rPr lang="nl-NL" b="0" i="1" noProof="0" smtClean="0">
                        <a:latin typeface="Cambria Math" panose="02040503050406030204" pitchFamily="18" charset="0"/>
                      </a:rPr>
                      <m:t>𝐶𝐿𝑉</m:t>
                    </m:r>
                    <m:r>
                      <a:rPr lang="nl-NL" b="0" i="1" noProof="0" smtClean="0">
                        <a:latin typeface="Cambria Math" panose="02040503050406030204" pitchFamily="18" charset="0"/>
                      </a:rPr>
                      <m:t>=</m:t>
                    </m:r>
                    <m:r>
                      <a:rPr lang="nl-NL" b="0" i="1" noProof="0" smtClean="0">
                        <a:latin typeface="Cambria Math" panose="02040503050406030204" pitchFamily="18" charset="0"/>
                      </a:rPr>
                      <m:t>𝑜</m:t>
                    </m:r>
                    <m:r>
                      <a:rPr lang="nl-NL" b="0" i="1" noProof="0" smtClean="0">
                        <a:latin typeface="Cambria Math" panose="02040503050406030204" pitchFamily="18" charset="0"/>
                      </a:rPr>
                      <m:t>⋅</m:t>
                    </m:r>
                    <m:f>
                      <m:fPr>
                        <m:ctrlPr>
                          <a:rPr lang="nl-NL" b="0" i="1" noProof="0" smtClean="0">
                            <a:latin typeface="Cambria Math" panose="02040503050406030204" pitchFamily="18" charset="0"/>
                          </a:rPr>
                        </m:ctrlPr>
                      </m:fPr>
                      <m:num>
                        <m:r>
                          <a:rPr lang="nl-NL" b="0" i="1" noProof="0" smtClean="0">
                            <a:latin typeface="Cambria Math" panose="02040503050406030204" pitchFamily="18" charset="0"/>
                          </a:rPr>
                          <m:t>𝑟</m:t>
                        </m:r>
                      </m:num>
                      <m:den>
                        <m:r>
                          <a:rPr lang="nl-NL" b="0" i="1" noProof="0" smtClean="0">
                            <a:latin typeface="Cambria Math" panose="02040503050406030204" pitchFamily="18" charset="0"/>
                          </a:rPr>
                          <m:t>1+(</m:t>
                        </m:r>
                        <m:r>
                          <a:rPr lang="nl-NL" b="0" i="1" noProof="0" smtClean="0">
                            <a:latin typeface="Cambria Math" panose="02040503050406030204" pitchFamily="18" charset="0"/>
                          </a:rPr>
                          <m:t>𝑖</m:t>
                        </m:r>
                        <m:r>
                          <a:rPr lang="nl-NL" b="0" i="1" noProof="0" smtClean="0">
                            <a:latin typeface="Cambria Math" panose="02040503050406030204" pitchFamily="18" charset="0"/>
                          </a:rPr>
                          <m:t>−</m:t>
                        </m:r>
                        <m:r>
                          <a:rPr lang="nl-NL" b="0" i="1" noProof="0" smtClean="0">
                            <a:latin typeface="Cambria Math" panose="02040503050406030204" pitchFamily="18" charset="0"/>
                          </a:rPr>
                          <m:t>𝑟</m:t>
                        </m:r>
                        <m:r>
                          <a:rPr lang="nl-NL" b="0" i="1" noProof="0" smtClean="0">
                            <a:latin typeface="Cambria Math" panose="02040503050406030204" pitchFamily="18" charset="0"/>
                          </a:rPr>
                          <m:t>)</m:t>
                        </m:r>
                      </m:den>
                    </m:f>
                  </m:oMath>
                </a14:m>
                <a:endParaRPr lang="nl-NL" noProof="0" dirty="0"/>
              </a:p>
              <a:p>
                <a:pPr lvl="1"/>
                <a14:m>
                  <m:oMath xmlns:m="http://schemas.openxmlformats.org/officeDocument/2006/math">
                    <m:r>
                      <a:rPr lang="nl-NL" b="0" i="1" noProof="0" smtClean="0">
                        <a:latin typeface="Cambria Math" panose="02040503050406030204" pitchFamily="18" charset="0"/>
                      </a:rPr>
                      <m:t>𝑜</m:t>
                    </m:r>
                  </m:oMath>
                </a14:m>
                <a:r>
                  <a:rPr lang="nl-NL" noProof="0" dirty="0"/>
                  <a:t>: de opbrengst per maand</a:t>
                </a:r>
              </a:p>
              <a:p>
                <a:pPr lvl="1"/>
                <a14:m>
                  <m:oMath xmlns:m="http://schemas.openxmlformats.org/officeDocument/2006/math">
                    <m:r>
                      <a:rPr lang="nl-NL" b="0" i="1" noProof="0" smtClean="0">
                        <a:latin typeface="Cambria Math" panose="02040503050406030204" pitchFamily="18" charset="0"/>
                      </a:rPr>
                      <m:t>𝑖</m:t>
                    </m:r>
                  </m:oMath>
                </a14:m>
                <a:r>
                  <a:rPr lang="nl-NL" noProof="0" dirty="0"/>
                  <a:t>: de intrestvoet</a:t>
                </a:r>
              </a:p>
              <a:p>
                <a:pPr lvl="1"/>
                <a14:m>
                  <m:oMath xmlns:m="http://schemas.openxmlformats.org/officeDocument/2006/math">
                    <m:r>
                      <a:rPr lang="nl-NL" b="0" i="1" noProof="0" smtClean="0">
                        <a:latin typeface="Cambria Math" panose="02040503050406030204" pitchFamily="18" charset="0"/>
                      </a:rPr>
                      <m:t>𝑟</m:t>
                    </m:r>
                  </m:oMath>
                </a14:m>
                <a:r>
                  <a:rPr lang="nl-NL" noProof="0" dirty="0"/>
                  <a:t>: de ‘</a:t>
                </a:r>
                <a:r>
                  <a:rPr lang="nl-NL" noProof="0" dirty="0" err="1"/>
                  <a:t>retention</a:t>
                </a:r>
                <a:r>
                  <a:rPr lang="nl-NL" noProof="0" dirty="0"/>
                  <a:t> </a:t>
                </a:r>
                <a:r>
                  <a:rPr lang="nl-NL" noProof="0" dirty="0" err="1"/>
                  <a:t>rate</a:t>
                </a:r>
                <a:r>
                  <a:rPr lang="nl-NL" noProof="0" dirty="0"/>
                  <a:t>’, de waarschijnlijkheid dat een klant blijft</a:t>
                </a:r>
              </a:p>
            </p:txBody>
          </p:sp>
        </mc:Choice>
        <mc:Fallback xmlns="">
          <p:sp>
            <p:nvSpPr>
              <p:cNvPr id="2" name="Content Placeholder 1">
                <a:extLst>
                  <a:ext uri="{FF2B5EF4-FFF2-40B4-BE49-F238E27FC236}">
                    <a16:creationId xmlns:a16="http://schemas.microsoft.com/office/drawing/2014/main" id="{29BE8B10-3C3E-A67B-B16B-138CEC510709}"/>
                  </a:ext>
                </a:extLst>
              </p:cNvPr>
              <p:cNvSpPr>
                <a:spLocks noGrp="1" noRot="1" noChangeAspect="1" noMove="1" noResize="1" noEditPoints="1" noAdjustHandles="1" noChangeArrowheads="1" noChangeShapeType="1" noTextEdit="1"/>
              </p:cNvSpPr>
              <p:nvPr>
                <p:ph idx="1"/>
              </p:nvPr>
            </p:nvSpPr>
            <p:spPr>
              <a:blipFill>
                <a:blip r:embed="rId2"/>
                <a:stretch>
                  <a:fillRect l="-805" t="-1136"/>
                </a:stretch>
              </a:blipFill>
            </p:spPr>
            <p:txBody>
              <a:bodyPr/>
              <a:lstStyle/>
              <a:p>
                <a:r>
                  <a:rPr lang="en-BE">
                    <a:noFill/>
                  </a:rPr>
                  <a:t> </a:t>
                </a:r>
              </a:p>
            </p:txBody>
          </p:sp>
        </mc:Fallback>
      </mc:AlternateContent>
      <p:sp>
        <p:nvSpPr>
          <p:cNvPr id="3" name="Slide Number Placeholder 2">
            <a:extLst>
              <a:ext uri="{FF2B5EF4-FFF2-40B4-BE49-F238E27FC236}">
                <a16:creationId xmlns:a16="http://schemas.microsoft.com/office/drawing/2014/main" id="{A1BC7DCE-4609-648C-DC19-3F0C14EC717A}"/>
              </a:ext>
            </a:extLst>
          </p:cNvPr>
          <p:cNvSpPr>
            <a:spLocks noGrp="1"/>
          </p:cNvSpPr>
          <p:nvPr>
            <p:ph type="sldNum" sz="quarter" idx="12"/>
          </p:nvPr>
        </p:nvSpPr>
        <p:spPr/>
        <p:txBody>
          <a:bodyPr/>
          <a:lstStyle/>
          <a:p>
            <a:fld id="{D270EDC2-4F5E-5547-954F-5222C286AC2A}" type="slidenum">
              <a:rPr lang="nl-NL" noProof="0" smtClean="0"/>
              <a:t>67</a:t>
            </a:fld>
            <a:endParaRPr lang="nl-NL" noProof="0" dirty="0"/>
          </a:p>
        </p:txBody>
      </p:sp>
      <p:sp>
        <p:nvSpPr>
          <p:cNvPr id="4" name="Title 3">
            <a:extLst>
              <a:ext uri="{FF2B5EF4-FFF2-40B4-BE49-F238E27FC236}">
                <a16:creationId xmlns:a16="http://schemas.microsoft.com/office/drawing/2014/main" id="{22317926-A2B0-D141-51FF-B741B15CB9B9}"/>
              </a:ext>
            </a:extLst>
          </p:cNvPr>
          <p:cNvSpPr>
            <a:spLocks noGrp="1"/>
          </p:cNvSpPr>
          <p:nvPr>
            <p:ph type="title"/>
          </p:nvPr>
        </p:nvSpPr>
        <p:spPr/>
        <p:txBody>
          <a:bodyPr/>
          <a:lstStyle/>
          <a:p>
            <a:r>
              <a:rPr lang="nl-NL" noProof="0" dirty="0"/>
              <a:t>Berekenen Customer </a:t>
            </a:r>
            <a:r>
              <a:rPr lang="nl-NL" noProof="0" dirty="0" err="1"/>
              <a:t>Lifetime</a:t>
            </a:r>
            <a:r>
              <a:rPr lang="nl-NL" noProof="0" dirty="0"/>
              <a:t> Value</a:t>
            </a:r>
          </a:p>
        </p:txBody>
      </p:sp>
    </p:spTree>
    <p:extLst>
      <p:ext uri="{BB962C8B-B14F-4D97-AF65-F5344CB8AC3E}">
        <p14:creationId xmlns:p14="http://schemas.microsoft.com/office/powerpoint/2010/main" val="28021108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7FF2868-D6E2-9334-DCF1-751238F499E5}"/>
              </a:ext>
            </a:extLst>
          </p:cNvPr>
          <p:cNvGraphicFramePr>
            <a:graphicFrameLocks noGrp="1"/>
          </p:cNvGraphicFramePr>
          <p:nvPr>
            <p:ph idx="1"/>
            <p:extLst>
              <p:ext uri="{D42A27DB-BD31-4B8C-83A1-F6EECF244321}">
                <p14:modId xmlns:p14="http://schemas.microsoft.com/office/powerpoint/2010/main" val="3885279322"/>
              </p:ext>
            </p:extLst>
          </p:nvPr>
        </p:nvGraphicFramePr>
        <p:xfrm>
          <a:off x="5705221" y="1611322"/>
          <a:ext cx="6122158" cy="4268650"/>
        </p:xfrm>
        <a:graphic>
          <a:graphicData uri="http://schemas.openxmlformats.org/drawingml/2006/table">
            <a:tbl>
              <a:tblPr/>
              <a:tblGrid>
                <a:gridCol w="1233964">
                  <a:extLst>
                    <a:ext uri="{9D8B030D-6E8A-4147-A177-3AD203B41FA5}">
                      <a16:colId xmlns:a16="http://schemas.microsoft.com/office/drawing/2014/main" val="1000064268"/>
                    </a:ext>
                  </a:extLst>
                </a:gridCol>
                <a:gridCol w="940037">
                  <a:extLst>
                    <a:ext uri="{9D8B030D-6E8A-4147-A177-3AD203B41FA5}">
                      <a16:colId xmlns:a16="http://schemas.microsoft.com/office/drawing/2014/main" val="94652867"/>
                    </a:ext>
                  </a:extLst>
                </a:gridCol>
                <a:gridCol w="1051133">
                  <a:extLst>
                    <a:ext uri="{9D8B030D-6E8A-4147-A177-3AD203B41FA5}">
                      <a16:colId xmlns:a16="http://schemas.microsoft.com/office/drawing/2014/main" val="2214947940"/>
                    </a:ext>
                  </a:extLst>
                </a:gridCol>
                <a:gridCol w="1760434">
                  <a:extLst>
                    <a:ext uri="{9D8B030D-6E8A-4147-A177-3AD203B41FA5}">
                      <a16:colId xmlns:a16="http://schemas.microsoft.com/office/drawing/2014/main" val="1539043853"/>
                    </a:ext>
                  </a:extLst>
                </a:gridCol>
                <a:gridCol w="1136590">
                  <a:extLst>
                    <a:ext uri="{9D8B030D-6E8A-4147-A177-3AD203B41FA5}">
                      <a16:colId xmlns:a16="http://schemas.microsoft.com/office/drawing/2014/main" val="3214570344"/>
                    </a:ext>
                  </a:extLst>
                </a:gridCol>
              </a:tblGrid>
              <a:tr h="381438">
                <a:tc>
                  <a:txBody>
                    <a:bodyPr/>
                    <a:lstStyle/>
                    <a:p>
                      <a:pPr algn="r" fontAlgn="ctr"/>
                      <a:br>
                        <a:rPr lang="nl-NL" sz="1050" b="1" noProof="0">
                          <a:effectLst/>
                        </a:rPr>
                      </a:b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ctr"/>
                      <a:r>
                        <a:rPr lang="nl-NL" sz="1050" b="1" noProof="0">
                          <a:effectLst/>
                        </a:rPr>
                        <a:t>Klant_ID</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ctr"/>
                      <a:r>
                        <a:rPr lang="nl-NL" sz="1050" b="1" noProof="0" dirty="0">
                          <a:effectLst/>
                        </a:rPr>
                        <a:t>Leeftijd</a:t>
                      </a:r>
                    </a:p>
                  </a:txBody>
                  <a:tcPr marL="87530" marR="87530" marT="43765" marB="437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nl-NL" sz="1050" b="1" noProof="0" dirty="0" err="1">
                          <a:effectLst/>
                        </a:rPr>
                        <a:t>Maandelijkse_Uitgaven</a:t>
                      </a:r>
                      <a:endParaRPr lang="nl-NL" sz="1050" b="1" noProof="0" dirty="0">
                        <a:effectLst/>
                      </a:endParaRPr>
                    </a:p>
                    <a:p>
                      <a:pPr algn="r" fontAlgn="ct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50" b="1" noProof="0" dirty="0">
                          <a:solidFill>
                            <a:srgbClr val="00B050"/>
                          </a:solidFill>
                          <a:effectLst/>
                        </a:rPr>
                        <a:t>CLV</a:t>
                      </a:r>
                    </a:p>
                    <a:p>
                      <a:endParaRPr lang="nl-NL" sz="1050" noProof="0" dirty="0">
                        <a:solidFill>
                          <a:srgbClr val="00B050"/>
                        </a:solidFill>
                      </a:endParaRPr>
                    </a:p>
                  </a:txBody>
                  <a:tcPr marL="87530" marR="87530" marT="43765" marB="437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4949055"/>
                  </a:ext>
                </a:extLst>
              </a:tr>
              <a:tr h="219479">
                <a:tc>
                  <a:txBody>
                    <a:bodyPr/>
                    <a:lstStyle/>
                    <a:p>
                      <a:pPr algn="r" fontAlgn="ctr"/>
                      <a:r>
                        <a:rPr lang="nl-NL" sz="1050" b="1" noProof="0">
                          <a:effectLst/>
                        </a:rPr>
                        <a:t>Loyaliteitsscore</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endParaRPr lang="nl-NL" sz="1050" b="1" noProof="0" dirty="0">
                        <a:effectLst/>
                      </a:endParaRPr>
                    </a:p>
                  </a:txBody>
                  <a:tcPr marL="87530" marR="87530" marT="43765" marB="43765"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endParaRPr lang="nl-NL" sz="1050" b="1" noProof="0" dirty="0">
                        <a:effectLst/>
                      </a:endParaRPr>
                    </a:p>
                  </a:txBody>
                  <a:tcPr marL="87530" marR="87530" marT="43765" marB="43765"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endParaRPr lang="nl-NL" sz="1050" b="1" noProof="0" dirty="0">
                        <a:effectLst/>
                      </a:endParaRPr>
                    </a:p>
                  </a:txBody>
                  <a:tcPr marL="87530" marR="87530" marT="43765" marB="43765"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fontAlgn="ctr"/>
                      <a:endParaRPr lang="nl-NL" sz="1050" b="1"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988937463"/>
                  </a:ext>
                </a:extLst>
              </a:tr>
              <a:tr h="361353">
                <a:tc>
                  <a:txBody>
                    <a:bodyPr/>
                    <a:lstStyle/>
                    <a:p>
                      <a:pPr algn="r" fontAlgn="ctr"/>
                      <a:r>
                        <a:rPr lang="nl-NL" sz="1050" b="1" noProof="0">
                          <a:effectLst/>
                        </a:rPr>
                        <a:t>1</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050" noProof="0">
                          <a:effectLst/>
                        </a:rPr>
                        <a:t>60.133333</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39.200000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476.318000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solidFill>
                            <a:srgbClr val="00B050"/>
                          </a:solidFill>
                          <a:effectLst/>
                        </a:rPr>
                        <a:t>52.457930</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1719210566"/>
                  </a:ext>
                </a:extLst>
              </a:tr>
              <a:tr h="361353">
                <a:tc>
                  <a:txBody>
                    <a:bodyPr/>
                    <a:lstStyle/>
                    <a:p>
                      <a:pPr algn="r" fontAlgn="ctr"/>
                      <a:r>
                        <a:rPr lang="nl-NL" sz="1050" b="1" noProof="0" dirty="0">
                          <a:effectLst/>
                        </a:rPr>
                        <a:t>2</a:t>
                      </a: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ctr"/>
                      <a:r>
                        <a:rPr lang="nl-NL" sz="1050" noProof="0">
                          <a:effectLst/>
                        </a:rPr>
                        <a:t>45.428571</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52.857143</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491.467143</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solidFill>
                            <a:srgbClr val="00B050"/>
                          </a:solidFill>
                          <a:effectLst/>
                        </a:rPr>
                        <a:t>121.650283</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34367747"/>
                  </a:ext>
                </a:extLst>
              </a:tr>
              <a:tr h="361353">
                <a:tc>
                  <a:txBody>
                    <a:bodyPr/>
                    <a:lstStyle/>
                    <a:p>
                      <a:pPr algn="r" fontAlgn="ctr"/>
                      <a:r>
                        <a:rPr lang="nl-NL" sz="1050" b="1" noProof="0">
                          <a:effectLst/>
                        </a:rPr>
                        <a:t>3</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050" noProof="0">
                          <a:effectLst/>
                        </a:rPr>
                        <a:t>48.000000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46.823529</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449.924118</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solidFill>
                            <a:srgbClr val="00B050"/>
                          </a:solidFill>
                          <a:effectLst/>
                        </a:rPr>
                        <a:t>190.645813</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2158824179"/>
                  </a:ext>
                </a:extLst>
              </a:tr>
              <a:tr h="361353">
                <a:tc>
                  <a:txBody>
                    <a:bodyPr/>
                    <a:lstStyle/>
                    <a:p>
                      <a:pPr algn="r" fontAlgn="ctr"/>
                      <a:r>
                        <a:rPr lang="nl-NL" sz="1050" b="1" noProof="0">
                          <a:effectLst/>
                        </a:rPr>
                        <a:t>4</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ctr"/>
                      <a:r>
                        <a:rPr lang="nl-NL" sz="1050" noProof="0">
                          <a:effectLst/>
                        </a:rPr>
                        <a:t>39.615385</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46.538462</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450.863846</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solidFill>
                            <a:srgbClr val="00B050"/>
                          </a:solidFill>
                          <a:effectLst/>
                        </a:rPr>
                        <a:t>296.620951</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04494694"/>
                  </a:ext>
                </a:extLst>
              </a:tr>
              <a:tr h="361353">
                <a:tc>
                  <a:txBody>
                    <a:bodyPr/>
                    <a:lstStyle/>
                    <a:p>
                      <a:pPr algn="r" fontAlgn="ctr"/>
                      <a:r>
                        <a:rPr lang="nl-NL" sz="1050" b="1" noProof="0">
                          <a:effectLst/>
                        </a:rPr>
                        <a:t>5</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050" noProof="0">
                          <a:effectLst/>
                        </a:rPr>
                        <a:t>73.750000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49.125000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528.507500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solidFill>
                            <a:srgbClr val="00B050"/>
                          </a:solidFill>
                          <a:effectLst/>
                        </a:rPr>
                        <a:t>520.184547</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1441848053"/>
                  </a:ext>
                </a:extLst>
              </a:tr>
              <a:tr h="361353">
                <a:tc>
                  <a:txBody>
                    <a:bodyPr/>
                    <a:lstStyle/>
                    <a:p>
                      <a:pPr algn="r" fontAlgn="ctr"/>
                      <a:r>
                        <a:rPr lang="nl-NL" sz="1050" b="1" noProof="0">
                          <a:effectLst/>
                        </a:rPr>
                        <a:t>6</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ctr"/>
                      <a:r>
                        <a:rPr lang="nl-NL" sz="1050" noProof="0">
                          <a:effectLst/>
                        </a:rPr>
                        <a:t>70.333333</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34.555556</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435.316667</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solidFill>
                            <a:srgbClr val="00B050"/>
                          </a:solidFill>
                          <a:effectLst/>
                        </a:rPr>
                        <a:t>640.171569</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34444862"/>
                  </a:ext>
                </a:extLst>
              </a:tr>
              <a:tr h="361353">
                <a:tc>
                  <a:txBody>
                    <a:bodyPr/>
                    <a:lstStyle/>
                    <a:p>
                      <a:pPr algn="r" fontAlgn="ctr"/>
                      <a:r>
                        <a:rPr lang="nl-NL" sz="1050" b="1" noProof="0">
                          <a:effectLst/>
                        </a:rPr>
                        <a:t>7</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050" noProof="0">
                          <a:effectLst/>
                        </a:rPr>
                        <a:t>35.285714</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41.428571</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641.545714</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solidFill>
                            <a:srgbClr val="00B050"/>
                          </a:solidFill>
                          <a:effectLst/>
                        </a:rPr>
                        <a:t>1458.058442</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4274017094"/>
                  </a:ext>
                </a:extLst>
              </a:tr>
              <a:tr h="361353">
                <a:tc>
                  <a:txBody>
                    <a:bodyPr/>
                    <a:lstStyle/>
                    <a:p>
                      <a:pPr algn="r" fontAlgn="ctr"/>
                      <a:r>
                        <a:rPr lang="nl-NL" sz="1050" b="1" noProof="0">
                          <a:effectLst/>
                        </a:rPr>
                        <a:t>8</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ctr"/>
                      <a:r>
                        <a:rPr lang="nl-NL" sz="1050" noProof="0">
                          <a:effectLst/>
                        </a:rPr>
                        <a:t>51.727273</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46.454545</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effectLst/>
                        </a:rPr>
                        <a:t>474.942727</a:t>
                      </a:r>
                      <a:endParaRPr lang="nl-NL" sz="1050" noProof="0" dirty="0">
                        <a:effectLst/>
                      </a:endParaRPr>
                    </a:p>
                  </a:txBody>
                  <a:tcPr marL="87530" marR="87530" marT="43765" marB="43765" anchor="ctr">
                    <a:lnL>
                      <a:noFill/>
                    </a:lnL>
                    <a:lnR>
                      <a:noFill/>
                    </a:lnR>
                    <a:lnT>
                      <a:noFill/>
                    </a:lnT>
                    <a:lnB>
                      <a:noFill/>
                    </a:lnB>
                    <a:solidFill>
                      <a:srgbClr val="FFFFFF"/>
                    </a:solidFill>
                  </a:tcPr>
                </a:tc>
                <a:tc>
                  <a:txBody>
                    <a:bodyPr/>
                    <a:lstStyle/>
                    <a:p>
                      <a:pPr algn="r" fontAlgn="ctr"/>
                      <a:r>
                        <a:rPr lang="nl-NL" sz="1050" noProof="0">
                          <a:solidFill>
                            <a:srgbClr val="00B050"/>
                          </a:solidFill>
                          <a:effectLst/>
                        </a:rPr>
                        <a:t>1826.702797</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49496519"/>
                  </a:ext>
                </a:extLst>
              </a:tr>
              <a:tr h="361353">
                <a:tc>
                  <a:txBody>
                    <a:bodyPr/>
                    <a:lstStyle/>
                    <a:p>
                      <a:pPr algn="r" fontAlgn="ctr"/>
                      <a:r>
                        <a:rPr lang="nl-NL" sz="1050" b="1" noProof="0">
                          <a:effectLst/>
                        </a:rPr>
                        <a:t>9</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a:noFill/>
                    </a:lnB>
                    <a:solidFill>
                      <a:srgbClr val="F5F5F5"/>
                    </a:solidFill>
                  </a:tcPr>
                </a:tc>
                <a:tc>
                  <a:txBody>
                    <a:bodyPr/>
                    <a:lstStyle/>
                    <a:p>
                      <a:pPr algn="r" fontAlgn="ctr"/>
                      <a:r>
                        <a:rPr lang="nl-NL" sz="1050" noProof="0">
                          <a:effectLst/>
                        </a:rPr>
                        <a:t>40.800000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32.600000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effectLst/>
                        </a:rPr>
                        <a:t>595.127000</a:t>
                      </a:r>
                      <a:endParaRPr lang="nl-NL" sz="1050" noProof="0" dirty="0">
                        <a:effectLst/>
                      </a:endParaRPr>
                    </a:p>
                  </a:txBody>
                  <a:tcPr marL="87530" marR="87530" marT="43765" marB="43765" anchor="ctr">
                    <a:lnL>
                      <a:noFill/>
                    </a:lnL>
                    <a:lnR>
                      <a:noFill/>
                    </a:lnR>
                    <a:lnT>
                      <a:noFill/>
                    </a:lnT>
                    <a:lnB>
                      <a:noFill/>
                    </a:lnB>
                    <a:solidFill>
                      <a:srgbClr val="F5F5F5"/>
                    </a:solidFill>
                  </a:tcPr>
                </a:tc>
                <a:tc>
                  <a:txBody>
                    <a:bodyPr/>
                    <a:lstStyle/>
                    <a:p>
                      <a:pPr algn="r" fontAlgn="ctr"/>
                      <a:r>
                        <a:rPr lang="nl-NL" sz="1050" noProof="0">
                          <a:solidFill>
                            <a:srgbClr val="00B050"/>
                          </a:solidFill>
                          <a:effectLst/>
                        </a:rPr>
                        <a:t>4959.391667</a:t>
                      </a:r>
                      <a:endParaRPr lang="nl-NL" sz="1050" noProof="0" dirty="0">
                        <a:solidFill>
                          <a:srgbClr val="00B050"/>
                        </a:solidFill>
                        <a:effectLst/>
                      </a:endParaRPr>
                    </a:p>
                  </a:txBody>
                  <a:tcPr marL="87530" marR="87530" marT="43765" marB="43765" anchor="ctr">
                    <a:lnL>
                      <a:noFill/>
                    </a:lnL>
                    <a:lnR w="12700" cap="flat" cmpd="sng" algn="ctr">
                      <a:solidFill>
                        <a:schemeClr val="tx1"/>
                      </a:solidFill>
                      <a:prstDash val="solid"/>
                      <a:round/>
                      <a:headEnd type="none" w="med" len="med"/>
                      <a:tailEnd type="none" w="med" len="med"/>
                    </a:lnR>
                    <a:lnT>
                      <a:noFill/>
                    </a:lnT>
                    <a:lnB>
                      <a:noFill/>
                    </a:lnB>
                    <a:solidFill>
                      <a:srgbClr val="F5F5F5"/>
                    </a:solidFill>
                  </a:tcPr>
                </a:tc>
                <a:extLst>
                  <a:ext uri="{0D108BD9-81ED-4DB2-BD59-A6C34878D82A}">
                    <a16:rowId xmlns:a16="http://schemas.microsoft.com/office/drawing/2014/main" val="473766252"/>
                  </a:ext>
                </a:extLst>
              </a:tr>
              <a:tr h="361353">
                <a:tc>
                  <a:txBody>
                    <a:bodyPr/>
                    <a:lstStyle/>
                    <a:p>
                      <a:pPr algn="r" fontAlgn="ctr"/>
                      <a:r>
                        <a:rPr lang="nl-NL" sz="1050" b="1" noProof="0">
                          <a:effectLst/>
                        </a:rPr>
                        <a:t>10</a:t>
                      </a:r>
                      <a:endParaRPr lang="nl-NL" sz="1050" b="1" noProof="0" dirty="0">
                        <a:effectLst/>
                      </a:endParaRPr>
                    </a:p>
                  </a:txBody>
                  <a:tcPr marL="87530" marR="87530" marT="43765" marB="43765"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fontAlgn="ctr"/>
                      <a:r>
                        <a:rPr lang="nl-NL" sz="1050" noProof="0">
                          <a:effectLst/>
                        </a:rPr>
                        <a:t>17.333333</a:t>
                      </a:r>
                      <a:endParaRPr lang="nl-NL" sz="1050" noProof="0" dirty="0">
                        <a:effectLst/>
                      </a:endParaRPr>
                    </a:p>
                  </a:txBody>
                  <a:tcPr marL="87530" marR="87530" marT="43765" marB="43765"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fontAlgn="ctr"/>
                      <a:r>
                        <a:rPr lang="nl-NL" sz="1050" noProof="0">
                          <a:effectLst/>
                        </a:rPr>
                        <a:t>48.333333</a:t>
                      </a:r>
                      <a:endParaRPr lang="nl-NL" sz="1050" noProof="0" dirty="0">
                        <a:effectLst/>
                      </a:endParaRPr>
                    </a:p>
                  </a:txBody>
                  <a:tcPr marL="87530" marR="87530" marT="43765" marB="43765"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fontAlgn="ctr"/>
                      <a:r>
                        <a:rPr lang="nl-NL" sz="1050" noProof="0">
                          <a:effectLst/>
                        </a:rPr>
                        <a:t>589.486667</a:t>
                      </a:r>
                      <a:endParaRPr lang="nl-NL" sz="1050" noProof="0" dirty="0">
                        <a:effectLst/>
                      </a:endParaRPr>
                    </a:p>
                  </a:txBody>
                  <a:tcPr marL="87530" marR="87530" marT="43765" marB="43765"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fontAlgn="ctr"/>
                      <a:r>
                        <a:rPr lang="nl-NL" sz="1050" noProof="0" dirty="0">
                          <a:solidFill>
                            <a:srgbClr val="00B050"/>
                          </a:solidFill>
                          <a:effectLst/>
                        </a:rPr>
                        <a:t>73685.833333</a:t>
                      </a:r>
                    </a:p>
                  </a:txBody>
                  <a:tcPr marL="87530" marR="87530" marT="43765" marB="43765"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54606652"/>
                  </a:ext>
                </a:extLst>
              </a:tr>
            </a:tbl>
          </a:graphicData>
        </a:graphic>
      </p:graphicFrame>
      <p:sp>
        <p:nvSpPr>
          <p:cNvPr id="3" name="Slide Number Placeholder 2">
            <a:extLst>
              <a:ext uri="{FF2B5EF4-FFF2-40B4-BE49-F238E27FC236}">
                <a16:creationId xmlns:a16="http://schemas.microsoft.com/office/drawing/2014/main" id="{0EF2FDFC-4A0E-D7E3-9FE9-B6C377A6B4FF}"/>
              </a:ext>
            </a:extLst>
          </p:cNvPr>
          <p:cNvSpPr>
            <a:spLocks noGrp="1"/>
          </p:cNvSpPr>
          <p:nvPr>
            <p:ph type="sldNum" sz="quarter" idx="12"/>
          </p:nvPr>
        </p:nvSpPr>
        <p:spPr/>
        <p:txBody>
          <a:bodyPr/>
          <a:lstStyle/>
          <a:p>
            <a:fld id="{D270EDC2-4F5E-5547-954F-5222C286AC2A}" type="slidenum">
              <a:rPr lang="nl-NL" noProof="0" smtClean="0"/>
              <a:t>68</a:t>
            </a:fld>
            <a:endParaRPr lang="nl-NL" noProof="0" dirty="0"/>
          </a:p>
        </p:txBody>
      </p:sp>
      <p:sp>
        <p:nvSpPr>
          <p:cNvPr id="4" name="Title 3">
            <a:extLst>
              <a:ext uri="{FF2B5EF4-FFF2-40B4-BE49-F238E27FC236}">
                <a16:creationId xmlns:a16="http://schemas.microsoft.com/office/drawing/2014/main" id="{56886E0C-A4AE-5B4A-3836-63472AA048C9}"/>
              </a:ext>
            </a:extLst>
          </p:cNvPr>
          <p:cNvSpPr>
            <a:spLocks noGrp="1"/>
          </p:cNvSpPr>
          <p:nvPr>
            <p:ph type="title"/>
          </p:nvPr>
        </p:nvSpPr>
        <p:spPr/>
        <p:txBody>
          <a:bodyPr/>
          <a:lstStyle/>
          <a:p>
            <a:r>
              <a:rPr lang="nl-NL" noProof="0" dirty="0"/>
              <a:t>Code CLV</a:t>
            </a:r>
          </a:p>
        </p:txBody>
      </p:sp>
      <p:sp>
        <p:nvSpPr>
          <p:cNvPr id="5" name="Rectangle 1">
            <a:extLst>
              <a:ext uri="{FF2B5EF4-FFF2-40B4-BE49-F238E27FC236}">
                <a16:creationId xmlns:a16="http://schemas.microsoft.com/office/drawing/2014/main" id="{DE1F97A3-B075-1E48-59F6-3C8E63FBD638}"/>
              </a:ext>
            </a:extLst>
          </p:cNvPr>
          <p:cNvSpPr>
            <a:spLocks noChangeArrowheads="1"/>
          </p:cNvSpPr>
          <p:nvPr/>
        </p:nvSpPr>
        <p:spPr bwMode="auto">
          <a:xfrm>
            <a:off x="304800" y="2706417"/>
            <a:ext cx="5008663" cy="249299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nl-NL" sz="1200" b="0" i="1" u="none" strike="noStrike" cap="none" normalizeH="0" baseline="0" noProof="0" dirty="0">
                <a:ln>
                  <a:noFill/>
                </a:ln>
                <a:solidFill>
                  <a:srgbClr val="8C8C8C"/>
                </a:solidFill>
                <a:effectLst/>
                <a:latin typeface="JetBrains Mono"/>
              </a:rPr>
              <a:t># stel de </a:t>
            </a:r>
            <a:r>
              <a:rPr lang="nl-NL" sz="1200" i="1" noProof="0" dirty="0">
                <a:solidFill>
                  <a:srgbClr val="8C8C8C"/>
                </a:solidFill>
                <a:latin typeface="JetBrains Mono"/>
              </a:rPr>
              <a:t>intrestvoet </a:t>
            </a:r>
            <a:r>
              <a:rPr kumimoji="0" lang="nl-NL" sz="1200" b="0" i="1" u="none" strike="noStrike" cap="none" normalizeH="0" baseline="0" noProof="0" dirty="0">
                <a:ln>
                  <a:noFill/>
                </a:ln>
                <a:solidFill>
                  <a:srgbClr val="8C8C8C"/>
                </a:solidFill>
                <a:effectLst/>
                <a:latin typeface="JetBrains Mono"/>
              </a:rPr>
              <a:t>in (0.1 (10% per jaar), 0.008 per maand)</a:t>
            </a:r>
            <a:br>
              <a:rPr kumimoji="0" lang="nl-NL" sz="1200" b="0" i="1" u="none" strike="noStrike" cap="none" normalizeH="0" baseline="0" noProof="0" dirty="0">
                <a:ln>
                  <a:noFill/>
                </a:ln>
                <a:solidFill>
                  <a:srgbClr val="8C8C8C"/>
                </a:solidFill>
                <a:effectLst/>
                <a:latin typeface="JetBrains Mono"/>
              </a:rPr>
            </a:br>
            <a:r>
              <a:rPr kumimoji="0" lang="nl-NL" sz="1200" b="0" i="0" u="none" strike="noStrike" cap="none" normalizeH="0" baseline="0" noProof="0" dirty="0">
                <a:ln>
                  <a:noFill/>
                </a:ln>
                <a:solidFill>
                  <a:srgbClr val="080808"/>
                </a:solidFill>
                <a:effectLst/>
                <a:latin typeface="JetBrains Mono"/>
              </a:rPr>
              <a:t>intrestvoet = </a:t>
            </a:r>
            <a:r>
              <a:rPr kumimoji="0" lang="nl-NL" sz="1200" b="0" i="0" u="none" strike="noStrike" cap="none" normalizeH="0" baseline="0" noProof="0" dirty="0">
                <a:ln>
                  <a:noFill/>
                </a:ln>
                <a:solidFill>
                  <a:srgbClr val="1750EB"/>
                </a:solidFill>
                <a:effectLst/>
                <a:latin typeface="JetBrains Mono"/>
              </a:rPr>
              <a:t>0.008</a:t>
            </a:r>
            <a:br>
              <a:rPr kumimoji="0" lang="nl-NL" sz="1200" b="0" i="0" u="none" strike="noStrike" cap="none" normalizeH="0" baseline="0" noProof="0" dirty="0">
                <a:ln>
                  <a:noFill/>
                </a:ln>
                <a:solidFill>
                  <a:srgbClr val="1750EB"/>
                </a:solidFill>
                <a:effectLst/>
                <a:latin typeface="JetBrains Mono"/>
              </a:rPr>
            </a:br>
            <a:br>
              <a:rPr kumimoji="0" lang="nl-NL" sz="1200" b="0" i="0" u="none" strike="noStrike" cap="none" normalizeH="0" baseline="0" noProof="0" dirty="0">
                <a:ln>
                  <a:noFill/>
                </a:ln>
                <a:solidFill>
                  <a:srgbClr val="1750EB"/>
                </a:solidFill>
                <a:effectLst/>
                <a:latin typeface="JetBrains Mono"/>
              </a:rPr>
            </a:br>
            <a:r>
              <a:rPr kumimoji="0" lang="nl-NL" sz="1200" b="0" i="0" u="none" strike="noStrike" cap="none" normalizeH="0" baseline="0" noProof="0" dirty="0" err="1">
                <a:ln>
                  <a:noFill/>
                </a:ln>
                <a:solidFill>
                  <a:srgbClr val="0033B3"/>
                </a:solidFill>
                <a:effectLst/>
                <a:latin typeface="JetBrains Mono"/>
              </a:rPr>
              <a:t>def</a:t>
            </a:r>
            <a:r>
              <a:rPr kumimoji="0" lang="nl-NL" sz="1200" b="0" i="0" u="none" strike="noStrike" cap="none" normalizeH="0" baseline="0" noProof="0" dirty="0">
                <a:ln>
                  <a:noFill/>
                </a:ln>
                <a:solidFill>
                  <a:srgbClr val="0033B3"/>
                </a:solidFill>
                <a:effectLst/>
                <a:latin typeface="JetBrains Mono"/>
              </a:rPr>
              <a:t> </a:t>
            </a:r>
            <a:r>
              <a:rPr kumimoji="0" lang="nl-NL" sz="1200" b="0" i="0" u="none" strike="noStrike" cap="none" normalizeH="0" baseline="0" noProof="0" dirty="0" err="1">
                <a:ln>
                  <a:noFill/>
                </a:ln>
                <a:solidFill>
                  <a:srgbClr val="00627A"/>
                </a:solidFill>
                <a:effectLst/>
                <a:latin typeface="JetBrains Mono"/>
              </a:rPr>
              <a:t>bereken_clv</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00000"/>
                </a:solidFill>
                <a:effectLst/>
                <a:latin typeface="JetBrains Mono"/>
              </a:rPr>
              <a:t>row</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0000"/>
                </a:solidFill>
                <a:effectLst/>
                <a:latin typeface="JetBrains Mono"/>
              </a:rPr>
              <a:t>loyaliteit </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00000"/>
                </a:solidFill>
                <a:effectLst/>
                <a:latin typeface="JetBrains Mono"/>
              </a:rPr>
              <a:t>row</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'Loyaliteitsscore'</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a:ln>
                  <a:noFill/>
                </a:ln>
                <a:solidFill>
                  <a:srgbClr val="1750EB"/>
                </a:solidFill>
                <a:effectLst/>
                <a:latin typeface="JetBrains Mono"/>
              </a:rPr>
              <a:t>10</a:t>
            </a:r>
            <a:br>
              <a:rPr kumimoji="0" lang="nl-NL" sz="1200" b="0" i="0" u="none" strike="noStrike" cap="none" normalizeH="0" baseline="0" noProof="0" dirty="0">
                <a:ln>
                  <a:noFill/>
                </a:ln>
                <a:solidFill>
                  <a:srgbClr val="1750EB"/>
                </a:solidFill>
                <a:effectLst/>
                <a:latin typeface="JetBrains Mono"/>
              </a:rPr>
            </a:br>
            <a:r>
              <a:rPr kumimoji="0" lang="nl-NL" sz="1200" b="0" i="0" u="none" strike="noStrike" cap="none" normalizeH="0" baseline="0" noProof="0" dirty="0">
                <a:ln>
                  <a:noFill/>
                </a:ln>
                <a:solidFill>
                  <a:srgbClr val="1750EB"/>
                </a:solidFill>
                <a:effectLst/>
                <a:latin typeface="JetBrains Mono"/>
              </a:rPr>
              <a:t>    </a:t>
            </a:r>
            <a:r>
              <a:rPr kumimoji="0" lang="nl-NL" sz="1200" b="0" i="0" u="none" strike="noStrike" cap="none" normalizeH="0" baseline="0" noProof="0" dirty="0" err="1">
                <a:ln>
                  <a:noFill/>
                </a:ln>
                <a:solidFill>
                  <a:srgbClr val="000000"/>
                </a:solidFill>
                <a:effectLst/>
                <a:latin typeface="JetBrains Mono"/>
              </a:rPr>
              <a:t>maandelijkse_uitgaven</a:t>
            </a:r>
            <a:r>
              <a:rPr kumimoji="0" lang="nl-NL" sz="1200" b="0" i="0" u="none" strike="noStrike" cap="none" normalizeH="0" baseline="0" noProof="0" dirty="0">
                <a:ln>
                  <a:noFill/>
                </a:ln>
                <a:solidFill>
                  <a:srgbClr val="000000"/>
                </a:solidFill>
                <a:effectLst/>
                <a:latin typeface="JetBrains Mono"/>
              </a:rPr>
              <a:t> </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00000"/>
                </a:solidFill>
                <a:effectLst/>
                <a:latin typeface="JetBrains Mono"/>
              </a:rPr>
              <a:t>row</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Maandelijkse_Uitgaven</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0000"/>
                </a:solidFill>
                <a:effectLst/>
                <a:latin typeface="JetBrains Mono"/>
              </a:rPr>
              <a:t>clv </a:t>
            </a:r>
            <a:r>
              <a:rPr kumimoji="0" lang="nl-NL" sz="1200" b="0" i="0" u="none" strike="noStrike" cap="none" normalizeH="0" baseline="0" noProof="0" dirty="0">
                <a:ln>
                  <a:noFill/>
                </a:ln>
                <a:solidFill>
                  <a:srgbClr val="080808"/>
                </a:solidFill>
                <a:effectLst/>
                <a:latin typeface="JetBrains Mono"/>
              </a:rPr>
              <a:t>= </a:t>
            </a:r>
            <a:r>
              <a:rPr lang="nl-NL" sz="1200" dirty="0" err="1">
                <a:solidFill>
                  <a:srgbClr val="000000"/>
                </a:solidFill>
                <a:latin typeface="JetBrains Mono"/>
              </a:rPr>
              <a:t>maandelijkse_uitgaven</a:t>
            </a:r>
            <a:r>
              <a:rPr lang="nl-NL" sz="1200" dirty="0">
                <a:solidFill>
                  <a:srgbClr val="000000"/>
                </a:solidFill>
                <a:latin typeface="JetBrains Mono"/>
              </a:rPr>
              <a:t> </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0000"/>
                </a:solidFill>
                <a:effectLst/>
                <a:latin typeface="JetBrains Mono"/>
              </a:rPr>
              <a:t>loyaliteit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a:t>
            </a:r>
            <a:r>
              <a:rPr kumimoji="0" lang="nl-NL" sz="1200" b="0" i="0" u="none" strike="noStrike" cap="none" normalizeH="0" baseline="0" noProof="0" dirty="0">
                <a:ln>
                  <a:noFill/>
                </a:ln>
                <a:solidFill>
                  <a:srgbClr val="080808"/>
                </a:solidFill>
                <a:effectLst/>
                <a:latin typeface="JetBrains Mono"/>
              </a:rPr>
              <a:t>+(intrestvoet-</a:t>
            </a:r>
            <a:r>
              <a:rPr kumimoji="0" lang="nl-NL" sz="1200" b="0" i="0" u="none" strike="noStrike" cap="none" normalizeH="0" baseline="0" noProof="0" dirty="0">
                <a:ln>
                  <a:noFill/>
                </a:ln>
                <a:solidFill>
                  <a:srgbClr val="000000"/>
                </a:solidFill>
                <a:effectLst/>
                <a:latin typeface="JetBrains Mono"/>
              </a:rPr>
              <a:t>loyaliteit</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033B3"/>
                </a:solidFill>
                <a:effectLst/>
                <a:latin typeface="JetBrains Mono"/>
              </a:rPr>
              <a:t>return </a:t>
            </a:r>
            <a:r>
              <a:rPr kumimoji="0" lang="nl-NL" sz="1200" b="0" i="0" u="none" strike="noStrike" cap="none" normalizeH="0" baseline="0" noProof="0" dirty="0">
                <a:ln>
                  <a:noFill/>
                </a:ln>
                <a:solidFill>
                  <a:srgbClr val="000000"/>
                </a:solidFill>
                <a:effectLst/>
                <a:latin typeface="JetBrains Mono"/>
              </a:rPr>
              <a:t>clv</a:t>
            </a:r>
            <a:br>
              <a:rPr kumimoji="0" lang="nl-NL" sz="1200" b="0" i="0" u="none" strike="noStrike" cap="none" normalizeH="0" baseline="0" noProof="0" dirty="0">
                <a:ln>
                  <a:noFill/>
                </a:ln>
                <a:solidFill>
                  <a:srgbClr val="000000"/>
                </a:solidFill>
                <a:effectLst/>
                <a:latin typeface="JetBrains Mono"/>
              </a:rPr>
            </a:br>
            <a:br>
              <a:rPr kumimoji="0" lang="nl-NL" sz="1200" b="0" i="0" u="none" strike="noStrike" cap="none" normalizeH="0" baseline="0" noProof="0" dirty="0">
                <a:ln>
                  <a:noFill/>
                </a:ln>
                <a:solidFill>
                  <a:srgbClr val="000000"/>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'CLV'</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klant_data.apply</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bereken_clv</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660099"/>
                </a:solidFill>
                <a:effectLst/>
                <a:latin typeface="JetBrains Mono"/>
              </a:rPr>
              <a:t>axis</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klant_data.groupby</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'Loyaliteitsscore'</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mean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660099"/>
                </a:solidFill>
                <a:effectLst/>
                <a:latin typeface="JetBrains Mono"/>
              </a:rPr>
              <a:t>numeric_only</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033B3"/>
                </a:solidFill>
                <a:effectLst/>
                <a:latin typeface="JetBrains Mono"/>
              </a:rPr>
              <a:t>True</a:t>
            </a:r>
            <a:r>
              <a:rPr kumimoji="0" lang="nl-NL" sz="1200" b="0" i="0" u="none" strike="noStrike" cap="none" normalizeH="0" baseline="0" noProof="0" dirty="0">
                <a:ln>
                  <a:noFill/>
                </a:ln>
                <a:solidFill>
                  <a:srgbClr val="080808"/>
                </a:solidFill>
                <a:effectLst/>
                <a:latin typeface="JetBrains Mono"/>
              </a:rPr>
              <a:t>)</a:t>
            </a:r>
            <a:endParaRPr kumimoji="0" lang="nl-NL" sz="3200" b="0" i="0" u="none" strike="noStrike" cap="none" normalizeH="0" baseline="0" noProof="0" dirty="0">
              <a:ln>
                <a:noFill/>
              </a:ln>
              <a:solidFill>
                <a:schemeClr val="tx1"/>
              </a:solidFill>
              <a:effectLst/>
              <a:latin typeface="Arial" panose="020B0604020202020204" pitchFamily="34" charset="0"/>
            </a:endParaRPr>
          </a:p>
        </p:txBody>
      </p:sp>
      <p:cxnSp>
        <p:nvCxnSpPr>
          <p:cNvPr id="8" name="Straight Arrow Connector 7">
            <a:extLst>
              <a:ext uri="{FF2B5EF4-FFF2-40B4-BE49-F238E27FC236}">
                <a16:creationId xmlns:a16="http://schemas.microsoft.com/office/drawing/2014/main" id="{B5EC424C-2483-4824-C237-AF381E0FB706}"/>
              </a:ext>
            </a:extLst>
          </p:cNvPr>
          <p:cNvCxnSpPr>
            <a:cxnSpLocks/>
          </p:cNvCxnSpPr>
          <p:nvPr/>
        </p:nvCxnSpPr>
        <p:spPr>
          <a:xfrm flipV="1">
            <a:off x="2263158" y="1414769"/>
            <a:ext cx="3050305" cy="2014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FA78182-B11F-5D47-4911-1B60E9D44BED}"/>
              </a:ext>
            </a:extLst>
          </p:cNvPr>
          <p:cNvSpPr txBox="1"/>
          <p:nvPr/>
        </p:nvSpPr>
        <p:spPr>
          <a:xfrm flipH="1">
            <a:off x="4589091" y="774261"/>
            <a:ext cx="4369027" cy="584775"/>
          </a:xfrm>
          <a:prstGeom prst="rect">
            <a:avLst/>
          </a:prstGeom>
          <a:noFill/>
        </p:spPr>
        <p:txBody>
          <a:bodyPr wrap="square" rtlCol="0">
            <a:spAutoFit/>
          </a:bodyPr>
          <a:lstStyle/>
          <a:p>
            <a:r>
              <a:rPr lang="nl-NL" sz="1600" noProof="0" dirty="0"/>
              <a:t>Zet loyaliteitsscore om in een percentage (getal tussen 0 en 1)</a:t>
            </a:r>
          </a:p>
        </p:txBody>
      </p:sp>
    </p:spTree>
    <p:extLst>
      <p:ext uri="{BB962C8B-B14F-4D97-AF65-F5344CB8AC3E}">
        <p14:creationId xmlns:p14="http://schemas.microsoft.com/office/powerpoint/2010/main" val="38184043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8ACBE2-0372-56DC-7FBC-689D9D5BC0B8}"/>
              </a:ext>
            </a:extLst>
          </p:cNvPr>
          <p:cNvSpPr>
            <a:spLocks noGrp="1"/>
          </p:cNvSpPr>
          <p:nvPr>
            <p:ph type="sldNum" sz="quarter" idx="12"/>
          </p:nvPr>
        </p:nvSpPr>
        <p:spPr/>
        <p:txBody>
          <a:bodyPr/>
          <a:lstStyle/>
          <a:p>
            <a:fld id="{D270EDC2-4F5E-5547-954F-5222C286AC2A}" type="slidenum">
              <a:rPr lang="nl-NL" noProof="0" smtClean="0"/>
              <a:t>69</a:t>
            </a:fld>
            <a:endParaRPr lang="nl-NL" noProof="0" dirty="0"/>
          </a:p>
        </p:txBody>
      </p:sp>
      <p:sp>
        <p:nvSpPr>
          <p:cNvPr id="4" name="Title 3">
            <a:extLst>
              <a:ext uri="{FF2B5EF4-FFF2-40B4-BE49-F238E27FC236}">
                <a16:creationId xmlns:a16="http://schemas.microsoft.com/office/drawing/2014/main" id="{8A985BC9-1DEE-7B53-C056-A7FB4BD622C8}"/>
              </a:ext>
            </a:extLst>
          </p:cNvPr>
          <p:cNvSpPr>
            <a:spLocks noGrp="1"/>
          </p:cNvSpPr>
          <p:nvPr>
            <p:ph type="title"/>
          </p:nvPr>
        </p:nvSpPr>
        <p:spPr/>
        <p:txBody>
          <a:bodyPr/>
          <a:lstStyle/>
          <a:p>
            <a:r>
              <a:rPr lang="nl-NL" noProof="0" dirty="0"/>
              <a:t>Filteren van klanten</a:t>
            </a:r>
          </a:p>
        </p:txBody>
      </p:sp>
      <p:sp>
        <p:nvSpPr>
          <p:cNvPr id="5" name="Rectangle 1">
            <a:extLst>
              <a:ext uri="{FF2B5EF4-FFF2-40B4-BE49-F238E27FC236}">
                <a16:creationId xmlns:a16="http://schemas.microsoft.com/office/drawing/2014/main" id="{7D97C7AD-164C-D874-5421-918D5247E48C}"/>
              </a:ext>
            </a:extLst>
          </p:cNvPr>
          <p:cNvSpPr>
            <a:spLocks noChangeArrowheads="1"/>
          </p:cNvSpPr>
          <p:nvPr/>
        </p:nvSpPr>
        <p:spPr bwMode="auto">
          <a:xfrm>
            <a:off x="574800" y="2979513"/>
            <a:ext cx="7106195" cy="212365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200" b="0" i="0" u="none" strike="noStrike" cap="none" normalizeH="0" baseline="0" noProof="0" dirty="0" err="1">
                <a:ln>
                  <a:noFill/>
                </a:ln>
                <a:solidFill>
                  <a:srgbClr val="080808"/>
                </a:solidFill>
                <a:effectLst/>
                <a:latin typeface="JetBrains Mono"/>
              </a:rPr>
              <a:t>hoog_clv_klanten</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'CLV'</a:t>
            </a:r>
            <a:r>
              <a:rPr kumimoji="0" lang="nl-NL" sz="1200" b="0" i="0" u="none" strike="noStrike" cap="none" normalizeH="0" baseline="0" noProof="0" dirty="0">
                <a:ln>
                  <a:noFill/>
                </a:ln>
                <a:solidFill>
                  <a:srgbClr val="080808"/>
                </a:solidFill>
                <a:effectLst/>
                <a:latin typeface="JetBrains Mono"/>
              </a:rPr>
              <a:t>] &gt; </a:t>
            </a:r>
            <a:r>
              <a:rPr kumimoji="0" lang="nl-NL" sz="1200" b="0" i="0" u="none" strike="noStrike" cap="none" normalizeH="0" baseline="0" noProof="0" dirty="0">
                <a:ln>
                  <a:noFill/>
                </a:ln>
                <a:solidFill>
                  <a:srgbClr val="1750EB"/>
                </a:solidFill>
                <a:effectLst/>
                <a:latin typeface="JetBrains Mono"/>
              </a:rPr>
              <a:t>20000</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loyaliteit_klanten</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'Loyaliteitsscore'</a:t>
            </a:r>
            <a:r>
              <a:rPr kumimoji="0" lang="nl-NL" sz="1200" b="0" i="0" u="none" strike="noStrike" cap="none" normalizeH="0" baseline="0" noProof="0" dirty="0">
                <a:ln>
                  <a:noFill/>
                </a:ln>
                <a:solidFill>
                  <a:srgbClr val="080808"/>
                </a:solidFill>
                <a:effectLst/>
                <a:latin typeface="JetBrains Mono"/>
              </a:rPr>
              <a:t>] &gt;= </a:t>
            </a:r>
            <a:r>
              <a:rPr kumimoji="0" lang="nl-NL" sz="1200" b="0" i="0" u="none" strike="noStrike" cap="none" normalizeH="0" baseline="0" noProof="0" dirty="0">
                <a:ln>
                  <a:noFill/>
                </a:ln>
                <a:solidFill>
                  <a:srgbClr val="1750EB"/>
                </a:solidFill>
                <a:effectLst/>
                <a:latin typeface="JetBrains Mono"/>
              </a:rPr>
              <a:t>8</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lage_uitgaven_klanten</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Maandelijkse_Uitgaven</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&lt; </a:t>
            </a:r>
            <a:r>
              <a:rPr kumimoji="0" lang="nl-NL" sz="1200" b="0" i="0" u="none" strike="noStrike" cap="none" normalizeH="0" baseline="0" noProof="0" dirty="0">
                <a:ln>
                  <a:noFill/>
                </a:ln>
                <a:solidFill>
                  <a:srgbClr val="1750EB"/>
                </a:solidFill>
                <a:effectLst/>
                <a:latin typeface="JetBrains Mono"/>
              </a:rPr>
              <a:t>200</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filtered_data</a:t>
            </a:r>
            <a:r>
              <a:rPr kumimoji="0" lang="nl-NL" sz="1200" b="0" i="0" u="none" strike="noStrike" cap="none" normalizeH="0" baseline="0" noProof="0" dirty="0">
                <a:ln>
                  <a:noFill/>
                </a:ln>
                <a:solidFill>
                  <a:srgbClr val="080808"/>
                </a:solidFill>
                <a:effectLst/>
                <a:latin typeface="JetBrains Mono"/>
              </a:rPr>
              <a:t> = </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isin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hoog_clv_klanten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 </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isin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loyaliteit_klanten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 </a:t>
            </a: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err="1">
                <a:ln>
                  <a:noFill/>
                </a:ln>
                <a:solidFill>
                  <a:srgbClr val="080808"/>
                </a:solidFill>
                <a:effectLst/>
                <a:latin typeface="JetBrains Mono"/>
              </a:rPr>
              <a:t>klant_data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isin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lage_uitgaven_klanten</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a:t>
            </a:r>
            <a:br>
              <a:rPr kumimoji="0" lang="nl-NL" sz="1200" b="0" i="0" u="none" strike="noStrike" cap="none" normalizeH="0" baseline="0" noProof="0" dirty="0">
                <a:ln>
                  <a:noFill/>
                </a:ln>
                <a:solidFill>
                  <a:srgbClr val="080808"/>
                </a:solidFill>
                <a:effectLst/>
                <a:latin typeface="JetBrains Mono"/>
              </a:rPr>
            </a:br>
            <a:br>
              <a:rPr kumimoji="0" lang="nl-NL" sz="1200" b="0" i="0" u="none" strike="noStrike" cap="none" normalizeH="0" baseline="0" noProof="0" dirty="0">
                <a:ln>
                  <a:noFill/>
                </a:ln>
                <a:solidFill>
                  <a:srgbClr val="080808"/>
                </a:solidFill>
                <a:effectLst/>
                <a:latin typeface="JetBrains Mono"/>
              </a:rPr>
            </a:br>
            <a:r>
              <a:rPr kumimoji="0" lang="nl-NL" sz="1200" b="0" i="0" u="none" strike="noStrike" cap="none" normalizeH="0" baseline="0" noProof="0" dirty="0" err="1">
                <a:ln>
                  <a:noFill/>
                </a:ln>
                <a:solidFill>
                  <a:srgbClr val="080808"/>
                </a:solidFill>
                <a:effectLst/>
                <a:latin typeface="JetBrains Mono"/>
              </a:rPr>
              <a:t>filtered_data</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Klant_ID</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Maandelijkse_Uitgaven</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'Loyaliteitsscore'</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'CLV'</a:t>
            </a:r>
            <a:r>
              <a:rPr kumimoji="0" lang="nl-NL" sz="1200" b="0" i="0" u="none" strike="noStrike" cap="none" normalizeH="0" baseline="0" noProof="0" dirty="0">
                <a:ln>
                  <a:noFill/>
                </a:ln>
                <a:solidFill>
                  <a:srgbClr val="080808"/>
                </a:solidFill>
                <a:effectLst/>
                <a:latin typeface="JetBrains Mono"/>
              </a:rPr>
              <a:t>, </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err="1">
                <a:ln>
                  <a:noFill/>
                </a:ln>
                <a:solidFill>
                  <a:srgbClr val="067D17"/>
                </a:solidFill>
                <a:effectLst/>
                <a:latin typeface="JetBrains Mono"/>
              </a:rPr>
              <a:t>Campagne_Aanbieding</a:t>
            </a:r>
            <a:r>
              <a:rPr kumimoji="0" lang="nl-NL" sz="1200" b="0" i="0" u="none" strike="noStrike" cap="none" normalizeH="0" baseline="0" noProof="0" dirty="0">
                <a:ln>
                  <a:noFill/>
                </a:ln>
                <a:solidFill>
                  <a:srgbClr val="067D17"/>
                </a:solidFill>
                <a:effectLst/>
                <a:latin typeface="JetBrains Mono"/>
              </a:rPr>
              <a:t>'</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err="1">
                <a:ln>
                  <a:noFill/>
                </a:ln>
                <a:solidFill>
                  <a:srgbClr val="080808"/>
                </a:solidFill>
                <a:effectLst/>
                <a:latin typeface="JetBrains Mono"/>
              </a:rPr>
              <a:t>head</a:t>
            </a:r>
            <a:r>
              <a:rPr kumimoji="0" lang="nl-NL" sz="1200" b="0" i="0" u="none" strike="noStrike" cap="none" normalizeH="0" baseline="0" noProof="0" dirty="0">
                <a:ln>
                  <a:noFill/>
                </a:ln>
                <a:solidFill>
                  <a:srgbClr val="080808"/>
                </a:solidFill>
                <a:effectLst/>
                <a:latin typeface="JetBrains Mono"/>
              </a:rPr>
              <a:t>(</a:t>
            </a:r>
            <a:r>
              <a:rPr kumimoji="0" lang="nl-NL" sz="1200" b="0" i="0" u="none" strike="noStrike" cap="none" normalizeH="0" baseline="0" noProof="0" dirty="0">
                <a:ln>
                  <a:noFill/>
                </a:ln>
                <a:solidFill>
                  <a:srgbClr val="1750EB"/>
                </a:solidFill>
                <a:effectLst/>
                <a:latin typeface="JetBrains Mono"/>
              </a:rPr>
              <a:t>10</a:t>
            </a:r>
            <a:r>
              <a:rPr kumimoji="0" lang="nl-NL" sz="1200" b="0" i="0" u="none" strike="noStrike" cap="none" normalizeH="0" baseline="0" noProof="0" dirty="0">
                <a:ln>
                  <a:noFill/>
                </a:ln>
                <a:solidFill>
                  <a:srgbClr val="080808"/>
                </a:solidFill>
                <a:effectLst/>
                <a:latin typeface="JetBrains Mono"/>
              </a:rPr>
              <a:t>)</a:t>
            </a:r>
            <a:endParaRPr kumimoji="0" lang="nl-NL" sz="3200" b="0" i="0" u="none" strike="noStrike" cap="none" normalizeH="0" baseline="0" noProof="0" dirty="0">
              <a:ln>
                <a:noFill/>
              </a:ln>
              <a:solidFill>
                <a:schemeClr val="tx1"/>
              </a:solidFill>
              <a:effectLst/>
              <a:latin typeface="Arial" panose="020B0604020202020204" pitchFamily="34" charset="0"/>
            </a:endParaRPr>
          </a:p>
        </p:txBody>
      </p:sp>
      <p:cxnSp>
        <p:nvCxnSpPr>
          <p:cNvPr id="6" name="Straight Arrow Connector 5">
            <a:extLst>
              <a:ext uri="{FF2B5EF4-FFF2-40B4-BE49-F238E27FC236}">
                <a16:creationId xmlns:a16="http://schemas.microsoft.com/office/drawing/2014/main" id="{5118B5DB-0829-C4F7-1791-7F769AE37F2F}"/>
              </a:ext>
            </a:extLst>
          </p:cNvPr>
          <p:cNvCxnSpPr>
            <a:cxnSpLocks/>
          </p:cNvCxnSpPr>
          <p:nvPr/>
        </p:nvCxnSpPr>
        <p:spPr>
          <a:xfrm flipV="1">
            <a:off x="6345370" y="2529366"/>
            <a:ext cx="3007636" cy="899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1267A11-08A5-33C3-EF57-F1350EABD388}"/>
              </a:ext>
            </a:extLst>
          </p:cNvPr>
          <p:cNvSpPr txBox="1"/>
          <p:nvPr/>
        </p:nvSpPr>
        <p:spPr>
          <a:xfrm flipH="1">
            <a:off x="8516983" y="1882058"/>
            <a:ext cx="3603174" cy="584775"/>
          </a:xfrm>
          <a:prstGeom prst="rect">
            <a:avLst/>
          </a:prstGeom>
          <a:noFill/>
        </p:spPr>
        <p:txBody>
          <a:bodyPr wrap="square" rtlCol="0">
            <a:spAutoFit/>
          </a:bodyPr>
          <a:lstStyle/>
          <a:p>
            <a:r>
              <a:rPr lang="nl-NL" sz="1600" noProof="0" dirty="0"/>
              <a:t>Filter aparte eigenschappen:</a:t>
            </a:r>
          </a:p>
          <a:p>
            <a:r>
              <a:rPr lang="nl-NL" sz="1600" noProof="0" dirty="0"/>
              <a:t>Geeft nieuwe dataframe terug</a:t>
            </a:r>
          </a:p>
        </p:txBody>
      </p:sp>
      <p:sp>
        <p:nvSpPr>
          <p:cNvPr id="9" name="Right Brace 8">
            <a:extLst>
              <a:ext uri="{FF2B5EF4-FFF2-40B4-BE49-F238E27FC236}">
                <a16:creationId xmlns:a16="http://schemas.microsoft.com/office/drawing/2014/main" id="{1F4469D5-2272-E625-5374-1AC0174325DE}"/>
              </a:ext>
            </a:extLst>
          </p:cNvPr>
          <p:cNvSpPr/>
          <p:nvPr/>
        </p:nvSpPr>
        <p:spPr>
          <a:xfrm>
            <a:off x="6096000" y="2989855"/>
            <a:ext cx="45719" cy="92900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noProof="0" dirty="0"/>
          </a:p>
        </p:txBody>
      </p:sp>
      <p:sp>
        <p:nvSpPr>
          <p:cNvPr id="11" name="TextBox 10">
            <a:extLst>
              <a:ext uri="{FF2B5EF4-FFF2-40B4-BE49-F238E27FC236}">
                <a16:creationId xmlns:a16="http://schemas.microsoft.com/office/drawing/2014/main" id="{2E6A9A6D-9B2E-0554-6F41-4EC04740F841}"/>
              </a:ext>
            </a:extLst>
          </p:cNvPr>
          <p:cNvSpPr txBox="1"/>
          <p:nvPr/>
        </p:nvSpPr>
        <p:spPr>
          <a:xfrm flipH="1">
            <a:off x="8242663" y="3813055"/>
            <a:ext cx="3603174" cy="830997"/>
          </a:xfrm>
          <a:prstGeom prst="rect">
            <a:avLst/>
          </a:prstGeom>
          <a:noFill/>
        </p:spPr>
        <p:txBody>
          <a:bodyPr wrap="square" rtlCol="0">
            <a:spAutoFit/>
          </a:bodyPr>
          <a:lstStyle/>
          <a:p>
            <a:r>
              <a:rPr lang="nl-NL" sz="1600" noProof="0" dirty="0" err="1">
                <a:latin typeface="Courier New" panose="02070309020205020404" pitchFamily="49" charset="0"/>
                <a:cs typeface="Courier New" panose="02070309020205020404" pitchFamily="49" charset="0"/>
              </a:rPr>
              <a:t>isin</a:t>
            </a:r>
            <a:r>
              <a:rPr lang="nl-NL" sz="1600" noProof="0" dirty="0">
                <a:latin typeface="Courier New" panose="02070309020205020404" pitchFamily="49" charset="0"/>
                <a:cs typeface="Courier New" panose="02070309020205020404" pitchFamily="49" charset="0"/>
              </a:rPr>
              <a:t>() </a:t>
            </a:r>
            <a:r>
              <a:rPr lang="nl-NL" sz="1600" noProof="0" dirty="0"/>
              <a:t>wordt gebruikt om te zien welke klanten er in 1 van de 3 segmenten zit</a:t>
            </a:r>
          </a:p>
        </p:txBody>
      </p:sp>
      <p:cxnSp>
        <p:nvCxnSpPr>
          <p:cNvPr id="12" name="Straight Arrow Connector 11">
            <a:extLst>
              <a:ext uri="{FF2B5EF4-FFF2-40B4-BE49-F238E27FC236}">
                <a16:creationId xmlns:a16="http://schemas.microsoft.com/office/drawing/2014/main" id="{C5938930-151D-9CE0-62E8-9CE0D05AFE15}"/>
              </a:ext>
            </a:extLst>
          </p:cNvPr>
          <p:cNvCxnSpPr>
            <a:cxnSpLocks/>
            <a:endCxn id="11" idx="3"/>
          </p:cNvCxnSpPr>
          <p:nvPr/>
        </p:nvCxnSpPr>
        <p:spPr>
          <a:xfrm flipV="1">
            <a:off x="5991497" y="4228554"/>
            <a:ext cx="2251166" cy="162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9811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ts val="2400"/>
              </a:lnSpc>
              <a:spcBef>
                <a:spcPts val="0"/>
              </a:spcBef>
              <a:spcAft>
                <a:spcPts val="0"/>
              </a:spcAft>
              <a:buNone/>
            </a:pPr>
            <a:r>
              <a:rPr lang="nl-NL" sz="2000" dirty="0">
                <a:latin typeface="Consolas"/>
                <a:cs typeface="Consolas"/>
              </a:rPr>
              <a:t>def actie(rij):</a:t>
            </a:r>
          </a:p>
          <a:p>
            <a:pPr marL="0" indent="0">
              <a:lnSpc>
                <a:spcPts val="2400"/>
              </a:lnSpc>
              <a:spcBef>
                <a:spcPts val="0"/>
              </a:spcBef>
              <a:spcAft>
                <a:spcPts val="0"/>
              </a:spcAft>
              <a:buNone/>
            </a:pPr>
            <a:r>
              <a:rPr lang="nl-NL" sz="2000" dirty="0">
                <a:latin typeface="Consolas"/>
                <a:cs typeface="Consolas"/>
              </a:rPr>
              <a:t>    if rij['uitgaven'] &gt; 500:</a:t>
            </a:r>
          </a:p>
          <a:p>
            <a:pPr marL="0" indent="0">
              <a:lnSpc>
                <a:spcPts val="2400"/>
              </a:lnSpc>
              <a:spcBef>
                <a:spcPts val="0"/>
              </a:spcBef>
              <a:spcAft>
                <a:spcPts val="0"/>
              </a:spcAft>
              <a:buNone/>
            </a:pPr>
            <a:r>
              <a:rPr lang="nl-NL" sz="2000" dirty="0">
                <a:latin typeface="Consolas"/>
                <a:cs typeface="Consolas"/>
              </a:rPr>
              <a:t>        return 'exclusief'</a:t>
            </a:r>
          </a:p>
          <a:p>
            <a:pPr marL="0" indent="0">
              <a:lnSpc>
                <a:spcPts val="2400"/>
              </a:lnSpc>
              <a:spcBef>
                <a:spcPts val="0"/>
              </a:spcBef>
              <a:spcAft>
                <a:spcPts val="0"/>
              </a:spcAft>
              <a:buNone/>
            </a:pPr>
            <a:r>
              <a:rPr lang="nl-NL" sz="2000" dirty="0">
                <a:latin typeface="Consolas"/>
                <a:cs typeface="Consolas"/>
              </a:rPr>
              <a:t>    elif rij['loyaliteit'] &gt; 7:</a:t>
            </a:r>
          </a:p>
          <a:p>
            <a:pPr marL="0" indent="0">
              <a:lnSpc>
                <a:spcPts val="2400"/>
              </a:lnSpc>
              <a:spcBef>
                <a:spcPts val="0"/>
              </a:spcBef>
              <a:spcAft>
                <a:spcPts val="0"/>
              </a:spcAft>
              <a:buNone/>
            </a:pPr>
            <a:r>
              <a:rPr lang="nl-NL" sz="2000" dirty="0">
                <a:latin typeface="Consolas"/>
                <a:cs typeface="Consolas"/>
              </a:rPr>
              <a:t>        return 'loyaliteit'</a:t>
            </a:r>
          </a:p>
          <a:p>
            <a:pPr marL="0" indent="0">
              <a:lnSpc>
                <a:spcPts val="2400"/>
              </a:lnSpc>
              <a:spcBef>
                <a:spcPts val="0"/>
              </a:spcBef>
              <a:spcAft>
                <a:spcPts val="0"/>
              </a:spcAft>
              <a:buNone/>
            </a:pPr>
            <a:r>
              <a:rPr lang="nl-NL" sz="2000" dirty="0">
                <a:latin typeface="Consolas"/>
                <a:cs typeface="Consolas"/>
              </a:rPr>
              <a:t>    return 'standaard'</a:t>
            </a:r>
          </a:p>
          <a:p>
            <a:pPr marL="0" indent="0">
              <a:lnSpc>
                <a:spcPts val="2400"/>
              </a:lnSpc>
              <a:spcBef>
                <a:spcPts val="0"/>
              </a:spcBef>
              <a:spcAft>
                <a:spcPts val="0"/>
              </a:spcAft>
              <a:buNone/>
            </a:pPr>
            <a:endParaRPr lang="nl-NL" sz="1200" dirty="0"/>
          </a:p>
          <a:p>
            <a:pPr marL="0" indent="0">
              <a:lnSpc>
                <a:spcPts val="2400"/>
              </a:lnSpc>
              <a:spcBef>
                <a:spcPts val="0"/>
              </a:spcBef>
              <a:spcAft>
                <a:spcPts val="0"/>
              </a:spcAft>
              <a:buNone/>
            </a:pPr>
            <a:r>
              <a:rPr lang="nl-NL" sz="2000" dirty="0">
                <a:latin typeface="Consolas"/>
                <a:cs typeface="Consolas"/>
              </a:rPr>
              <a:t>print(list(klanten.apply(actie, axis=1)))</a:t>
            </a:r>
          </a:p>
          <a:p>
            <a:pPr marL="0" indent="0">
              <a:lnSpc>
                <a:spcPts val="2400"/>
              </a:lnSpc>
              <a:spcBef>
                <a:spcPts val="0"/>
              </a:spcBef>
              <a:spcAft>
                <a:spcPts val="0"/>
              </a:spcAft>
              <a:buNone/>
            </a:pPr>
            <a:r>
              <a:rPr lang="nl-NL" sz="2000" dirty="0">
                <a:latin typeface="Consolas"/>
                <a:cs typeface="Consolas"/>
              </a:rPr>
              <a:t>print(list(klanten['uitgaven'].apply(lambda x: x * 12)))</a:t>
            </a:r>
          </a:p>
          <a:p>
            <a:pPr marL="0" indent="0">
              <a:spcBef>
                <a:spcPts val="600"/>
              </a:spcBef>
              <a:buNone/>
            </a:pPr>
            <a:endParaRPr lang="nl-NL" sz="1400" dirty="0"/>
          </a:p>
          <a:p>
            <a:pPr marL="342900" indent="-342900">
              <a:spcBef>
                <a:spcPts val="600"/>
              </a:spcBef>
              <a:buAutoNum type="arabicPeriod"/>
            </a:pPr>
            <a:r>
              <a:rPr lang="nl-NL" sz="1800" b="1" dirty="0">
                <a:solidFill>
                  <a:srgbClr val="1D8DB0"/>
                </a:solidFill>
              </a:rPr>
              <a:t>Voorspel eerst (30 s)</a:t>
            </a:r>
          </a:p>
          <a:p>
            <a:pPr marL="342900" indent="-342900">
              <a:spcBef>
                <a:spcPts val="600"/>
              </a:spcBef>
              <a:buAutoNum type="arabicPeriod"/>
            </a:pPr>
            <a:r>
              <a:rPr lang="nl-NL" sz="1800" b="1" dirty="0">
                <a:solidFill>
                  <a:srgbClr val="1D8DB0"/>
                </a:solidFill>
              </a:rPr>
              <a:t>Dan runnen en verbeteren</a:t>
            </a:r>
          </a:p>
        </p:txBody>
      </p:sp>
      <p:sp>
        <p:nvSpPr>
          <p:cNvPr id="3" name="Title 2"/>
          <p:cNvSpPr>
            <a:spLocks noGrp="1"/>
          </p:cNvSpPr>
          <p:nvPr>
            <p:ph type="title"/>
          </p:nvPr>
        </p:nvSpPr>
        <p:spPr/>
        <p:txBody>
          <a:bodyPr/>
          <a:lstStyle/>
          <a:p>
            <a:r>
              <a:t>Oefening 1B.8: voorspel de output</a:t>
            </a:r>
          </a:p>
        </p:txBody>
      </p:sp>
      <p:sp>
        <p:nvSpPr>
          <p:cNvPr id="4" name="Slide Number Placeholder 3">
            <a:extLst>
              <a:ext uri="{FF2B5EF4-FFF2-40B4-BE49-F238E27FC236}">
                <a16:creationId xmlns:a16="http://schemas.microsoft.com/office/drawing/2014/main" id="{723215B2-A602-B244-93AC-2DCE347BC594}"/>
              </a:ext>
            </a:extLst>
          </p:cNvPr>
          <p:cNvSpPr>
            <a:spLocks noGrp="1"/>
          </p:cNvSpPr>
          <p:nvPr>
            <p:ph type="sldNum" sz="quarter" idx="12"/>
          </p:nvPr>
        </p:nvSpPr>
        <p:spPr/>
        <p:txBody>
          <a:bodyPr/>
          <a:lstStyle/>
          <a:p>
            <a:fld id="{D270EDC2-4F5E-5547-954F-5222C286AC2A}" type="slidenum">
              <a:rPr lang="nl-NL" smtClean="0"/>
              <a:t>70</a:t>
            </a:fld>
            <a:endParaRPr lang="nl-NL" dirty="0"/>
          </a:p>
        </p:txBody>
      </p:sp>
      <p:sp>
        <p:nvSpPr>
          <p:cNvPr id="5" name="TextBox 4"/>
          <p:cNvSpPr txBox="1"/>
          <p:nvPr/>
        </p:nvSpPr>
        <p:spPr>
          <a:xfrm>
            <a:off x="7916000" y="1656000"/>
            <a:ext cx="3700000" cy="1600000"/>
          </a:xfrm>
          <a:prstGeom prst="rect">
            <a:avLst/>
          </a:prstGeom>
          <a:noFill/>
          <a:ln w="9525">
            <a:solidFill>
              <a:srgbClr val="BFBFBF"/>
            </a:solidFill>
          </a:ln>
        </p:spPr>
        <p:txBody>
          <a:bodyPr wrap="none">
            <a:spAutoFit/>
          </a:bodyPr>
          <a:lstStyle/>
          <a:p>
            <a:r>
              <a:rPr sz="1600" b="1">
                <a:solidFill>
                  <a:srgbClr val="1D8DB0"/>
                </a:solidFill>
              </a:rPr>
              <a:t>Gegeven klanten:</a:t>
            </a:r>
          </a:p>
          <a:p>
            <a:r>
              <a:rPr sz="1500">
                <a:latin typeface="Consolas"/>
                <a:cs typeface="Consolas"/>
              </a:rPr>
              <a:t>  naam  uitgaven  loyaliteit</a:t>
            </a:r>
          </a:p>
          <a:p>
            <a:r>
              <a:rPr sz="1500">
                <a:latin typeface="Consolas"/>
                <a:cs typeface="Consolas"/>
              </a:rPr>
              <a:t>0   an       600           3</a:t>
            </a:r>
          </a:p>
          <a:p>
            <a:r>
              <a:rPr sz="1500">
                <a:latin typeface="Consolas"/>
                <a:cs typeface="Consolas"/>
              </a:rPr>
              <a:t>1   bo       120           9</a:t>
            </a:r>
          </a:p>
          <a:p>
            <a:r>
              <a:rPr sz="1500">
                <a:latin typeface="Consolas"/>
                <a:cs typeface="Consolas"/>
              </a:rPr>
              <a:t>2  cis       300           5</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6DAF61-A884-02D8-08FC-F86E74979418}"/>
              </a:ext>
            </a:extLst>
          </p:cNvPr>
          <p:cNvSpPr>
            <a:spLocks noGrp="1"/>
          </p:cNvSpPr>
          <p:nvPr>
            <p:ph idx="1"/>
          </p:nvPr>
        </p:nvSpPr>
        <p:spPr/>
        <p:txBody>
          <a:bodyPr>
            <a:normAutofit/>
          </a:bodyPr>
          <a:lstStyle/>
          <a:p>
            <a:r>
              <a:rPr lang="nl-NL" noProof="0" dirty="0"/>
              <a:t>We maken gebruik van </a:t>
            </a:r>
            <a:r>
              <a:rPr lang="nl-NL" noProof="0" dirty="0" err="1"/>
              <a:t>Matploblib</a:t>
            </a:r>
            <a:endParaRPr lang="nl-NL" noProof="0" dirty="0"/>
          </a:p>
          <a:p>
            <a:r>
              <a:rPr lang="nl-NL" noProof="0" dirty="0"/>
              <a:t>Merk op hoe we die kunnen </a:t>
            </a:r>
            <a:r>
              <a:rPr lang="nl-NL" noProof="0" dirty="0" err="1"/>
              <a:t>herbruiken</a:t>
            </a:r>
            <a:r>
              <a:rPr lang="nl-NL" noProof="0" dirty="0"/>
              <a:t> als we onze regels aanpassen</a:t>
            </a:r>
          </a:p>
          <a:p>
            <a:r>
              <a:rPr lang="nl-NL" noProof="0" dirty="0"/>
              <a:t>Syntax is heel gelijkaardig:</a:t>
            </a:r>
          </a:p>
          <a:p>
            <a:pPr lvl="1"/>
            <a:r>
              <a:rPr lang="nl-NL" sz="2000" noProof="0" dirty="0"/>
              <a:t>Histogram:</a:t>
            </a:r>
          </a:p>
          <a:p>
            <a:pPr lvl="2"/>
            <a:r>
              <a:rPr lang="nl-NL" sz="1600" noProof="0" dirty="0" err="1">
                <a:latin typeface="Courier New" panose="02070309020205020404" pitchFamily="49" charset="0"/>
                <a:cs typeface="Courier New" panose="02070309020205020404" pitchFamily="49" charset="0"/>
              </a:rPr>
              <a:t>plt.hist</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klant_data</a:t>
            </a:r>
            <a:r>
              <a:rPr lang="nl-NL" sz="1600" noProof="0" dirty="0">
                <a:latin typeface="Courier New" panose="02070309020205020404" pitchFamily="49" charset="0"/>
                <a:cs typeface="Courier New" panose="02070309020205020404" pitchFamily="49" charset="0"/>
              </a:rPr>
              <a:t>['CLV'], bins=20, </a:t>
            </a:r>
            <a:r>
              <a:rPr lang="nl-NL" sz="1600" noProof="0" dirty="0" err="1">
                <a:latin typeface="Courier New" panose="02070309020205020404" pitchFamily="49" charset="0"/>
                <a:cs typeface="Courier New" panose="02070309020205020404" pitchFamily="49" charset="0"/>
              </a:rPr>
              <a:t>color</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skyblue</a:t>
            </a:r>
            <a:r>
              <a:rPr lang="nl-NL" sz="1600" noProof="0" dirty="0">
                <a:latin typeface="Courier New" panose="02070309020205020404" pitchFamily="49" charset="0"/>
                <a:cs typeface="Courier New" panose="02070309020205020404" pitchFamily="49" charset="0"/>
              </a:rPr>
              <a:t>', </a:t>
            </a:r>
            <a:r>
              <a:rPr lang="nl-NL" sz="1600" noProof="0" dirty="0" err="1">
                <a:latin typeface="Courier New" panose="02070309020205020404" pitchFamily="49" charset="0"/>
                <a:cs typeface="Courier New" panose="02070309020205020404" pitchFamily="49" charset="0"/>
              </a:rPr>
              <a:t>edgecolor</a:t>
            </a:r>
            <a:r>
              <a:rPr lang="nl-NL" sz="1600" noProof="0" dirty="0">
                <a:latin typeface="Courier New" panose="02070309020205020404" pitchFamily="49" charset="0"/>
                <a:cs typeface="Courier New" panose="02070309020205020404" pitchFamily="49" charset="0"/>
              </a:rPr>
              <a:t>='black')</a:t>
            </a:r>
          </a:p>
          <a:p>
            <a:pPr lvl="1"/>
            <a:r>
              <a:rPr lang="nl-NL" sz="2000" noProof="0" dirty="0" err="1"/>
              <a:t>Scatterplot</a:t>
            </a:r>
            <a:r>
              <a:rPr lang="nl-NL" sz="2000" noProof="0" dirty="0"/>
              <a:t>:</a:t>
            </a:r>
          </a:p>
          <a:p>
            <a:pPr lvl="2"/>
            <a:r>
              <a:rPr lang="nl-NL" sz="1600" noProof="0" dirty="0" err="1">
                <a:latin typeface="Courier New" panose="02070309020205020404" pitchFamily="49" charset="0"/>
                <a:cs typeface="Courier New" panose="02070309020205020404" pitchFamily="49" charset="0"/>
              </a:rPr>
              <a:t>plt.scatter</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klant_data</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Maandelijkse_Uitgaven</a:t>
            </a:r>
            <a:r>
              <a:rPr lang="nl-NL" sz="1600" noProof="0" dirty="0">
                <a:latin typeface="Courier New" panose="02070309020205020404" pitchFamily="49" charset="0"/>
                <a:cs typeface="Courier New" panose="02070309020205020404" pitchFamily="49" charset="0"/>
              </a:rPr>
              <a:t>'], </a:t>
            </a:r>
            <a:r>
              <a:rPr lang="nl-NL" sz="1600" noProof="0" dirty="0" err="1">
                <a:latin typeface="Courier New" panose="02070309020205020404" pitchFamily="49" charset="0"/>
                <a:cs typeface="Courier New" panose="02070309020205020404" pitchFamily="49" charset="0"/>
              </a:rPr>
              <a:t>klant_data</a:t>
            </a:r>
            <a:r>
              <a:rPr lang="nl-NL" sz="1600" noProof="0" dirty="0">
                <a:latin typeface="Courier New" panose="02070309020205020404" pitchFamily="49" charset="0"/>
                <a:cs typeface="Courier New" panose="02070309020205020404" pitchFamily="49" charset="0"/>
              </a:rPr>
              <a:t>['CLV'], </a:t>
            </a:r>
            <a:r>
              <a:rPr lang="nl-NL" sz="1600" noProof="0" dirty="0" err="1">
                <a:latin typeface="Courier New" panose="02070309020205020404" pitchFamily="49" charset="0"/>
                <a:cs typeface="Courier New" panose="02070309020205020404" pitchFamily="49" charset="0"/>
              </a:rPr>
              <a:t>alpha</a:t>
            </a:r>
            <a:r>
              <a:rPr lang="nl-NL" sz="1600" noProof="0" dirty="0">
                <a:latin typeface="Courier New" panose="02070309020205020404" pitchFamily="49" charset="0"/>
                <a:cs typeface="Courier New" panose="02070309020205020404" pitchFamily="49" charset="0"/>
              </a:rPr>
              <a:t>=0.6, </a:t>
            </a:r>
            <a:r>
              <a:rPr lang="nl-NL" sz="1600" noProof="0" dirty="0" err="1">
                <a:latin typeface="Courier New" panose="02070309020205020404" pitchFamily="49" charset="0"/>
                <a:cs typeface="Courier New" panose="02070309020205020404" pitchFamily="49" charset="0"/>
              </a:rPr>
              <a:t>color</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orange</a:t>
            </a:r>
            <a:r>
              <a:rPr lang="nl-NL" sz="1600" noProof="0" dirty="0">
                <a:latin typeface="Courier New" panose="02070309020205020404" pitchFamily="49" charset="0"/>
                <a:cs typeface="Courier New" panose="02070309020205020404" pitchFamily="49" charset="0"/>
              </a:rPr>
              <a:t>’)</a:t>
            </a:r>
          </a:p>
          <a:p>
            <a:pPr lvl="1"/>
            <a:r>
              <a:rPr lang="nl-NL" sz="2000" noProof="0" dirty="0"/>
              <a:t>Taartdiagram:</a:t>
            </a:r>
          </a:p>
          <a:p>
            <a:pPr lvl="2"/>
            <a:r>
              <a:rPr lang="nl-NL" sz="1600" noProof="0" dirty="0" err="1">
                <a:latin typeface="Courier New" panose="02070309020205020404" pitchFamily="49" charset="0"/>
                <a:cs typeface="Courier New" panose="02070309020205020404" pitchFamily="49" charset="0"/>
              </a:rPr>
              <a:t>plt.pie</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sizes</a:t>
            </a:r>
            <a:r>
              <a:rPr lang="nl-NL" sz="1600" noProof="0" dirty="0">
                <a:latin typeface="Courier New" panose="02070309020205020404" pitchFamily="49" charset="0"/>
                <a:cs typeface="Courier New" panose="02070309020205020404" pitchFamily="49" charset="0"/>
              </a:rPr>
              <a:t>, labels=labels, </a:t>
            </a:r>
            <a:r>
              <a:rPr lang="nl-NL" sz="1600" noProof="0" dirty="0" err="1">
                <a:latin typeface="Courier New" panose="02070309020205020404" pitchFamily="49" charset="0"/>
                <a:cs typeface="Courier New" panose="02070309020205020404" pitchFamily="49" charset="0"/>
              </a:rPr>
              <a:t>colors</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colors</a:t>
            </a:r>
            <a:r>
              <a:rPr lang="nl-NL" sz="1600" noProof="0" dirty="0">
                <a:latin typeface="Courier New" panose="02070309020205020404" pitchFamily="49" charset="0"/>
                <a:cs typeface="Courier New" panose="02070309020205020404" pitchFamily="49" charset="0"/>
              </a:rPr>
              <a:t>, </a:t>
            </a:r>
            <a:r>
              <a:rPr lang="nl-NL" sz="1600" noProof="0" dirty="0" err="1">
                <a:latin typeface="Courier New" panose="02070309020205020404" pitchFamily="49" charset="0"/>
                <a:cs typeface="Courier New" panose="02070309020205020404" pitchFamily="49" charset="0"/>
              </a:rPr>
              <a:t>autopct</a:t>
            </a:r>
            <a:r>
              <a:rPr lang="nl-NL" sz="1600" noProof="0" dirty="0">
                <a:latin typeface="Courier New" panose="02070309020205020404" pitchFamily="49" charset="0"/>
                <a:cs typeface="Courier New" panose="02070309020205020404" pitchFamily="49" charset="0"/>
              </a:rPr>
              <a:t>='%1.1f%%', </a:t>
            </a:r>
            <a:r>
              <a:rPr lang="nl-NL" sz="1600" noProof="0" dirty="0" err="1">
                <a:latin typeface="Courier New" panose="02070309020205020404" pitchFamily="49" charset="0"/>
                <a:cs typeface="Courier New" panose="02070309020205020404" pitchFamily="49" charset="0"/>
              </a:rPr>
              <a:t>startangle</a:t>
            </a:r>
            <a:r>
              <a:rPr lang="nl-NL" sz="1600" noProof="0" dirty="0">
                <a:latin typeface="Courier New" panose="02070309020205020404" pitchFamily="49" charset="0"/>
                <a:cs typeface="Courier New" panose="02070309020205020404" pitchFamily="49" charset="0"/>
              </a:rPr>
              <a:t>=140, </a:t>
            </a:r>
            <a:r>
              <a:rPr lang="nl-NL" sz="1600" noProof="0" dirty="0" err="1">
                <a:latin typeface="Courier New" panose="02070309020205020404" pitchFamily="49" charset="0"/>
                <a:cs typeface="Courier New" panose="02070309020205020404" pitchFamily="49" charset="0"/>
              </a:rPr>
              <a:t>textprops</a:t>
            </a:r>
            <a:r>
              <a:rPr lang="nl-NL" sz="1600" noProof="0" dirty="0">
                <a:latin typeface="Courier New" panose="02070309020205020404" pitchFamily="49" charset="0"/>
                <a:cs typeface="Courier New" panose="02070309020205020404" pitchFamily="49" charset="0"/>
              </a:rPr>
              <a:t>={'</a:t>
            </a:r>
            <a:r>
              <a:rPr lang="nl-NL" sz="1600" noProof="0" dirty="0" err="1">
                <a:latin typeface="Courier New" panose="02070309020205020404" pitchFamily="49" charset="0"/>
                <a:cs typeface="Courier New" panose="02070309020205020404" pitchFamily="49" charset="0"/>
              </a:rPr>
              <a:t>fontsize</a:t>
            </a:r>
            <a:r>
              <a:rPr lang="nl-NL" sz="1600" noProof="0" dirty="0">
                <a:latin typeface="Courier New" panose="02070309020205020404" pitchFamily="49" charset="0"/>
                <a:cs typeface="Courier New" panose="02070309020205020404" pitchFamily="49" charset="0"/>
              </a:rPr>
              <a:t>': 12})</a:t>
            </a:r>
          </a:p>
        </p:txBody>
      </p:sp>
      <p:sp>
        <p:nvSpPr>
          <p:cNvPr id="3" name="Slide Number Placeholder 2">
            <a:extLst>
              <a:ext uri="{FF2B5EF4-FFF2-40B4-BE49-F238E27FC236}">
                <a16:creationId xmlns:a16="http://schemas.microsoft.com/office/drawing/2014/main" id="{5F7ECAC0-7767-26D1-27E8-A1EFD13FA10B}"/>
              </a:ext>
            </a:extLst>
          </p:cNvPr>
          <p:cNvSpPr>
            <a:spLocks noGrp="1"/>
          </p:cNvSpPr>
          <p:nvPr>
            <p:ph type="sldNum" sz="quarter" idx="12"/>
          </p:nvPr>
        </p:nvSpPr>
        <p:spPr/>
        <p:txBody>
          <a:bodyPr/>
          <a:lstStyle/>
          <a:p>
            <a:fld id="{D270EDC2-4F5E-5547-954F-5222C286AC2A}" type="slidenum">
              <a:rPr lang="nl-NL" noProof="0" smtClean="0"/>
              <a:t>71</a:t>
            </a:fld>
            <a:endParaRPr lang="nl-NL" noProof="0" dirty="0"/>
          </a:p>
        </p:txBody>
      </p:sp>
      <p:sp>
        <p:nvSpPr>
          <p:cNvPr id="4" name="Title 3">
            <a:extLst>
              <a:ext uri="{FF2B5EF4-FFF2-40B4-BE49-F238E27FC236}">
                <a16:creationId xmlns:a16="http://schemas.microsoft.com/office/drawing/2014/main" id="{1647C66D-AB8B-8477-22EE-C1A61E8CD41A}"/>
              </a:ext>
            </a:extLst>
          </p:cNvPr>
          <p:cNvSpPr>
            <a:spLocks noGrp="1"/>
          </p:cNvSpPr>
          <p:nvPr>
            <p:ph type="title"/>
          </p:nvPr>
        </p:nvSpPr>
        <p:spPr/>
        <p:txBody>
          <a:bodyPr/>
          <a:lstStyle/>
          <a:p>
            <a:r>
              <a:rPr lang="nl-NL" noProof="0" dirty="0"/>
              <a:t>Visualisaties</a:t>
            </a:r>
          </a:p>
        </p:txBody>
      </p:sp>
    </p:spTree>
    <p:extLst>
      <p:ext uri="{BB962C8B-B14F-4D97-AF65-F5344CB8AC3E}">
        <p14:creationId xmlns:p14="http://schemas.microsoft.com/office/powerpoint/2010/main" val="11959680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120949-FDCC-540C-DC39-9FF7FA8E941C}"/>
              </a:ext>
            </a:extLst>
          </p:cNvPr>
          <p:cNvSpPr>
            <a:spLocks noGrp="1"/>
          </p:cNvSpPr>
          <p:nvPr>
            <p:ph type="sldNum" sz="quarter" idx="12"/>
          </p:nvPr>
        </p:nvSpPr>
        <p:spPr/>
        <p:txBody>
          <a:bodyPr/>
          <a:lstStyle/>
          <a:p>
            <a:fld id="{D270EDC2-4F5E-5547-954F-5222C286AC2A}" type="slidenum">
              <a:rPr lang="nl-NL" noProof="0" smtClean="0"/>
              <a:t>72</a:t>
            </a:fld>
            <a:endParaRPr lang="nl-NL" noProof="0" dirty="0"/>
          </a:p>
        </p:txBody>
      </p:sp>
      <p:sp>
        <p:nvSpPr>
          <p:cNvPr id="4" name="Title 3">
            <a:extLst>
              <a:ext uri="{FF2B5EF4-FFF2-40B4-BE49-F238E27FC236}">
                <a16:creationId xmlns:a16="http://schemas.microsoft.com/office/drawing/2014/main" id="{4B3E9E49-B392-F622-2436-17EB94C2A1CE}"/>
              </a:ext>
            </a:extLst>
          </p:cNvPr>
          <p:cNvSpPr>
            <a:spLocks noGrp="1"/>
          </p:cNvSpPr>
          <p:nvPr>
            <p:ph type="title"/>
          </p:nvPr>
        </p:nvSpPr>
        <p:spPr/>
        <p:txBody>
          <a:bodyPr/>
          <a:lstStyle/>
          <a:p>
            <a:r>
              <a:rPr lang="nl-NL" noProof="0" dirty="0"/>
              <a:t>Histogram CLV (voor CLV &lt; 5000)</a:t>
            </a:r>
          </a:p>
        </p:txBody>
      </p:sp>
      <p:sp>
        <p:nvSpPr>
          <p:cNvPr id="6" name="Rectangle 2">
            <a:extLst>
              <a:ext uri="{FF2B5EF4-FFF2-40B4-BE49-F238E27FC236}">
                <a16:creationId xmlns:a16="http://schemas.microsoft.com/office/drawing/2014/main" id="{71C0FE43-C942-1FBD-39C2-EAF44C5E7319}"/>
              </a:ext>
            </a:extLst>
          </p:cNvPr>
          <p:cNvSpPr>
            <a:spLocks noChangeArrowheads="1"/>
          </p:cNvSpPr>
          <p:nvPr/>
        </p:nvSpPr>
        <p:spPr bwMode="auto">
          <a:xfrm>
            <a:off x="576000" y="2686513"/>
            <a:ext cx="3967425" cy="195438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noProof="0" dirty="0">
                <a:ln>
                  <a:noFill/>
                </a:ln>
                <a:solidFill>
                  <a:srgbClr val="0033B3"/>
                </a:solidFill>
                <a:effectLst/>
                <a:latin typeface="JetBrains Mono"/>
              </a:rPr>
              <a:t>import </a:t>
            </a:r>
            <a:r>
              <a:rPr kumimoji="0" lang="nl-NL" sz="1100" b="0" i="0" u="none" strike="noStrike" cap="none" normalizeH="0" baseline="0" noProof="0" dirty="0" err="1">
                <a:ln>
                  <a:noFill/>
                </a:ln>
                <a:solidFill>
                  <a:srgbClr val="080808"/>
                </a:solidFill>
                <a:effectLst/>
                <a:latin typeface="JetBrains Mono"/>
              </a:rPr>
              <a:t>matplotlib.pyplot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033B3"/>
                </a:solidFill>
                <a:effectLst/>
                <a:latin typeface="JetBrains Mono"/>
              </a:rPr>
              <a:t>as </a:t>
            </a:r>
            <a:r>
              <a:rPr kumimoji="0" lang="nl-NL" sz="1100" b="0" i="0" u="none" strike="noStrike" cap="none" normalizeH="0" baseline="0" noProof="0" dirty="0" err="1">
                <a:ln>
                  <a:noFill/>
                </a:ln>
                <a:solidFill>
                  <a:srgbClr val="080808"/>
                </a:solidFill>
                <a:effectLst/>
                <a:latin typeface="JetBrains Mono"/>
              </a:rPr>
              <a:t>plt</a:t>
            </a:r>
            <a:br>
              <a:rPr kumimoji="0" lang="nl-NL" sz="1100" b="0" i="0" u="none" strike="noStrike" cap="none" normalizeH="0" baseline="0" noProof="0" dirty="0">
                <a:ln>
                  <a:noFill/>
                </a:ln>
                <a:solidFill>
                  <a:srgbClr val="080808"/>
                </a:solidFill>
                <a:effectLst/>
                <a:latin typeface="JetBrains Mono"/>
              </a:rPr>
            </a:b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lage_CLV</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80808"/>
                </a:solidFill>
                <a:effectLst/>
                <a:latin typeface="JetBrains Mono"/>
              </a:rPr>
              <a:t>klant_data</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klant_data</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a:t>
            </a:r>
            <a:r>
              <a:rPr kumimoji="0" lang="nl-NL" sz="1100" b="0" i="0" u="none" strike="noStrike" cap="none" normalizeH="0" baseline="0" noProof="0" dirty="0">
                <a:ln>
                  <a:noFill/>
                </a:ln>
                <a:solidFill>
                  <a:srgbClr val="080808"/>
                </a:solidFill>
                <a:effectLst/>
                <a:latin typeface="JetBrains Mono"/>
              </a:rPr>
              <a:t>]&lt; </a:t>
            </a:r>
            <a:r>
              <a:rPr kumimoji="0" lang="nl-NL" sz="1100" b="0" i="0" u="none" strike="noStrike" cap="none" normalizeH="0" baseline="0" noProof="0" dirty="0">
                <a:ln>
                  <a:noFill/>
                </a:ln>
                <a:solidFill>
                  <a:srgbClr val="1750EB"/>
                </a:solidFill>
                <a:effectLst/>
                <a:latin typeface="JetBrains Mono"/>
              </a:rPr>
              <a:t>5000</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plt.figure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660099"/>
                </a:solidFill>
                <a:effectLst/>
                <a:latin typeface="JetBrains Mono"/>
              </a:rPr>
              <a:t>figsize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1750EB"/>
                </a:solidFill>
                <a:effectLst/>
                <a:latin typeface="JetBrains Mono"/>
              </a:rPr>
              <a:t>10</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1750EB"/>
                </a:solidFill>
                <a:effectLst/>
                <a:latin typeface="JetBrains Mono"/>
              </a:rPr>
              <a:t>6</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plt.hist</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lage_CLV</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660099"/>
                </a:solidFill>
                <a:effectLst/>
                <a:latin typeface="JetBrains Mono"/>
              </a:rPr>
              <a:t>bins</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1750EB"/>
                </a:solidFill>
                <a:effectLst/>
                <a:latin typeface="JetBrains Mono"/>
              </a:rPr>
              <a:t>10</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660099"/>
                </a:solidFill>
                <a:effectLst/>
                <a:latin typeface="JetBrains Mono"/>
              </a:rPr>
              <a:t>color</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skyblue</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660099"/>
                </a:solidFill>
                <a:effectLst/>
                <a:latin typeface="JetBrains Mono"/>
              </a:rPr>
              <a:t>edgecolor</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'black'</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plt.title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'Verdeling van Customer </a:t>
            </a:r>
            <a:r>
              <a:rPr kumimoji="0" lang="nl-NL" sz="1100" b="0" i="0" u="none" strike="noStrike" cap="none" normalizeH="0" baseline="0" noProof="0" dirty="0" err="1">
                <a:ln>
                  <a:noFill/>
                </a:ln>
                <a:solidFill>
                  <a:srgbClr val="067D17"/>
                </a:solidFill>
                <a:effectLst/>
                <a:latin typeface="JetBrains Mono"/>
              </a:rPr>
              <a:t>Lifetime</a:t>
            </a:r>
            <a:r>
              <a:rPr kumimoji="0" lang="nl-NL" sz="1100" b="0" i="0" u="none" strike="noStrike" cap="none" normalizeH="0" baseline="0" noProof="0" dirty="0">
                <a:ln>
                  <a:noFill/>
                </a:ln>
                <a:solidFill>
                  <a:srgbClr val="067D17"/>
                </a:solidFill>
                <a:effectLst/>
                <a:latin typeface="JetBrains Mono"/>
              </a:rPr>
              <a:t> Value (CLV)'</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plt.xlabel</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 (€)'</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plt.ylabel</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'Aantal klanten'</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plt.grid</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033B3"/>
                </a:solidFill>
                <a:effectLst/>
                <a:latin typeface="JetBrains Mono"/>
              </a:rPr>
              <a:t>True</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plt.show</a:t>
            </a:r>
            <a:r>
              <a:rPr kumimoji="0" lang="nl-NL" sz="1100" b="0" i="0" u="none" strike="noStrike" cap="none" normalizeH="0" baseline="0" noProof="0" dirty="0">
                <a:ln>
                  <a:noFill/>
                </a:ln>
                <a:solidFill>
                  <a:srgbClr val="080808"/>
                </a:solidFill>
                <a:effectLst/>
                <a:latin typeface="JetBrains Mono"/>
              </a:rPr>
              <a:t>()</a:t>
            </a:r>
            <a:endParaRPr kumimoji="0" lang="nl-NL" sz="2800" b="0" i="0" u="none" strike="noStrike" cap="none" normalizeH="0" baseline="0" noProof="0" dirty="0">
              <a:ln>
                <a:noFill/>
              </a:ln>
              <a:solidFill>
                <a:schemeClr val="tx1"/>
              </a:solidFill>
              <a:effectLst/>
              <a:latin typeface="Arial" panose="020B0604020202020204" pitchFamily="34" charset="0"/>
            </a:endParaRPr>
          </a:p>
        </p:txBody>
      </p:sp>
      <p:pic>
        <p:nvPicPr>
          <p:cNvPr id="7172" name="Picture 4">
            <a:extLst>
              <a:ext uri="{FF2B5EF4-FFF2-40B4-BE49-F238E27FC236}">
                <a16:creationId xmlns:a16="http://schemas.microsoft.com/office/drawing/2014/main" id="{CBAAA3A9-12D7-FD9B-D278-556B6B2B5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700" y="1634398"/>
            <a:ext cx="6591300" cy="4266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4577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024DF3-3FA9-B5EA-8053-92EC1C5B73AB}"/>
              </a:ext>
            </a:extLst>
          </p:cNvPr>
          <p:cNvSpPr>
            <a:spLocks noGrp="1"/>
          </p:cNvSpPr>
          <p:nvPr>
            <p:ph type="sldNum" sz="quarter" idx="12"/>
          </p:nvPr>
        </p:nvSpPr>
        <p:spPr/>
        <p:txBody>
          <a:bodyPr/>
          <a:lstStyle/>
          <a:p>
            <a:fld id="{D270EDC2-4F5E-5547-954F-5222C286AC2A}" type="slidenum">
              <a:rPr lang="nl-NL" noProof="0" smtClean="0"/>
              <a:t>73</a:t>
            </a:fld>
            <a:endParaRPr lang="nl-NL" noProof="0" dirty="0"/>
          </a:p>
        </p:txBody>
      </p:sp>
      <p:sp>
        <p:nvSpPr>
          <p:cNvPr id="4" name="Title 3">
            <a:extLst>
              <a:ext uri="{FF2B5EF4-FFF2-40B4-BE49-F238E27FC236}">
                <a16:creationId xmlns:a16="http://schemas.microsoft.com/office/drawing/2014/main" id="{024494B1-436F-CE1F-F834-95B5F16460C3}"/>
              </a:ext>
            </a:extLst>
          </p:cNvPr>
          <p:cNvSpPr>
            <a:spLocks noGrp="1"/>
          </p:cNvSpPr>
          <p:nvPr>
            <p:ph type="title"/>
          </p:nvPr>
        </p:nvSpPr>
        <p:spPr/>
        <p:txBody>
          <a:bodyPr/>
          <a:lstStyle/>
          <a:p>
            <a:r>
              <a:rPr lang="nl-NL" noProof="0" dirty="0"/>
              <a:t>Spreidingsplot CLV vs. uitgaven</a:t>
            </a:r>
          </a:p>
        </p:txBody>
      </p:sp>
      <p:sp>
        <p:nvSpPr>
          <p:cNvPr id="6" name="Rectangle 2">
            <a:extLst>
              <a:ext uri="{FF2B5EF4-FFF2-40B4-BE49-F238E27FC236}">
                <a16:creationId xmlns:a16="http://schemas.microsoft.com/office/drawing/2014/main" id="{6DFFC8F9-542A-5D03-CE66-89BCAD7191A9}"/>
              </a:ext>
            </a:extLst>
          </p:cNvPr>
          <p:cNvSpPr>
            <a:spLocks noChangeArrowheads="1"/>
          </p:cNvSpPr>
          <p:nvPr/>
        </p:nvSpPr>
        <p:spPr bwMode="auto">
          <a:xfrm>
            <a:off x="655864" y="3121653"/>
            <a:ext cx="4219575" cy="195438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0" u="none" strike="noStrike" cap="none" normalizeH="0" baseline="0" noProof="0" dirty="0" err="1">
                <a:ln>
                  <a:noFill/>
                </a:ln>
                <a:solidFill>
                  <a:srgbClr val="080808"/>
                </a:solidFill>
                <a:effectLst/>
                <a:latin typeface="JetBrains Mono"/>
              </a:rPr>
              <a:t>plt.figure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figsize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1750EB"/>
                </a:solidFill>
                <a:effectLst/>
                <a:latin typeface="JetBrains Mono"/>
              </a:rPr>
              <a:t>10</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1750EB"/>
                </a:solidFill>
                <a:effectLst/>
                <a:latin typeface="JetBrains Mono"/>
              </a:rPr>
              <a:t>6</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lage_CLV</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80808"/>
                </a:solidFill>
                <a:effectLst/>
                <a:latin typeface="JetBrains Mono"/>
              </a:rPr>
              <a:t>klant_data</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klant_data</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a:t>
            </a:r>
            <a:r>
              <a:rPr kumimoji="0" lang="nl-NL" sz="1100" b="0" i="0" u="none" strike="noStrike" cap="none" normalizeH="0" baseline="0" noProof="0" dirty="0">
                <a:ln>
                  <a:noFill/>
                </a:ln>
                <a:solidFill>
                  <a:srgbClr val="080808"/>
                </a:solidFill>
                <a:effectLst/>
                <a:latin typeface="JetBrains Mono"/>
              </a:rPr>
              <a:t>]&lt;</a:t>
            </a:r>
            <a:r>
              <a:rPr kumimoji="0" lang="nl-NL" sz="1100" b="0" i="0" u="none" strike="noStrike" cap="none" normalizeH="0" baseline="0" noProof="0" dirty="0">
                <a:ln>
                  <a:noFill/>
                </a:ln>
                <a:solidFill>
                  <a:srgbClr val="1750EB"/>
                </a:solidFill>
                <a:effectLst/>
                <a:latin typeface="JetBrains Mono"/>
              </a:rPr>
              <a:t>5000</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plt.scatter</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lage_CLV</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Maandelijkse_Uitgaven</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080808"/>
                </a:solidFill>
                <a:effectLst/>
                <a:latin typeface="JetBrains Mono"/>
              </a:rPr>
              <a:t>lage_CLV</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080808"/>
                </a:solidFill>
                <a:effectLst/>
                <a:latin typeface="JetBrains Mono"/>
              </a:rPr>
              <a:t>alpha</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1750EB"/>
                </a:solidFill>
                <a:effectLst/>
                <a:latin typeface="JetBrains Mono"/>
              </a:rPr>
              <a:t>0.6</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080808"/>
                </a:solidFill>
                <a:effectLst/>
                <a:latin typeface="JetBrains Mono"/>
              </a:rPr>
              <a:t>color</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orange</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plt.title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 vs. Maandelijkse Uitgaven'</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plt.xlabel</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'Maandelijkse Uitgaven (€)'</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plt.ylabel</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'CLV (€)'</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plt.grid</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033B3"/>
                </a:solidFill>
                <a:effectLst/>
                <a:latin typeface="JetBrains Mono"/>
              </a:rPr>
              <a:t>True</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plt.show</a:t>
            </a:r>
            <a:r>
              <a:rPr kumimoji="0" lang="nl-NL" sz="1100" b="0" i="0" u="none" strike="noStrike" cap="none" normalizeH="0" baseline="0" noProof="0" dirty="0">
                <a:ln>
                  <a:noFill/>
                </a:ln>
                <a:solidFill>
                  <a:srgbClr val="080808"/>
                </a:solidFill>
                <a:effectLst/>
                <a:latin typeface="JetBrains Mono"/>
              </a:rPr>
              <a:t>()</a:t>
            </a:r>
            <a:endParaRPr kumimoji="0" lang="nl-NL" sz="2800" b="0" i="0" u="none" strike="noStrike" cap="none" normalizeH="0" baseline="0" noProof="0" dirty="0">
              <a:ln>
                <a:noFill/>
              </a:ln>
              <a:solidFill>
                <a:schemeClr val="tx1"/>
              </a:solidFill>
              <a:effectLst/>
              <a:latin typeface="Arial" panose="020B0604020202020204" pitchFamily="34" charset="0"/>
            </a:endParaRPr>
          </a:p>
        </p:txBody>
      </p:sp>
      <p:pic>
        <p:nvPicPr>
          <p:cNvPr id="8196" name="Picture 4">
            <a:extLst>
              <a:ext uri="{FF2B5EF4-FFF2-40B4-BE49-F238E27FC236}">
                <a16:creationId xmlns:a16="http://schemas.microsoft.com/office/drawing/2014/main" id="{0CDA1BB7-C18F-6FA2-F017-C67C735F0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9675" y="2156165"/>
            <a:ext cx="5481638" cy="3477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7290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821B28F-005D-B6BD-A0BD-3D4006CB57C6}"/>
              </a:ext>
            </a:extLst>
          </p:cNvPr>
          <p:cNvSpPr>
            <a:spLocks noGrp="1"/>
          </p:cNvSpPr>
          <p:nvPr>
            <p:ph type="sldNum" sz="quarter" idx="12"/>
          </p:nvPr>
        </p:nvSpPr>
        <p:spPr/>
        <p:txBody>
          <a:bodyPr/>
          <a:lstStyle/>
          <a:p>
            <a:fld id="{D270EDC2-4F5E-5547-954F-5222C286AC2A}" type="slidenum">
              <a:rPr lang="nl-NL" noProof="0" smtClean="0"/>
              <a:t>74</a:t>
            </a:fld>
            <a:endParaRPr lang="nl-NL" noProof="0" dirty="0"/>
          </a:p>
        </p:txBody>
      </p:sp>
      <p:sp>
        <p:nvSpPr>
          <p:cNvPr id="4" name="Title 3">
            <a:extLst>
              <a:ext uri="{FF2B5EF4-FFF2-40B4-BE49-F238E27FC236}">
                <a16:creationId xmlns:a16="http://schemas.microsoft.com/office/drawing/2014/main" id="{5AA15C26-64CC-65D0-A3BD-A58A2873D079}"/>
              </a:ext>
            </a:extLst>
          </p:cNvPr>
          <p:cNvSpPr>
            <a:spLocks noGrp="1"/>
          </p:cNvSpPr>
          <p:nvPr>
            <p:ph type="title"/>
          </p:nvPr>
        </p:nvSpPr>
        <p:spPr/>
        <p:txBody>
          <a:bodyPr/>
          <a:lstStyle/>
          <a:p>
            <a:r>
              <a:rPr lang="nl-NL" noProof="0" dirty="0"/>
              <a:t>Taartdiagram </a:t>
            </a:r>
            <a:r>
              <a:rPr lang="nl-NL" noProof="0" dirty="0" err="1"/>
              <a:t>klantensementen</a:t>
            </a:r>
            <a:endParaRPr lang="nl-NL" noProof="0" dirty="0"/>
          </a:p>
        </p:txBody>
      </p:sp>
      <p:sp>
        <p:nvSpPr>
          <p:cNvPr id="5" name="Rectangle 1">
            <a:extLst>
              <a:ext uri="{FF2B5EF4-FFF2-40B4-BE49-F238E27FC236}">
                <a16:creationId xmlns:a16="http://schemas.microsoft.com/office/drawing/2014/main" id="{D872E570-B08E-6ECC-B4DA-88FD2F27B489}"/>
              </a:ext>
            </a:extLst>
          </p:cNvPr>
          <p:cNvSpPr>
            <a:spLocks noChangeArrowheads="1"/>
          </p:cNvSpPr>
          <p:nvPr/>
        </p:nvSpPr>
        <p:spPr bwMode="auto">
          <a:xfrm>
            <a:off x="574800" y="2133660"/>
            <a:ext cx="5207691" cy="313932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sz="1100" b="0" i="1" u="none" strike="noStrike" cap="none" normalizeH="0" baseline="0" noProof="0" dirty="0">
                <a:ln>
                  <a:noFill/>
                </a:ln>
                <a:solidFill>
                  <a:srgbClr val="8C8C8C"/>
                </a:solidFill>
                <a:effectLst/>
                <a:latin typeface="JetBrains Mono"/>
              </a:rPr>
              <a:t># Tel het aantal klanten in elk segment</a:t>
            </a:r>
            <a:br>
              <a:rPr kumimoji="0" lang="nl-NL" sz="1100" b="0" i="1" u="none" strike="noStrike" cap="none" normalizeH="0" baseline="0" noProof="0" dirty="0">
                <a:ln>
                  <a:noFill/>
                </a:ln>
                <a:solidFill>
                  <a:srgbClr val="8C8C8C"/>
                </a:solidFill>
                <a:effectLst/>
                <a:latin typeface="JetBrains Mono"/>
              </a:rPr>
            </a:br>
            <a:r>
              <a:rPr kumimoji="0" lang="nl-NL" sz="1100" b="0" i="0" u="none" strike="noStrike" cap="none" normalizeH="0" baseline="0" noProof="0" dirty="0" err="1">
                <a:ln>
                  <a:noFill/>
                </a:ln>
                <a:solidFill>
                  <a:srgbClr val="080808"/>
                </a:solidFill>
                <a:effectLst/>
                <a:latin typeface="JetBrains Mono"/>
              </a:rPr>
              <a:t>hoog_clv_count</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00080"/>
                </a:solidFill>
                <a:effectLst/>
                <a:latin typeface="JetBrains Mono"/>
              </a:rPr>
              <a:t>len</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hoog_clv_klanten</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loyaliteit_count</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00080"/>
                </a:solidFill>
                <a:effectLst/>
                <a:latin typeface="JetBrains Mono"/>
              </a:rPr>
              <a:t>len</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loyaliteit_klanten</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lage_uitgaven_count</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00080"/>
                </a:solidFill>
                <a:effectLst/>
                <a:latin typeface="JetBrains Mono"/>
              </a:rPr>
              <a:t>len</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lage_uitgaven_klanten</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standaard_count</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00080"/>
                </a:solidFill>
                <a:effectLst/>
                <a:latin typeface="JetBrains Mono"/>
              </a:rPr>
              <a:t>len</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klant_data</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80808"/>
                </a:solidFill>
                <a:effectLst/>
                <a:latin typeface="JetBrains Mono"/>
              </a:rPr>
              <a:t>hoog_clv_count</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80808"/>
                </a:solidFill>
                <a:effectLst/>
                <a:latin typeface="JetBrains Mono"/>
              </a:rPr>
              <a:t>loyaliteit_count</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80808"/>
                </a:solidFill>
                <a:effectLst/>
                <a:latin typeface="JetBrains Mono"/>
              </a:rPr>
              <a:t>lage_uitgaven_count</a:t>
            </a:r>
            <a:br>
              <a:rPr kumimoji="0" lang="nl-NL" sz="1100" b="0" i="0" u="none" strike="noStrike" cap="none" normalizeH="0" baseline="0" noProof="0" dirty="0">
                <a:ln>
                  <a:noFill/>
                </a:ln>
                <a:solidFill>
                  <a:srgbClr val="080808"/>
                </a:solidFill>
                <a:effectLst/>
                <a:latin typeface="JetBrains Mono"/>
              </a:rPr>
            </a:br>
            <a:br>
              <a:rPr kumimoji="0" lang="nl-NL" sz="1100" b="0" i="0" u="none" strike="noStrike" cap="none" normalizeH="0" baseline="0" noProof="0" dirty="0">
                <a:ln>
                  <a:noFill/>
                </a:ln>
                <a:solidFill>
                  <a:srgbClr val="080808"/>
                </a:solidFill>
                <a:effectLst/>
                <a:latin typeface="JetBrains Mono"/>
              </a:rPr>
            </a:br>
            <a:r>
              <a:rPr kumimoji="0" lang="nl-NL" sz="1100" b="0" i="1" u="none" strike="noStrike" cap="none" normalizeH="0" baseline="0" noProof="0" dirty="0">
                <a:ln>
                  <a:noFill/>
                </a:ln>
                <a:solidFill>
                  <a:srgbClr val="8C8C8C"/>
                </a:solidFill>
                <a:effectLst/>
                <a:latin typeface="JetBrains Mono"/>
              </a:rPr>
              <a:t># Labels en waarden voor de taartdiagram</a:t>
            </a:r>
            <a:br>
              <a:rPr kumimoji="0" lang="nl-NL" sz="1100" b="0" i="1" u="none" strike="noStrike" cap="none" normalizeH="0" baseline="0" noProof="0" dirty="0">
                <a:ln>
                  <a:noFill/>
                </a:ln>
                <a:solidFill>
                  <a:srgbClr val="8C8C8C"/>
                </a:solidFill>
                <a:effectLst/>
                <a:latin typeface="JetBrains Mono"/>
              </a:rPr>
            </a:br>
            <a:r>
              <a:rPr kumimoji="0" lang="nl-NL" sz="1100" b="0" i="0" u="none" strike="noStrike" cap="none" normalizeH="0" baseline="0" noProof="0" dirty="0">
                <a:ln>
                  <a:noFill/>
                </a:ln>
                <a:solidFill>
                  <a:srgbClr val="080808"/>
                </a:solidFill>
                <a:effectLst/>
                <a:latin typeface="JetBrains Mono"/>
              </a:rPr>
              <a:t>labels = [</a:t>
            </a:r>
            <a:r>
              <a:rPr kumimoji="0" lang="nl-NL" sz="1100" b="0" i="0" u="none" strike="noStrike" cap="none" normalizeH="0" baseline="0" noProof="0" dirty="0">
                <a:ln>
                  <a:noFill/>
                </a:ln>
                <a:solidFill>
                  <a:srgbClr val="067D17"/>
                </a:solidFill>
                <a:effectLst/>
                <a:latin typeface="JetBrains Mono"/>
              </a:rPr>
              <a:t>'Hoge CLV'</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67D17"/>
                </a:solidFill>
                <a:effectLst/>
                <a:latin typeface="JetBrains Mono"/>
              </a:rPr>
              <a:t>'Loyaliteit &gt; 7'</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67D17"/>
                </a:solidFill>
                <a:effectLst/>
                <a:latin typeface="JetBrains Mono"/>
              </a:rPr>
              <a:t>'Lage Uitgaven'</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67D17"/>
                </a:solidFill>
                <a:effectLst/>
                <a:latin typeface="JetBrains Mono"/>
              </a:rPr>
              <a:t>'Standaard'</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sizes</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err="1">
                <a:ln>
                  <a:noFill/>
                </a:ln>
                <a:solidFill>
                  <a:srgbClr val="080808"/>
                </a:solidFill>
                <a:effectLst/>
                <a:latin typeface="JetBrains Mono"/>
              </a:rPr>
              <a:t>hoog_clv_count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080808"/>
                </a:solidFill>
                <a:effectLst/>
                <a:latin typeface="JetBrains Mono"/>
              </a:rPr>
              <a:t>loyaliteit_count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080808"/>
                </a:solidFill>
                <a:effectLst/>
                <a:latin typeface="JetBrains Mono"/>
              </a:rPr>
              <a:t>lage_uitgaven_count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080808"/>
                </a:solidFill>
                <a:effectLst/>
                <a:latin typeface="JetBrains Mono"/>
              </a:rPr>
              <a:t>standaard_count</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colors</a:t>
            </a:r>
            <a:r>
              <a:rPr kumimoji="0" lang="nl-NL" sz="1100" b="0" i="0" u="none" strike="noStrike" cap="none" normalizeH="0" baseline="0" noProof="0" dirty="0">
                <a:ln>
                  <a:noFill/>
                </a:ln>
                <a:solidFill>
                  <a:srgbClr val="080808"/>
                </a:solidFill>
                <a:effectLst/>
                <a:latin typeface="JetBrains Mono"/>
              </a:rPr>
              <a:t> = [</a:t>
            </a:r>
            <a:r>
              <a:rPr kumimoji="0" lang="nl-NL" sz="1100" b="0" i="0" u="none" strike="noStrike" cap="none" normalizeH="0" baseline="0" noProof="0" dirty="0">
                <a:ln>
                  <a:noFill/>
                </a:ln>
                <a:solidFill>
                  <a:srgbClr val="067D17"/>
                </a:solidFill>
                <a:effectLst/>
                <a:latin typeface="JetBrains Mono"/>
              </a:rPr>
              <a:t>'gold'</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lightcoral</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lightgreen</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lightskyblue</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br>
              <a:rPr kumimoji="0" lang="nl-NL" sz="1100" b="0" i="0" u="none" strike="noStrike" cap="none" normalizeH="0" baseline="0" noProof="0" dirty="0">
                <a:ln>
                  <a:noFill/>
                </a:ln>
                <a:solidFill>
                  <a:srgbClr val="080808"/>
                </a:solidFill>
                <a:effectLst/>
                <a:latin typeface="JetBrains Mono"/>
              </a:rPr>
            </a:br>
            <a:r>
              <a:rPr kumimoji="0" lang="nl-NL" sz="1100" b="0" i="1" u="none" strike="noStrike" cap="none" normalizeH="0" baseline="0" noProof="0" dirty="0">
                <a:ln>
                  <a:noFill/>
                </a:ln>
                <a:solidFill>
                  <a:srgbClr val="8C8C8C"/>
                </a:solidFill>
                <a:effectLst/>
                <a:latin typeface="JetBrains Mono"/>
              </a:rPr>
              <a:t># Plotten van de taartdiagram</a:t>
            </a:r>
            <a:br>
              <a:rPr kumimoji="0" lang="nl-NL" sz="1100" b="0" i="1" u="none" strike="noStrike" cap="none" normalizeH="0" baseline="0" noProof="0" dirty="0">
                <a:ln>
                  <a:noFill/>
                </a:ln>
                <a:solidFill>
                  <a:srgbClr val="8C8C8C"/>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plt.figure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660099"/>
                </a:solidFill>
                <a:effectLst/>
                <a:latin typeface="JetBrains Mono"/>
              </a:rPr>
              <a:t>figsize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1750EB"/>
                </a:solidFill>
                <a:effectLst/>
                <a:latin typeface="JetBrains Mono"/>
              </a:rPr>
              <a:t>8</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1750EB"/>
                </a:solidFill>
                <a:effectLst/>
                <a:latin typeface="JetBrains Mono"/>
              </a:rPr>
              <a:t>8</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plt.pie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sizes</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660099"/>
                </a:solidFill>
                <a:effectLst/>
                <a:latin typeface="JetBrains Mono"/>
              </a:rPr>
              <a:t>labels</a:t>
            </a:r>
            <a:r>
              <a:rPr kumimoji="0" lang="nl-NL" sz="1100" b="0" i="0" u="none" strike="noStrike" cap="none" normalizeH="0" baseline="0" noProof="0" dirty="0">
                <a:ln>
                  <a:noFill/>
                </a:ln>
                <a:solidFill>
                  <a:srgbClr val="080808"/>
                </a:solidFill>
                <a:effectLst/>
                <a:latin typeface="JetBrains Mono"/>
              </a:rPr>
              <a:t>=labels, </a:t>
            </a:r>
            <a:r>
              <a:rPr kumimoji="0" lang="nl-NL" sz="1100" b="0" i="0" u="none" strike="noStrike" cap="none" normalizeH="0" baseline="0" noProof="0" dirty="0" err="1">
                <a:ln>
                  <a:noFill/>
                </a:ln>
                <a:solidFill>
                  <a:srgbClr val="660099"/>
                </a:solidFill>
                <a:effectLst/>
                <a:latin typeface="JetBrains Mono"/>
              </a:rPr>
              <a:t>colors</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err="1">
                <a:ln>
                  <a:noFill/>
                </a:ln>
                <a:solidFill>
                  <a:srgbClr val="080808"/>
                </a:solidFill>
                <a:effectLst/>
                <a:latin typeface="JetBrains Mono"/>
              </a:rPr>
              <a:t>colors</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660099"/>
                </a:solidFill>
                <a:effectLst/>
                <a:latin typeface="JetBrains Mono"/>
              </a:rPr>
              <a:t>autopct</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'%1.1f%%'</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660099"/>
                </a:solidFill>
                <a:effectLst/>
                <a:latin typeface="JetBrains Mono"/>
              </a:rPr>
              <a:t>startangle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1750EB"/>
                </a:solidFill>
                <a:effectLst/>
                <a:latin typeface="JetBrains Mono"/>
              </a:rPr>
              <a:t>140</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err="1">
                <a:ln>
                  <a:noFill/>
                </a:ln>
                <a:solidFill>
                  <a:srgbClr val="660099"/>
                </a:solidFill>
                <a:effectLst/>
                <a:latin typeface="JetBrains Mono"/>
              </a:rPr>
              <a:t>textprops</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err="1">
                <a:ln>
                  <a:noFill/>
                </a:ln>
                <a:solidFill>
                  <a:srgbClr val="067D17"/>
                </a:solidFill>
                <a:effectLst/>
                <a:latin typeface="JetBrains Mono"/>
              </a:rPr>
              <a:t>fontsize</a:t>
            </a:r>
            <a:r>
              <a:rPr kumimoji="0" lang="nl-NL" sz="1100" b="0" i="0" u="none" strike="noStrike" cap="none" normalizeH="0" baseline="0" noProof="0" dirty="0">
                <a:ln>
                  <a:noFill/>
                </a:ln>
                <a:solidFill>
                  <a:srgbClr val="067D17"/>
                </a:solidFill>
                <a:effectLst/>
                <a:latin typeface="JetBrains Mono"/>
              </a:rPr>
              <a:t>'</a:t>
            </a:r>
            <a:r>
              <a:rPr kumimoji="0" lang="nl-NL" sz="1100" b="0" i="0" u="none" strike="noStrike" cap="none" normalizeH="0" baseline="0" noProof="0" dirty="0">
                <a:ln>
                  <a:noFill/>
                </a:ln>
                <a:solidFill>
                  <a:srgbClr val="080808"/>
                </a:solidFill>
                <a:effectLst/>
                <a:latin typeface="JetBrains Mono"/>
              </a:rPr>
              <a:t>: </a:t>
            </a:r>
            <a:r>
              <a:rPr kumimoji="0" lang="nl-NL" sz="1100" b="0" i="0" u="none" strike="noStrike" cap="none" normalizeH="0" baseline="0" noProof="0" dirty="0">
                <a:ln>
                  <a:noFill/>
                </a:ln>
                <a:solidFill>
                  <a:srgbClr val="1750EB"/>
                </a:solidFill>
                <a:effectLst/>
                <a:latin typeface="JetBrains Mono"/>
              </a:rPr>
              <a:t>12</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plt.title</a:t>
            </a:r>
            <a:r>
              <a:rPr kumimoji="0" lang="nl-NL" sz="1100" b="0" i="0" u="none" strike="noStrike" cap="none" normalizeH="0" baseline="0" noProof="0" dirty="0">
                <a:ln>
                  <a:noFill/>
                </a:ln>
                <a:solidFill>
                  <a:srgbClr val="080808"/>
                </a:solidFill>
                <a:effectLst/>
                <a:latin typeface="JetBrains Mono"/>
              </a:rPr>
              <a:t>(</a:t>
            </a:r>
            <a:r>
              <a:rPr kumimoji="0" lang="nl-NL" sz="1100" b="0" i="0" u="none" strike="noStrike" cap="none" normalizeH="0" baseline="0" noProof="0" dirty="0">
                <a:ln>
                  <a:noFill/>
                </a:ln>
                <a:solidFill>
                  <a:srgbClr val="067D17"/>
                </a:solidFill>
                <a:effectLst/>
                <a:latin typeface="JetBrains Mono"/>
              </a:rPr>
              <a:t>'Verhouding van Klantsegmenten'</a:t>
            </a:r>
            <a:r>
              <a:rPr kumimoji="0" lang="nl-NL" sz="1100" b="0" i="0" u="none" strike="noStrike" cap="none" normalizeH="0" baseline="0" noProof="0" dirty="0">
                <a:ln>
                  <a:noFill/>
                </a:ln>
                <a:solidFill>
                  <a:srgbClr val="080808"/>
                </a:solidFill>
                <a:effectLst/>
                <a:latin typeface="JetBrains Mono"/>
              </a:rPr>
              <a:t>)</a:t>
            </a:r>
            <a:br>
              <a:rPr kumimoji="0" lang="nl-NL" sz="1100" b="0" i="0" u="none" strike="noStrike" cap="none" normalizeH="0" baseline="0" noProof="0" dirty="0">
                <a:ln>
                  <a:noFill/>
                </a:ln>
                <a:solidFill>
                  <a:srgbClr val="080808"/>
                </a:solidFill>
                <a:effectLst/>
                <a:latin typeface="JetBrains Mono"/>
              </a:rPr>
            </a:br>
            <a:r>
              <a:rPr kumimoji="0" lang="nl-NL" sz="1100" b="0" i="0" u="none" strike="noStrike" cap="none" normalizeH="0" baseline="0" noProof="0" dirty="0" err="1">
                <a:ln>
                  <a:noFill/>
                </a:ln>
                <a:solidFill>
                  <a:srgbClr val="080808"/>
                </a:solidFill>
                <a:effectLst/>
                <a:latin typeface="JetBrains Mono"/>
              </a:rPr>
              <a:t>plt.show</a:t>
            </a:r>
            <a:r>
              <a:rPr kumimoji="0" lang="nl-NL" sz="1100" b="0" i="0" u="none" strike="noStrike" cap="none" normalizeH="0" baseline="0" noProof="0" dirty="0">
                <a:ln>
                  <a:noFill/>
                </a:ln>
                <a:solidFill>
                  <a:srgbClr val="080808"/>
                </a:solidFill>
                <a:effectLst/>
                <a:latin typeface="JetBrains Mono"/>
              </a:rPr>
              <a:t>()</a:t>
            </a:r>
            <a:endParaRPr kumimoji="0" lang="nl-NL" sz="2800" b="0" i="0" u="none" strike="noStrike" cap="none" normalizeH="0" baseline="0" noProof="0" dirty="0">
              <a:ln>
                <a:noFill/>
              </a:ln>
              <a:solidFill>
                <a:schemeClr val="tx1"/>
              </a:solidFill>
              <a:effectLst/>
              <a:latin typeface="Arial" panose="020B0604020202020204" pitchFamily="34" charset="0"/>
            </a:endParaRPr>
          </a:p>
        </p:txBody>
      </p:sp>
      <p:pic>
        <p:nvPicPr>
          <p:cNvPr id="9219" name="Picture 3">
            <a:extLst>
              <a:ext uri="{FF2B5EF4-FFF2-40B4-BE49-F238E27FC236}">
                <a16:creationId xmlns:a16="http://schemas.microsoft.com/office/drawing/2014/main" id="{6C80D0DA-0805-077B-CF6C-7D2122CBB2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9511" y="1528144"/>
            <a:ext cx="4681933" cy="435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7442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7A0DDE-B534-3805-2800-BE1DB0A9716C}"/>
              </a:ext>
            </a:extLst>
          </p:cNvPr>
          <p:cNvSpPr>
            <a:spLocks noGrp="1"/>
          </p:cNvSpPr>
          <p:nvPr>
            <p:ph idx="1"/>
          </p:nvPr>
        </p:nvSpPr>
        <p:spPr/>
        <p:txBody>
          <a:bodyPr/>
          <a:lstStyle/>
          <a:p>
            <a:r>
              <a:rPr lang="en-BE" dirty="0"/>
              <a:t>NumPy en Pandas vergemakkelijken ons leven:</a:t>
            </a:r>
          </a:p>
          <a:p>
            <a:pPr lvl="1"/>
            <a:r>
              <a:rPr lang="en-BE" sz="2000" dirty="0"/>
              <a:t>Veel ingebouwde, krachtige functies</a:t>
            </a:r>
          </a:p>
          <a:p>
            <a:pPr lvl="1"/>
            <a:r>
              <a:rPr lang="en-BE" sz="2000" dirty="0"/>
              <a:t>Alles kan kort geschreven worden met krachtige implementaties in de achtergrond</a:t>
            </a:r>
          </a:p>
          <a:p>
            <a:pPr lvl="1"/>
            <a:endParaRPr lang="en-BE" sz="2000" dirty="0"/>
          </a:p>
          <a:p>
            <a:r>
              <a:rPr lang="en-BE" dirty="0"/>
              <a:t>Interageren met elkaar en andere pakketten:</a:t>
            </a:r>
          </a:p>
          <a:p>
            <a:pPr lvl="1"/>
            <a:r>
              <a:rPr lang="en-BE" sz="2000" dirty="0"/>
              <a:t>Voor visualisaties (matplotlib, seaborn)</a:t>
            </a:r>
          </a:p>
          <a:p>
            <a:pPr lvl="1"/>
            <a:r>
              <a:rPr lang="en-BE" sz="2000" dirty="0"/>
              <a:t>V</a:t>
            </a:r>
            <a:r>
              <a:rPr lang="en-GB" sz="2000" dirty="0"/>
              <a:t>o</a:t>
            </a:r>
            <a:r>
              <a:rPr lang="en-BE" sz="2000" dirty="0"/>
              <a:t>or statistiek (statsmodels) en machine learning (scikit-learn)</a:t>
            </a:r>
          </a:p>
          <a:p>
            <a:pPr lvl="1"/>
            <a:r>
              <a:rPr lang="en-BE" sz="2000" dirty="0"/>
              <a:t>Voor netwerkanalyse (networkx)</a:t>
            </a:r>
          </a:p>
          <a:p>
            <a:pPr lvl="1"/>
            <a:r>
              <a:rPr lang="en-BE" sz="2000" dirty="0"/>
              <a:t>V</a:t>
            </a:r>
            <a:r>
              <a:rPr lang="en-GB" sz="2000" dirty="0"/>
              <a:t>o</a:t>
            </a:r>
            <a:r>
              <a:rPr lang="en-BE" sz="2000" dirty="0"/>
              <a:t>or AI (Tensorflow, PyTorch)</a:t>
            </a:r>
          </a:p>
          <a:p>
            <a:pPr lvl="1"/>
            <a:endParaRPr lang="en-BE" sz="2000" dirty="0"/>
          </a:p>
        </p:txBody>
      </p:sp>
      <p:sp>
        <p:nvSpPr>
          <p:cNvPr id="3" name="Slide Number Placeholder 2">
            <a:extLst>
              <a:ext uri="{FF2B5EF4-FFF2-40B4-BE49-F238E27FC236}">
                <a16:creationId xmlns:a16="http://schemas.microsoft.com/office/drawing/2014/main" id="{03323545-5827-47CA-D953-3DE27C7F7518}"/>
              </a:ext>
            </a:extLst>
          </p:cNvPr>
          <p:cNvSpPr>
            <a:spLocks noGrp="1"/>
          </p:cNvSpPr>
          <p:nvPr>
            <p:ph type="sldNum" sz="quarter" idx="12"/>
          </p:nvPr>
        </p:nvSpPr>
        <p:spPr/>
        <p:txBody>
          <a:bodyPr/>
          <a:lstStyle/>
          <a:p>
            <a:fld id="{D270EDC2-4F5E-5547-954F-5222C286AC2A}" type="slidenum">
              <a:rPr lang="en-BE" smtClean="0"/>
              <a:t>75</a:t>
            </a:fld>
            <a:endParaRPr lang="en-BE"/>
          </a:p>
        </p:txBody>
      </p:sp>
      <p:sp>
        <p:nvSpPr>
          <p:cNvPr id="4" name="Title 3">
            <a:extLst>
              <a:ext uri="{FF2B5EF4-FFF2-40B4-BE49-F238E27FC236}">
                <a16:creationId xmlns:a16="http://schemas.microsoft.com/office/drawing/2014/main" id="{71F3C87C-AA80-1AC4-4EA9-9742901501DC}"/>
              </a:ext>
            </a:extLst>
          </p:cNvPr>
          <p:cNvSpPr>
            <a:spLocks noGrp="1"/>
          </p:cNvSpPr>
          <p:nvPr>
            <p:ph type="title"/>
          </p:nvPr>
        </p:nvSpPr>
        <p:spPr/>
        <p:txBody>
          <a:bodyPr/>
          <a:lstStyle/>
          <a:p>
            <a:r>
              <a:rPr lang="en-US" dirty="0" err="1"/>
              <a:t>Samenvatting</a:t>
            </a:r>
            <a:endParaRPr lang="en-BE" dirty="0"/>
          </a:p>
        </p:txBody>
      </p:sp>
    </p:spTree>
    <p:extLst>
      <p:ext uri="{BB962C8B-B14F-4D97-AF65-F5344CB8AC3E}">
        <p14:creationId xmlns:p14="http://schemas.microsoft.com/office/powerpoint/2010/main" val="3689008331"/>
      </p:ext>
    </p:extLst>
  </p:cSld>
  <p:clrMapOvr>
    <a:masterClrMapping/>
  </p:clrMapOvr>
</p:sld>
</file>

<file path=ppt/theme/theme1.xml><?xml version="1.0" encoding="utf-8"?>
<a:theme xmlns:a="http://schemas.openxmlformats.org/drawingml/2006/main" name="KU Leuven">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U Leuven Sedes">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 Leuven" id="{BC384CAF-57B4-4083-BC3D-22218BF4A46A}" vid="{75672E21-F18C-4958-94B8-19E54344552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C7F08F8-E836-407B-99FE-5FCFED747377}">
  <we:reference id="WA200010725" version="1.0.0.1" store="Omex" storeType="OMEX"/>
  <we:alternateReferences>
    <we:reference id="WA200010725" version="1.0.0.1" store="WA200010725" storeType="OMEX"/>
  </we:alternateReferences>
  <we:properties>
    <we:property name="claude.fileId" value="&quot;8c8652fa-013a-4fe2-ac3d-3f8b0cb5d3a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8243_PPTX_CORP_16x9_UK</Template>
  <TotalTime>0</TotalTime>
  <Words>11646</Words>
  <Application>Microsoft Office PowerPoint</Application>
  <PresentationFormat>Widescreen</PresentationFormat>
  <Paragraphs>1369</Paragraphs>
  <Slides>75</Slides>
  <Notes>13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75</vt:i4>
      </vt:variant>
    </vt:vector>
  </HeadingPairs>
  <TitlesOfParts>
    <vt:vector size="87" baseType="lpstr">
      <vt:lpstr>-apple-system</vt:lpstr>
      <vt:lpstr>Arial</vt:lpstr>
      <vt:lpstr>Calibri</vt:lpstr>
      <vt:lpstr>Cambria Math</vt:lpstr>
      <vt:lpstr>Consolas</vt:lpstr>
      <vt:lpstr>Courier New</vt:lpstr>
      <vt:lpstr>JetBrains Mono</vt:lpstr>
      <vt:lpstr>Menlo</vt:lpstr>
      <vt:lpstr>Segoe WPC</vt:lpstr>
      <vt:lpstr>Wingdings</vt:lpstr>
      <vt:lpstr>KU Leuven</vt:lpstr>
      <vt:lpstr>KU Leuven Sedes</vt:lpstr>
      <vt:lpstr>Deel 1B: Dataverwerking</vt:lpstr>
      <vt:lpstr>Introductie</vt:lpstr>
      <vt:lpstr>1. NumPy</vt:lpstr>
      <vt:lpstr>Introductie</vt:lpstr>
      <vt:lpstr>Rijen en matrices</vt:lpstr>
      <vt:lpstr>Aanmaken rijen en matrices</vt:lpstr>
      <vt:lpstr>Aanmaken matrices (cont.)</vt:lpstr>
      <vt:lpstr>Voorbeeld matrices</vt:lpstr>
      <vt:lpstr>Andere manieren om matrix te maken</vt:lpstr>
      <vt:lpstr>Voorbeelden empty en arange</vt:lpstr>
      <vt:lpstr>Voorbeelden linspace</vt:lpstr>
      <vt:lpstr>Voorbeelden rand(int)</vt:lpstr>
      <vt:lpstr>Oefening 1B.1: voorspel de output</vt:lpstr>
      <vt:lpstr>Dimensies</vt:lpstr>
      <vt:lpstr>Berekeningen langs de assen</vt:lpstr>
      <vt:lpstr>Methodes en berekeningen</vt:lpstr>
      <vt:lpstr>Methodes en functies</vt:lpstr>
      <vt:lpstr>Methodes vs. functies</vt:lpstr>
      <vt:lpstr>Oefening 1B.2: voorspel de output</vt:lpstr>
      <vt:lpstr>Matrix operaties - optellen</vt:lpstr>
      <vt:lpstr>Matrices vermenigvuldigen - recap</vt:lpstr>
      <vt:lpstr>Matrixproduct - voorbeelden</vt:lpstr>
      <vt:lpstr>Elementsgewijs product - voorbeelden</vt:lpstr>
      <vt:lpstr>Matrix operaties - vermenigvuldigen</vt:lpstr>
      <vt:lpstr>Matrices hervormen en samenvoegen</vt:lpstr>
      <vt:lpstr>Matrices hervormen en samenvoegen</vt:lpstr>
      <vt:lpstr>Sorteren</vt:lpstr>
      <vt:lpstr>Unieke elementen zoeken</vt:lpstr>
      <vt:lpstr>Oefening 1B.3: voorspel de output</vt:lpstr>
      <vt:lpstr>Filteren</vt:lpstr>
      <vt:lpstr>Voorbeeld condities</vt:lpstr>
      <vt:lpstr>Voorbeeld where()</vt:lpstr>
      <vt:lpstr>Voorbeeld take()</vt:lpstr>
      <vt:lpstr>Performantie</vt:lpstr>
      <vt:lpstr>Oefening 1B.4: voorspel de output</vt:lpstr>
      <vt:lpstr>Wrap-up</vt:lpstr>
      <vt:lpstr>2. Pandas</vt:lpstr>
      <vt:lpstr>Introductie</vt:lpstr>
      <vt:lpstr>Basisblokken</vt:lpstr>
      <vt:lpstr>Series</vt:lpstr>
      <vt:lpstr>Handige methodes</vt:lpstr>
      <vt:lpstr>Indices en lambda functies</vt:lpstr>
      <vt:lpstr>.loc en .iloc</vt:lpstr>
      <vt:lpstr>Oefening 1B.5: voorspel de output</vt:lpstr>
      <vt:lpstr>DataFrames</vt:lpstr>
      <vt:lpstr>Bestanden</vt:lpstr>
      <vt:lpstr>Bestanden inlezen</vt:lpstr>
      <vt:lpstr>Gebruik van metadata</vt:lpstr>
      <vt:lpstr>Oefening 1B.6: voorspel de output</vt:lpstr>
      <vt:lpstr>Doorlopen rijen</vt:lpstr>
      <vt:lpstr>Filteren</vt:lpstr>
      <vt:lpstr>Sorteren en groeperen</vt:lpstr>
      <vt:lpstr>Sorteren en groeperen</vt:lpstr>
      <vt:lpstr>Verwijderen</vt:lpstr>
      <vt:lpstr>Combineren van dataframes</vt:lpstr>
      <vt:lpstr>Oefening 1B.7: voorspel de output</vt:lpstr>
      <vt:lpstr>Enkele use cases</vt:lpstr>
      <vt:lpstr>Use case 1</vt:lpstr>
      <vt:lpstr>Use case 2</vt:lpstr>
      <vt:lpstr>Use case 3</vt:lpstr>
      <vt:lpstr>Use case 3 (cont.)</vt:lpstr>
      <vt:lpstr>Marketingvoorbeelden</vt:lpstr>
      <vt:lpstr>Klantengegevens</vt:lpstr>
      <vt:lpstr>Marketingactie toewijzen</vt:lpstr>
      <vt:lpstr>Regels</vt:lpstr>
      <vt:lpstr>Code marketingacties</vt:lpstr>
      <vt:lpstr>Berekenen Customer Lifetime Value</vt:lpstr>
      <vt:lpstr>Code CLV</vt:lpstr>
      <vt:lpstr>Filteren van klanten</vt:lpstr>
      <vt:lpstr>Oefening 1B.8: voorspel de output</vt:lpstr>
      <vt:lpstr>Visualisaties</vt:lpstr>
      <vt:lpstr>Histogram CLV (voor CLV &lt; 5000)</vt:lpstr>
      <vt:lpstr>Spreidingsplot CLV vs. uitgaven</vt:lpstr>
      <vt:lpstr>Taartdiagram klantensementen</vt:lpstr>
      <vt:lpstr>Samenvatting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Variabelen</dc:title>
  <dc:creator>Johannes De Smedt</dc:creator>
  <cp:lastModifiedBy>Johannes De Smedt</cp:lastModifiedBy>
  <cp:revision>241</cp:revision>
  <dcterms:created xsi:type="dcterms:W3CDTF">2021-07-15T09:23:32Z</dcterms:created>
  <dcterms:modified xsi:type="dcterms:W3CDTF">2026-10-13T08:32:23Z</dcterms:modified>
</cp:coreProperties>
</file>