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78"/>
  </p:notesMasterIdLst>
  <p:sldIdLst>
    <p:sldId id="489" r:id="rId3"/>
    <p:sldId id="269" r:id="rId4"/>
    <p:sldId id="270" r:id="rId5"/>
    <p:sldId id="272" r:id="rId6"/>
    <p:sldId id="275" r:id="rId7"/>
    <p:sldId id="360" r:id="rId8"/>
    <p:sldId id="422" r:id="rId9"/>
    <p:sldId id="276" r:id="rId10"/>
    <p:sldId id="278" r:id="rId11"/>
    <p:sldId id="277" r:id="rId12"/>
    <p:sldId id="358" r:id="rId13"/>
    <p:sldId id="279" r:id="rId14"/>
    <p:sldId id="280" r:id="rId15"/>
    <p:sldId id="474" r:id="rId16"/>
    <p:sldId id="282" r:id="rId17"/>
    <p:sldId id="284" r:id="rId18"/>
    <p:sldId id="286" r:id="rId19"/>
    <p:sldId id="288" r:id="rId20"/>
    <p:sldId id="373" r:id="rId21"/>
    <p:sldId id="281" r:id="rId22"/>
    <p:sldId id="287" r:id="rId23"/>
    <p:sldId id="473" r:id="rId24"/>
    <p:sldId id="283" r:id="rId25"/>
    <p:sldId id="443" r:id="rId26"/>
    <p:sldId id="299" r:id="rId27"/>
    <p:sldId id="290" r:id="rId28"/>
    <p:sldId id="292" r:id="rId29"/>
    <p:sldId id="295" r:id="rId30"/>
    <p:sldId id="293" r:id="rId31"/>
    <p:sldId id="294" r:id="rId32"/>
    <p:sldId id="298" r:id="rId33"/>
    <p:sldId id="296" r:id="rId34"/>
    <p:sldId id="297" r:id="rId35"/>
    <p:sldId id="300" r:id="rId36"/>
    <p:sldId id="447" r:id="rId37"/>
    <p:sldId id="301" r:id="rId38"/>
    <p:sldId id="374" r:id="rId39"/>
    <p:sldId id="485" r:id="rId40"/>
    <p:sldId id="487" r:id="rId41"/>
    <p:sldId id="302" r:id="rId42"/>
    <p:sldId id="303" r:id="rId43"/>
    <p:sldId id="304" r:id="rId44"/>
    <p:sldId id="307" r:id="rId45"/>
    <p:sldId id="308" r:id="rId46"/>
    <p:sldId id="309" r:id="rId47"/>
    <p:sldId id="412" r:id="rId48"/>
    <p:sldId id="362" r:id="rId49"/>
    <p:sldId id="363" r:id="rId50"/>
    <p:sldId id="475" r:id="rId51"/>
    <p:sldId id="488" r:id="rId52"/>
    <p:sldId id="313" r:id="rId53"/>
    <p:sldId id="312" r:id="rId54"/>
    <p:sldId id="314" r:id="rId55"/>
    <p:sldId id="316" r:id="rId56"/>
    <p:sldId id="315" r:id="rId57"/>
    <p:sldId id="359" r:id="rId58"/>
    <p:sldId id="318" r:id="rId59"/>
    <p:sldId id="317" r:id="rId60"/>
    <p:sldId id="476" r:id="rId61"/>
    <p:sldId id="305" r:id="rId62"/>
    <p:sldId id="291" r:id="rId63"/>
    <p:sldId id="311" r:id="rId64"/>
    <p:sldId id="306" r:id="rId65"/>
    <p:sldId id="375" r:id="rId66"/>
    <p:sldId id="320" r:id="rId67"/>
    <p:sldId id="319" r:id="rId68"/>
    <p:sldId id="321" r:id="rId69"/>
    <p:sldId id="324" r:id="rId70"/>
    <p:sldId id="322" r:id="rId71"/>
    <p:sldId id="325" r:id="rId72"/>
    <p:sldId id="326" r:id="rId73"/>
    <p:sldId id="323" r:id="rId74"/>
    <p:sldId id="327" r:id="rId75"/>
    <p:sldId id="328" r:id="rId76"/>
    <p:sldId id="361" r:id="rId77"/>
    <p:sldId id="329" r:id="rId78"/>
    <p:sldId id="377" r:id="rId79"/>
    <p:sldId id="477" r:id="rId80"/>
    <p:sldId id="437" r:id="rId81"/>
    <p:sldId id="426" r:id="rId82"/>
    <p:sldId id="310" r:id="rId83"/>
    <p:sldId id="427" r:id="rId84"/>
    <p:sldId id="428" r:id="rId85"/>
    <p:sldId id="478" r:id="rId86"/>
    <p:sldId id="438" r:id="rId87"/>
    <p:sldId id="331" r:id="rId88"/>
    <p:sldId id="332" r:id="rId89"/>
    <p:sldId id="420" r:id="rId90"/>
    <p:sldId id="334" r:id="rId91"/>
    <p:sldId id="333" r:id="rId92"/>
    <p:sldId id="335" r:id="rId93"/>
    <p:sldId id="418" r:id="rId94"/>
    <p:sldId id="336" r:id="rId95"/>
    <p:sldId id="338" r:id="rId96"/>
    <p:sldId id="339" r:id="rId97"/>
    <p:sldId id="366" r:id="rId98"/>
    <p:sldId id="424" r:id="rId99"/>
    <p:sldId id="337" r:id="rId100"/>
    <p:sldId id="344" r:id="rId101"/>
    <p:sldId id="479" r:id="rId102"/>
    <p:sldId id="439" r:id="rId103"/>
    <p:sldId id="346" r:id="rId104"/>
    <p:sldId id="347" r:id="rId105"/>
    <p:sldId id="348" r:id="rId106"/>
    <p:sldId id="349" r:id="rId107"/>
    <p:sldId id="376" r:id="rId108"/>
    <p:sldId id="350" r:id="rId109"/>
    <p:sldId id="351" r:id="rId110"/>
    <p:sldId id="352" r:id="rId111"/>
    <p:sldId id="354" r:id="rId112"/>
    <p:sldId id="353" r:id="rId113"/>
    <p:sldId id="414" r:id="rId114"/>
    <p:sldId id="355" r:id="rId115"/>
    <p:sldId id="356" r:id="rId116"/>
    <p:sldId id="357" r:id="rId117"/>
    <p:sldId id="480" r:id="rId118"/>
    <p:sldId id="444" r:id="rId119"/>
    <p:sldId id="431" r:id="rId120"/>
    <p:sldId id="432" r:id="rId121"/>
    <p:sldId id="433" r:id="rId122"/>
    <p:sldId id="434" r:id="rId123"/>
    <p:sldId id="435" r:id="rId124"/>
    <p:sldId id="436" r:id="rId125"/>
    <p:sldId id="481" r:id="rId126"/>
    <p:sldId id="445" r:id="rId127"/>
    <p:sldId id="378" r:id="rId128"/>
    <p:sldId id="382" r:id="rId129"/>
    <p:sldId id="383" r:id="rId130"/>
    <p:sldId id="410" r:id="rId131"/>
    <p:sldId id="384" r:id="rId132"/>
    <p:sldId id="381" r:id="rId133"/>
    <p:sldId id="482" r:id="rId134"/>
    <p:sldId id="446" r:id="rId135"/>
    <p:sldId id="365" r:id="rId136"/>
    <p:sldId id="367" r:id="rId137"/>
    <p:sldId id="368" r:id="rId138"/>
    <p:sldId id="369" r:id="rId139"/>
    <p:sldId id="370" r:id="rId140"/>
    <p:sldId id="371" r:id="rId141"/>
    <p:sldId id="483" r:id="rId142"/>
    <p:sldId id="442" r:id="rId143"/>
    <p:sldId id="386" r:id="rId144"/>
    <p:sldId id="387" r:id="rId145"/>
    <p:sldId id="503" r:id="rId146"/>
    <p:sldId id="380" r:id="rId147"/>
    <p:sldId id="388" r:id="rId148"/>
    <p:sldId id="389" r:id="rId149"/>
    <p:sldId id="504" r:id="rId150"/>
    <p:sldId id="403" r:id="rId151"/>
    <p:sldId id="404" r:id="rId152"/>
    <p:sldId id="502" r:id="rId153"/>
    <p:sldId id="405" r:id="rId154"/>
    <p:sldId id="506" r:id="rId155"/>
    <p:sldId id="406" r:id="rId156"/>
    <p:sldId id="391" r:id="rId157"/>
    <p:sldId id="390" r:id="rId158"/>
    <p:sldId id="507" r:id="rId159"/>
    <p:sldId id="407" r:id="rId160"/>
    <p:sldId id="508" r:id="rId161"/>
    <p:sldId id="408" r:id="rId162"/>
    <p:sldId id="509" r:id="rId163"/>
    <p:sldId id="392" r:id="rId164"/>
    <p:sldId id="396" r:id="rId165"/>
    <p:sldId id="393" r:id="rId166"/>
    <p:sldId id="397" r:id="rId167"/>
    <p:sldId id="511" r:id="rId168"/>
    <p:sldId id="394" r:id="rId169"/>
    <p:sldId id="512" r:id="rId170"/>
    <p:sldId id="398" r:id="rId171"/>
    <p:sldId id="448" r:id="rId172"/>
    <p:sldId id="409" r:id="rId173"/>
    <p:sldId id="399" r:id="rId174"/>
    <p:sldId id="401" r:id="rId175"/>
    <p:sldId id="402" r:id="rId176"/>
    <p:sldId id="484" r:id="rId17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sis data types" id="{8E1BE486-7056-4C40-9674-1783CA9950A5}">
          <p14:sldIdLst>
            <p14:sldId id="489"/>
            <p14:sldId id="269"/>
            <p14:sldId id="270"/>
            <p14:sldId id="272"/>
            <p14:sldId id="275"/>
            <p14:sldId id="360"/>
            <p14:sldId id="422"/>
            <p14:sldId id="276"/>
            <p14:sldId id="278"/>
            <p14:sldId id="277"/>
            <p14:sldId id="358"/>
            <p14:sldId id="279"/>
            <p14:sldId id="280"/>
            <p14:sldId id="474"/>
          </p14:sldIdLst>
        </p14:section>
        <p14:section name="Variabelen" id="{BF9D4A84-54ED-5546-AC22-8A287BA28CF1}">
          <p14:sldIdLst>
            <p14:sldId id="282"/>
            <p14:sldId id="284"/>
            <p14:sldId id="286"/>
            <p14:sldId id="288"/>
            <p14:sldId id="373"/>
            <p14:sldId id="281"/>
            <p14:sldId id="287"/>
            <p14:sldId id="473"/>
          </p14:sldIdLst>
        </p14:section>
        <p14:section name="Composiete types" id="{76276ADF-4E83-6441-96D0-E2E7F7652EEF}">
          <p14:sldIdLst>
            <p14:sldId id="283"/>
            <p14:sldId id="443"/>
            <p14:sldId id="299"/>
            <p14:sldId id="290"/>
            <p14:sldId id="292"/>
            <p14:sldId id="295"/>
            <p14:sldId id="293"/>
            <p14:sldId id="294"/>
            <p14:sldId id="298"/>
            <p14:sldId id="296"/>
            <p14:sldId id="297"/>
            <p14:sldId id="300"/>
            <p14:sldId id="447"/>
            <p14:sldId id="301"/>
            <p14:sldId id="374"/>
            <p14:sldId id="485"/>
            <p14:sldId id="487"/>
            <p14:sldId id="302"/>
            <p14:sldId id="303"/>
            <p14:sldId id="304"/>
            <p14:sldId id="307"/>
            <p14:sldId id="308"/>
            <p14:sldId id="309"/>
            <p14:sldId id="412"/>
            <p14:sldId id="362"/>
            <p14:sldId id="363"/>
            <p14:sldId id="475"/>
            <p14:sldId id="488"/>
          </p14:sldIdLst>
        </p14:section>
        <p14:section name="Operatoren" id="{FB79682B-9FDB-A541-BC59-F0FA2498AB02}">
          <p14:sldIdLst>
            <p14:sldId id="313"/>
            <p14:sldId id="312"/>
            <p14:sldId id="314"/>
            <p14:sldId id="316"/>
            <p14:sldId id="315"/>
            <p14:sldId id="359"/>
            <p14:sldId id="318"/>
            <p14:sldId id="317"/>
            <p14:sldId id="476"/>
          </p14:sldIdLst>
        </p14:section>
        <p14:section name="Statements en control flow" id="{97C8CDCE-3729-C44F-9C6C-47FF1D56CC6E}">
          <p14:sldIdLst>
            <p14:sldId id="305"/>
            <p14:sldId id="291"/>
            <p14:sldId id="311"/>
            <p14:sldId id="306"/>
            <p14:sldId id="375"/>
            <p14:sldId id="320"/>
            <p14:sldId id="319"/>
            <p14:sldId id="321"/>
            <p14:sldId id="324"/>
            <p14:sldId id="322"/>
            <p14:sldId id="325"/>
            <p14:sldId id="326"/>
            <p14:sldId id="323"/>
            <p14:sldId id="327"/>
            <p14:sldId id="328"/>
            <p14:sldId id="361"/>
            <p14:sldId id="329"/>
            <p14:sldId id="377"/>
            <p14:sldId id="477"/>
            <p14:sldId id="437"/>
            <p14:sldId id="426"/>
            <p14:sldId id="310"/>
            <p14:sldId id="427"/>
            <p14:sldId id="428"/>
            <p14:sldId id="478"/>
            <p14:sldId id="438"/>
          </p14:sldIdLst>
        </p14:section>
        <p14:section name="Strings" id="{5559E0F4-8DE0-D14F-AB1B-1D8404DD1889}">
          <p14:sldIdLst>
            <p14:sldId id="331"/>
            <p14:sldId id="332"/>
            <p14:sldId id="420"/>
            <p14:sldId id="334"/>
            <p14:sldId id="333"/>
            <p14:sldId id="335"/>
            <p14:sldId id="418"/>
            <p14:sldId id="336"/>
            <p14:sldId id="338"/>
            <p14:sldId id="339"/>
            <p14:sldId id="366"/>
            <p14:sldId id="424"/>
            <p14:sldId id="337"/>
            <p14:sldId id="344"/>
            <p14:sldId id="479"/>
            <p14:sldId id="439"/>
          </p14:sldIdLst>
        </p14:section>
        <p14:section name="Functies" id="{AA700175-6A68-C445-9C81-D872AB68B78E}">
          <p14:sldIdLst>
            <p14:sldId id="346"/>
            <p14:sldId id="347"/>
            <p14:sldId id="348"/>
            <p14:sldId id="349"/>
            <p14:sldId id="376"/>
            <p14:sldId id="350"/>
            <p14:sldId id="351"/>
            <p14:sldId id="352"/>
            <p14:sldId id="354"/>
            <p14:sldId id="353"/>
            <p14:sldId id="414"/>
            <p14:sldId id="355"/>
            <p14:sldId id="356"/>
            <p14:sldId id="357"/>
            <p14:sldId id="480"/>
            <p14:sldId id="444"/>
          </p14:sldIdLst>
        </p14:section>
        <p14:section name="Filteren" id="{12B89B4F-DC2D-4E1D-BBBE-F659ECE6F5E5}">
          <p14:sldIdLst>
            <p14:sldId id="431"/>
            <p14:sldId id="432"/>
            <p14:sldId id="433"/>
            <p14:sldId id="434"/>
            <p14:sldId id="435"/>
            <p14:sldId id="436"/>
            <p14:sldId id="481"/>
            <p14:sldId id="445"/>
          </p14:sldIdLst>
        </p14:section>
        <p14:section name="Objecten" id="{9F7E72BA-1DFA-41B6-8E59-FD95AD3AD1AA}">
          <p14:sldIdLst>
            <p14:sldId id="378"/>
            <p14:sldId id="382"/>
            <p14:sldId id="383"/>
            <p14:sldId id="410"/>
            <p14:sldId id="384"/>
            <p14:sldId id="381"/>
            <p14:sldId id="482"/>
            <p14:sldId id="446"/>
          </p14:sldIdLst>
        </p14:section>
        <p14:section name="Modules" id="{F08D6B71-6394-BF4E-A0D7-C3F96D01B99C}">
          <p14:sldIdLst>
            <p14:sldId id="365"/>
            <p14:sldId id="367"/>
            <p14:sldId id="368"/>
            <p14:sldId id="369"/>
            <p14:sldId id="370"/>
            <p14:sldId id="371"/>
            <p14:sldId id="483"/>
            <p14:sldId id="442"/>
          </p14:sldIdLst>
        </p14:section>
        <p14:section name="Debuggen" id="{C9D486F6-7A01-4716-8DD4-96CBC9753DF5}">
          <p14:sldIdLst>
            <p14:sldId id="386"/>
            <p14:sldId id="387"/>
            <p14:sldId id="503"/>
            <p14:sldId id="380"/>
            <p14:sldId id="388"/>
            <p14:sldId id="389"/>
            <p14:sldId id="504"/>
            <p14:sldId id="403"/>
            <p14:sldId id="404"/>
            <p14:sldId id="502"/>
            <p14:sldId id="405"/>
            <p14:sldId id="506"/>
            <p14:sldId id="406"/>
            <p14:sldId id="391"/>
            <p14:sldId id="390"/>
            <p14:sldId id="507"/>
            <p14:sldId id="407"/>
            <p14:sldId id="508"/>
            <p14:sldId id="408"/>
            <p14:sldId id="509"/>
            <p14:sldId id="392"/>
            <p14:sldId id="396"/>
            <p14:sldId id="393"/>
            <p14:sldId id="397"/>
            <p14:sldId id="511"/>
            <p14:sldId id="394"/>
            <p14:sldId id="512"/>
            <p14:sldId id="398"/>
            <p14:sldId id="448"/>
            <p14:sldId id="409"/>
            <p14:sldId id="399"/>
            <p14:sldId id="401"/>
            <p14:sldId id="402"/>
            <p14:sldId id="4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5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91742A-9F2A-4D00-94D4-3BD4DBAC2BBD}" v="1" dt="2026-10-12T08:25:23.4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6" autoAdjust="0"/>
    <p:restoredTop sz="96164"/>
  </p:normalViewPr>
  <p:slideViewPr>
    <p:cSldViewPr snapToGrid="0" snapToObjects="1">
      <p:cViewPr varScale="1">
        <p:scale>
          <a:sx n="103" d="100"/>
          <a:sy n="103" d="100"/>
        </p:scale>
        <p:origin x="283" y="77"/>
      </p:cViewPr>
      <p:guideLst/>
    </p:cSldViewPr>
  </p:slideViewPr>
  <p:outlineViewPr>
    <p:cViewPr>
      <p:scale>
        <a:sx n="33" d="100"/>
        <a:sy n="33" d="100"/>
      </p:scale>
      <p:origin x="0" y="-4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theme" Target="theme/theme1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tableStyles" Target="tableStyles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72" Type="http://schemas.openxmlformats.org/officeDocument/2006/relationships/slide" Target="slides/slide170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18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microsoft.com/office/2015/10/relationships/revisionInfo" Target="revisionInfo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presProps" Target="pres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viewProps" Target="viewProps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es De Smedt" userId="e13460af-634e-4231-9e97-a5e3038c16cf" providerId="ADAL" clId="{067A3BAA-D5DB-5F7B-B693-F6FD3279B148}"/>
    <pc:docChg chg="undo custSel addSld modSld sldOrd modSection">
      <pc:chgData name="Johannes De Smedt" userId="e13460af-634e-4231-9e97-a5e3038c16cf" providerId="ADAL" clId="{067A3BAA-D5DB-5F7B-B693-F6FD3279B148}" dt="2026-10-09T07:17:52.453" v="47" actId="20577"/>
      <pc:docMkLst>
        <pc:docMk/>
      </pc:docMkLst>
      <pc:sldChg chg="addSp delSp modSp mod">
        <pc:chgData name="Johannes De Smedt" userId="e13460af-634e-4231-9e97-a5e3038c16cf" providerId="ADAL" clId="{067A3BAA-D5DB-5F7B-B693-F6FD3279B148}" dt="2026-10-09T07:16:49.405" v="20" actId="22"/>
        <pc:sldMkLst>
          <pc:docMk/>
          <pc:sldMk cId="2220433404" sldId="269"/>
        </pc:sldMkLst>
        <pc:spChg chg="mod">
          <ac:chgData name="Johannes De Smedt" userId="e13460af-634e-4231-9e97-a5e3038c16cf" providerId="ADAL" clId="{067A3BAA-D5DB-5F7B-B693-F6FD3279B148}" dt="2026-10-09T07:16:43.194" v="18" actId="20577"/>
          <ac:spMkLst>
            <pc:docMk/>
            <pc:sldMk cId="2220433404" sldId="269"/>
            <ac:spMk id="4" creationId="{DC0DDB50-4F7D-C846-B331-5EDF14C94BF5}"/>
          </ac:spMkLst>
        </pc:spChg>
      </pc:sldChg>
      <pc:sldChg chg="modSp mod">
        <pc:chgData name="Johannes De Smedt" userId="e13460af-634e-4231-9e97-a5e3038c16cf" providerId="ADAL" clId="{067A3BAA-D5DB-5F7B-B693-F6FD3279B148}" dt="2026-10-09T07:17:52.453" v="47" actId="20577"/>
        <pc:sldMkLst>
          <pc:docMk/>
          <pc:sldMk cId="1627325123" sldId="487"/>
        </pc:sldMkLst>
        <pc:spChg chg="mod">
          <ac:chgData name="Johannes De Smedt" userId="e13460af-634e-4231-9e97-a5e3038c16cf" providerId="ADAL" clId="{067A3BAA-D5DB-5F7B-B693-F6FD3279B148}" dt="2026-10-09T07:17:52.453" v="47" actId="20577"/>
          <ac:spMkLst>
            <pc:docMk/>
            <pc:sldMk cId="1627325123" sldId="487"/>
            <ac:spMk id="118" creationId="{56F42D7D-15A2-8A95-5B5D-248389F120A6}"/>
          </ac:spMkLst>
        </pc:spChg>
      </pc:sldChg>
      <pc:sldChg chg="addSp delSp modSp new mod ord modClrScheme chgLayout">
        <pc:chgData name="Johannes De Smedt" userId="e13460af-634e-4231-9e97-a5e3038c16cf" providerId="ADAL" clId="{067A3BAA-D5DB-5F7B-B693-F6FD3279B148}" dt="2026-10-09T07:17:06.622" v="46" actId="700"/>
        <pc:sldMkLst>
          <pc:docMk/>
          <pc:sldMk cId="3205166503" sldId="489"/>
        </pc:sldMkLst>
        <pc:spChg chg="mod ord">
          <ac:chgData name="Johannes De Smedt" userId="e13460af-634e-4231-9e97-a5e3038c16cf" providerId="ADAL" clId="{067A3BAA-D5DB-5F7B-B693-F6FD3279B148}" dt="2026-10-09T07:17:06.622" v="46" actId="700"/>
          <ac:spMkLst>
            <pc:docMk/>
            <pc:sldMk cId="3205166503" sldId="489"/>
            <ac:spMk id="2" creationId="{3024311A-AA10-A2A4-84A9-0379F528D8D7}"/>
          </ac:spMkLst>
        </pc:spChg>
        <pc:spChg chg="mod ord">
          <ac:chgData name="Johannes De Smedt" userId="e13460af-634e-4231-9e97-a5e3038c16cf" providerId="ADAL" clId="{067A3BAA-D5DB-5F7B-B693-F6FD3279B148}" dt="2026-10-09T07:17:06.622" v="46" actId="700"/>
          <ac:spMkLst>
            <pc:docMk/>
            <pc:sldMk cId="3205166503" sldId="489"/>
            <ac:spMk id="4" creationId="{13B41696-3489-8561-4A96-17BF5799888F}"/>
          </ac:spMkLst>
        </pc:spChg>
        <pc:spChg chg="add mod ord">
          <ac:chgData name="Johannes De Smedt" userId="e13460af-634e-4231-9e97-a5e3038c16cf" providerId="ADAL" clId="{067A3BAA-D5DB-5F7B-B693-F6FD3279B148}" dt="2026-10-09T07:17:06.622" v="46" actId="700"/>
          <ac:spMkLst>
            <pc:docMk/>
            <pc:sldMk cId="3205166503" sldId="489"/>
            <ac:spMk id="5" creationId="{E3F87733-803D-4B3C-C47F-E29449F19999}"/>
          </ac:spMkLst>
        </pc:spChg>
        <pc:spChg chg="add mod ord">
          <ac:chgData name="Johannes De Smedt" userId="e13460af-634e-4231-9e97-a5e3038c16cf" providerId="ADAL" clId="{067A3BAA-D5DB-5F7B-B693-F6FD3279B148}" dt="2026-10-09T07:17:06.622" v="46" actId="700"/>
          <ac:spMkLst>
            <pc:docMk/>
            <pc:sldMk cId="3205166503" sldId="489"/>
            <ac:spMk id="6" creationId="{E024B637-2791-529F-1ABF-73E19501B5AB}"/>
          </ac:spMkLst>
        </pc:spChg>
      </pc:sldChg>
    </pc:docChg>
  </pc:docChgLst>
  <pc:docChgLst>
    <pc:chgData name="Johannes De Smedt" userId="e13460af-634e-4231-9e97-a5e3038c16cf" providerId="ADAL" clId="{0D1066A5-738B-4C5A-8D8D-B22799BBCD97}"/>
    <pc:docChg chg="undo custSel addSld delSld modSld sldOrd addSection modSection">
      <pc:chgData name="Johannes De Smedt" userId="e13460af-634e-4231-9e97-a5e3038c16cf" providerId="ADAL" clId="{0D1066A5-738B-4C5A-8D8D-B22799BBCD97}" dt="2026-10-13T07:45:23.635" v="2930" actId="47"/>
      <pc:docMkLst>
        <pc:docMk/>
      </pc:docMkLst>
      <pc:sldChg chg="modSp mod">
        <pc:chgData name="Johannes De Smedt" userId="e13460af-634e-4231-9e97-a5e3038c16cf" providerId="ADAL" clId="{0D1066A5-738B-4C5A-8D8D-B22799BBCD97}" dt="2026-09-22T08:51:55.796" v="1899" actId="113"/>
        <pc:sldMkLst>
          <pc:docMk/>
          <pc:sldMk cId="3432542661" sldId="278"/>
        </pc:sldMkLst>
        <pc:spChg chg="mod">
          <ac:chgData name="Johannes De Smedt" userId="e13460af-634e-4231-9e97-a5e3038c16cf" providerId="ADAL" clId="{0D1066A5-738B-4C5A-8D8D-B22799BBCD97}" dt="2026-09-22T08:51:55.796" v="1899" actId="113"/>
          <ac:spMkLst>
            <pc:docMk/>
            <pc:sldMk cId="3432542661" sldId="278"/>
            <ac:spMk id="3" creationId="{E2FC760D-9AB6-AE49-90C0-37CD6560234F}"/>
          </ac:spMkLst>
        </pc:spChg>
      </pc:sldChg>
      <pc:sldChg chg="modSp mod">
        <pc:chgData name="Johannes De Smedt" userId="e13460af-634e-4231-9e97-a5e3038c16cf" providerId="ADAL" clId="{0D1066A5-738B-4C5A-8D8D-B22799BBCD97}" dt="2026-09-14T09:45:42.993" v="137" actId="2711"/>
        <pc:sldMkLst>
          <pc:docMk/>
          <pc:sldMk cId="2255207171" sldId="280"/>
        </pc:sldMkLst>
        <pc:spChg chg="mod">
          <ac:chgData name="Johannes De Smedt" userId="e13460af-634e-4231-9e97-a5e3038c16cf" providerId="ADAL" clId="{0D1066A5-738B-4C5A-8D8D-B22799BBCD97}" dt="2026-09-14T09:45:42.993" v="137" actId="2711"/>
          <ac:spMkLst>
            <pc:docMk/>
            <pc:sldMk cId="2255207171" sldId="280"/>
            <ac:spMk id="11" creationId="{3BA51505-342E-0440-A21C-F249BA50B0D2}"/>
          </ac:spMkLst>
        </pc:spChg>
      </pc:sldChg>
      <pc:sldChg chg="modSp mod">
        <pc:chgData name="Johannes De Smedt" userId="e13460af-634e-4231-9e97-a5e3038c16cf" providerId="ADAL" clId="{0D1066A5-738B-4C5A-8D8D-B22799BBCD97}" dt="2026-09-21T08:40:31.289" v="1416" actId="207"/>
        <pc:sldMkLst>
          <pc:docMk/>
          <pc:sldMk cId="2192594416" sldId="282"/>
        </pc:sldMkLst>
        <pc:spChg chg="mod">
          <ac:chgData name="Johannes De Smedt" userId="e13460af-634e-4231-9e97-a5e3038c16cf" providerId="ADAL" clId="{0D1066A5-738B-4C5A-8D8D-B22799BBCD97}" dt="2026-09-21T08:40:31.289" v="1416" actId="207"/>
          <ac:spMkLst>
            <pc:docMk/>
            <pc:sldMk cId="2192594416" sldId="282"/>
            <ac:spMk id="3" creationId="{91B5F99C-1475-A913-3B67-1EF42E9B1626}"/>
          </ac:spMkLst>
        </pc:spChg>
      </pc:sldChg>
      <pc:sldChg chg="modSp mod">
        <pc:chgData name="Johannes De Smedt" userId="e13460af-634e-4231-9e97-a5e3038c16cf" providerId="ADAL" clId="{0D1066A5-738B-4C5A-8D8D-B22799BBCD97}" dt="2026-09-14T09:55:27.464" v="187" actId="14100"/>
        <pc:sldMkLst>
          <pc:docMk/>
          <pc:sldMk cId="1077129677" sldId="287"/>
        </pc:sldMkLst>
        <pc:spChg chg="mod">
          <ac:chgData name="Johannes De Smedt" userId="e13460af-634e-4231-9e97-a5e3038c16cf" providerId="ADAL" clId="{0D1066A5-738B-4C5A-8D8D-B22799BBCD97}" dt="2026-09-14T09:55:27.464" v="187" actId="14100"/>
          <ac:spMkLst>
            <pc:docMk/>
            <pc:sldMk cId="1077129677" sldId="287"/>
            <ac:spMk id="3" creationId="{DB4832FA-C654-374F-80A3-BBA0FB3FCA8D}"/>
          </ac:spMkLst>
        </pc:spChg>
      </pc:sldChg>
      <pc:sldChg chg="modSp mod">
        <pc:chgData name="Johannes De Smedt" userId="e13460af-634e-4231-9e97-a5e3038c16cf" providerId="ADAL" clId="{0D1066A5-738B-4C5A-8D8D-B22799BBCD97}" dt="2026-09-22T10:25:52.308" v="1979" actId="207"/>
        <pc:sldMkLst>
          <pc:docMk/>
          <pc:sldMk cId="2752741031" sldId="290"/>
        </pc:sldMkLst>
        <pc:spChg chg="mod">
          <ac:chgData name="Johannes De Smedt" userId="e13460af-634e-4231-9e97-a5e3038c16cf" providerId="ADAL" clId="{0D1066A5-738B-4C5A-8D8D-B22799BBCD97}" dt="2026-09-22T10:25:52.308" v="1979" actId="207"/>
          <ac:spMkLst>
            <pc:docMk/>
            <pc:sldMk cId="2752741031" sldId="290"/>
            <ac:spMk id="3" creationId="{F09D043B-FEFB-C340-BAC1-40D3FEE0DB66}"/>
          </ac:spMkLst>
        </pc:spChg>
        <pc:spChg chg="mod">
          <ac:chgData name="Johannes De Smedt" userId="e13460af-634e-4231-9e97-a5e3038c16cf" providerId="ADAL" clId="{0D1066A5-738B-4C5A-8D8D-B22799BBCD97}" dt="2026-09-14T10:06:02.075" v="188" actId="1076"/>
          <ac:spMkLst>
            <pc:docMk/>
            <pc:sldMk cId="2752741031" sldId="290"/>
            <ac:spMk id="6" creationId="{92E82B7C-25EA-E944-82AA-A42D8922BBF3}"/>
          </ac:spMkLst>
        </pc:spChg>
      </pc:sldChg>
      <pc:sldChg chg="modSp mod">
        <pc:chgData name="Johannes De Smedt" userId="e13460af-634e-4231-9e97-a5e3038c16cf" providerId="ADAL" clId="{0D1066A5-738B-4C5A-8D8D-B22799BBCD97}" dt="2026-09-14T10:09:18.932" v="221" actId="20577"/>
        <pc:sldMkLst>
          <pc:docMk/>
          <pc:sldMk cId="3753469583" sldId="293"/>
        </pc:sldMkLst>
        <pc:spChg chg="mod">
          <ac:chgData name="Johannes De Smedt" userId="e13460af-634e-4231-9e97-a5e3038c16cf" providerId="ADAL" clId="{0D1066A5-738B-4C5A-8D8D-B22799BBCD97}" dt="2026-09-14T10:09:18.932" v="221" actId="20577"/>
          <ac:spMkLst>
            <pc:docMk/>
            <pc:sldMk cId="3753469583" sldId="293"/>
            <ac:spMk id="3" creationId="{060E76EC-1EC5-E24A-96BE-6D58A41FB858}"/>
          </ac:spMkLst>
        </pc:spChg>
      </pc:sldChg>
      <pc:sldChg chg="modSp mod">
        <pc:chgData name="Johannes De Smedt" userId="e13460af-634e-4231-9e97-a5e3038c16cf" providerId="ADAL" clId="{0D1066A5-738B-4C5A-8D8D-B22799BBCD97}" dt="2026-10-02T22:59:32.688" v="2019" actId="20577"/>
        <pc:sldMkLst>
          <pc:docMk/>
          <pc:sldMk cId="3063186328" sldId="297"/>
        </pc:sldMkLst>
        <pc:spChg chg="mod">
          <ac:chgData name="Johannes De Smedt" userId="e13460af-634e-4231-9e97-a5e3038c16cf" providerId="ADAL" clId="{0D1066A5-738B-4C5A-8D8D-B22799BBCD97}" dt="2026-10-02T22:59:32.688" v="2019" actId="20577"/>
          <ac:spMkLst>
            <pc:docMk/>
            <pc:sldMk cId="3063186328" sldId="297"/>
            <ac:spMk id="10" creationId="{94584A46-D312-A443-B4EE-B7015D1AF970}"/>
          </ac:spMkLst>
        </pc:spChg>
      </pc:sldChg>
      <pc:sldChg chg="modSp mod">
        <pc:chgData name="Johannes De Smedt" userId="e13460af-634e-4231-9e97-a5e3038c16cf" providerId="ADAL" clId="{0D1066A5-738B-4C5A-8D8D-B22799BBCD97}" dt="2026-09-21T09:20:35.354" v="1844" actId="20577"/>
        <pc:sldMkLst>
          <pc:docMk/>
          <pc:sldMk cId="1142230800" sldId="301"/>
        </pc:sldMkLst>
        <pc:spChg chg="mod">
          <ac:chgData name="Johannes De Smedt" userId="e13460af-634e-4231-9e97-a5e3038c16cf" providerId="ADAL" clId="{0D1066A5-738B-4C5A-8D8D-B22799BBCD97}" dt="2026-09-21T09:20:35.354" v="1844" actId="20577"/>
          <ac:spMkLst>
            <pc:docMk/>
            <pc:sldMk cId="1142230800" sldId="301"/>
            <ac:spMk id="3" creationId="{CC88231C-55FD-704F-A624-1E52708F76BB}"/>
          </ac:spMkLst>
        </pc:spChg>
      </pc:sldChg>
      <pc:sldChg chg="modSp mod">
        <pc:chgData name="Johannes De Smedt" userId="e13460af-634e-4231-9e97-a5e3038c16cf" providerId="ADAL" clId="{0D1066A5-738B-4C5A-8D8D-B22799BBCD97}" dt="2026-10-02T23:46:21.314" v="2060" actId="20577"/>
        <pc:sldMkLst>
          <pc:docMk/>
          <pc:sldMk cId="599742938" sldId="316"/>
        </pc:sldMkLst>
        <pc:spChg chg="mod">
          <ac:chgData name="Johannes De Smedt" userId="e13460af-634e-4231-9e97-a5e3038c16cf" providerId="ADAL" clId="{0D1066A5-738B-4C5A-8D8D-B22799BBCD97}" dt="2026-10-02T23:46:21.314" v="2060" actId="20577"/>
          <ac:spMkLst>
            <pc:docMk/>
            <pc:sldMk cId="599742938" sldId="316"/>
            <ac:spMk id="3" creationId="{68AA21B2-9390-0743-8C8B-FAF82DA623EC}"/>
          </ac:spMkLst>
        </pc:spChg>
      </pc:sldChg>
      <pc:sldChg chg="modSp mod">
        <pc:chgData name="Johannes De Smedt" userId="e13460af-634e-4231-9e97-a5e3038c16cf" providerId="ADAL" clId="{0D1066A5-738B-4C5A-8D8D-B22799BBCD97}" dt="2026-10-05T10:12:40.519" v="2135" actId="6549"/>
        <pc:sldMkLst>
          <pc:docMk/>
          <pc:sldMk cId="1146500725" sldId="318"/>
        </pc:sldMkLst>
        <pc:spChg chg="mod">
          <ac:chgData name="Johannes De Smedt" userId="e13460af-634e-4231-9e97-a5e3038c16cf" providerId="ADAL" clId="{0D1066A5-738B-4C5A-8D8D-B22799BBCD97}" dt="2026-10-05T10:12:40.519" v="2135" actId="6549"/>
          <ac:spMkLst>
            <pc:docMk/>
            <pc:sldMk cId="1146500725" sldId="318"/>
            <ac:spMk id="7" creationId="{D06EB4DE-B596-794B-B819-81DEBA19A7DB}"/>
          </ac:spMkLst>
        </pc:spChg>
      </pc:sldChg>
      <pc:sldChg chg="modSp mod">
        <pc:chgData name="Johannes De Smedt" userId="e13460af-634e-4231-9e97-a5e3038c16cf" providerId="ADAL" clId="{0D1066A5-738B-4C5A-8D8D-B22799BBCD97}" dt="2026-10-02T23:55:21.070" v="2063" actId="2711"/>
        <pc:sldMkLst>
          <pc:docMk/>
          <pc:sldMk cId="221263066" sldId="325"/>
        </pc:sldMkLst>
        <pc:spChg chg="mod">
          <ac:chgData name="Johannes De Smedt" userId="e13460af-634e-4231-9e97-a5e3038c16cf" providerId="ADAL" clId="{0D1066A5-738B-4C5A-8D8D-B22799BBCD97}" dt="2026-10-02T23:55:21.070" v="2063" actId="2711"/>
          <ac:spMkLst>
            <pc:docMk/>
            <pc:sldMk cId="221263066" sldId="325"/>
            <ac:spMk id="3" creationId="{CCE79E1F-0945-9E4F-A9EA-B279BBE8FB05}"/>
          </ac:spMkLst>
        </pc:spChg>
        <pc:spChg chg="mod">
          <ac:chgData name="Johannes De Smedt" userId="e13460af-634e-4231-9e97-a5e3038c16cf" providerId="ADAL" clId="{0D1066A5-738B-4C5A-8D8D-B22799BBCD97}" dt="2026-09-14T11:58:30.112" v="500" actId="1076"/>
          <ac:spMkLst>
            <pc:docMk/>
            <pc:sldMk cId="221263066" sldId="325"/>
            <ac:spMk id="5" creationId="{EF5B4298-C6D8-6F41-9E34-8F66F17EAE6A}"/>
          </ac:spMkLst>
        </pc:spChg>
        <pc:spChg chg="mod">
          <ac:chgData name="Johannes De Smedt" userId="e13460af-634e-4231-9e97-a5e3038c16cf" providerId="ADAL" clId="{0D1066A5-738B-4C5A-8D8D-B22799BBCD97}" dt="2026-09-14T11:58:30.112" v="500" actId="1076"/>
          <ac:spMkLst>
            <pc:docMk/>
            <pc:sldMk cId="221263066" sldId="325"/>
            <ac:spMk id="6" creationId="{09BABB72-2B12-AD42-A67F-EE6E91722E0C}"/>
          </ac:spMkLst>
        </pc:spChg>
        <pc:spChg chg="mod">
          <ac:chgData name="Johannes De Smedt" userId="e13460af-634e-4231-9e97-a5e3038c16cf" providerId="ADAL" clId="{0D1066A5-738B-4C5A-8D8D-B22799BBCD97}" dt="2026-09-14T11:58:30.112" v="500" actId="1076"/>
          <ac:spMkLst>
            <pc:docMk/>
            <pc:sldMk cId="221263066" sldId="325"/>
            <ac:spMk id="7" creationId="{D0853BDA-527C-2F49-8A00-C10992C33CB7}"/>
          </ac:spMkLst>
        </pc:spChg>
        <pc:spChg chg="mod">
          <ac:chgData name="Johannes De Smedt" userId="e13460af-634e-4231-9e97-a5e3038c16cf" providerId="ADAL" clId="{0D1066A5-738B-4C5A-8D8D-B22799BBCD97}" dt="2026-09-14T11:58:30.112" v="500" actId="1076"/>
          <ac:spMkLst>
            <pc:docMk/>
            <pc:sldMk cId="221263066" sldId="325"/>
            <ac:spMk id="8" creationId="{82941613-0C70-7D4D-985F-33E2CF555733}"/>
          </ac:spMkLst>
        </pc:spChg>
      </pc:sldChg>
      <pc:sldChg chg="modSp mod">
        <pc:chgData name="Johannes De Smedt" userId="e13460af-634e-4231-9e97-a5e3038c16cf" providerId="ADAL" clId="{0D1066A5-738B-4C5A-8D8D-B22799BBCD97}" dt="2026-10-03T00:03:50.254" v="2092" actId="20577"/>
        <pc:sldMkLst>
          <pc:docMk/>
          <pc:sldMk cId="4192256719" sldId="333"/>
        </pc:sldMkLst>
        <pc:spChg chg="mod">
          <ac:chgData name="Johannes De Smedt" userId="e13460af-634e-4231-9e97-a5e3038c16cf" providerId="ADAL" clId="{0D1066A5-738B-4C5A-8D8D-B22799BBCD97}" dt="2026-10-03T00:03:50.254" v="2092" actId="20577"/>
          <ac:spMkLst>
            <pc:docMk/>
            <pc:sldMk cId="4192256719" sldId="333"/>
            <ac:spMk id="2" creationId="{C6812230-A0D0-FB4A-AE5E-08969C664BD2}"/>
          </ac:spMkLst>
        </pc:spChg>
      </pc:sldChg>
      <pc:sldChg chg="modSp mod">
        <pc:chgData name="Johannes De Smedt" userId="e13460af-634e-4231-9e97-a5e3038c16cf" providerId="ADAL" clId="{0D1066A5-738B-4C5A-8D8D-B22799BBCD97}" dt="2026-10-06T08:56:30.194" v="2196" actId="20577"/>
        <pc:sldMkLst>
          <pc:docMk/>
          <pc:sldMk cId="411654361" sldId="338"/>
        </pc:sldMkLst>
        <pc:spChg chg="mod">
          <ac:chgData name="Johannes De Smedt" userId="e13460af-634e-4231-9e97-a5e3038c16cf" providerId="ADAL" clId="{0D1066A5-738B-4C5A-8D8D-B22799BBCD97}" dt="2026-10-06T08:56:30.194" v="2196" actId="20577"/>
          <ac:spMkLst>
            <pc:docMk/>
            <pc:sldMk cId="411654361" sldId="338"/>
            <ac:spMk id="29" creationId="{B9AE54CE-7F36-6744-8AC8-E455DB1686E6}"/>
          </ac:spMkLst>
        </pc:spChg>
      </pc:sldChg>
      <pc:sldChg chg="modSp mod">
        <pc:chgData name="Johannes De Smedt" userId="e13460af-634e-4231-9e97-a5e3038c16cf" providerId="ADAL" clId="{0D1066A5-738B-4C5A-8D8D-B22799BBCD97}" dt="2026-10-03T00:11:21.064" v="2093" actId="20577"/>
        <pc:sldMkLst>
          <pc:docMk/>
          <pc:sldMk cId="4146599250" sldId="348"/>
        </pc:sldMkLst>
        <pc:spChg chg="mod">
          <ac:chgData name="Johannes De Smedt" userId="e13460af-634e-4231-9e97-a5e3038c16cf" providerId="ADAL" clId="{0D1066A5-738B-4C5A-8D8D-B22799BBCD97}" dt="2026-10-03T00:11:21.064" v="2093" actId="20577"/>
          <ac:spMkLst>
            <pc:docMk/>
            <pc:sldMk cId="4146599250" sldId="348"/>
            <ac:spMk id="3" creationId="{C5EECC75-2871-594E-97CF-0A1FC51EE0B9}"/>
          </ac:spMkLst>
        </pc:spChg>
      </pc:sldChg>
      <pc:sldChg chg="modSp mod">
        <pc:chgData name="Johannes De Smedt" userId="e13460af-634e-4231-9e97-a5e3038c16cf" providerId="ADAL" clId="{0D1066A5-738B-4C5A-8D8D-B22799BBCD97}" dt="2026-10-07T10:33:12.845" v="2249" actId="207"/>
        <pc:sldMkLst>
          <pc:docMk/>
          <pc:sldMk cId="272974991" sldId="349"/>
        </pc:sldMkLst>
        <pc:spChg chg="mod">
          <ac:chgData name="Johannes De Smedt" userId="e13460af-634e-4231-9e97-a5e3038c16cf" providerId="ADAL" clId="{0D1066A5-738B-4C5A-8D8D-B22799BBCD97}" dt="2026-10-07T10:33:07.105" v="2248" actId="208"/>
          <ac:spMkLst>
            <pc:docMk/>
            <pc:sldMk cId="272974991" sldId="349"/>
            <ac:spMk id="6" creationId="{91ECA588-BAEA-BC4F-8C52-E17198AD2120}"/>
          </ac:spMkLst>
        </pc:spChg>
        <pc:spChg chg="mod">
          <ac:chgData name="Johannes De Smedt" userId="e13460af-634e-4231-9e97-a5e3038c16cf" providerId="ADAL" clId="{0D1066A5-738B-4C5A-8D8D-B22799BBCD97}" dt="2026-10-07T10:33:12.845" v="2249" actId="207"/>
          <ac:spMkLst>
            <pc:docMk/>
            <pc:sldMk cId="272974991" sldId="349"/>
            <ac:spMk id="8" creationId="{4B0C189D-0211-5942-9618-B007EED528C3}"/>
          </ac:spMkLst>
        </pc:spChg>
      </pc:sldChg>
      <pc:sldChg chg="modSp mod">
        <pc:chgData name="Johannes De Smedt" userId="e13460af-634e-4231-9e97-a5e3038c16cf" providerId="ADAL" clId="{0D1066A5-738B-4C5A-8D8D-B22799BBCD97}" dt="2026-10-03T00:13:13.969" v="2094" actId="207"/>
        <pc:sldMkLst>
          <pc:docMk/>
          <pc:sldMk cId="2756483926" sldId="351"/>
        </pc:sldMkLst>
        <pc:spChg chg="mod">
          <ac:chgData name="Johannes De Smedt" userId="e13460af-634e-4231-9e97-a5e3038c16cf" providerId="ADAL" clId="{0D1066A5-738B-4C5A-8D8D-B22799BBCD97}" dt="2026-10-03T00:13:13.969" v="2094" actId="207"/>
          <ac:spMkLst>
            <pc:docMk/>
            <pc:sldMk cId="2756483926" sldId="351"/>
            <ac:spMk id="14" creationId="{0B739A60-1517-A24A-9945-BD1296F876BB}"/>
          </ac:spMkLst>
        </pc:spChg>
      </pc:sldChg>
      <pc:sldChg chg="modSp mod">
        <pc:chgData name="Johannes De Smedt" userId="e13460af-634e-4231-9e97-a5e3038c16cf" providerId="ADAL" clId="{0D1066A5-738B-4C5A-8D8D-B22799BBCD97}" dt="2026-10-07T10:37:48.649" v="2252" actId="20577"/>
        <pc:sldMkLst>
          <pc:docMk/>
          <pc:sldMk cId="434047342" sldId="355"/>
        </pc:sldMkLst>
        <pc:spChg chg="mod">
          <ac:chgData name="Johannes De Smedt" userId="e13460af-634e-4231-9e97-a5e3038c16cf" providerId="ADAL" clId="{0D1066A5-738B-4C5A-8D8D-B22799BBCD97}" dt="2026-10-07T10:37:48.649" v="2252" actId="20577"/>
          <ac:spMkLst>
            <pc:docMk/>
            <pc:sldMk cId="434047342" sldId="355"/>
            <ac:spMk id="3" creationId="{C3CF3F79-1CF8-4141-8A5C-60CF145AD9E8}"/>
          </ac:spMkLst>
        </pc:spChg>
      </pc:sldChg>
      <pc:sldChg chg="modSp mod">
        <pc:chgData name="Johannes De Smedt" userId="e13460af-634e-4231-9e97-a5e3038c16cf" providerId="ADAL" clId="{0D1066A5-738B-4C5A-8D8D-B22799BBCD97}" dt="2026-09-22T10:05:57.367" v="1922" actId="207"/>
        <pc:sldMkLst>
          <pc:docMk/>
          <pc:sldMk cId="1856273927" sldId="373"/>
        </pc:sldMkLst>
        <pc:spChg chg="mod">
          <ac:chgData name="Johannes De Smedt" userId="e13460af-634e-4231-9e97-a5e3038c16cf" providerId="ADAL" clId="{0D1066A5-738B-4C5A-8D8D-B22799BBCD97}" dt="2026-09-22T10:05:57.367" v="1922" actId="207"/>
          <ac:spMkLst>
            <pc:docMk/>
            <pc:sldMk cId="1856273927" sldId="373"/>
            <ac:spMk id="3" creationId="{A97EFC74-6F4D-A641-9C70-2AC35F52D203}"/>
          </ac:spMkLst>
        </pc:spChg>
      </pc:sldChg>
      <pc:sldChg chg="modSp mod">
        <pc:chgData name="Johannes De Smedt" userId="e13460af-634e-4231-9e97-a5e3038c16cf" providerId="ADAL" clId="{0D1066A5-738B-4C5A-8D8D-B22799BBCD97}" dt="2026-10-02T23:02:41.129" v="2025" actId="1037"/>
        <pc:sldMkLst>
          <pc:docMk/>
          <pc:sldMk cId="3637974177" sldId="374"/>
        </pc:sldMkLst>
        <pc:spChg chg="mod">
          <ac:chgData name="Johannes De Smedt" userId="e13460af-634e-4231-9e97-a5e3038c16cf" providerId="ADAL" clId="{0D1066A5-738B-4C5A-8D8D-B22799BBCD97}" dt="2026-10-02T23:02:41.129" v="2025" actId="1037"/>
          <ac:spMkLst>
            <pc:docMk/>
            <pc:sldMk cId="3637974177" sldId="374"/>
            <ac:spMk id="11" creationId="{185FDB25-0462-C548-8387-176D43211933}"/>
          </ac:spMkLst>
        </pc:spChg>
      </pc:sldChg>
      <pc:sldChg chg="addSp delSp modSp mod">
        <pc:chgData name="Johannes De Smedt" userId="e13460af-634e-4231-9e97-a5e3038c16cf" providerId="ADAL" clId="{0D1066A5-738B-4C5A-8D8D-B22799BBCD97}" dt="2026-10-07T11:25:46.243" v="2255" actId="14100"/>
        <pc:sldMkLst>
          <pc:docMk/>
          <pc:sldMk cId="2487066161" sldId="382"/>
        </pc:sldMkLst>
        <pc:spChg chg="add mod ord">
          <ac:chgData name="Johannes De Smedt" userId="e13460af-634e-4231-9e97-a5e3038c16cf" providerId="ADAL" clId="{0D1066A5-738B-4C5A-8D8D-B22799BBCD97}" dt="2026-10-06T09:45:24.255" v="2197" actId="14100"/>
          <ac:spMkLst>
            <pc:docMk/>
            <pc:sldMk cId="2487066161" sldId="382"/>
            <ac:spMk id="8" creationId="{48E9AFDA-05FA-1E4E-7FF8-7751B96984EA}"/>
          </ac:spMkLst>
        </pc:spChg>
        <pc:spChg chg="mod">
          <ac:chgData name="Johannes De Smedt" userId="e13460af-634e-4231-9e97-a5e3038c16cf" providerId="ADAL" clId="{0D1066A5-738B-4C5A-8D8D-B22799BBCD97}" dt="2026-10-07T11:25:40.714" v="2253" actId="14100"/>
          <ac:spMkLst>
            <pc:docMk/>
            <pc:sldMk cId="2487066161" sldId="382"/>
            <ac:spMk id="17" creationId="{F0C0470A-BF26-B03A-956A-D7191721B0D8}"/>
          </ac:spMkLst>
        </pc:spChg>
        <pc:spChg chg="mod">
          <ac:chgData name="Johannes De Smedt" userId="e13460af-634e-4231-9e97-a5e3038c16cf" providerId="ADAL" clId="{0D1066A5-738B-4C5A-8D8D-B22799BBCD97}" dt="2026-09-14T12:24:50.570" v="513" actId="1035"/>
          <ac:spMkLst>
            <pc:docMk/>
            <pc:sldMk cId="2487066161" sldId="382"/>
            <ac:spMk id="32" creationId="{AA3A0670-F07B-7B5B-2F0B-83C577C40A45}"/>
          </ac:spMkLst>
        </pc:spChg>
        <pc:cxnChg chg="mod">
          <ac:chgData name="Johannes De Smedt" userId="e13460af-634e-4231-9e97-a5e3038c16cf" providerId="ADAL" clId="{0D1066A5-738B-4C5A-8D8D-B22799BBCD97}" dt="2026-10-07T11:25:46.243" v="2255" actId="14100"/>
          <ac:cxnSpMkLst>
            <pc:docMk/>
            <pc:sldMk cId="2487066161" sldId="382"/>
            <ac:cxnSpMk id="11" creationId="{6FC19E6C-F8E1-BC00-57B5-0959ECC92A43}"/>
          </ac:cxnSpMkLst>
        </pc:cxnChg>
        <pc:cxnChg chg="mod">
          <ac:chgData name="Johannes De Smedt" userId="e13460af-634e-4231-9e97-a5e3038c16cf" providerId="ADAL" clId="{0D1066A5-738B-4C5A-8D8D-B22799BBCD97}" dt="2026-09-14T12:24:55.347" v="515" actId="1076"/>
          <ac:cxnSpMkLst>
            <pc:docMk/>
            <pc:sldMk cId="2487066161" sldId="382"/>
            <ac:cxnSpMk id="30" creationId="{60FA3F88-27A2-E26B-E422-70E66C2B056D}"/>
          </ac:cxnSpMkLst>
        </pc:cxnChg>
      </pc:sldChg>
      <pc:sldChg chg="modSp mod">
        <pc:chgData name="Johannes De Smedt" userId="e13460af-634e-4231-9e97-a5e3038c16cf" providerId="ADAL" clId="{0D1066A5-738B-4C5A-8D8D-B22799BBCD97}" dt="2026-09-14T12:25:18.180" v="516" actId="207"/>
        <pc:sldMkLst>
          <pc:docMk/>
          <pc:sldMk cId="3567988066" sldId="383"/>
        </pc:sldMkLst>
        <pc:spChg chg="mod">
          <ac:chgData name="Johannes De Smedt" userId="e13460af-634e-4231-9e97-a5e3038c16cf" providerId="ADAL" clId="{0D1066A5-738B-4C5A-8D8D-B22799BBCD97}" dt="2026-09-14T12:25:18.180" v="516" actId="207"/>
          <ac:spMkLst>
            <pc:docMk/>
            <pc:sldMk cId="3567988066" sldId="383"/>
            <ac:spMk id="8" creationId="{2720E336-E5F9-0CC4-C753-008002C898DB}"/>
          </ac:spMkLst>
        </pc:spChg>
        <pc:spChg chg="mod">
          <ac:chgData name="Johannes De Smedt" userId="e13460af-634e-4231-9e97-a5e3038c16cf" providerId="ADAL" clId="{0D1066A5-738B-4C5A-8D8D-B22799BBCD97}" dt="2026-09-14T12:25:18.180" v="516" actId="207"/>
          <ac:spMkLst>
            <pc:docMk/>
            <pc:sldMk cId="3567988066" sldId="383"/>
            <ac:spMk id="11" creationId="{B89D000C-AFF9-ABA1-9C30-45FDE7CC85BF}"/>
          </ac:spMkLst>
        </pc:spChg>
        <pc:spChg chg="mod">
          <ac:chgData name="Johannes De Smedt" userId="e13460af-634e-4231-9e97-a5e3038c16cf" providerId="ADAL" clId="{0D1066A5-738B-4C5A-8D8D-B22799BBCD97}" dt="2026-09-14T12:25:18.180" v="516" actId="207"/>
          <ac:spMkLst>
            <pc:docMk/>
            <pc:sldMk cId="3567988066" sldId="383"/>
            <ac:spMk id="15" creationId="{1FE2EE6E-7D24-0D23-5931-34F888578416}"/>
          </ac:spMkLst>
        </pc:spChg>
      </pc:sldChg>
      <pc:sldChg chg="modSp mod">
        <pc:chgData name="Johannes De Smedt" userId="e13460af-634e-4231-9e97-a5e3038c16cf" providerId="ADAL" clId="{0D1066A5-738B-4C5A-8D8D-B22799BBCD97}" dt="2026-10-12T07:41:23.142" v="2858" actId="20577"/>
        <pc:sldMkLst>
          <pc:docMk/>
          <pc:sldMk cId="549550115" sldId="387"/>
        </pc:sldMkLst>
        <pc:spChg chg="mod">
          <ac:chgData name="Johannes De Smedt" userId="e13460af-634e-4231-9e97-a5e3038c16cf" providerId="ADAL" clId="{0D1066A5-738B-4C5A-8D8D-B22799BBCD97}" dt="2026-10-12T07:41:23.142" v="2858" actId="20577"/>
          <ac:spMkLst>
            <pc:docMk/>
            <pc:sldMk cId="549550115" sldId="387"/>
            <ac:spMk id="2" creationId="{9E5160DC-FFD7-3ED0-5D06-CFD23D9257E1}"/>
          </ac:spMkLst>
        </pc:spChg>
      </pc:sldChg>
      <pc:sldChg chg="modSp mod">
        <pc:chgData name="Johannes De Smedt" userId="e13460af-634e-4231-9e97-a5e3038c16cf" providerId="ADAL" clId="{0D1066A5-738B-4C5A-8D8D-B22799BBCD97}" dt="2026-10-02T23:19:18.950" v="2027" actId="14100"/>
        <pc:sldMkLst>
          <pc:docMk/>
          <pc:sldMk cId="3925894199" sldId="412"/>
        </pc:sldMkLst>
        <pc:spChg chg="mod">
          <ac:chgData name="Johannes De Smedt" userId="e13460af-634e-4231-9e97-a5e3038c16cf" providerId="ADAL" clId="{0D1066A5-738B-4C5A-8D8D-B22799BBCD97}" dt="2026-09-14T10:22:48.795" v="464" actId="2711"/>
          <ac:spMkLst>
            <pc:docMk/>
            <pc:sldMk cId="3925894199" sldId="412"/>
            <ac:spMk id="3" creationId="{4C338017-0760-BA4C-819E-8DCC5FB7F317}"/>
          </ac:spMkLst>
        </pc:spChg>
        <pc:spChg chg="mod">
          <ac:chgData name="Johannes De Smedt" userId="e13460af-634e-4231-9e97-a5e3038c16cf" providerId="ADAL" clId="{0D1066A5-738B-4C5A-8D8D-B22799BBCD97}" dt="2026-09-14T10:23:02.586" v="474" actId="1076"/>
          <ac:spMkLst>
            <pc:docMk/>
            <pc:sldMk cId="3925894199" sldId="412"/>
            <ac:spMk id="6" creationId="{BD572FC3-A26C-4841-9211-1C8F39E4C1D2}"/>
          </ac:spMkLst>
        </pc:spChg>
        <pc:spChg chg="mod">
          <ac:chgData name="Johannes De Smedt" userId="e13460af-634e-4231-9e97-a5e3038c16cf" providerId="ADAL" clId="{0D1066A5-738B-4C5A-8D8D-B22799BBCD97}" dt="2026-09-14T10:23:00.805" v="473" actId="1076"/>
          <ac:spMkLst>
            <pc:docMk/>
            <pc:sldMk cId="3925894199" sldId="412"/>
            <ac:spMk id="7" creationId="{39132CDF-AAFE-794E-95B1-97E4E2EFCB7F}"/>
          </ac:spMkLst>
        </pc:spChg>
        <pc:spChg chg="mod">
          <ac:chgData name="Johannes De Smedt" userId="e13460af-634e-4231-9e97-a5e3038c16cf" providerId="ADAL" clId="{0D1066A5-738B-4C5A-8D8D-B22799BBCD97}" dt="2026-09-14T10:23:05.342" v="475" actId="1076"/>
          <ac:spMkLst>
            <pc:docMk/>
            <pc:sldMk cId="3925894199" sldId="412"/>
            <ac:spMk id="8" creationId="{13C9599B-6A58-344D-AC65-5E1E9EEAE03A}"/>
          </ac:spMkLst>
        </pc:spChg>
        <pc:spChg chg="mod">
          <ac:chgData name="Johannes De Smedt" userId="e13460af-634e-4231-9e97-a5e3038c16cf" providerId="ADAL" clId="{0D1066A5-738B-4C5A-8D8D-B22799BBCD97}" dt="2026-10-02T23:19:18.950" v="2027" actId="14100"/>
          <ac:spMkLst>
            <pc:docMk/>
            <pc:sldMk cId="3925894199" sldId="412"/>
            <ac:spMk id="9" creationId="{C79682FF-4460-5E47-A776-DAF377292240}"/>
          </ac:spMkLst>
        </pc:spChg>
      </pc:sldChg>
      <pc:sldChg chg="modSp mod">
        <pc:chgData name="Johannes De Smedt" userId="e13460af-634e-4231-9e97-a5e3038c16cf" providerId="ADAL" clId="{0D1066A5-738B-4C5A-8D8D-B22799BBCD97}" dt="2026-10-03T00:17:08.594" v="2107" actId="20577"/>
        <pc:sldMkLst>
          <pc:docMk/>
          <pc:sldMk cId="2490008385" sldId="414"/>
        </pc:sldMkLst>
        <pc:spChg chg="mod">
          <ac:chgData name="Johannes De Smedt" userId="e13460af-634e-4231-9e97-a5e3038c16cf" providerId="ADAL" clId="{0D1066A5-738B-4C5A-8D8D-B22799BBCD97}" dt="2026-10-03T00:17:08.594" v="2107" actId="20577"/>
          <ac:spMkLst>
            <pc:docMk/>
            <pc:sldMk cId="2490008385" sldId="414"/>
            <ac:spMk id="2" creationId="{CDA9F64F-307E-E248-9D67-8283017A6D0B}"/>
          </ac:spMkLst>
        </pc:spChg>
      </pc:sldChg>
      <pc:sldChg chg="modSp mod">
        <pc:chgData name="Johannes De Smedt" userId="e13460af-634e-4231-9e97-a5e3038c16cf" providerId="ADAL" clId="{0D1066A5-738B-4C5A-8D8D-B22799BBCD97}" dt="2026-10-06T08:54:30.699" v="2178" actId="20577"/>
        <pc:sldMkLst>
          <pc:docMk/>
          <pc:sldMk cId="1123928448" sldId="420"/>
        </pc:sldMkLst>
        <pc:spChg chg="mod">
          <ac:chgData name="Johannes De Smedt" userId="e13460af-634e-4231-9e97-a5e3038c16cf" providerId="ADAL" clId="{0D1066A5-738B-4C5A-8D8D-B22799BBCD97}" dt="2026-09-14T12:04:54.533" v="501" actId="20577"/>
          <ac:spMkLst>
            <pc:docMk/>
            <pc:sldMk cId="1123928448" sldId="420"/>
            <ac:spMk id="3" creationId="{4C338017-0760-BA4C-819E-8DCC5FB7F317}"/>
          </ac:spMkLst>
        </pc:spChg>
        <pc:spChg chg="mod">
          <ac:chgData name="Johannes De Smedt" userId="e13460af-634e-4231-9e97-a5e3038c16cf" providerId="ADAL" clId="{0D1066A5-738B-4C5A-8D8D-B22799BBCD97}" dt="2026-10-06T08:54:30.699" v="2178" actId="20577"/>
          <ac:spMkLst>
            <pc:docMk/>
            <pc:sldMk cId="1123928448" sldId="420"/>
            <ac:spMk id="9" creationId="{C79682FF-4460-5E47-A776-DAF377292240}"/>
          </ac:spMkLst>
        </pc:spChg>
      </pc:sldChg>
      <pc:sldChg chg="modSp mod">
        <pc:chgData name="Johannes De Smedt" userId="e13460af-634e-4231-9e97-a5e3038c16cf" providerId="ADAL" clId="{0D1066A5-738B-4C5A-8D8D-B22799BBCD97}" dt="2026-10-06T07:30:01.484" v="2143" actId="20577"/>
        <pc:sldMkLst>
          <pc:docMk/>
          <pc:sldMk cId="3417014925" sldId="422"/>
        </pc:sldMkLst>
        <pc:spChg chg="mod">
          <ac:chgData name="Johannes De Smedt" userId="e13460af-634e-4231-9e97-a5e3038c16cf" providerId="ADAL" clId="{0D1066A5-738B-4C5A-8D8D-B22799BBCD97}" dt="2026-10-06T07:30:01.484" v="2143" actId="20577"/>
          <ac:spMkLst>
            <pc:docMk/>
            <pc:sldMk cId="3417014925" sldId="422"/>
            <ac:spMk id="3" creationId="{4C338017-0760-BA4C-819E-8DCC5FB7F317}"/>
          </ac:spMkLst>
        </pc:spChg>
      </pc:sldChg>
      <pc:sldChg chg="modSp mod">
        <pc:chgData name="Johannes De Smedt" userId="e13460af-634e-4231-9e97-a5e3038c16cf" providerId="ADAL" clId="{0D1066A5-738B-4C5A-8D8D-B22799BBCD97}" dt="2026-10-07T10:22:02.949" v="2246" actId="20577"/>
        <pc:sldMkLst>
          <pc:docMk/>
          <pc:sldMk cId="3286988466" sldId="426"/>
        </pc:sldMkLst>
        <pc:spChg chg="mod">
          <ac:chgData name="Johannes De Smedt" userId="e13460af-634e-4231-9e97-a5e3038c16cf" providerId="ADAL" clId="{0D1066A5-738B-4C5A-8D8D-B22799BBCD97}" dt="2026-10-07T10:22:02.949" v="2246" actId="20577"/>
          <ac:spMkLst>
            <pc:docMk/>
            <pc:sldMk cId="3286988466" sldId="426"/>
            <ac:spMk id="3" creationId="{C3F54F50-C17F-CF41-8923-D497835B3177}"/>
          </ac:spMkLst>
        </pc:spChg>
      </pc:sldChg>
      <pc:sldChg chg="addSp delSp modSp new mod chgLayout">
        <pc:chgData name="Johannes De Smedt" userId="e13460af-634e-4231-9e97-a5e3038c16cf" providerId="ADAL" clId="{0D1066A5-738B-4C5A-8D8D-B22799BBCD97}" dt="2026-10-06T08:26:24.927" v="2145" actId="2711"/>
        <pc:sldMkLst>
          <pc:docMk/>
          <pc:sldMk cId="2072327309" sldId="447"/>
        </pc:sldMkLst>
        <pc:spChg chg="mod ord">
          <ac:chgData name="Johannes De Smedt" userId="e13460af-634e-4231-9e97-a5e3038c16cf" providerId="ADAL" clId="{0D1066A5-738B-4C5A-8D8D-B22799BBCD97}" dt="2026-09-14T10:14:33.227" v="255" actId="700"/>
          <ac:spMkLst>
            <pc:docMk/>
            <pc:sldMk cId="2072327309" sldId="447"/>
            <ac:spMk id="3" creationId="{CD4FD35F-8888-2FF1-B6A1-593A8B641D7B}"/>
          </ac:spMkLst>
        </pc:spChg>
        <pc:spChg chg="mod ord">
          <ac:chgData name="Johannes De Smedt" userId="e13460af-634e-4231-9e97-a5e3038c16cf" providerId="ADAL" clId="{0D1066A5-738B-4C5A-8D8D-B22799BBCD97}" dt="2026-09-14T10:14:33.227" v="255" actId="700"/>
          <ac:spMkLst>
            <pc:docMk/>
            <pc:sldMk cId="2072327309" sldId="447"/>
            <ac:spMk id="4" creationId="{DD450D04-718B-5142-B462-C035CAAAA83F}"/>
          </ac:spMkLst>
        </pc:spChg>
        <pc:spChg chg="add mod">
          <ac:chgData name="Johannes De Smedt" userId="e13460af-634e-4231-9e97-a5e3038c16cf" providerId="ADAL" clId="{0D1066A5-738B-4C5A-8D8D-B22799BBCD97}" dt="2026-09-14T10:15:56.384" v="432" actId="208"/>
          <ac:spMkLst>
            <pc:docMk/>
            <pc:sldMk cId="2072327309" sldId="447"/>
            <ac:spMk id="6" creationId="{1188FFC7-6636-D5DF-3DF3-2E78AE33D503}"/>
          </ac:spMkLst>
        </pc:spChg>
        <pc:spChg chg="add mod">
          <ac:chgData name="Johannes De Smedt" userId="e13460af-634e-4231-9e97-a5e3038c16cf" providerId="ADAL" clId="{0D1066A5-738B-4C5A-8D8D-B22799BBCD97}" dt="2026-09-14T10:16:00.199" v="433" actId="208"/>
          <ac:spMkLst>
            <pc:docMk/>
            <pc:sldMk cId="2072327309" sldId="447"/>
            <ac:spMk id="8" creationId="{4798E821-82F9-9BDA-FAD0-0B1ADA795C01}"/>
          </ac:spMkLst>
        </pc:spChg>
        <pc:spChg chg="add mod">
          <ac:chgData name="Johannes De Smedt" userId="e13460af-634e-4231-9e97-a5e3038c16cf" providerId="ADAL" clId="{0D1066A5-738B-4C5A-8D8D-B22799BBCD97}" dt="2026-09-14T10:14:25.180" v="252" actId="1076"/>
          <ac:spMkLst>
            <pc:docMk/>
            <pc:sldMk cId="2072327309" sldId="447"/>
            <ac:spMk id="10" creationId="{CC4B3ACC-FA21-C049-2553-1D9775C38F81}"/>
          </ac:spMkLst>
        </pc:spChg>
        <pc:spChg chg="add mod">
          <ac:chgData name="Johannes De Smedt" userId="e13460af-634e-4231-9e97-a5e3038c16cf" providerId="ADAL" clId="{0D1066A5-738B-4C5A-8D8D-B22799BBCD97}" dt="2026-09-14T10:14:29.263" v="254" actId="1076"/>
          <ac:spMkLst>
            <pc:docMk/>
            <pc:sldMk cId="2072327309" sldId="447"/>
            <ac:spMk id="12" creationId="{98A7B68B-AB23-4AE1-30D6-34106CED4E9F}"/>
          </ac:spMkLst>
        </pc:spChg>
        <pc:spChg chg="add mod ord">
          <ac:chgData name="Johannes De Smedt" userId="e13460af-634e-4231-9e97-a5e3038c16cf" providerId="ADAL" clId="{0D1066A5-738B-4C5A-8D8D-B22799BBCD97}" dt="2026-10-06T08:26:24.927" v="2145" actId="2711"/>
          <ac:spMkLst>
            <pc:docMk/>
            <pc:sldMk cId="2072327309" sldId="447"/>
            <ac:spMk id="13" creationId="{44247ABF-2110-5FA2-B335-ECEBE94E5FA5}"/>
          </ac:spMkLst>
        </pc:spChg>
      </pc:sldChg>
      <pc:sldChg chg="addSp modSp new mod ord">
        <pc:chgData name="Johannes De Smedt" userId="e13460af-634e-4231-9e97-a5e3038c16cf" providerId="ADAL" clId="{0D1066A5-738B-4C5A-8D8D-B22799BBCD97}" dt="2026-10-06T09:55:08.631" v="2198" actId="14100"/>
        <pc:sldMkLst>
          <pc:docMk/>
          <pc:sldMk cId="260822266" sldId="448"/>
        </pc:sldMkLst>
        <pc:spChg chg="mod">
          <ac:chgData name="Johannes De Smedt" userId="e13460af-634e-4231-9e97-a5e3038c16cf" providerId="ADAL" clId="{0D1066A5-738B-4C5A-8D8D-B22799BBCD97}" dt="2026-09-14T12:36:36.100" v="799" actId="1076"/>
          <ac:spMkLst>
            <pc:docMk/>
            <pc:sldMk cId="260822266" sldId="448"/>
            <ac:spMk id="2" creationId="{242AB20F-43E6-8376-1718-1AEE12843F75}"/>
          </ac:spMkLst>
        </pc:spChg>
        <pc:spChg chg="mod">
          <ac:chgData name="Johannes De Smedt" userId="e13460af-634e-4231-9e97-a5e3038c16cf" providerId="ADAL" clId="{0D1066A5-738B-4C5A-8D8D-B22799BBCD97}" dt="2026-09-14T12:38:06.375" v="1025" actId="20577"/>
          <ac:spMkLst>
            <pc:docMk/>
            <pc:sldMk cId="260822266" sldId="448"/>
            <ac:spMk id="4" creationId="{0E756EAD-1EE1-DF07-7198-BFAF67DE0AC7}"/>
          </ac:spMkLst>
        </pc:spChg>
        <pc:spChg chg="add mod">
          <ac:chgData name="Johannes De Smedt" userId="e13460af-634e-4231-9e97-a5e3038c16cf" providerId="ADAL" clId="{0D1066A5-738B-4C5A-8D8D-B22799BBCD97}" dt="2026-10-06T09:55:08.631" v="2198" actId="14100"/>
          <ac:spMkLst>
            <pc:docMk/>
            <pc:sldMk cId="260822266" sldId="448"/>
            <ac:spMk id="6" creationId="{CFFE60CA-2F82-17AF-4003-91356F730397}"/>
          </ac:spMkLst>
        </pc:spChg>
        <pc:spChg chg="add mod">
          <ac:chgData name="Johannes De Smedt" userId="e13460af-634e-4231-9e97-a5e3038c16cf" providerId="ADAL" clId="{0D1066A5-738B-4C5A-8D8D-B22799BBCD97}" dt="2026-09-14T12:36:42.816" v="803" actId="14100"/>
          <ac:spMkLst>
            <pc:docMk/>
            <pc:sldMk cId="260822266" sldId="448"/>
            <ac:spMk id="8" creationId="{9DAC8F2B-CD0E-BB3A-C21A-E1724A6E6710}"/>
          </ac:spMkLst>
        </pc:spChg>
        <pc:spChg chg="add mod">
          <ac:chgData name="Johannes De Smedt" userId="e13460af-634e-4231-9e97-a5e3038c16cf" providerId="ADAL" clId="{0D1066A5-738B-4C5A-8D8D-B22799BBCD97}" dt="2026-09-14T12:37:41.735" v="1003" actId="2711"/>
          <ac:spMkLst>
            <pc:docMk/>
            <pc:sldMk cId="260822266" sldId="448"/>
            <ac:spMk id="9" creationId="{F46D3F51-A858-D7C6-E5CE-20D4C1E0C884}"/>
          </ac:spMkLst>
        </pc:spChg>
        <pc:spChg chg="add mod">
          <ac:chgData name="Johannes De Smedt" userId="e13460af-634e-4231-9e97-a5e3038c16cf" providerId="ADAL" clId="{0D1066A5-738B-4C5A-8D8D-B22799BBCD97}" dt="2026-09-14T12:37:44.796" v="1004" actId="2711"/>
          <ac:spMkLst>
            <pc:docMk/>
            <pc:sldMk cId="260822266" sldId="448"/>
            <ac:spMk id="11" creationId="{B96F79BA-0136-2A8B-BBF0-CA95692120F3}"/>
          </ac:spMkLst>
        </pc:spChg>
      </pc:sldChg>
      <pc:sldChg chg="modSp add mod">
        <pc:chgData name="Johannes De Smedt" userId="e13460af-634e-4231-9e97-a5e3038c16cf" providerId="ADAL" clId="{0D1066A5-738B-4C5A-8D8D-B22799BBCD97}" dt="2026-10-02T12:17:05.394" v="2015" actId="2711"/>
        <pc:sldMkLst>
          <pc:docMk/>
          <pc:sldMk cId="165915119" sldId="473"/>
        </pc:sldMkLst>
        <pc:spChg chg="mod">
          <ac:chgData name="Johannes De Smedt" userId="e13460af-634e-4231-9e97-a5e3038c16cf" providerId="ADAL" clId="{0D1066A5-738B-4C5A-8D8D-B22799BBCD97}" dt="2026-10-02T12:17:05.394" v="2015" actId="2711"/>
          <ac:spMkLst>
            <pc:docMk/>
            <pc:sldMk cId="165915119" sldId="473"/>
            <ac:spMk id="2" creationId="{8A699BBC-8FC0-0C25-ABB7-8478146CAB7C}"/>
          </ac:spMkLst>
        </pc:spChg>
        <pc:spChg chg="mod">
          <ac:chgData name="Johannes De Smedt" userId="e13460af-634e-4231-9e97-a5e3038c16cf" providerId="ADAL" clId="{0D1066A5-738B-4C5A-8D8D-B22799BBCD97}" dt="2026-09-15T11:23:05.187" v="1264" actId="6549"/>
          <ac:spMkLst>
            <pc:docMk/>
            <pc:sldMk cId="165915119" sldId="473"/>
            <ac:spMk id="4" creationId="{C334F367-40AF-59A9-FAF6-BAF5001F6804}"/>
          </ac:spMkLst>
        </pc:spChg>
      </pc:sldChg>
      <pc:sldChg chg="addSp modSp add mod">
        <pc:chgData name="Johannes De Smedt" userId="e13460af-634e-4231-9e97-a5e3038c16cf" providerId="ADAL" clId="{0D1066A5-738B-4C5A-8D8D-B22799BBCD97}" dt="2026-09-22T10:22:31.814" v="1978" actId="207"/>
        <pc:sldMkLst>
          <pc:docMk/>
          <pc:sldMk cId="3285508865" sldId="474"/>
        </pc:sldMkLst>
        <pc:spChg chg="mod">
          <ac:chgData name="Johannes De Smedt" userId="e13460af-634e-4231-9e97-a5e3038c16cf" providerId="ADAL" clId="{0D1066A5-738B-4C5A-8D8D-B22799BBCD97}" dt="2026-09-22T09:16:19.681" v="1920" actId="20577"/>
          <ac:spMkLst>
            <pc:docMk/>
            <pc:sldMk cId="3285508865" sldId="474"/>
            <ac:spMk id="2" creationId="{5A4FA93E-6D5E-D22A-7A6F-0220B4804D41}"/>
          </ac:spMkLst>
        </pc:spChg>
        <pc:spChg chg="mod">
          <ac:chgData name="Johannes De Smedt" userId="e13460af-634e-4231-9e97-a5e3038c16cf" providerId="ADAL" clId="{0D1066A5-738B-4C5A-8D8D-B22799BBCD97}" dt="2026-09-21T08:38:28.532" v="1400" actId="20577"/>
          <ac:spMkLst>
            <pc:docMk/>
            <pc:sldMk cId="3285508865" sldId="474"/>
            <ac:spMk id="4" creationId="{688AE1C7-87A0-2838-6749-FEA065D1F0D9}"/>
          </ac:spMkLst>
        </pc:spChg>
        <pc:spChg chg="add mod">
          <ac:chgData name="Johannes De Smedt" userId="e13460af-634e-4231-9e97-a5e3038c16cf" providerId="ADAL" clId="{0D1066A5-738B-4C5A-8D8D-B22799BBCD97}" dt="2026-09-22T09:15:56.395" v="1912" actId="1076"/>
          <ac:spMkLst>
            <pc:docMk/>
            <pc:sldMk cId="3285508865" sldId="474"/>
            <ac:spMk id="5" creationId="{92EE9C42-471B-8D40-B501-80B9F917C3E1}"/>
          </ac:spMkLst>
        </pc:spChg>
        <pc:spChg chg="add mod">
          <ac:chgData name="Johannes De Smedt" userId="e13460af-634e-4231-9e97-a5e3038c16cf" providerId="ADAL" clId="{0D1066A5-738B-4C5A-8D8D-B22799BBCD97}" dt="2026-09-22T09:16:27.051" v="1921" actId="14100"/>
          <ac:spMkLst>
            <pc:docMk/>
            <pc:sldMk cId="3285508865" sldId="474"/>
            <ac:spMk id="6" creationId="{9FB0B058-3BB8-9764-E653-3F093A03AB6F}"/>
          </ac:spMkLst>
        </pc:spChg>
        <pc:spChg chg="add mod">
          <ac:chgData name="Johannes De Smedt" userId="e13460af-634e-4231-9e97-a5e3038c16cf" providerId="ADAL" clId="{0D1066A5-738B-4C5A-8D8D-B22799BBCD97}" dt="2026-09-22T10:22:31.814" v="1978" actId="207"/>
          <ac:spMkLst>
            <pc:docMk/>
            <pc:sldMk cId="3285508865" sldId="474"/>
            <ac:spMk id="14" creationId="{24E957F6-4D35-15DF-E8B7-55C0BC84ACB0}"/>
          </ac:spMkLst>
        </pc:spChg>
        <pc:spChg chg="add mod">
          <ac:chgData name="Johannes De Smedt" userId="e13460af-634e-4231-9e97-a5e3038c16cf" providerId="ADAL" clId="{0D1066A5-738B-4C5A-8D8D-B22799BBCD97}" dt="2026-09-22T09:16:07.363" v="1917" actId="1076"/>
          <ac:spMkLst>
            <pc:docMk/>
            <pc:sldMk cId="3285508865" sldId="474"/>
            <ac:spMk id="16" creationId="{D73F746D-0453-F01F-0947-6097E717AA9A}"/>
          </ac:spMkLst>
        </pc:spChg>
        <pc:picChg chg="add mod">
          <ac:chgData name="Johannes De Smedt" userId="e13460af-634e-4231-9e97-a5e3038c16cf" providerId="ADAL" clId="{0D1066A5-738B-4C5A-8D8D-B22799BBCD97}" dt="2026-09-22T09:16:01.662" v="1915" actId="1076"/>
          <ac:picMkLst>
            <pc:docMk/>
            <pc:sldMk cId="3285508865" sldId="474"/>
            <ac:picMk id="12" creationId="{18C90425-CF63-0722-6347-C7A9B6393773}"/>
          </ac:picMkLst>
        </pc:picChg>
        <pc:cxnChg chg="add mod">
          <ac:chgData name="Johannes De Smedt" userId="e13460af-634e-4231-9e97-a5e3038c16cf" providerId="ADAL" clId="{0D1066A5-738B-4C5A-8D8D-B22799BBCD97}" dt="2026-09-22T09:15:58.767" v="1913" actId="14100"/>
          <ac:cxnSpMkLst>
            <pc:docMk/>
            <pc:sldMk cId="3285508865" sldId="474"/>
            <ac:cxnSpMk id="8" creationId="{04351A24-4B32-BF4C-AFF3-7CE5BE201113}"/>
          </ac:cxnSpMkLst>
        </pc:cxnChg>
        <pc:cxnChg chg="add mod">
          <ac:chgData name="Johannes De Smedt" userId="e13460af-634e-4231-9e97-a5e3038c16cf" providerId="ADAL" clId="{0D1066A5-738B-4C5A-8D8D-B22799BBCD97}" dt="2026-09-22T09:16:09.553" v="1918" actId="14100"/>
          <ac:cxnSpMkLst>
            <pc:docMk/>
            <pc:sldMk cId="3285508865" sldId="474"/>
            <ac:cxnSpMk id="13" creationId="{4BD48DDF-1748-D9FE-820A-D8E55E414502}"/>
          </ac:cxnSpMkLst>
        </pc:cxnChg>
      </pc:sldChg>
      <pc:sldChg chg="modSp add mod">
        <pc:chgData name="Johannes De Smedt" userId="e13460af-634e-4231-9e97-a5e3038c16cf" providerId="ADAL" clId="{0D1066A5-738B-4C5A-8D8D-B22799BBCD97}" dt="2026-10-02T23:20:24.174" v="2052" actId="20577"/>
        <pc:sldMkLst>
          <pc:docMk/>
          <pc:sldMk cId="3148254484" sldId="475"/>
        </pc:sldMkLst>
        <pc:spChg chg="mod">
          <ac:chgData name="Johannes De Smedt" userId="e13460af-634e-4231-9e97-a5e3038c16cf" providerId="ADAL" clId="{0D1066A5-738B-4C5A-8D8D-B22799BBCD97}" dt="2026-10-02T23:20:24.174" v="2052" actId="20577"/>
          <ac:spMkLst>
            <pc:docMk/>
            <pc:sldMk cId="3148254484" sldId="475"/>
            <ac:spMk id="2" creationId="{BBA620EF-7236-3155-BF83-F8A8B9273703}"/>
          </ac:spMkLst>
        </pc:spChg>
        <pc:spChg chg="mod">
          <ac:chgData name="Johannes De Smedt" userId="e13460af-634e-4231-9e97-a5e3038c16cf" providerId="ADAL" clId="{0D1066A5-738B-4C5A-8D8D-B22799BBCD97}" dt="2026-09-15T11:24:15.878" v="1302" actId="20577"/>
          <ac:spMkLst>
            <pc:docMk/>
            <pc:sldMk cId="3148254484" sldId="475"/>
            <ac:spMk id="4" creationId="{8EBFB18C-ADD3-F186-8AE5-3A86C4416ACB}"/>
          </ac:spMkLst>
        </pc:spChg>
      </pc:sldChg>
      <pc:sldChg chg="modSp add mod">
        <pc:chgData name="Johannes De Smedt" userId="e13460af-634e-4231-9e97-a5e3038c16cf" providerId="ADAL" clId="{0D1066A5-738B-4C5A-8D8D-B22799BBCD97}" dt="2026-09-15T11:24:23.194" v="1310" actId="20577"/>
        <pc:sldMkLst>
          <pc:docMk/>
          <pc:sldMk cId="1964217904" sldId="476"/>
        </pc:sldMkLst>
        <pc:spChg chg="mod">
          <ac:chgData name="Johannes De Smedt" userId="e13460af-634e-4231-9e97-a5e3038c16cf" providerId="ADAL" clId="{0D1066A5-738B-4C5A-8D8D-B22799BBCD97}" dt="2026-09-15T11:24:23.194" v="1310" actId="20577"/>
          <ac:spMkLst>
            <pc:docMk/>
            <pc:sldMk cId="1964217904" sldId="476"/>
            <ac:spMk id="2" creationId="{950FE0F4-413C-1195-9362-24758047BC10}"/>
          </ac:spMkLst>
        </pc:spChg>
        <pc:spChg chg="mod">
          <ac:chgData name="Johannes De Smedt" userId="e13460af-634e-4231-9e97-a5e3038c16cf" providerId="ADAL" clId="{0D1066A5-738B-4C5A-8D8D-B22799BBCD97}" dt="2026-09-15T11:24:08.649" v="1295" actId="20577"/>
          <ac:spMkLst>
            <pc:docMk/>
            <pc:sldMk cId="1964217904" sldId="476"/>
            <ac:spMk id="4" creationId="{D9F56E9B-9B5B-AF02-ABEA-574CB7E6C59F}"/>
          </ac:spMkLst>
        </pc:spChg>
      </pc:sldChg>
      <pc:sldChg chg="modSp add mod">
        <pc:chgData name="Johannes De Smedt" userId="e13460af-634e-4231-9e97-a5e3038c16cf" providerId="ADAL" clId="{0D1066A5-738B-4C5A-8D8D-B22799BBCD97}" dt="2026-10-07T10:21:22.855" v="2232" actId="20577"/>
        <pc:sldMkLst>
          <pc:docMk/>
          <pc:sldMk cId="2739526553" sldId="477"/>
        </pc:sldMkLst>
        <pc:spChg chg="mod">
          <ac:chgData name="Johannes De Smedt" userId="e13460af-634e-4231-9e97-a5e3038c16cf" providerId="ADAL" clId="{0D1066A5-738B-4C5A-8D8D-B22799BBCD97}" dt="2026-10-07T10:21:22.855" v="2232" actId="20577"/>
          <ac:spMkLst>
            <pc:docMk/>
            <pc:sldMk cId="2739526553" sldId="477"/>
            <ac:spMk id="2" creationId="{A056F1E1-BEAC-ED54-DBB8-7E433709B246}"/>
          </ac:spMkLst>
        </pc:spChg>
        <pc:spChg chg="mod">
          <ac:chgData name="Johannes De Smedt" userId="e13460af-634e-4231-9e97-a5e3038c16cf" providerId="ADAL" clId="{0D1066A5-738B-4C5A-8D8D-B22799BBCD97}" dt="2026-09-15T11:24:30.948" v="1315" actId="20577"/>
          <ac:spMkLst>
            <pc:docMk/>
            <pc:sldMk cId="2739526553" sldId="477"/>
            <ac:spMk id="4" creationId="{26FBB311-B480-B00E-1120-EA74BC146089}"/>
          </ac:spMkLst>
        </pc:spChg>
      </pc:sldChg>
      <pc:sldChg chg="modSp add mod">
        <pc:chgData name="Johannes De Smedt" userId="e13460af-634e-4231-9e97-a5e3038c16cf" providerId="ADAL" clId="{0D1066A5-738B-4C5A-8D8D-B22799BBCD97}" dt="2026-10-07T10:24:58.863" v="2247" actId="20577"/>
        <pc:sldMkLst>
          <pc:docMk/>
          <pc:sldMk cId="1657797515" sldId="478"/>
        </pc:sldMkLst>
        <pc:spChg chg="mod">
          <ac:chgData name="Johannes De Smedt" userId="e13460af-634e-4231-9e97-a5e3038c16cf" providerId="ADAL" clId="{0D1066A5-738B-4C5A-8D8D-B22799BBCD97}" dt="2026-10-07T10:24:58.863" v="2247" actId="20577"/>
          <ac:spMkLst>
            <pc:docMk/>
            <pc:sldMk cId="1657797515" sldId="478"/>
            <ac:spMk id="2" creationId="{A82069EC-DB51-01E3-8592-9938A9E88BF2}"/>
          </ac:spMkLst>
        </pc:spChg>
        <pc:spChg chg="mod">
          <ac:chgData name="Johannes De Smedt" userId="e13460af-634e-4231-9e97-a5e3038c16cf" providerId="ADAL" clId="{0D1066A5-738B-4C5A-8D8D-B22799BBCD97}" dt="2026-09-15T11:29:57.237" v="1328" actId="20577"/>
          <ac:spMkLst>
            <pc:docMk/>
            <pc:sldMk cId="1657797515" sldId="478"/>
            <ac:spMk id="4" creationId="{3F7723BF-F2AB-A06D-6BC5-B630D894CAD9}"/>
          </ac:spMkLst>
        </pc:spChg>
      </pc:sldChg>
      <pc:sldChg chg="modSp add mod">
        <pc:chgData name="Johannes De Smedt" userId="e13460af-634e-4231-9e97-a5e3038c16cf" providerId="ADAL" clId="{0D1066A5-738B-4C5A-8D8D-B22799BBCD97}" dt="2026-09-15T11:31:17.454" v="1351" actId="20577"/>
        <pc:sldMkLst>
          <pc:docMk/>
          <pc:sldMk cId="176956400" sldId="479"/>
        </pc:sldMkLst>
        <pc:spChg chg="mod">
          <ac:chgData name="Johannes De Smedt" userId="e13460af-634e-4231-9e97-a5e3038c16cf" providerId="ADAL" clId="{0D1066A5-738B-4C5A-8D8D-B22799BBCD97}" dt="2026-09-15T11:31:17.454" v="1351" actId="20577"/>
          <ac:spMkLst>
            <pc:docMk/>
            <pc:sldMk cId="176956400" sldId="479"/>
            <ac:spMk id="2" creationId="{45D81212-24B5-A814-3ABA-0B513932FD57}"/>
          </ac:spMkLst>
        </pc:spChg>
        <pc:spChg chg="mod">
          <ac:chgData name="Johannes De Smedt" userId="e13460af-634e-4231-9e97-a5e3038c16cf" providerId="ADAL" clId="{0D1066A5-738B-4C5A-8D8D-B22799BBCD97}" dt="2026-09-15T11:31:12.328" v="1342" actId="20577"/>
          <ac:spMkLst>
            <pc:docMk/>
            <pc:sldMk cId="176956400" sldId="479"/>
            <ac:spMk id="4" creationId="{AC564BDC-32E5-B37D-1CD4-CD22C4A1F2D7}"/>
          </ac:spMkLst>
        </pc:spChg>
      </pc:sldChg>
      <pc:sldChg chg="modSp add mod">
        <pc:chgData name="Johannes De Smedt" userId="e13460af-634e-4231-9e97-a5e3038c16cf" providerId="ADAL" clId="{0D1066A5-738B-4C5A-8D8D-B22799BBCD97}" dt="2026-10-03T00:18:31.302" v="2110" actId="207"/>
        <pc:sldMkLst>
          <pc:docMk/>
          <pc:sldMk cId="2191482487" sldId="480"/>
        </pc:sldMkLst>
        <pc:spChg chg="mod">
          <ac:chgData name="Johannes De Smedt" userId="e13460af-634e-4231-9e97-a5e3038c16cf" providerId="ADAL" clId="{0D1066A5-738B-4C5A-8D8D-B22799BBCD97}" dt="2026-10-03T00:18:31.302" v="2110" actId="207"/>
          <ac:spMkLst>
            <pc:docMk/>
            <pc:sldMk cId="2191482487" sldId="480"/>
            <ac:spMk id="2" creationId="{5B4A5CA4-6584-CFF6-9AFB-06C44F302F36}"/>
          </ac:spMkLst>
        </pc:spChg>
        <pc:spChg chg="mod">
          <ac:chgData name="Johannes De Smedt" userId="e13460af-634e-4231-9e97-a5e3038c16cf" providerId="ADAL" clId="{0D1066A5-738B-4C5A-8D8D-B22799BBCD97}" dt="2026-09-15T11:31:26.439" v="1356" actId="20577"/>
          <ac:spMkLst>
            <pc:docMk/>
            <pc:sldMk cId="2191482487" sldId="480"/>
            <ac:spMk id="4" creationId="{DDB2713C-CB15-0E87-7900-014ACF7FB794}"/>
          </ac:spMkLst>
        </pc:spChg>
      </pc:sldChg>
      <pc:sldChg chg="modSp add mod">
        <pc:chgData name="Johannes De Smedt" userId="e13460af-634e-4231-9e97-a5e3038c16cf" providerId="ADAL" clId="{0D1066A5-738B-4C5A-8D8D-B22799BBCD97}" dt="2026-09-15T11:31:38.762" v="1373" actId="20577"/>
        <pc:sldMkLst>
          <pc:docMk/>
          <pc:sldMk cId="1467131156" sldId="481"/>
        </pc:sldMkLst>
        <pc:spChg chg="mod">
          <ac:chgData name="Johannes De Smedt" userId="e13460af-634e-4231-9e97-a5e3038c16cf" providerId="ADAL" clId="{0D1066A5-738B-4C5A-8D8D-B22799BBCD97}" dt="2026-09-15T11:31:38.762" v="1373" actId="20577"/>
          <ac:spMkLst>
            <pc:docMk/>
            <pc:sldMk cId="1467131156" sldId="481"/>
            <ac:spMk id="2" creationId="{11FD86C2-C25D-FDC7-931C-C720DB6AB759}"/>
          </ac:spMkLst>
        </pc:spChg>
        <pc:spChg chg="mod">
          <ac:chgData name="Johannes De Smedt" userId="e13460af-634e-4231-9e97-a5e3038c16cf" providerId="ADAL" clId="{0D1066A5-738B-4C5A-8D8D-B22799BBCD97}" dt="2026-09-15T11:18:27.899" v="1225" actId="20577"/>
          <ac:spMkLst>
            <pc:docMk/>
            <pc:sldMk cId="1467131156" sldId="481"/>
            <ac:spMk id="4" creationId="{2BD7DB3B-BC44-973E-7371-97739DE0C4C1}"/>
          </ac:spMkLst>
        </pc:spChg>
      </pc:sldChg>
      <pc:sldChg chg="modSp add mod">
        <pc:chgData name="Johannes De Smedt" userId="e13460af-634e-4231-9e97-a5e3038c16cf" providerId="ADAL" clId="{0D1066A5-738B-4C5A-8D8D-B22799BBCD97}" dt="2026-09-15T11:31:45.507" v="1381" actId="20577"/>
        <pc:sldMkLst>
          <pc:docMk/>
          <pc:sldMk cId="2084081808" sldId="482"/>
        </pc:sldMkLst>
        <pc:spChg chg="mod">
          <ac:chgData name="Johannes De Smedt" userId="e13460af-634e-4231-9e97-a5e3038c16cf" providerId="ADAL" clId="{0D1066A5-738B-4C5A-8D8D-B22799BBCD97}" dt="2026-09-15T11:31:45.507" v="1381" actId="20577"/>
          <ac:spMkLst>
            <pc:docMk/>
            <pc:sldMk cId="2084081808" sldId="482"/>
            <ac:spMk id="2" creationId="{5452DDA9-5069-4CE9-1F11-8C846B7401D3}"/>
          </ac:spMkLst>
        </pc:spChg>
        <pc:spChg chg="mod">
          <ac:chgData name="Johannes De Smedt" userId="e13460af-634e-4231-9e97-a5e3038c16cf" providerId="ADAL" clId="{0D1066A5-738B-4C5A-8D8D-B22799BBCD97}" dt="2026-09-15T11:19:00.357" v="1236" actId="20577"/>
          <ac:spMkLst>
            <pc:docMk/>
            <pc:sldMk cId="2084081808" sldId="482"/>
            <ac:spMk id="4" creationId="{5477FD8D-F5B4-69EF-D38D-C311C6835225}"/>
          </ac:spMkLst>
        </pc:spChg>
      </pc:sldChg>
      <pc:sldChg chg="modSp add mod">
        <pc:chgData name="Johannes De Smedt" userId="e13460af-634e-4231-9e97-a5e3038c16cf" providerId="ADAL" clId="{0D1066A5-738B-4C5A-8D8D-B22799BBCD97}" dt="2026-09-15T11:32:01.615" v="1397" actId="20577"/>
        <pc:sldMkLst>
          <pc:docMk/>
          <pc:sldMk cId="1180301164" sldId="483"/>
        </pc:sldMkLst>
        <pc:spChg chg="mod">
          <ac:chgData name="Johannes De Smedt" userId="e13460af-634e-4231-9e97-a5e3038c16cf" providerId="ADAL" clId="{0D1066A5-738B-4C5A-8D8D-B22799BBCD97}" dt="2026-09-15T11:32:01.615" v="1397" actId="20577"/>
          <ac:spMkLst>
            <pc:docMk/>
            <pc:sldMk cId="1180301164" sldId="483"/>
            <ac:spMk id="2" creationId="{DC611B75-54F8-0F9D-F014-D09A9D292D52}"/>
          </ac:spMkLst>
        </pc:spChg>
        <pc:spChg chg="mod">
          <ac:chgData name="Johannes De Smedt" userId="e13460af-634e-4231-9e97-a5e3038c16cf" providerId="ADAL" clId="{0D1066A5-738B-4C5A-8D8D-B22799BBCD97}" dt="2026-09-15T11:20:46.140" v="1243" actId="20577"/>
          <ac:spMkLst>
            <pc:docMk/>
            <pc:sldMk cId="1180301164" sldId="483"/>
            <ac:spMk id="4" creationId="{F25594F0-6978-BB60-95BB-471DBE7522FB}"/>
          </ac:spMkLst>
        </pc:spChg>
      </pc:sldChg>
      <pc:sldChg chg="modSp add mod">
        <pc:chgData name="Johannes De Smedt" userId="e13460af-634e-4231-9e97-a5e3038c16cf" providerId="ADAL" clId="{0D1066A5-738B-4C5A-8D8D-B22799BBCD97}" dt="2026-09-15T11:32:08.705" v="1398" actId="20577"/>
        <pc:sldMkLst>
          <pc:docMk/>
          <pc:sldMk cId="2767965576" sldId="484"/>
        </pc:sldMkLst>
        <pc:spChg chg="mod">
          <ac:chgData name="Johannes De Smedt" userId="e13460af-634e-4231-9e97-a5e3038c16cf" providerId="ADAL" clId="{0D1066A5-738B-4C5A-8D8D-B22799BBCD97}" dt="2026-09-15T11:32:08.705" v="1398" actId="20577"/>
          <ac:spMkLst>
            <pc:docMk/>
            <pc:sldMk cId="2767965576" sldId="484"/>
            <ac:spMk id="2" creationId="{D1AADB35-3F22-A292-1929-9BA45AC8CECB}"/>
          </ac:spMkLst>
        </pc:spChg>
        <pc:spChg chg="mod">
          <ac:chgData name="Johannes De Smedt" userId="e13460af-634e-4231-9e97-a5e3038c16cf" providerId="ADAL" clId="{0D1066A5-738B-4C5A-8D8D-B22799BBCD97}" dt="2026-09-15T11:21:26.773" v="1249" actId="20577"/>
          <ac:spMkLst>
            <pc:docMk/>
            <pc:sldMk cId="2767965576" sldId="484"/>
            <ac:spMk id="4" creationId="{6AD0FE8B-2F42-B922-EB7B-7815BFA2888A}"/>
          </ac:spMkLst>
        </pc:spChg>
      </pc:sldChg>
      <pc:sldChg chg="addSp delSp modSp add mod">
        <pc:chgData name="Johannes De Smedt" userId="e13460af-634e-4231-9e97-a5e3038c16cf" providerId="ADAL" clId="{0D1066A5-738B-4C5A-8D8D-B22799BBCD97}" dt="2026-10-07T14:14:45.439" v="2785" actId="208"/>
        <pc:sldMkLst>
          <pc:docMk/>
          <pc:sldMk cId="883324274" sldId="485"/>
        </pc:sldMkLst>
        <pc:spChg chg="mod">
          <ac:chgData name="Johannes De Smedt" userId="e13460af-634e-4231-9e97-a5e3038c16cf" providerId="ADAL" clId="{0D1066A5-738B-4C5A-8D8D-B22799BBCD97}" dt="2026-10-07T13:57:56.517" v="2272" actId="20577"/>
          <ac:spMkLst>
            <pc:docMk/>
            <pc:sldMk cId="883324274" sldId="485"/>
            <ac:spMk id="4" creationId="{3B14F3EC-C2DF-B67B-E94F-1CDED7E51049}"/>
          </ac:spMkLst>
        </pc:spChg>
        <pc:spChg chg="add mod">
          <ac:chgData name="Johannes De Smedt" userId="e13460af-634e-4231-9e97-a5e3038c16cf" providerId="ADAL" clId="{0D1066A5-738B-4C5A-8D8D-B22799BBCD97}" dt="2026-10-07T14:10:26.817" v="2661" actId="1076"/>
          <ac:spMkLst>
            <pc:docMk/>
            <pc:sldMk cId="883324274" sldId="485"/>
            <ac:spMk id="14" creationId="{76BA6EB8-1B72-8E30-87FB-927893CC8431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23" creationId="{2662AE04-E071-7A8A-3CE0-C2382DD8A9AC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25" creationId="{29FD506F-2E71-D7D2-AF72-7015E36B7C3E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26" creationId="{DA5E08C1-B57E-EA3C-1B76-FF2E50033ED3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30" creationId="{1AAE9659-5ACE-5CDB-785E-9716455CC9AD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35" creationId="{231934F2-EC29-C5ED-709A-2F3623A1D825}"/>
          </ac:spMkLst>
        </pc:spChg>
        <pc:spChg chg="mod">
          <ac:chgData name="Johannes De Smedt" userId="e13460af-634e-4231-9e97-a5e3038c16cf" providerId="ADAL" clId="{0D1066A5-738B-4C5A-8D8D-B22799BBCD97}" dt="2026-10-07T14:12:26.201" v="2737" actId="20577"/>
          <ac:spMkLst>
            <pc:docMk/>
            <pc:sldMk cId="883324274" sldId="485"/>
            <ac:spMk id="37" creationId="{C8A29D7D-00FD-655F-72FE-9656A0AB554C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38" creationId="{4064157C-852D-8E54-008E-C1F816C36594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39" creationId="{97E3EF10-D57D-911D-97FE-80AEFCC75E7E}"/>
          </ac:spMkLst>
        </pc:spChg>
        <pc:spChg chg="add mod">
          <ac:chgData name="Johannes De Smedt" userId="e13460af-634e-4231-9e97-a5e3038c16cf" providerId="ADAL" clId="{0D1066A5-738B-4C5A-8D8D-B22799BBCD97}" dt="2026-10-07T14:14:45.439" v="2785" actId="208"/>
          <ac:spMkLst>
            <pc:docMk/>
            <pc:sldMk cId="883324274" sldId="485"/>
            <ac:spMk id="40" creationId="{BF3319CD-A0C5-D740-1A6A-840C48C726CF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42" creationId="{90798C7A-B971-9021-02F8-E3354A6B03E8}"/>
          </ac:spMkLst>
        </pc:spChg>
        <pc:spChg chg="add mod">
          <ac:chgData name="Johannes De Smedt" userId="e13460af-634e-4231-9e97-a5e3038c16cf" providerId="ADAL" clId="{0D1066A5-738B-4C5A-8D8D-B22799BBCD97}" dt="2026-10-07T14:10:22.734" v="2659"/>
          <ac:spMkLst>
            <pc:docMk/>
            <pc:sldMk cId="883324274" sldId="485"/>
            <ac:spMk id="43" creationId="{DD243FB3-E5C9-4CD9-49FD-27DC2EF41DFB}"/>
          </ac:spMkLst>
        </pc:spChg>
      </pc:sldChg>
      <pc:sldChg chg="addSp delSp modSp add mod">
        <pc:chgData name="Johannes De Smedt" userId="e13460af-634e-4231-9e97-a5e3038c16cf" providerId="ADAL" clId="{0D1066A5-738B-4C5A-8D8D-B22799BBCD97}" dt="2026-10-08T11:12:30.386" v="2822" actId="20577"/>
        <pc:sldMkLst>
          <pc:docMk/>
          <pc:sldMk cId="1627325123" sldId="487"/>
        </pc:sldMkLst>
        <pc:spChg chg="add mod">
          <ac:chgData name="Johannes De Smedt" userId="e13460af-634e-4231-9e97-a5e3038c16cf" providerId="ADAL" clId="{0D1066A5-738B-4C5A-8D8D-B22799BBCD97}" dt="2026-10-08T07:23:24.513" v="2812" actId="1076"/>
          <ac:spMkLst>
            <pc:docMk/>
            <pc:sldMk cId="1627325123" sldId="487"/>
            <ac:spMk id="2" creationId="{2B921E3C-63C5-4C0A-564C-FE6A9DB7D9E6}"/>
          </ac:spMkLst>
        </pc:spChg>
        <pc:spChg chg="mod">
          <ac:chgData name="Johannes De Smedt" userId="e13460af-634e-4231-9e97-a5e3038c16cf" providerId="ADAL" clId="{0D1066A5-738B-4C5A-8D8D-B22799BBCD97}" dt="2026-10-07T14:13:32.638" v="2782" actId="20577"/>
          <ac:spMkLst>
            <pc:docMk/>
            <pc:sldMk cId="1627325123" sldId="487"/>
            <ac:spMk id="4" creationId="{F58CE954-3F30-07F1-026F-CBB0164A0FC1}"/>
          </ac:spMkLst>
        </pc:spChg>
        <pc:spChg chg="add mod">
          <ac:chgData name="Johannes De Smedt" userId="e13460af-634e-4231-9e97-a5e3038c16cf" providerId="ADAL" clId="{0D1066A5-738B-4C5A-8D8D-B22799BBCD97}" dt="2026-10-08T11:12:30.386" v="2822" actId="20577"/>
          <ac:spMkLst>
            <pc:docMk/>
            <pc:sldMk cId="1627325123" sldId="487"/>
            <ac:spMk id="6" creationId="{787C7F2F-33DA-AF77-7C54-2621014E6316}"/>
          </ac:spMkLst>
        </pc:spChg>
        <pc:spChg chg="add mod">
          <ac:chgData name="Johannes De Smedt" userId="e13460af-634e-4231-9e97-a5e3038c16cf" providerId="ADAL" clId="{0D1066A5-738B-4C5A-8D8D-B22799BBCD97}" dt="2026-10-08T07:23:32.489" v="2818" actId="20577"/>
          <ac:spMkLst>
            <pc:docMk/>
            <pc:sldMk cId="1627325123" sldId="487"/>
            <ac:spMk id="7" creationId="{2523B51B-E4F8-4219-6B96-B372B46B287C}"/>
          </ac:spMkLst>
        </pc:spChg>
        <pc:spChg chg="add mod">
          <ac:chgData name="Johannes De Smedt" userId="e13460af-634e-4231-9e97-a5e3038c16cf" providerId="ADAL" clId="{0D1066A5-738B-4C5A-8D8D-B22799BBCD97}" dt="2026-10-07T14:10:32.154" v="2662"/>
          <ac:spMkLst>
            <pc:docMk/>
            <pc:sldMk cId="1627325123" sldId="487"/>
            <ac:spMk id="8" creationId="{ACFB4FD5-7554-23A0-3EF1-D548AEACF935}"/>
          </ac:spMkLst>
        </pc:spChg>
        <pc:spChg chg="add mod">
          <ac:chgData name="Johannes De Smedt" userId="e13460af-634e-4231-9e97-a5e3038c16cf" providerId="ADAL" clId="{0D1066A5-738B-4C5A-8D8D-B22799BBCD97}" dt="2026-10-07T14:10:32.154" v="2662"/>
          <ac:spMkLst>
            <pc:docMk/>
            <pc:sldMk cId="1627325123" sldId="487"/>
            <ac:spMk id="10" creationId="{8B73CE72-AAC9-8B07-E557-B30D9849DE16}"/>
          </ac:spMkLst>
        </pc:spChg>
        <pc:spChg chg="add mod">
          <ac:chgData name="Johannes De Smedt" userId="e13460af-634e-4231-9e97-a5e3038c16cf" providerId="ADAL" clId="{0D1066A5-738B-4C5A-8D8D-B22799BBCD97}" dt="2026-10-07T14:10:44.292" v="2665" actId="20577"/>
          <ac:spMkLst>
            <pc:docMk/>
            <pc:sldMk cId="1627325123" sldId="487"/>
            <ac:spMk id="12" creationId="{23121CDC-3B04-43FD-F96D-CDE71C3E24E6}"/>
          </ac:spMkLst>
        </pc:spChg>
        <pc:spChg chg="mod">
          <ac:chgData name="Johannes De Smedt" userId="e13460af-634e-4231-9e97-a5e3038c16cf" providerId="ADAL" clId="{0D1066A5-738B-4C5A-8D8D-B22799BBCD97}" dt="2026-10-07T14:10:39.546" v="2664" actId="14100"/>
          <ac:spMkLst>
            <pc:docMk/>
            <pc:sldMk cId="1627325123" sldId="487"/>
            <ac:spMk id="15" creationId="{C65E3779-F816-D637-F68F-7F3FDE294145}"/>
          </ac:spMkLst>
        </pc:spChg>
        <pc:spChg chg="add mod">
          <ac:chgData name="Johannes De Smedt" userId="e13460af-634e-4231-9e97-a5e3038c16cf" providerId="ADAL" clId="{0D1066A5-738B-4C5A-8D8D-B22799BBCD97}" dt="2026-10-07T14:12:20.412" v="2735" actId="20577"/>
          <ac:spMkLst>
            <pc:docMk/>
            <pc:sldMk cId="1627325123" sldId="487"/>
            <ac:spMk id="36" creationId="{FDADEC54-2DD7-B4DF-29C0-A027876ADFCA}"/>
          </ac:spMkLst>
        </pc:spChg>
        <pc:spChg chg="add mod">
          <ac:chgData name="Johannes De Smedt" userId="e13460af-634e-4231-9e97-a5e3038c16cf" providerId="ADAL" clId="{0D1066A5-738B-4C5A-8D8D-B22799BBCD97}" dt="2026-10-07T14:11:32.689" v="2689" actId="1076"/>
          <ac:spMkLst>
            <pc:docMk/>
            <pc:sldMk cId="1627325123" sldId="487"/>
            <ac:spMk id="52" creationId="{8D87A53A-214E-A980-A85E-E54354188C7A}"/>
          </ac:spMkLst>
        </pc:spChg>
        <pc:spChg chg="add mod">
          <ac:chgData name="Johannes De Smedt" userId="e13460af-634e-4231-9e97-a5e3038c16cf" providerId="ADAL" clId="{0D1066A5-738B-4C5A-8D8D-B22799BBCD97}" dt="2026-10-07T14:11:15.756" v="2678" actId="1038"/>
          <ac:spMkLst>
            <pc:docMk/>
            <pc:sldMk cId="1627325123" sldId="487"/>
            <ac:spMk id="60" creationId="{F655C108-C492-9695-7AD0-3F06B7406A5E}"/>
          </ac:spMkLst>
        </pc:spChg>
        <pc:spChg chg="add mod">
          <ac:chgData name="Johannes De Smedt" userId="e13460af-634e-4231-9e97-a5e3038c16cf" providerId="ADAL" clId="{0D1066A5-738B-4C5A-8D8D-B22799BBCD97}" dt="2026-10-07T14:11:17.609" v="2679" actId="20577"/>
          <ac:spMkLst>
            <pc:docMk/>
            <pc:sldMk cId="1627325123" sldId="487"/>
            <ac:spMk id="70" creationId="{1B1FB246-9E54-E52A-1E79-588FDD0AB239}"/>
          </ac:spMkLst>
        </pc:spChg>
        <pc:spChg chg="add mod">
          <ac:chgData name="Johannes De Smedt" userId="e13460af-634e-4231-9e97-a5e3038c16cf" providerId="ADAL" clId="{0D1066A5-738B-4C5A-8D8D-B22799BBCD97}" dt="2026-10-07T14:11:18.658" v="2680" actId="20577"/>
          <ac:spMkLst>
            <pc:docMk/>
            <pc:sldMk cId="1627325123" sldId="487"/>
            <ac:spMk id="74" creationId="{9EBF4DF9-008B-D38D-A79C-037BAC0B6120}"/>
          </ac:spMkLst>
        </pc:spChg>
        <pc:spChg chg="add mod">
          <ac:chgData name="Johannes De Smedt" userId="e13460af-634e-4231-9e97-a5e3038c16cf" providerId="ADAL" clId="{0D1066A5-738B-4C5A-8D8D-B22799BBCD97}" dt="2026-10-07T14:11:50.232" v="2698" actId="1076"/>
          <ac:spMkLst>
            <pc:docMk/>
            <pc:sldMk cId="1627325123" sldId="487"/>
            <ac:spMk id="96" creationId="{56A9A1F0-BD08-5C3D-8ABB-BE82B5807532}"/>
          </ac:spMkLst>
        </pc:spChg>
        <pc:spChg chg="add mod">
          <ac:chgData name="Johannes De Smedt" userId="e13460af-634e-4231-9e97-a5e3038c16cf" providerId="ADAL" clId="{0D1066A5-738B-4C5A-8D8D-B22799BBCD97}" dt="2026-10-07T14:11:50.232" v="2698" actId="1076"/>
          <ac:spMkLst>
            <pc:docMk/>
            <pc:sldMk cId="1627325123" sldId="487"/>
            <ac:spMk id="98" creationId="{58E4B007-04D8-0539-04AA-A296EB9A6D7E}"/>
          </ac:spMkLst>
        </pc:spChg>
        <pc:spChg chg="add mod">
          <ac:chgData name="Johannes De Smedt" userId="e13460af-634e-4231-9e97-a5e3038c16cf" providerId="ADAL" clId="{0D1066A5-738B-4C5A-8D8D-B22799BBCD97}" dt="2026-10-07T14:11:50.232" v="2698" actId="1076"/>
          <ac:spMkLst>
            <pc:docMk/>
            <pc:sldMk cId="1627325123" sldId="487"/>
            <ac:spMk id="101" creationId="{CF5C7524-7732-262C-0F2F-A022254CC8FE}"/>
          </ac:spMkLst>
        </pc:spChg>
        <pc:spChg chg="add mod">
          <ac:chgData name="Johannes De Smedt" userId="e13460af-634e-4231-9e97-a5e3038c16cf" providerId="ADAL" clId="{0D1066A5-738B-4C5A-8D8D-B22799BBCD97}" dt="2026-10-07T14:14:53.044" v="2787" actId="207"/>
          <ac:spMkLst>
            <pc:docMk/>
            <pc:sldMk cId="1627325123" sldId="487"/>
            <ac:spMk id="105" creationId="{920C5E36-7139-5F0E-94A9-EB370994D3D7}"/>
          </ac:spMkLst>
        </pc:spChg>
        <pc:spChg chg="add 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18" creationId="{56F42D7D-15A2-8A95-5B5D-248389F120A6}"/>
          </ac:spMkLst>
        </pc:spChg>
        <pc:spChg chg="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19" creationId="{5BE5FE7B-4CE3-4D7E-4FFD-33F7CFA2878C}"/>
          </ac:spMkLst>
        </pc:spChg>
        <pc:spChg chg="add 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20" creationId="{B3E3993C-038C-2B43-0669-F76769A70730}"/>
          </ac:spMkLst>
        </pc:spChg>
        <pc:spChg chg="add 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22" creationId="{DA1C61A6-E355-0B37-F7E3-3FB39BC5AE72}"/>
          </ac:spMkLst>
        </pc:spChg>
        <pc:spChg chg="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23" creationId="{9371D4F4-9EB3-37D7-1926-79850A826601}"/>
          </ac:spMkLst>
        </pc:spChg>
        <pc:spChg chg="add 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24" creationId="{7E128DC9-7D88-5AD3-D68F-2C34CCC498F6}"/>
          </ac:spMkLst>
        </pc:spChg>
        <pc:spChg chg="add 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25" creationId="{F51CCE8B-1940-40F9-6360-796FF062EEAD}"/>
          </ac:spMkLst>
        </pc:spChg>
        <pc:spChg chg="add 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26" creationId="{A8DA772C-112F-9032-2335-7BA35D4E0777}"/>
          </ac:spMkLst>
        </pc:spChg>
        <pc:spChg chg="mod">
          <ac:chgData name="Johannes De Smedt" userId="e13460af-634e-4231-9e97-a5e3038c16cf" providerId="ADAL" clId="{0D1066A5-738B-4C5A-8D8D-B22799BBCD97}" dt="2026-10-07T14:13:51.983" v="2783" actId="1076"/>
          <ac:spMkLst>
            <pc:docMk/>
            <pc:sldMk cId="1627325123" sldId="487"/>
            <ac:spMk id="127" creationId="{86F4EBC3-F1EB-D934-402A-2E2A9CA4503D}"/>
          </ac:spMkLst>
        </pc:spChg>
        <pc:spChg chg="mod">
          <ac:chgData name="Johannes De Smedt" userId="e13460af-634e-4231-9e97-a5e3038c16cf" providerId="ADAL" clId="{0D1066A5-738B-4C5A-8D8D-B22799BBCD97}" dt="2026-10-07T14:15:01.370" v="2789" actId="208"/>
          <ac:spMkLst>
            <pc:docMk/>
            <pc:sldMk cId="1627325123" sldId="487"/>
            <ac:spMk id="128" creationId="{810FD864-8C09-CD2E-6EAD-CBBDC9C49170}"/>
          </ac:spMkLst>
        </pc:spChg>
        <pc:cxnChg chg="mod">
          <ac:chgData name="Johannes De Smedt" userId="e13460af-634e-4231-9e97-a5e3038c16cf" providerId="ADAL" clId="{0D1066A5-738B-4C5A-8D8D-B22799BBCD97}" dt="2026-10-07T14:11:52.350" v="2699" actId="14100"/>
          <ac:cxnSpMkLst>
            <pc:docMk/>
            <pc:sldMk cId="1627325123" sldId="487"/>
            <ac:cxnSpMk id="19" creationId="{D59AEB37-DD00-4DA2-12AF-BA100C89AD8C}"/>
          </ac:cxnSpMkLst>
        </pc:cxnChg>
        <pc:cxnChg chg="add mod">
          <ac:chgData name="Johannes De Smedt" userId="e13460af-634e-4231-9e97-a5e3038c16cf" providerId="ADAL" clId="{0D1066A5-738B-4C5A-8D8D-B22799BBCD97}" dt="2026-10-07T14:12:02.080" v="2703" actId="14100"/>
          <ac:cxnSpMkLst>
            <pc:docMk/>
            <pc:sldMk cId="1627325123" sldId="487"/>
            <ac:cxnSpMk id="54" creationId="{889B5F46-7FF7-82A9-7A72-CEEA0D938684}"/>
          </ac:cxnSpMkLst>
        </pc:cxnChg>
        <pc:cxnChg chg="add mod">
          <ac:chgData name="Johannes De Smedt" userId="e13460af-634e-4231-9e97-a5e3038c16cf" providerId="ADAL" clId="{0D1066A5-738B-4C5A-8D8D-B22799BBCD97}" dt="2026-10-08T11:12:23.261" v="2820" actId="14100"/>
          <ac:cxnSpMkLst>
            <pc:docMk/>
            <pc:sldMk cId="1627325123" sldId="487"/>
            <ac:cxnSpMk id="109" creationId="{FD088863-39AF-4EA5-BFA8-7E6813BE49A8}"/>
          </ac:cxnSpMkLst>
        </pc:cxnChg>
        <pc:cxnChg chg="mod">
          <ac:chgData name="Johannes De Smedt" userId="e13460af-634e-4231-9e97-a5e3038c16cf" providerId="ADAL" clId="{0D1066A5-738B-4C5A-8D8D-B22799BBCD97}" dt="2026-10-07T14:13:03.768" v="2744" actId="1076"/>
          <ac:cxnSpMkLst>
            <pc:docMk/>
            <pc:sldMk cId="1627325123" sldId="487"/>
            <ac:cxnSpMk id="117" creationId="{B9D95001-21A8-E378-C294-9DF0DECA86CA}"/>
          </ac:cxnSpMkLst>
        </pc:cxnChg>
        <pc:cxnChg chg="mod">
          <ac:chgData name="Johannes De Smedt" userId="e13460af-634e-4231-9e97-a5e3038c16cf" providerId="ADAL" clId="{0D1066A5-738B-4C5A-8D8D-B22799BBCD97}" dt="2026-10-07T14:12:59.709" v="2743" actId="208"/>
          <ac:cxnSpMkLst>
            <pc:docMk/>
            <pc:sldMk cId="1627325123" sldId="487"/>
            <ac:cxnSpMk id="121" creationId="{A2C0D35F-3A18-96ED-5891-D40F6902A321}"/>
          </ac:cxnSpMkLst>
        </pc:cxnChg>
      </pc:sldChg>
      <pc:sldChg chg="addSp modSp new mod">
        <pc:chgData name="Johannes De Smedt" userId="e13460af-634e-4231-9e97-a5e3038c16cf" providerId="ADAL" clId="{0D1066A5-738B-4C5A-8D8D-B22799BBCD97}" dt="2026-10-08T11:41:08.006" v="2849" actId="20577"/>
        <pc:sldMkLst>
          <pc:docMk/>
          <pc:sldMk cId="422556307" sldId="488"/>
        </pc:sldMkLst>
        <pc:spChg chg="mod">
          <ac:chgData name="Johannes De Smedt" userId="e13460af-634e-4231-9e97-a5e3038c16cf" providerId="ADAL" clId="{0D1066A5-738B-4C5A-8D8D-B22799BBCD97}" dt="2026-10-08T11:41:08.006" v="2849" actId="20577"/>
          <ac:spMkLst>
            <pc:docMk/>
            <pc:sldMk cId="422556307" sldId="488"/>
            <ac:spMk id="4" creationId="{56402012-A3A5-07AC-DA34-4B10469A0B23}"/>
          </ac:spMkLst>
        </pc:spChg>
        <pc:picChg chg="add mod">
          <ac:chgData name="Johannes De Smedt" userId="e13460af-634e-4231-9e97-a5e3038c16cf" providerId="ADAL" clId="{0D1066A5-738B-4C5A-8D8D-B22799BBCD97}" dt="2026-10-08T11:40:57.725" v="2831" actId="1076"/>
          <ac:picMkLst>
            <pc:docMk/>
            <pc:sldMk cId="422556307" sldId="488"/>
            <ac:picMk id="6" creationId="{2215DF00-0367-E7A1-D7C3-25FD5066C16D}"/>
          </ac:picMkLst>
        </pc:picChg>
        <pc:picChg chg="add mod">
          <ac:chgData name="Johannes De Smedt" userId="e13460af-634e-4231-9e97-a5e3038c16cf" providerId="ADAL" clId="{0D1066A5-738B-4C5A-8D8D-B22799BBCD97}" dt="2026-10-08T11:41:02.110" v="2834" actId="1076"/>
          <ac:picMkLst>
            <pc:docMk/>
            <pc:sldMk cId="422556307" sldId="488"/>
            <ac:picMk id="8" creationId="{1A2958E4-1028-43C9-851F-4C33C21DE863}"/>
          </ac:picMkLst>
        </pc:picChg>
      </pc:sldChg>
      <pc:sldChg chg="new del ord">
        <pc:chgData name="Johannes De Smedt" userId="e13460af-634e-4231-9e97-a5e3038c16cf" providerId="ADAL" clId="{0D1066A5-738B-4C5A-8D8D-B22799BBCD97}" dt="2026-10-12T08:31:42.735" v="2906"/>
        <pc:sldMkLst>
          <pc:docMk/>
          <pc:sldMk cId="2575543168" sldId="490"/>
        </pc:sldMkLst>
      </pc:sldChg>
      <pc:sldChg chg="new del ord">
        <pc:chgData name="Johannes De Smedt" userId="e13460af-634e-4231-9e97-a5e3038c16cf" providerId="ADAL" clId="{0D1066A5-738B-4C5A-8D8D-B22799BBCD97}" dt="2026-10-12T08:31:25.050" v="2904"/>
        <pc:sldMkLst>
          <pc:docMk/>
          <pc:sldMk cId="2777033534" sldId="491"/>
        </pc:sldMkLst>
      </pc:sldChg>
      <pc:sldChg chg="new del ord">
        <pc:chgData name="Johannes De Smedt" userId="e13460af-634e-4231-9e97-a5e3038c16cf" providerId="ADAL" clId="{0D1066A5-738B-4C5A-8D8D-B22799BBCD97}" dt="2026-10-12T08:31:07.382" v="2902"/>
        <pc:sldMkLst>
          <pc:docMk/>
          <pc:sldMk cId="4069590533" sldId="492"/>
        </pc:sldMkLst>
      </pc:sldChg>
      <pc:sldChg chg="new del ord">
        <pc:chgData name="Johannes De Smedt" userId="e13460af-634e-4231-9e97-a5e3038c16cf" providerId="ADAL" clId="{0D1066A5-738B-4C5A-8D8D-B22799BBCD97}" dt="2026-10-12T08:30:50.400" v="2900"/>
        <pc:sldMkLst>
          <pc:docMk/>
          <pc:sldMk cId="3819534585" sldId="493"/>
        </pc:sldMkLst>
      </pc:sldChg>
      <pc:sldChg chg="new del ord">
        <pc:chgData name="Johannes De Smedt" userId="e13460af-634e-4231-9e97-a5e3038c16cf" providerId="ADAL" clId="{0D1066A5-738B-4C5A-8D8D-B22799BBCD97}" dt="2026-10-12T08:30:33.241" v="2898"/>
        <pc:sldMkLst>
          <pc:docMk/>
          <pc:sldMk cId="3263609932" sldId="494"/>
        </pc:sldMkLst>
      </pc:sldChg>
      <pc:sldChg chg="new del ord">
        <pc:chgData name="Johannes De Smedt" userId="e13460af-634e-4231-9e97-a5e3038c16cf" providerId="ADAL" clId="{0D1066A5-738B-4C5A-8D8D-B22799BBCD97}" dt="2026-10-12T08:30:16.283" v="2896"/>
        <pc:sldMkLst>
          <pc:docMk/>
          <pc:sldMk cId="885173773" sldId="495"/>
        </pc:sldMkLst>
      </pc:sldChg>
      <pc:sldChg chg="new del ord">
        <pc:chgData name="Johannes De Smedt" userId="e13460af-634e-4231-9e97-a5e3038c16cf" providerId="ADAL" clId="{0D1066A5-738B-4C5A-8D8D-B22799BBCD97}" dt="2026-10-12T08:29:58.584" v="2894"/>
        <pc:sldMkLst>
          <pc:docMk/>
          <pc:sldMk cId="3214616547" sldId="496"/>
        </pc:sldMkLst>
      </pc:sldChg>
      <pc:sldChg chg="new del ord">
        <pc:chgData name="Johannes De Smedt" userId="e13460af-634e-4231-9e97-a5e3038c16cf" providerId="ADAL" clId="{0D1066A5-738B-4C5A-8D8D-B22799BBCD97}" dt="2026-10-12T08:29:40.885" v="2892"/>
        <pc:sldMkLst>
          <pc:docMk/>
          <pc:sldMk cId="4115548882" sldId="497"/>
        </pc:sldMkLst>
      </pc:sldChg>
      <pc:sldChg chg="new del ord">
        <pc:chgData name="Johannes De Smedt" userId="e13460af-634e-4231-9e97-a5e3038c16cf" providerId="ADAL" clId="{0D1066A5-738B-4C5A-8D8D-B22799BBCD97}" dt="2026-10-12T08:28:24.051" v="2884"/>
        <pc:sldMkLst>
          <pc:docMk/>
          <pc:sldMk cId="566491079" sldId="498"/>
        </pc:sldMkLst>
      </pc:sldChg>
      <pc:sldChg chg="new del ord">
        <pc:chgData name="Johannes De Smedt" userId="e13460af-634e-4231-9e97-a5e3038c16cf" providerId="ADAL" clId="{0D1066A5-738B-4C5A-8D8D-B22799BBCD97}" dt="2026-10-12T08:29:23.611" v="2890"/>
        <pc:sldMkLst>
          <pc:docMk/>
          <pc:sldMk cId="3555003167" sldId="499"/>
        </pc:sldMkLst>
      </pc:sldChg>
      <pc:sldChg chg="new del ord">
        <pc:chgData name="Johannes De Smedt" userId="e13460af-634e-4231-9e97-a5e3038c16cf" providerId="ADAL" clId="{0D1066A5-738B-4C5A-8D8D-B22799BBCD97}" dt="2026-10-12T08:29:05.453" v="2888"/>
        <pc:sldMkLst>
          <pc:docMk/>
          <pc:sldMk cId="1073987311" sldId="500"/>
        </pc:sldMkLst>
      </pc:sldChg>
      <pc:sldChg chg="new del ord">
        <pc:chgData name="Johannes De Smedt" userId="e13460af-634e-4231-9e97-a5e3038c16cf" providerId="ADAL" clId="{0D1066A5-738B-4C5A-8D8D-B22799BBCD97}" dt="2026-10-12T08:28:47.676" v="2886"/>
        <pc:sldMkLst>
          <pc:docMk/>
          <pc:sldMk cId="1666412236" sldId="501"/>
        </pc:sldMkLst>
      </pc:sldChg>
      <pc:sldChg chg="modSp add mod">
        <pc:chgData name="Johannes De Smedt" userId="e13460af-634e-4231-9e97-a5e3038c16cf" providerId="ADAL" clId="{0D1066A5-738B-4C5A-8D8D-B22799BBCD97}" dt="2026-10-13T07:31:27.671" v="2918" actId="20577"/>
        <pc:sldMkLst>
          <pc:docMk/>
          <pc:sldMk cId="673298902" sldId="502"/>
        </pc:sldMkLst>
        <pc:spChg chg="mod">
          <ac:chgData name="Johannes De Smedt" userId="e13460af-634e-4231-9e97-a5e3038c16cf" providerId="ADAL" clId="{0D1066A5-738B-4C5A-8D8D-B22799BBCD97}" dt="2026-10-13T07:31:27.671" v="2918" actId="20577"/>
          <ac:spMkLst>
            <pc:docMk/>
            <pc:sldMk cId="673298902" sldId="502"/>
            <ac:spMk id="2" creationId="{F4CDB787-DDC5-5F8E-AF80-C96FF5D9B0F9}"/>
          </ac:spMkLst>
        </pc:spChg>
      </pc:sldChg>
      <pc:sldChg chg="add">
        <pc:chgData name="Johannes De Smedt" userId="e13460af-634e-4231-9e97-a5e3038c16cf" providerId="ADAL" clId="{0D1066A5-738B-4C5A-8D8D-B22799BBCD97}" dt="2026-10-12T08:28:47.616" v="2885"/>
        <pc:sldMkLst>
          <pc:docMk/>
          <pc:sldMk cId="215214187" sldId="503"/>
        </pc:sldMkLst>
      </pc:sldChg>
      <pc:sldChg chg="modSp add mod">
        <pc:chgData name="Johannes De Smedt" userId="e13460af-634e-4231-9e97-a5e3038c16cf" providerId="ADAL" clId="{0D1066A5-738B-4C5A-8D8D-B22799BBCD97}" dt="2026-10-13T07:30:31.563" v="2913" actId="313"/>
        <pc:sldMkLst>
          <pc:docMk/>
          <pc:sldMk cId="843360818" sldId="504"/>
        </pc:sldMkLst>
        <pc:spChg chg="mod">
          <ac:chgData name="Johannes De Smedt" userId="e13460af-634e-4231-9e97-a5e3038c16cf" providerId="ADAL" clId="{0D1066A5-738B-4C5A-8D8D-B22799BBCD97}" dt="2026-10-13T07:30:31.563" v="2913" actId="313"/>
          <ac:spMkLst>
            <pc:docMk/>
            <pc:sldMk cId="843360818" sldId="504"/>
            <ac:spMk id="2" creationId="{3EED1CDE-11F2-1BA4-72D6-A0068DE6A6EC}"/>
          </ac:spMkLst>
        </pc:spChg>
      </pc:sldChg>
      <pc:sldChg chg="add del">
        <pc:chgData name="Johannes De Smedt" userId="e13460af-634e-4231-9e97-a5e3038c16cf" providerId="ADAL" clId="{0D1066A5-738B-4C5A-8D8D-B22799BBCD97}" dt="2026-10-13T07:31:07.033" v="2914" actId="47"/>
        <pc:sldMkLst>
          <pc:docMk/>
          <pc:sldMk cId="1149892757" sldId="505"/>
        </pc:sldMkLst>
      </pc:sldChg>
      <pc:sldChg chg="modSp add mod">
        <pc:chgData name="Johannes De Smedt" userId="e13460af-634e-4231-9e97-a5e3038c16cf" providerId="ADAL" clId="{0D1066A5-738B-4C5A-8D8D-B22799BBCD97}" dt="2026-10-13T07:32:55.823" v="2921" actId="6549"/>
        <pc:sldMkLst>
          <pc:docMk/>
          <pc:sldMk cId="1441609512" sldId="506"/>
        </pc:sldMkLst>
        <pc:spChg chg="mod">
          <ac:chgData name="Johannes De Smedt" userId="e13460af-634e-4231-9e97-a5e3038c16cf" providerId="ADAL" clId="{0D1066A5-738B-4C5A-8D8D-B22799BBCD97}" dt="2026-10-13T07:32:55.823" v="2921" actId="6549"/>
          <ac:spMkLst>
            <pc:docMk/>
            <pc:sldMk cId="1441609512" sldId="506"/>
            <ac:spMk id="2" creationId="{930F3F1E-2233-F61E-4ED4-7377F3BFE3EA}"/>
          </ac:spMkLst>
        </pc:spChg>
      </pc:sldChg>
      <pc:sldChg chg="modSp add mod">
        <pc:chgData name="Johannes De Smedt" userId="e13460af-634e-4231-9e97-a5e3038c16cf" providerId="ADAL" clId="{0D1066A5-738B-4C5A-8D8D-B22799BBCD97}" dt="2026-10-13T07:34:23.450" v="2928" actId="20577"/>
        <pc:sldMkLst>
          <pc:docMk/>
          <pc:sldMk cId="983056609" sldId="507"/>
        </pc:sldMkLst>
        <pc:spChg chg="mod">
          <ac:chgData name="Johannes De Smedt" userId="e13460af-634e-4231-9e97-a5e3038c16cf" providerId="ADAL" clId="{0D1066A5-738B-4C5A-8D8D-B22799BBCD97}" dt="2026-10-13T07:34:23.450" v="2928" actId="20577"/>
          <ac:spMkLst>
            <pc:docMk/>
            <pc:sldMk cId="983056609" sldId="507"/>
            <ac:spMk id="2" creationId="{6826F0EA-C1BE-19AF-6553-E725E6F35FA3}"/>
          </ac:spMkLst>
        </pc:spChg>
      </pc:sldChg>
      <pc:sldChg chg="add">
        <pc:chgData name="Johannes De Smedt" userId="e13460af-634e-4231-9e97-a5e3038c16cf" providerId="ADAL" clId="{0D1066A5-738B-4C5A-8D8D-B22799BBCD97}" dt="2026-10-12T08:30:16.250" v="2895"/>
        <pc:sldMkLst>
          <pc:docMk/>
          <pc:sldMk cId="1752411049" sldId="508"/>
        </pc:sldMkLst>
      </pc:sldChg>
      <pc:sldChg chg="add">
        <pc:chgData name="Johannes De Smedt" userId="e13460af-634e-4231-9e97-a5e3038c16cf" providerId="ADAL" clId="{0D1066A5-738B-4C5A-8D8D-B22799BBCD97}" dt="2026-10-12T08:30:33.207" v="2897"/>
        <pc:sldMkLst>
          <pc:docMk/>
          <pc:sldMk cId="3685522732" sldId="509"/>
        </pc:sldMkLst>
      </pc:sldChg>
      <pc:sldChg chg="add del">
        <pc:chgData name="Johannes De Smedt" userId="e13460af-634e-4231-9e97-a5e3038c16cf" providerId="ADAL" clId="{0D1066A5-738B-4C5A-8D8D-B22799BBCD97}" dt="2026-10-13T07:37:19.389" v="2929" actId="47"/>
        <pc:sldMkLst>
          <pc:docMk/>
          <pc:sldMk cId="1851707523" sldId="510"/>
        </pc:sldMkLst>
      </pc:sldChg>
      <pc:sldChg chg="add">
        <pc:chgData name="Johannes De Smedt" userId="e13460af-634e-4231-9e97-a5e3038c16cf" providerId="ADAL" clId="{0D1066A5-738B-4C5A-8D8D-B22799BBCD97}" dt="2026-10-12T08:31:07.334" v="2901"/>
        <pc:sldMkLst>
          <pc:docMk/>
          <pc:sldMk cId="3632386928" sldId="511"/>
        </pc:sldMkLst>
      </pc:sldChg>
      <pc:sldChg chg="add">
        <pc:chgData name="Johannes De Smedt" userId="e13460af-634e-4231-9e97-a5e3038c16cf" providerId="ADAL" clId="{0D1066A5-738B-4C5A-8D8D-B22799BBCD97}" dt="2026-10-12T08:31:25.016" v="2903"/>
        <pc:sldMkLst>
          <pc:docMk/>
          <pc:sldMk cId="1261106510" sldId="512"/>
        </pc:sldMkLst>
      </pc:sldChg>
      <pc:sldChg chg="add del">
        <pc:chgData name="Johannes De Smedt" userId="e13460af-634e-4231-9e97-a5e3038c16cf" providerId="ADAL" clId="{0D1066A5-738B-4C5A-8D8D-B22799BBCD97}" dt="2026-10-13T07:45:23.635" v="2930" actId="47"/>
        <pc:sldMkLst>
          <pc:docMk/>
          <pc:sldMk cId="59416776" sldId="5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8F31B-520B-1845-85A4-13BC4D70EB6B}" type="datetimeFigureOut">
              <a:rPr lang="en-BE" smtClean="0"/>
              <a:t>10/13/2026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D55F8-3D2A-CA4E-AB9C-E724D930686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514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89366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45534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73641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6590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5377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6551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5448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6577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907305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74626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26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8491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27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5349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36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66283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52855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88810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46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53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0925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55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1824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56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09360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72409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57387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68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716779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784745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30724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55759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910034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060717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76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1540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011415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316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360310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9587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89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81051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2008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67170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99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8779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470443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936143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19073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252232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108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368725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17803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141473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35910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9963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880007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363017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18557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124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13005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127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44179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128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3362505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130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0212178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138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333008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140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8702040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164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71383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D55F8-3D2A-CA4E-AB9C-E724D930686A}" type="slidenum">
              <a:rPr lang="en-BE" smtClean="0"/>
              <a:t>165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37921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10" name="Rechthoek 9"/>
          <p:cNvSpPr/>
          <p:nvPr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07014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751-7071-7246-A828-E898A62078DD}" type="datetime1">
              <a:rPr lang="en-US" smtClean="0"/>
              <a:t>10/13/2026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7762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10/13/2026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722137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10/13/2026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GB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518690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6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10/13/2026</a:t>
            </a:fld>
            <a:endParaRPr lang="en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717934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BEA5-B5CC-A944-9100-27860A95FD3B}" type="datetime1">
              <a:rPr lang="en-US" smtClean="0"/>
              <a:t>10/13/2026</a:t>
            </a:fld>
            <a:endParaRPr lang="en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949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1684-2B8E-D34D-8B1C-C2F073DB9268}" type="datetime1">
              <a:rPr lang="en-US" smtClean="0"/>
              <a:t>10/13/2026</a:t>
            </a:fld>
            <a:endParaRPr lang="en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832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83D4E-2B9D-EA42-8356-4787790ABD27}" type="datetime1">
              <a:rPr lang="en-US" smtClean="0"/>
              <a:t>10/13/2026</a:t>
            </a:fld>
            <a:endParaRPr lang="en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370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C879-0D8C-8643-B111-26840AE1A981}" type="datetime1">
              <a:rPr lang="en-US" smtClean="0"/>
              <a:t>10/13/2026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02327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AE1F-EC37-1B44-8265-74CE4BB3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D2137-C4A8-F242-9338-A86D0B17D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FC3E4-1B84-3A49-9EDB-B8C05C779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B463-9C40-1942-88C8-7DFCDA999A26}" type="datetime1">
              <a:rPr lang="en-US" smtClean="0"/>
              <a:t>10/13/2026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EB827-9AFF-DF44-90F4-4AFD705F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7B17-5BF4-C445-9966-AEDE289B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5720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9797-4E0C-E642-B536-6FCAE3D11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4EB3D-7663-D943-9270-7AA84EE5C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07DC2-F4C3-6242-B8BF-588FC938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65DDC-663F-414F-95F1-2EF995215EBF}" type="datetime1">
              <a:rPr lang="en-US" smtClean="0"/>
              <a:t>10/13/2026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30550-01C0-FD4E-BD13-4C07DC15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4EC13-FB57-7740-8691-ED75C59D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6118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5132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04F5-1DDB-433A-9F56-F69ABF3D82C1}" type="datetime1">
              <a:rPr lang="nl-BE" smtClean="0"/>
              <a:t>13/10/2026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Faculty, department, unit ...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0510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A0AE-89F5-40F4-A8AC-2CFB7172A437}" type="datetime1">
              <a:rPr lang="nl-BE" smtClean="0"/>
              <a:t>13/10/2026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Faculty, department, unit ...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A0C879-0D8C-8643-B111-26840AE1A981}" type="datetime1">
              <a:rPr lang="en-US" smtClean="0"/>
              <a:t>10/13/2026</a:t>
            </a:fld>
            <a:endParaRPr lang="en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D270EDC2-4F5E-5547-954F-5222C286AC2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6898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>
          <p15:clr>
            <a:srgbClr val="F26B43"/>
          </p15:clr>
        </p15:guide>
        <p15:guide id="2" pos="7319">
          <p15:clr>
            <a:srgbClr val="F26B43"/>
          </p15:clr>
        </p15:guide>
        <p15:guide id="3" orient="horz" pos="3857">
          <p15:clr>
            <a:srgbClr val="F26B43"/>
          </p15:clr>
        </p15:guide>
        <p15:guide id="4" pos="36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18BCE0-9917-41C7-AA76-58ADB721FDEC}" type="datetime1">
              <a:rPr lang="nl-BE" smtClean="0"/>
              <a:t>13/10/2026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nl-NL"/>
              <a:t>Faculty, department, unit ...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827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311A-AA10-A2A4-84A9-0379F528D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Deel 1A: Basis syntax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F87733-803D-4B3C-C47F-E29449F19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024B637-2791-529F-1ABF-73E19501B5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41696-3489-8561-4A96-17BF579988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10300"/>
            <a:ext cx="647700" cy="647700"/>
          </a:xfrm>
        </p:spPr>
        <p:txBody>
          <a:bodyPr/>
          <a:lstStyle/>
          <a:p>
            <a:fld id="{D270EDC2-4F5E-5547-954F-5222C286AC2A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516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0DDB50-4F7D-C846-B331-5EDF14C9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1. Basis data 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C0101-4520-174C-BBEF-FB24A7E73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.1-basis_data_types.ipynb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C8D9E-3BB6-6245-BCD5-2197C4D6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2043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5D96-148A-3D4A-A2AC-78BF764EC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Integers</a:t>
            </a:r>
          </a:p>
          <a:p>
            <a:r>
              <a:rPr lang="en-BE" dirty="0"/>
              <a:t>Floats</a:t>
            </a:r>
          </a:p>
          <a:p>
            <a:r>
              <a:rPr lang="en-BE" dirty="0"/>
              <a:t>Complexe nummers</a:t>
            </a:r>
          </a:p>
          <a:p>
            <a:r>
              <a:rPr lang="en-BE" dirty="0"/>
              <a:t>Booleans</a:t>
            </a:r>
          </a:p>
          <a:p>
            <a:r>
              <a:rPr lang="en-BE" dirty="0"/>
              <a:t>Strings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B279A-1AA0-4349-9B46-B725ED6F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90042-586D-D142-92A4-227765B2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Basis data types in Python</a:t>
            </a:r>
          </a:p>
        </p:txBody>
      </p:sp>
      <p:pic>
        <p:nvPicPr>
          <p:cNvPr id="1026" name="Picture 2" descr="r/ProgrammerHumor - I'MA PYTHON PROGRAMMER WHAT'S A PYTHON PROGRAMMER? IT MEANS HE IS SCARED OF DATA TYPES NO, I'M NOT INT BYTE, FLOAT, CHAR STOP IT PATRICK YOU'RE SCARING HIM">
            <a:extLst>
              <a:ext uri="{FF2B5EF4-FFF2-40B4-BE49-F238E27FC236}">
                <a16:creationId xmlns:a16="http://schemas.microsoft.com/office/drawing/2014/main" id="{62ABCD45-4A8B-AD65-4086-EB9948507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5514"/>
            <a:ext cx="4314559" cy="398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3BCA2F-711E-5B1A-1514-0F6591B1DED7}"/>
              </a:ext>
            </a:extLst>
          </p:cNvPr>
          <p:cNvSpPr txBox="1"/>
          <p:nvPr/>
        </p:nvSpPr>
        <p:spPr>
          <a:xfrm>
            <a:off x="956193" y="6512464"/>
            <a:ext cx="66083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bg1"/>
                </a:solidFill>
              </a:rPr>
              <a:t>https</a:t>
            </a:r>
            <a:r>
              <a:rPr lang="nl-NL" sz="1200" dirty="0">
                <a:solidFill>
                  <a:schemeClr val="bg1"/>
                </a:solidFill>
              </a:rPr>
              <a:t>://</a:t>
            </a:r>
            <a:r>
              <a:rPr lang="nl-NL" sz="1200" dirty="0" err="1">
                <a:solidFill>
                  <a:schemeClr val="bg1"/>
                </a:solidFill>
              </a:rPr>
              <a:t>www.reddit.com</a:t>
            </a:r>
            <a:r>
              <a:rPr lang="nl-NL" sz="1200" dirty="0">
                <a:solidFill>
                  <a:schemeClr val="bg1"/>
                </a:solidFill>
              </a:rPr>
              <a:t>/r/</a:t>
            </a:r>
            <a:r>
              <a:rPr lang="nl-NL" sz="1200" dirty="0" err="1">
                <a:solidFill>
                  <a:schemeClr val="bg1"/>
                </a:solidFill>
              </a:rPr>
              <a:t>ProgrammerHumor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  <a:r>
              <a:rPr lang="nl-NL" sz="1200" dirty="0" err="1">
                <a:solidFill>
                  <a:schemeClr val="bg1"/>
                </a:solidFill>
              </a:rPr>
              <a:t>comments</a:t>
            </a:r>
            <a:r>
              <a:rPr lang="nl-NL" sz="1200" dirty="0">
                <a:solidFill>
                  <a:schemeClr val="bg1"/>
                </a:solidFill>
              </a:rPr>
              <a:t>/ns4met/</a:t>
            </a:r>
            <a:r>
              <a:rPr lang="nl-NL" sz="1200" dirty="0" err="1">
                <a:solidFill>
                  <a:schemeClr val="bg1"/>
                </a:solidFill>
              </a:rPr>
              <a:t>im_a_python_programmer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0217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BFE3-B0A7-984C-99FB-5674B67B5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Gehele getallen</a:t>
            </a:r>
          </a:p>
          <a:p>
            <a:r>
              <a:rPr lang="en-BE" dirty="0"/>
              <a:t>Worden automatisch herkend door Python</a:t>
            </a:r>
          </a:p>
          <a:p>
            <a:r>
              <a:rPr lang="en-BE" dirty="0"/>
              <a:t>In Python: van de klasse/het type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endParaRPr lang="en-BE" dirty="0"/>
          </a:p>
          <a:p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061055-5ACD-844C-A05F-B313FE4B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46449-C0B4-6643-90D2-E744A87D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269382"/>
            <a:ext cx="11041200" cy="1152000"/>
          </a:xfrm>
        </p:spPr>
        <p:txBody>
          <a:bodyPr/>
          <a:lstStyle/>
          <a:p>
            <a:r>
              <a:rPr lang="en-BE" dirty="0"/>
              <a:t>Integers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6C6E1E-294F-F34A-AFA3-BB215A57CD7C}"/>
              </a:ext>
            </a:extLst>
          </p:cNvPr>
          <p:cNvSpPr/>
          <p:nvPr/>
        </p:nvSpPr>
        <p:spPr>
          <a:xfrm>
            <a:off x="838200" y="4156010"/>
            <a:ext cx="6096000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808080"/>
                </a:solidFill>
              </a:rPr>
              <a:t># integers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9ED09-5BBF-ED46-A31F-D6C705CD4973}"/>
              </a:ext>
            </a:extLst>
          </p:cNvPr>
          <p:cNvSpPr/>
          <p:nvPr/>
        </p:nvSpPr>
        <p:spPr>
          <a:xfrm>
            <a:off x="7449208" y="4156010"/>
            <a:ext cx="1978572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5</a:t>
            </a:r>
          </a:p>
          <a:p>
            <a:r>
              <a:rPr lang="en-BE" dirty="0"/>
              <a:t>&lt;class 'int'&gt;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592D4-A2CE-A544-99C6-2C16118E9D74}"/>
              </a:ext>
            </a:extLst>
          </p:cNvPr>
          <p:cNvSpPr txBox="1"/>
          <p:nvPr/>
        </p:nvSpPr>
        <p:spPr>
          <a:xfrm>
            <a:off x="7449208" y="378667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9C1C2-48F9-CB48-AFE7-69AD8DBD6751}"/>
              </a:ext>
            </a:extLst>
          </p:cNvPr>
          <p:cNvSpPr txBox="1"/>
          <p:nvPr/>
        </p:nvSpPr>
        <p:spPr>
          <a:xfrm>
            <a:off x="838200" y="378667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A59B6-7919-F5D8-E615-426A027AD116}"/>
              </a:ext>
            </a:extLst>
          </p:cNvPr>
          <p:cNvSpPr txBox="1"/>
          <p:nvPr/>
        </p:nvSpPr>
        <p:spPr>
          <a:xfrm>
            <a:off x="9253712" y="2746018"/>
            <a:ext cx="2685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 ingebouwde functie</a:t>
            </a: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type()</a:t>
            </a:r>
            <a:r>
              <a:rPr lang="nl-NL" dirty="0">
                <a:latin typeface="+mj-lt"/>
                <a:cs typeface="Courier New" panose="02070309020205020404" pitchFamily="49" charset="0"/>
              </a:rPr>
              <a:t> </a:t>
            </a:r>
            <a:r>
              <a:rPr lang="nl-NL" dirty="0"/>
              <a:t>geeft het type/de klasse van de variabele</a:t>
            </a:r>
          </a:p>
        </p:txBody>
      </p:sp>
    </p:spTree>
    <p:extLst>
      <p:ext uri="{BB962C8B-B14F-4D97-AF65-F5344CB8AC3E}">
        <p14:creationId xmlns:p14="http://schemas.microsoft.com/office/powerpoint/2010/main" val="200055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8B43-5111-2E4C-8D10-4E4243FC6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Kommagetallen</a:t>
            </a:r>
          </a:p>
          <a:p>
            <a:r>
              <a:rPr lang="en-BE" dirty="0"/>
              <a:t>Kunnen in de </a:t>
            </a:r>
            <a:r>
              <a:rPr lang="en-BE" dirty="0">
                <a:solidFill>
                  <a:srgbClr val="00B050"/>
                </a:solidFill>
              </a:rPr>
              <a:t>wetenschappelijke</a:t>
            </a:r>
            <a:r>
              <a:rPr lang="en-BE" dirty="0"/>
              <a:t> </a:t>
            </a:r>
            <a:r>
              <a:rPr lang="en-BE" dirty="0">
                <a:solidFill>
                  <a:srgbClr val="00B050"/>
                </a:solidFill>
              </a:rPr>
              <a:t>notatie</a:t>
            </a:r>
            <a:r>
              <a:rPr lang="en-BE" dirty="0"/>
              <a:t> gebruikt worden</a:t>
            </a:r>
          </a:p>
          <a:p>
            <a:r>
              <a:rPr lang="en-BE" dirty="0"/>
              <a:t>In Python: van het type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D82C4F4-C745-9945-B400-13F3F4F1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724BF-4A25-364E-8814-0F5CF39E9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Floating-point nummers (floats)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9A232-F6BF-2449-AC7B-57847390B5F3}"/>
              </a:ext>
            </a:extLst>
          </p:cNvPr>
          <p:cNvSpPr/>
          <p:nvPr/>
        </p:nvSpPr>
        <p:spPr>
          <a:xfrm>
            <a:off x="2390277" y="3518780"/>
            <a:ext cx="2701413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b = </a:t>
            </a:r>
            <a:r>
              <a:rPr lang="en-GB" dirty="0">
                <a:solidFill>
                  <a:srgbClr val="6897BB"/>
                </a:solidFill>
              </a:rPr>
              <a:t>5.3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c = </a:t>
            </a:r>
            <a:r>
              <a:rPr lang="en-GB" dirty="0">
                <a:solidFill>
                  <a:srgbClr val="6897BB"/>
                </a:solidFill>
              </a:rPr>
              <a:t>2.21e-10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d = </a:t>
            </a:r>
            <a:r>
              <a:rPr lang="en-GB" dirty="0">
                <a:solidFill>
                  <a:srgbClr val="6897BB"/>
                </a:solidFill>
              </a:rPr>
              <a:t>2.21e10</a:t>
            </a:r>
            <a:br>
              <a:rPr lang="en-GB" dirty="0">
                <a:solidFill>
                  <a:srgbClr val="6897BB"/>
                </a:solidFill>
              </a:rPr>
            </a:b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(c)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(b))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(c))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int</a:t>
            </a:r>
            <a:r>
              <a:rPr lang="en-GB" dirty="0"/>
              <a:t>(d))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EE25AF-F114-5341-A2FD-FE71B5104FF0}"/>
              </a:ext>
            </a:extLst>
          </p:cNvPr>
          <p:cNvSpPr/>
          <p:nvPr/>
        </p:nvSpPr>
        <p:spPr>
          <a:xfrm>
            <a:off x="5642340" y="3518780"/>
            <a:ext cx="2487562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5.3</a:t>
            </a:r>
          </a:p>
          <a:p>
            <a:r>
              <a:rPr lang="en-BE" dirty="0">
                <a:solidFill>
                  <a:srgbClr val="00B050"/>
                </a:solidFill>
              </a:rPr>
              <a:t>2.21e-10</a:t>
            </a:r>
          </a:p>
          <a:p>
            <a:r>
              <a:rPr lang="en-BE" dirty="0"/>
              <a:t>&lt;class 'float'&gt;</a:t>
            </a:r>
          </a:p>
          <a:p>
            <a:r>
              <a:rPr lang="en-BE" dirty="0"/>
              <a:t>&lt;class 'float'&gt;</a:t>
            </a:r>
          </a:p>
          <a:p>
            <a:r>
              <a:rPr lang="en-BE" dirty="0"/>
              <a:t>22100000000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5E9A8-BB1A-1748-B6C7-D9B96769E53F}"/>
              </a:ext>
            </a:extLst>
          </p:cNvPr>
          <p:cNvSpPr txBox="1"/>
          <p:nvPr/>
        </p:nvSpPr>
        <p:spPr>
          <a:xfrm>
            <a:off x="6244218" y="319917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1C7CE-CB31-1A47-9B46-F654E3204743}"/>
              </a:ext>
            </a:extLst>
          </p:cNvPr>
          <p:cNvSpPr txBox="1"/>
          <p:nvPr/>
        </p:nvSpPr>
        <p:spPr>
          <a:xfrm>
            <a:off x="2349015" y="317183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4A310-6969-6B4D-8615-7F6B32BC092F}"/>
              </a:ext>
            </a:extLst>
          </p:cNvPr>
          <p:cNvSpPr txBox="1"/>
          <p:nvPr/>
        </p:nvSpPr>
        <p:spPr>
          <a:xfrm>
            <a:off x="4035972" y="6172417"/>
            <a:ext cx="59137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Merk op dat dit een conversie is – hier komen we later op terug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9843BF-C862-3143-89AA-5002A1362968}"/>
              </a:ext>
            </a:extLst>
          </p:cNvPr>
          <p:cNvCxnSpPr>
            <a:cxnSpLocks/>
          </p:cNvCxnSpPr>
          <p:nvPr/>
        </p:nvCxnSpPr>
        <p:spPr>
          <a:xfrm>
            <a:off x="3090041" y="6083081"/>
            <a:ext cx="945931" cy="2126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17E690-D2EF-5B48-AEB6-C2849C45EC31}"/>
              </a:ext>
            </a:extLst>
          </p:cNvPr>
          <p:cNvCxnSpPr>
            <a:cxnSpLocks/>
          </p:cNvCxnSpPr>
          <p:nvPr/>
        </p:nvCxnSpPr>
        <p:spPr>
          <a:xfrm flipH="1" flipV="1">
            <a:off x="5938345" y="2757183"/>
            <a:ext cx="399393" cy="21826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79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B24A4-28C1-F946-9C26-75EEB79C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30798-BC9D-D14B-AF05-BAEA28F3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Handige ingebouwde functies voor cijfers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BD09A9-9A1E-2247-B40E-E3BF64A2EC48}"/>
              </a:ext>
            </a:extLst>
          </p:cNvPr>
          <p:cNvSpPr/>
          <p:nvPr/>
        </p:nvSpPr>
        <p:spPr>
          <a:xfrm>
            <a:off x="1526627" y="3230878"/>
            <a:ext cx="4968766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2.0202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round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))  	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rond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af</a:t>
            </a:r>
            <a:r>
              <a:rPr lang="en-GB" sz="1600" dirty="0">
                <a:solidFill>
                  <a:srgbClr val="808080"/>
                </a:solidFill>
              </a:rPr>
              <a:t> tot 2 </a:t>
            </a:r>
            <a:r>
              <a:rPr lang="en-GB" sz="1600" dirty="0" err="1">
                <a:solidFill>
                  <a:srgbClr val="808080"/>
                </a:solidFill>
              </a:rPr>
              <a:t>cijfers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na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komma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round</a:t>
            </a:r>
            <a:r>
              <a:rPr lang="en-GB" sz="1600" dirty="0"/>
              <a:t>(b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max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 	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werkt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ook</a:t>
            </a:r>
            <a:r>
              <a:rPr lang="en-GB" sz="1600" dirty="0">
                <a:solidFill>
                  <a:srgbClr val="808080"/>
                </a:solidFill>
              </a:rPr>
              <a:t> op </a:t>
            </a:r>
            <a:r>
              <a:rPr lang="en-GB" sz="1600" dirty="0" err="1">
                <a:solidFill>
                  <a:srgbClr val="808080"/>
                </a:solidFill>
              </a:rPr>
              <a:t>lijsten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en</a:t>
            </a:r>
            <a:r>
              <a:rPr lang="en-GB" sz="1600" dirty="0">
                <a:solidFill>
                  <a:srgbClr val="808080"/>
                </a:solidFill>
              </a:rPr>
              <a:t> sets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min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 	</a:t>
            </a:r>
            <a:r>
              <a:rPr lang="en-GB" sz="1600" dirty="0">
                <a:solidFill>
                  <a:srgbClr val="808080"/>
                </a:solidFill>
              </a:rPr>
              <a:t># idem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pow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)) 	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machtsverheffing</a:t>
            </a:r>
            <a:endParaRPr lang="en-BE" sz="1600" dirty="0">
              <a:solidFill>
                <a:srgbClr val="80808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9A5EF4-7949-FB4C-8127-29B9D8CBFE79}"/>
              </a:ext>
            </a:extLst>
          </p:cNvPr>
          <p:cNvSpPr/>
          <p:nvPr/>
        </p:nvSpPr>
        <p:spPr>
          <a:xfrm>
            <a:off x="7273159" y="3230878"/>
            <a:ext cx="1103586" cy="18466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2.02</a:t>
            </a:r>
          </a:p>
          <a:p>
            <a:r>
              <a:rPr lang="en-BE" sz="1600" dirty="0"/>
              <a:t>2.0202</a:t>
            </a:r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1024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8EC35-0C18-0647-8F98-5BF046B0A755}"/>
              </a:ext>
            </a:extLst>
          </p:cNvPr>
          <p:cNvSpPr txBox="1"/>
          <p:nvPr/>
        </p:nvSpPr>
        <p:spPr>
          <a:xfrm>
            <a:off x="7273159" y="275382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8A497-6726-704B-A84D-9340496665DA}"/>
              </a:ext>
            </a:extLst>
          </p:cNvPr>
          <p:cNvSpPr txBox="1"/>
          <p:nvPr/>
        </p:nvSpPr>
        <p:spPr>
          <a:xfrm>
            <a:off x="1526627" y="275382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</p:spTree>
    <p:extLst>
      <p:ext uri="{BB962C8B-B14F-4D97-AF65-F5344CB8AC3E}">
        <p14:creationId xmlns:p14="http://schemas.microsoft.com/office/powerpoint/2010/main" val="613492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Floats worden binair benaderd: kleine afrondingsfouten zijn normaal</a:t>
            </a:r>
          </a:p>
          <a:p>
            <a:r>
              <a:rPr lang="nl-BE" sz="2000" dirty="0"/>
              <a:t>Vergelijk floats dus beter niet met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nl-BE" sz="2000" dirty="0"/>
              <a:t>, maar met een kleine marge</a:t>
            </a:r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round()</a:t>
            </a:r>
            <a:r>
              <a:rPr lang="nl-BE" sz="2000" dirty="0"/>
              <a:t> is voor weergave, niet voor exacte berekeningen (maar voldoende voor dit vak)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Opgelet: precisie van floats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493000" y="3530600"/>
            <a:ext cx="390731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0.30000000000000004</a:t>
            </a:r>
          </a:p>
          <a:p>
            <a:r>
              <a:rPr lang="en-GB" sz="1600" dirty="0"/>
              <a:t>False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True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True</a:t>
            </a:r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4930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334000" cy="2413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 == </a:t>
            </a:r>
            <a:r>
              <a:rPr lang="en-GB" sz="1600" dirty="0">
                <a:solidFill>
                  <a:srgbClr val="6897BB"/>
                </a:solidFill>
              </a:rPr>
              <a:t>0.3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afronden voor de vergelijking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round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 == </a:t>
            </a:r>
            <a:r>
              <a:rPr lang="en-GB" sz="1600" dirty="0">
                <a:solidFill>
                  <a:srgbClr val="6897BB"/>
                </a:solidFill>
              </a:rPr>
              <a:t>0.3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of werken met een marge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abs</a:t>
            </a:r>
            <a:r>
              <a:rPr lang="en-GB" sz="1600" dirty="0"/>
              <a:t>((</a:t>
            </a:r>
            <a:r>
              <a:rPr lang="en-GB" sz="1600" dirty="0">
                <a:solidFill>
                  <a:srgbClr val="6897BB"/>
                </a:solidFill>
              </a:rPr>
              <a:t>0.1</a:t>
            </a:r>
            <a:r>
              <a:rPr lang="en-GB" sz="1600" dirty="0"/>
              <a:t> + </a:t>
            </a:r>
            <a:r>
              <a:rPr lang="en-GB" sz="1600" dirty="0">
                <a:solidFill>
                  <a:srgbClr val="6897BB"/>
                </a:solidFill>
              </a:rPr>
              <a:t>0.2</a:t>
            </a:r>
            <a:r>
              <a:rPr lang="en-GB" sz="1600" dirty="0"/>
              <a:t>) - </a:t>
            </a:r>
            <a:r>
              <a:rPr lang="en-GB" sz="1600" dirty="0">
                <a:solidFill>
                  <a:srgbClr val="6897BB"/>
                </a:solidFill>
              </a:rPr>
              <a:t>0.3</a:t>
            </a:r>
            <a:r>
              <a:rPr lang="en-GB" sz="1600" dirty="0"/>
              <a:t>) &lt; </a:t>
            </a:r>
            <a:r>
              <a:rPr lang="en-GB" sz="1600" dirty="0">
                <a:solidFill>
                  <a:srgbClr val="6897BB"/>
                </a:solidFill>
              </a:rPr>
              <a:t>0.000001</a:t>
            </a:r>
            <a:r>
              <a:rPr lang="en-GB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701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C760D-9AB6-AE49-90C0-37CD6560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Waar/vals waarden (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BE" dirty="0"/>
              <a:t>/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BE" dirty="0"/>
              <a:t> zijn gereserveerde keywords)</a:t>
            </a:r>
          </a:p>
          <a:p>
            <a:r>
              <a:rPr lang="en-BE" dirty="0"/>
              <a:t>In Python: van het type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endParaRPr lang="en-BE" dirty="0"/>
          </a:p>
          <a:p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17DE28-0ED0-E145-A30B-DAC4F64B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EF835-F510-0644-804D-B6CDEAC0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Booleans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707E67-3FDA-4F41-B9AE-CB7C6251CC54}"/>
              </a:ext>
            </a:extLst>
          </p:cNvPr>
          <p:cNvSpPr/>
          <p:nvPr/>
        </p:nvSpPr>
        <p:spPr>
          <a:xfrm>
            <a:off x="2856187" y="3798332"/>
            <a:ext cx="2652252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808080"/>
                </a:solidFill>
              </a:rPr>
              <a:t># </a:t>
            </a:r>
            <a:r>
              <a:rPr lang="en-GB" dirty="0" err="1">
                <a:solidFill>
                  <a:srgbClr val="808080"/>
                </a:solidFill>
              </a:rPr>
              <a:t>booleans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 err="1"/>
              <a:t>waar</a:t>
            </a:r>
            <a:r>
              <a:rPr lang="en-GB" dirty="0"/>
              <a:t> = </a:t>
            </a:r>
            <a:r>
              <a:rPr lang="en-GB" dirty="0">
                <a:solidFill>
                  <a:srgbClr val="CC7832"/>
                </a:solidFill>
              </a:rPr>
              <a:t>True</a:t>
            </a:r>
            <a:br>
              <a:rPr lang="en-GB" dirty="0">
                <a:solidFill>
                  <a:srgbClr val="CC7832"/>
                </a:solidFill>
              </a:rPr>
            </a:br>
            <a:r>
              <a:rPr lang="en-GB" dirty="0" err="1"/>
              <a:t>vals</a:t>
            </a:r>
            <a:r>
              <a:rPr lang="en-GB" dirty="0"/>
              <a:t> = </a:t>
            </a:r>
            <a:r>
              <a:rPr lang="en-GB" dirty="0">
                <a:solidFill>
                  <a:srgbClr val="CC7832"/>
                </a:solidFill>
              </a:rPr>
              <a:t>False</a:t>
            </a:r>
            <a:br>
              <a:rPr lang="en-GB" dirty="0">
                <a:solidFill>
                  <a:srgbClr val="CC7832"/>
                </a:solidFill>
              </a:rPr>
            </a:br>
            <a:br>
              <a:rPr lang="en-GB" dirty="0">
                <a:solidFill>
                  <a:srgbClr val="CC7832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waar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</a:t>
            </a:r>
            <a:r>
              <a:rPr lang="en-GB" dirty="0" err="1"/>
              <a:t>waar</a:t>
            </a:r>
            <a:r>
              <a:rPr lang="en-GB" dirty="0"/>
              <a:t>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FC0FB-0A03-4245-9A38-F8D136497B4C}"/>
              </a:ext>
            </a:extLst>
          </p:cNvPr>
          <p:cNvSpPr/>
          <p:nvPr/>
        </p:nvSpPr>
        <p:spPr>
          <a:xfrm>
            <a:off x="5778867" y="3798332"/>
            <a:ext cx="2652252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True</a:t>
            </a:r>
          </a:p>
          <a:p>
            <a:r>
              <a:rPr lang="en-BE" dirty="0"/>
              <a:t>&lt;class 'bool'&gt;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D4FC3-C850-7F44-8900-0A0E4352512C}"/>
              </a:ext>
            </a:extLst>
          </p:cNvPr>
          <p:cNvSpPr txBox="1"/>
          <p:nvPr/>
        </p:nvSpPr>
        <p:spPr>
          <a:xfrm>
            <a:off x="2856186" y="344213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C4D83-43A1-7049-B7EF-1DC6E0750633}"/>
              </a:ext>
            </a:extLst>
          </p:cNvPr>
          <p:cNvSpPr txBox="1"/>
          <p:nvPr/>
        </p:nvSpPr>
        <p:spPr>
          <a:xfrm>
            <a:off x="5778867" y="342900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0557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C760D-9AB6-AE49-90C0-37CD6560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Sequentie van tekens/characters</a:t>
            </a:r>
          </a:p>
          <a:p>
            <a:r>
              <a:rPr lang="en-BE" dirty="0"/>
              <a:t>Sterke overeenkomsten met lijsten (zie later) – beiden zijn itereerbare types:</a:t>
            </a:r>
          </a:p>
          <a:p>
            <a:pPr lvl="1"/>
            <a:r>
              <a:rPr lang="en-BE" sz="2000" dirty="0"/>
              <a:t>Makkelijk te gebruiken/manipuleren </a:t>
            </a:r>
            <a:r>
              <a:rPr lang="en-US" sz="2000" dirty="0" err="1"/>
              <a:t>vanwege</a:t>
            </a:r>
            <a:r>
              <a:rPr lang="en-US" sz="2000" dirty="0"/>
              <a:t> het </a:t>
            </a:r>
            <a:r>
              <a:rPr lang="en-US" sz="2000" dirty="0" err="1"/>
              <a:t>gebruik</a:t>
            </a:r>
            <a:r>
              <a:rPr lang="en-US" sz="2000" dirty="0"/>
              <a:t> van </a:t>
            </a:r>
            <a:r>
              <a:rPr lang="en-BE" sz="2000" dirty="0"/>
              <a:t>indices</a:t>
            </a:r>
            <a:endParaRPr lang="en-US" sz="2000" dirty="0"/>
          </a:p>
          <a:p>
            <a:pPr lvl="1"/>
            <a:r>
              <a:rPr lang="en-US" sz="2000" b="1" dirty="0"/>
              <a:t>Let </a:t>
            </a:r>
            <a:r>
              <a:rPr lang="en-US" sz="2000" b="1" dirty="0" err="1"/>
              <a:t>wel</a:t>
            </a:r>
            <a:r>
              <a:rPr lang="en-US" sz="2000" b="1" dirty="0"/>
              <a:t>: </a:t>
            </a:r>
            <a:r>
              <a:rPr lang="en-US" sz="2000" dirty="0"/>
              <a:t>strings </a:t>
            </a:r>
            <a:r>
              <a:rPr lang="en-US" sz="2000" dirty="0" err="1"/>
              <a:t>kunnen</a:t>
            </a:r>
            <a:r>
              <a:rPr lang="en-US" sz="2000" dirty="0"/>
              <a:t> </a:t>
            </a:r>
            <a:r>
              <a:rPr lang="en-US" sz="2000" dirty="0" err="1"/>
              <a:t>niet</a:t>
            </a:r>
            <a:r>
              <a:rPr lang="en-US" sz="2000" dirty="0"/>
              <a:t> </a:t>
            </a:r>
            <a:r>
              <a:rPr lang="en-US" sz="2000" dirty="0" err="1"/>
              <a:t>veranderen</a:t>
            </a:r>
            <a:r>
              <a:rPr lang="en-US" sz="2000" dirty="0"/>
              <a:t> </a:t>
            </a:r>
            <a:r>
              <a:rPr lang="en-US" sz="2000" dirty="0" err="1"/>
              <a:t>zoals</a:t>
            </a:r>
            <a:r>
              <a:rPr lang="en-US" sz="2000" dirty="0"/>
              <a:t> </a:t>
            </a:r>
            <a:r>
              <a:rPr lang="en-US" sz="2000" dirty="0" err="1"/>
              <a:t>lijsten</a:t>
            </a:r>
            <a:endParaRPr lang="en-BE" sz="2000" dirty="0"/>
          </a:p>
          <a:p>
            <a:r>
              <a:rPr lang="en-BE" dirty="0"/>
              <a:t>Kunnen aangemaakt worden met zowel enkele als dubbele aanhalingstekens (‘ en “ maar niet door elkaar):</a:t>
            </a:r>
          </a:p>
          <a:p>
            <a:pPr lvl="1"/>
            <a:r>
              <a:rPr lang="en-BE" sz="2000" dirty="0"/>
              <a:t>‘Escape characters’ zoals ‘\’ nodig om haakjes tussen de aanhalingstekens te gebruiken:</a:t>
            </a:r>
          </a:p>
          <a:p>
            <a:pPr lvl="1"/>
            <a:endParaRPr lang="en-BE" dirty="0"/>
          </a:p>
          <a:p>
            <a:endParaRPr lang="en-BE" dirty="0"/>
          </a:p>
          <a:p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880E5-EF02-A44E-81FB-AC0F7DD8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EF835-F510-0644-804D-B6CDEAC0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Strings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A590F-EE25-7841-A1C1-77EF102883B7}"/>
              </a:ext>
            </a:extLst>
          </p:cNvPr>
          <p:cNvSpPr/>
          <p:nvPr/>
        </p:nvSpPr>
        <p:spPr>
          <a:xfrm>
            <a:off x="693683" y="5398702"/>
            <a:ext cx="6127337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/>
              <a:t>kleine_zin</a:t>
            </a:r>
            <a:r>
              <a:rPr lang="en-GB" dirty="0"/>
              <a:t>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Ik</a:t>
            </a:r>
            <a:r>
              <a:rPr lang="en-GB" dirty="0">
                <a:solidFill>
                  <a:srgbClr val="6A8759"/>
                </a:solidFill>
              </a:rPr>
              <a:t> ben </a:t>
            </a:r>
            <a:r>
              <a:rPr lang="en-GB" dirty="0" err="1">
                <a:solidFill>
                  <a:srgbClr val="6A8759"/>
                </a:solidFill>
              </a:rPr>
              <a:t>daarstraks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>
                <a:solidFill>
                  <a:srgbClr val="CC7832"/>
                </a:solidFill>
              </a:rPr>
              <a:t>\'</a:t>
            </a:r>
            <a:r>
              <a:rPr lang="en-GB" dirty="0" err="1">
                <a:solidFill>
                  <a:srgbClr val="6A8759"/>
                </a:solidFill>
              </a:rPr>
              <a:t>naar</a:t>
            </a:r>
            <a:r>
              <a:rPr lang="en-GB" dirty="0">
                <a:solidFill>
                  <a:srgbClr val="6A8759"/>
                </a:solidFill>
              </a:rPr>
              <a:t> de les </a:t>
            </a:r>
            <a:r>
              <a:rPr lang="en-GB" dirty="0" err="1">
                <a:solidFill>
                  <a:srgbClr val="6A8759"/>
                </a:solidFill>
              </a:rPr>
              <a:t>geweest</a:t>
            </a:r>
            <a:r>
              <a:rPr lang="en-GB" dirty="0">
                <a:solidFill>
                  <a:srgbClr val="CC7832"/>
                </a:solidFill>
              </a:rPr>
              <a:t>\'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kleine_zin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3C87B-8162-184F-AFFB-62621C4338E2}"/>
              </a:ext>
            </a:extLst>
          </p:cNvPr>
          <p:cNvSpPr/>
          <p:nvPr/>
        </p:nvSpPr>
        <p:spPr>
          <a:xfrm>
            <a:off x="7087993" y="5398701"/>
            <a:ext cx="4796180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Ik ben daarstraks 'naar de les geweest'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2A99C-3D08-B64B-8905-1D45D4C0F663}"/>
              </a:ext>
            </a:extLst>
          </p:cNvPr>
          <p:cNvSpPr txBox="1"/>
          <p:nvPr/>
        </p:nvSpPr>
        <p:spPr>
          <a:xfrm>
            <a:off x="693683" y="5045305"/>
            <a:ext cx="91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3DA1C-7DC8-FC47-BEE4-7F291A33B69E}"/>
              </a:ext>
            </a:extLst>
          </p:cNvPr>
          <p:cNvSpPr txBox="1"/>
          <p:nvPr/>
        </p:nvSpPr>
        <p:spPr>
          <a:xfrm>
            <a:off x="7087993" y="504530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43254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C760D-9AB6-AE49-90C0-37CD6560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80D5D09-96AD-CF4D-A7FB-AA945EC5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EF835-F510-0644-804D-B6CDEAC0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Strings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1964A9-4D36-8244-8111-CB8FFC672A8D}"/>
              </a:ext>
            </a:extLst>
          </p:cNvPr>
          <p:cNvSpPr/>
          <p:nvPr/>
        </p:nvSpPr>
        <p:spPr>
          <a:xfrm>
            <a:off x="838200" y="2655754"/>
            <a:ext cx="3891116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808080"/>
                </a:solidFill>
              </a:rPr>
              <a:t># strings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/>
              <a:t>ch1 = </a:t>
            </a:r>
            <a:r>
              <a:rPr lang="en-GB" dirty="0">
                <a:solidFill>
                  <a:srgbClr val="6A8759"/>
                </a:solidFill>
              </a:rPr>
              <a:t>'b'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ch2 = </a:t>
            </a:r>
            <a:r>
              <a:rPr lang="en-GB" dirty="0">
                <a:solidFill>
                  <a:srgbClr val="6A8759"/>
                </a:solidFill>
              </a:rPr>
              <a:t>"b"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str1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blabla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(ch1)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(ch2)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(str1)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(ch1))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(ch2))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(str1))</a:t>
            </a:r>
            <a:endParaRPr lang="en-B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AAC3CB-F2FA-F346-8C22-A6ACE1401AC8}"/>
              </a:ext>
            </a:extLst>
          </p:cNvPr>
          <p:cNvSpPr/>
          <p:nvPr/>
        </p:nvSpPr>
        <p:spPr>
          <a:xfrm>
            <a:off x="5437239" y="4040749"/>
            <a:ext cx="2320413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b</a:t>
            </a:r>
          </a:p>
          <a:p>
            <a:r>
              <a:rPr lang="en-BE" dirty="0"/>
              <a:t>b</a:t>
            </a:r>
          </a:p>
          <a:p>
            <a:r>
              <a:rPr lang="en-BE" dirty="0"/>
              <a:t>blabla</a:t>
            </a:r>
          </a:p>
          <a:p>
            <a:r>
              <a:rPr lang="en-BE" dirty="0"/>
              <a:t>&lt;class 'str'&gt;</a:t>
            </a:r>
          </a:p>
          <a:p>
            <a:r>
              <a:rPr lang="en-BE" dirty="0"/>
              <a:t>&lt;class 'str'&gt;</a:t>
            </a:r>
          </a:p>
          <a:p>
            <a:r>
              <a:rPr lang="en-BE" dirty="0"/>
              <a:t>&lt;class 'str'&gt;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21E70-B480-0142-8B2C-EFCDF602F08E}"/>
              </a:ext>
            </a:extLst>
          </p:cNvPr>
          <p:cNvSpPr txBox="1"/>
          <p:nvPr/>
        </p:nvSpPr>
        <p:spPr>
          <a:xfrm>
            <a:off x="838200" y="228642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58A11-DFCE-F241-8EA3-991B571599BA}"/>
              </a:ext>
            </a:extLst>
          </p:cNvPr>
          <p:cNvSpPr txBox="1"/>
          <p:nvPr/>
        </p:nvSpPr>
        <p:spPr>
          <a:xfrm>
            <a:off x="5437239" y="365886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29BE1-53AB-A443-AFEB-829580AEDDD3}"/>
              </a:ext>
            </a:extLst>
          </p:cNvPr>
          <p:cNvSpPr txBox="1"/>
          <p:nvPr/>
        </p:nvSpPr>
        <p:spPr>
          <a:xfrm>
            <a:off x="6096001" y="2471088"/>
            <a:ext cx="578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Er is geen onderscheid in type tussen enkele karakters/tekens en strings (&lt;&gt; Java, C++, etc.)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0C3CC2-A20C-B94E-AB9D-F30B66F028C8}"/>
              </a:ext>
            </a:extLst>
          </p:cNvPr>
          <p:cNvCxnSpPr>
            <a:cxnSpLocks/>
          </p:cNvCxnSpPr>
          <p:nvPr/>
        </p:nvCxnSpPr>
        <p:spPr>
          <a:xfrm flipV="1">
            <a:off x="2638097" y="2808154"/>
            <a:ext cx="3410962" cy="26467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49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65990-E9B3-6846-9C86-CFF5C4628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Er bestaan verschillende operatoren in Python om bewerkingen uit te voeren zoals +,-,/,*,**, etc.</a:t>
            </a:r>
          </a:p>
          <a:p>
            <a:pPr lvl="1"/>
            <a:r>
              <a:rPr lang="en-BE" sz="2000" dirty="0"/>
              <a:t>We gaan deze later nog bespreken</a:t>
            </a:r>
          </a:p>
          <a:p>
            <a:r>
              <a:rPr lang="en-BE" dirty="0"/>
              <a:t>Weet nu: strings kunnen aan elkaar geplakt (geconcateneerd) worden met ‘+’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C1DDB-CB4F-DD47-90E4-52F2800CA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A9BB0-3CB5-CA4D-A463-927DB26F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Concatenatie van strings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C2F8D-FB52-5042-BE9B-E444567F9BC6}"/>
              </a:ext>
            </a:extLst>
          </p:cNvPr>
          <p:cNvSpPr txBox="1"/>
          <p:nvPr/>
        </p:nvSpPr>
        <p:spPr>
          <a:xfrm>
            <a:off x="2659117" y="376278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17508-6223-2848-BA56-3555291D91C9}"/>
              </a:ext>
            </a:extLst>
          </p:cNvPr>
          <p:cNvSpPr txBox="1"/>
          <p:nvPr/>
        </p:nvSpPr>
        <p:spPr>
          <a:xfrm>
            <a:off x="6813394" y="376278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BB49B9-2E88-934E-8E8E-7C1F3E328073}"/>
              </a:ext>
            </a:extLst>
          </p:cNvPr>
          <p:cNvSpPr/>
          <p:nvPr/>
        </p:nvSpPr>
        <p:spPr>
          <a:xfrm>
            <a:off x="2645917" y="4132120"/>
            <a:ext cx="4167477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string1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eerste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string2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tweede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 err="1"/>
              <a:t>concatenatie</a:t>
            </a:r>
            <a:r>
              <a:rPr lang="en-GB" dirty="0"/>
              <a:t> = string1 + </a:t>
            </a:r>
            <a:r>
              <a:rPr lang="en-GB" dirty="0">
                <a:solidFill>
                  <a:srgbClr val="6A8759"/>
                </a:solidFill>
              </a:rPr>
              <a:t>' ' </a:t>
            </a:r>
            <a:r>
              <a:rPr lang="en-GB" dirty="0"/>
              <a:t>+ string2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concatenatie</a:t>
            </a:r>
            <a:r>
              <a:rPr lang="en-GB" dirty="0"/>
              <a:t>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string1 </a:t>
            </a:r>
            <a:r>
              <a:rPr lang="en-GB" dirty="0">
                <a:solidFill>
                  <a:srgbClr val="FF0000"/>
                </a:solidFill>
              </a:rPr>
              <a:t>+=</a:t>
            </a:r>
            <a:r>
              <a:rPr lang="en-GB" dirty="0"/>
              <a:t> </a:t>
            </a:r>
            <a:r>
              <a:rPr lang="en-GB" dirty="0">
                <a:solidFill>
                  <a:srgbClr val="6A8759"/>
                </a:solidFill>
              </a:rPr>
              <a:t>' </a:t>
            </a:r>
            <a:r>
              <a:rPr lang="en-GB" dirty="0" err="1">
                <a:solidFill>
                  <a:srgbClr val="6A8759"/>
                </a:solidFill>
              </a:rPr>
              <a:t>en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nog</a:t>
            </a:r>
            <a:r>
              <a:rPr lang="en-GB" dirty="0">
                <a:solidFill>
                  <a:srgbClr val="6A8759"/>
                </a:solidFill>
              </a:rPr>
              <a:t> wat </a:t>
            </a:r>
            <a:r>
              <a:rPr lang="en-GB" dirty="0" err="1">
                <a:solidFill>
                  <a:srgbClr val="6A8759"/>
                </a:solidFill>
              </a:rPr>
              <a:t>erachter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(string1)</a:t>
            </a:r>
            <a:endParaRPr lang="en-B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D33121-F7B5-B140-9AF9-23CC601C6A7E}"/>
              </a:ext>
            </a:extLst>
          </p:cNvPr>
          <p:cNvSpPr/>
          <p:nvPr/>
        </p:nvSpPr>
        <p:spPr>
          <a:xfrm>
            <a:off x="6871639" y="4132120"/>
            <a:ext cx="3366345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eerste tweede</a:t>
            </a:r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eerste en nog wat erachter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1D1362-6937-DE44-BD20-FB182DF5D92D}"/>
              </a:ext>
            </a:extLst>
          </p:cNvPr>
          <p:cNvCxnSpPr>
            <a:cxnSpLocks/>
          </p:cNvCxnSpPr>
          <p:nvPr/>
        </p:nvCxnSpPr>
        <p:spPr>
          <a:xfrm flipH="1" flipV="1">
            <a:off x="1891862" y="5202621"/>
            <a:ext cx="1667536" cy="378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3A2117B-810A-0D46-990F-0B66DB7EB9C6}"/>
              </a:ext>
            </a:extLst>
          </p:cNvPr>
          <p:cNvSpPr txBox="1"/>
          <p:nvPr/>
        </p:nvSpPr>
        <p:spPr>
          <a:xfrm>
            <a:off x="431280" y="4463957"/>
            <a:ext cx="16675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>
                <a:solidFill>
                  <a:srgbClr val="FF0000"/>
                </a:solidFill>
              </a:rPr>
              <a:t>+=</a:t>
            </a:r>
            <a:r>
              <a:rPr lang="en-BE" sz="1600" dirty="0"/>
              <a:t> combineert concateneren met toewijzen (werkt ook bij getallen)</a:t>
            </a:r>
          </a:p>
        </p:txBody>
      </p:sp>
    </p:spTree>
    <p:extLst>
      <p:ext uri="{BB962C8B-B14F-4D97-AF65-F5344CB8AC3E}">
        <p14:creationId xmlns:p14="http://schemas.microsoft.com/office/powerpoint/2010/main" val="425719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6326-0660-8448-83C9-66E6A4E1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</a:t>
            </a:r>
            <a:r>
              <a:rPr lang="en-BE" dirty="0"/>
              <a:t>\n</a:t>
            </a:r>
            <a:r>
              <a:rPr lang="en-US" dirty="0"/>
              <a:t>’</a:t>
            </a:r>
            <a:r>
              <a:rPr lang="en-BE" dirty="0"/>
              <a:t> zorgt voor een nieuwe lijn</a:t>
            </a:r>
          </a:p>
          <a:p>
            <a:r>
              <a:rPr lang="en-US" dirty="0"/>
              <a:t>‘</a:t>
            </a:r>
            <a:r>
              <a:rPr lang="en-BE" dirty="0"/>
              <a:t>\t</a:t>
            </a:r>
            <a:r>
              <a:rPr lang="en-US" dirty="0"/>
              <a:t>’</a:t>
            </a:r>
            <a:r>
              <a:rPr lang="en-BE" dirty="0"/>
              <a:t> voegt een tab in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85088F-1A27-9D4B-9A8E-B71D95C5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ECED-447A-C245-8FB9-D25CB0F5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Nuttige tekens in strings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6ABC8-5BAD-6648-9CDF-7FEB72A1EF9C}"/>
              </a:ext>
            </a:extLst>
          </p:cNvPr>
          <p:cNvSpPr/>
          <p:nvPr/>
        </p:nvSpPr>
        <p:spPr>
          <a:xfrm>
            <a:off x="838199" y="3429000"/>
            <a:ext cx="911509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/>
              <a:t>zin_over_meerdere_lijnen</a:t>
            </a:r>
            <a:r>
              <a:rPr lang="en-GB" dirty="0"/>
              <a:t>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Ik</a:t>
            </a:r>
            <a:r>
              <a:rPr lang="en-GB" dirty="0">
                <a:solidFill>
                  <a:srgbClr val="6A8759"/>
                </a:solidFill>
              </a:rPr>
              <a:t> ben </a:t>
            </a:r>
            <a:r>
              <a:rPr lang="en-GB" dirty="0" err="1">
                <a:solidFill>
                  <a:srgbClr val="6A8759"/>
                </a:solidFill>
              </a:rPr>
              <a:t>daarstraks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gaan</a:t>
            </a:r>
            <a:r>
              <a:rPr lang="en-GB" dirty="0">
                <a:solidFill>
                  <a:srgbClr val="6A8759"/>
                </a:solidFill>
              </a:rPr>
              <a:t>:</a:t>
            </a:r>
            <a:r>
              <a:rPr lang="en-GB" dirty="0">
                <a:solidFill>
                  <a:srgbClr val="CC7832"/>
                </a:solidFill>
              </a:rPr>
              <a:t>\n\</a:t>
            </a:r>
            <a:r>
              <a:rPr lang="en-GB" dirty="0" err="1">
                <a:solidFill>
                  <a:srgbClr val="CC7832"/>
                </a:solidFill>
              </a:rPr>
              <a:t>t</a:t>
            </a:r>
            <a:r>
              <a:rPr lang="en-GB" dirty="0" err="1">
                <a:solidFill>
                  <a:srgbClr val="6A8759"/>
                </a:solidFill>
              </a:rPr>
              <a:t>fietsen</a:t>
            </a:r>
            <a:r>
              <a:rPr lang="en-GB" dirty="0">
                <a:solidFill>
                  <a:srgbClr val="CC7832"/>
                </a:solidFill>
              </a:rPr>
              <a:t>\n\</a:t>
            </a:r>
            <a:r>
              <a:rPr lang="en-GB" dirty="0" err="1">
                <a:solidFill>
                  <a:srgbClr val="CC7832"/>
                </a:solidFill>
              </a:rPr>
              <a:t>t</a:t>
            </a:r>
            <a:r>
              <a:rPr lang="en-GB" dirty="0" err="1">
                <a:solidFill>
                  <a:srgbClr val="6A8759"/>
                </a:solidFill>
              </a:rPr>
              <a:t>zwemmen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zin_over_meerdere_lijnen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E31B35-885D-B747-8AB4-C7E66706F089}"/>
              </a:ext>
            </a:extLst>
          </p:cNvPr>
          <p:cNvSpPr/>
          <p:nvPr/>
        </p:nvSpPr>
        <p:spPr>
          <a:xfrm>
            <a:off x="838198" y="4471670"/>
            <a:ext cx="911509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Ik ben daarstraks gaan:</a:t>
            </a:r>
          </a:p>
          <a:p>
            <a:r>
              <a:rPr lang="en-BE" dirty="0"/>
              <a:t>	fietsen</a:t>
            </a:r>
          </a:p>
          <a:p>
            <a:r>
              <a:rPr lang="en-BE" dirty="0"/>
              <a:t>	zwemmen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62428-9A4F-2849-AA21-EDA2A297F9D8}"/>
              </a:ext>
            </a:extLst>
          </p:cNvPr>
          <p:cNvSpPr txBox="1"/>
          <p:nvPr/>
        </p:nvSpPr>
        <p:spPr>
          <a:xfrm>
            <a:off x="838198" y="305966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82F04-095A-7243-937F-77501BF8DCBB}"/>
              </a:ext>
            </a:extLst>
          </p:cNvPr>
          <p:cNvSpPr txBox="1"/>
          <p:nvPr/>
        </p:nvSpPr>
        <p:spPr>
          <a:xfrm>
            <a:off x="838198" y="411048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174566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A12024-C14D-FA49-B3CF-DD6173248681}"/>
              </a:ext>
            </a:extLst>
          </p:cNvPr>
          <p:cNvSpPr/>
          <p:nvPr/>
        </p:nvSpPr>
        <p:spPr>
          <a:xfrm>
            <a:off x="867696" y="3888303"/>
            <a:ext cx="1402537" cy="3539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736600-0223-E64B-8AB5-724C421296AF}"/>
              </a:ext>
            </a:extLst>
          </p:cNvPr>
          <p:cNvSpPr/>
          <p:nvPr/>
        </p:nvSpPr>
        <p:spPr>
          <a:xfrm>
            <a:off x="857863" y="5269004"/>
            <a:ext cx="1402537" cy="35396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D591-CADB-4041-9AF5-A6346917A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Ingebouwde functies (</a:t>
            </a:r>
            <a:r>
              <a:rPr lang="en-US" dirty="0" err="1"/>
              <a:t>eigenlijk</a:t>
            </a:r>
            <a:r>
              <a:rPr lang="en-US" dirty="0"/>
              <a:t> constructors,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BE" dirty="0"/>
              <a:t>zien we later nog uitgebreid) die het toelaten om types om te zetten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BE3A29-459E-CF49-BE5F-6562AF87C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15C4C-0135-AE4B-9E64-36A448BF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Conversies tussen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E9806-7929-8744-A104-57E83C847322}"/>
              </a:ext>
            </a:extLst>
          </p:cNvPr>
          <p:cNvSpPr/>
          <p:nvPr/>
        </p:nvSpPr>
        <p:spPr>
          <a:xfrm>
            <a:off x="838200" y="3314641"/>
            <a:ext cx="4122683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'True'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(a))</a:t>
            </a:r>
            <a:br>
              <a:rPr lang="en-GB" dirty="0"/>
            </a:br>
            <a:r>
              <a:rPr lang="en-GB" dirty="0"/>
              <a:t>a2 = </a:t>
            </a:r>
            <a:r>
              <a:rPr lang="en-GB" dirty="0">
                <a:solidFill>
                  <a:srgbClr val="8888C6"/>
                </a:solidFill>
              </a:rPr>
              <a:t>bool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'a2:'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(a2))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'5'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(a))</a:t>
            </a:r>
            <a:br>
              <a:rPr lang="en-GB" dirty="0"/>
            </a:br>
            <a:r>
              <a:rPr lang="en-GB" dirty="0"/>
              <a:t>a2 = </a:t>
            </a:r>
            <a:r>
              <a:rPr lang="en-GB" dirty="0">
                <a:solidFill>
                  <a:srgbClr val="8888C6"/>
                </a:solidFill>
              </a:rPr>
              <a:t>int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'a2:'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(a2))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'a:'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a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'a2:'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8888C6"/>
                </a:solidFill>
              </a:rPr>
              <a:t>str</a:t>
            </a:r>
            <a:r>
              <a:rPr lang="en-GB" dirty="0"/>
              <a:t>(a2))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2FFED-FEE3-A248-A8B7-86EC2E7D1AC0}"/>
              </a:ext>
            </a:extLst>
          </p:cNvPr>
          <p:cNvSpPr/>
          <p:nvPr/>
        </p:nvSpPr>
        <p:spPr>
          <a:xfrm>
            <a:off x="5131569" y="3302678"/>
            <a:ext cx="2356055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a: &lt;class 'str’&gt;</a:t>
            </a:r>
          </a:p>
          <a:p>
            <a:endParaRPr lang="en-BE" dirty="0"/>
          </a:p>
          <a:p>
            <a:r>
              <a:rPr lang="en-BE" dirty="0"/>
              <a:t>a2: &lt;class 'bool’&gt;</a:t>
            </a:r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a: &lt;class 'str’&gt;</a:t>
            </a:r>
          </a:p>
          <a:p>
            <a:endParaRPr lang="en-BE" dirty="0"/>
          </a:p>
          <a:p>
            <a:r>
              <a:rPr lang="en-BE" dirty="0"/>
              <a:t>a2: &lt;class 'int'&gt;</a:t>
            </a:r>
          </a:p>
          <a:p>
            <a:r>
              <a:rPr lang="en-BE" dirty="0"/>
              <a:t>a: 5 a2: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6A707-8DE3-3B4B-8906-27819D54F7C4}"/>
              </a:ext>
            </a:extLst>
          </p:cNvPr>
          <p:cNvSpPr txBox="1"/>
          <p:nvPr/>
        </p:nvSpPr>
        <p:spPr>
          <a:xfrm>
            <a:off x="838200" y="2945309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09369-451D-DA47-B8EF-3FEC96CCED97}"/>
              </a:ext>
            </a:extLst>
          </p:cNvPr>
          <p:cNvSpPr txBox="1"/>
          <p:nvPr/>
        </p:nvSpPr>
        <p:spPr>
          <a:xfrm>
            <a:off x="5131569" y="294530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51505-342E-0440-A21C-F249BA50B0D2}"/>
              </a:ext>
            </a:extLst>
          </p:cNvPr>
          <p:cNvSpPr txBox="1"/>
          <p:nvPr/>
        </p:nvSpPr>
        <p:spPr>
          <a:xfrm>
            <a:off x="7619009" y="3314641"/>
            <a:ext cx="4168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!Let op! Je kan natuurlijk niet zomaar ‘five’ omzetten naar een integer of ‘waar’ naar ‘True’</a:t>
            </a:r>
            <a:endParaRPr lang="en-US" dirty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bool()</a:t>
            </a:r>
            <a:r>
              <a:rPr lang="en-US" dirty="0"/>
              <a:t> test </a:t>
            </a:r>
            <a:r>
              <a:rPr lang="en-US" dirty="0" err="1"/>
              <a:t>enkel</a:t>
            </a:r>
            <a:r>
              <a:rPr lang="en-US" dirty="0"/>
              <a:t> of het object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heeft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55207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4FA93E-6D5E-D22A-7A6F-0220B4804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a = 7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b = 2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cs typeface="Consolas"/>
              </a:rPr>
              <a:t>print(type(a / b), type(a // b))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2000" dirty="0">
              <a:latin typeface="Consolas"/>
              <a:cs typeface="Consolas"/>
            </a:endParaRP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print(0.1 + 0.2)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print(0.1 + 0.2 == 0.3)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2000" dirty="0">
              <a:latin typeface="Consolas"/>
              <a:cs typeface="Consolas"/>
            </a:endParaRP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s = "Leuven"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print(s[0], s[-1], </a:t>
            </a:r>
            <a:r>
              <a:rPr lang="nl-NL" sz="2000" dirty="0" err="1">
                <a:latin typeface="Consolas"/>
                <a:cs typeface="Consolas"/>
              </a:rPr>
              <a:t>len</a:t>
            </a:r>
            <a:r>
              <a:rPr lang="nl-NL" sz="2000" dirty="0">
                <a:latin typeface="Consolas"/>
                <a:cs typeface="Consolas"/>
              </a:rPr>
              <a:t>(s))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print("a\tb\</a:t>
            </a:r>
            <a:r>
              <a:rPr lang="nl-NL" sz="2000" dirty="0" err="1">
                <a:latin typeface="Consolas"/>
                <a:cs typeface="Consolas"/>
              </a:rPr>
              <a:t>nc</a:t>
            </a:r>
            <a:r>
              <a:rPr lang="nl-NL" sz="2000" dirty="0">
                <a:latin typeface="Consolas"/>
                <a:cs typeface="Consolas"/>
              </a:rPr>
              <a:t>")</a:t>
            </a:r>
          </a:p>
          <a:p>
            <a: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4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 (zie notebook)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63FAA5-6761-2848-57CF-474FA206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8AE1C7-87A0-2838-6749-FEA065D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Oefeningen 1.1: voorspel de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E9C42-471B-8D40-B501-80B9F917C3E1}"/>
              </a:ext>
            </a:extLst>
          </p:cNvPr>
          <p:cNvSpPr txBox="1"/>
          <p:nvPr/>
        </p:nvSpPr>
        <p:spPr>
          <a:xfrm>
            <a:off x="6408421" y="1256548"/>
            <a:ext cx="5452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 err="1"/>
              <a:t>Opzet</a:t>
            </a:r>
            <a:r>
              <a:rPr lang="en-US" dirty="0"/>
              <a:t> van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oefeningen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/>
              <a:t>Ze </a:t>
            </a:r>
            <a:r>
              <a:rPr lang="en-US" dirty="0" err="1"/>
              <a:t>zijn</a:t>
            </a:r>
            <a:r>
              <a:rPr lang="en-US" dirty="0"/>
              <a:t> heel </a:t>
            </a:r>
            <a:r>
              <a:rPr lang="en-US" dirty="0" err="1"/>
              <a:t>kort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Helpen</a:t>
            </a:r>
            <a:r>
              <a:rPr lang="en-US" dirty="0"/>
              <a:t> om de syntax in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oefenen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reproduceren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eerst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wat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uit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slides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Daarna</a:t>
            </a:r>
            <a:r>
              <a:rPr lang="en-US" dirty="0"/>
              <a:t> </a:t>
            </a:r>
            <a:r>
              <a:rPr lang="en-US" dirty="0" err="1"/>
              <a:t>verbeteren</a:t>
            </a:r>
            <a:r>
              <a:rPr lang="en-US" dirty="0"/>
              <a:t> we de code in de notebook </a:t>
            </a:r>
            <a:r>
              <a:rPr lang="en-US" dirty="0" err="1"/>
              <a:t>zodat</a:t>
            </a:r>
            <a:r>
              <a:rPr lang="en-US" dirty="0"/>
              <a:t> de asserts </a:t>
            </a:r>
            <a:r>
              <a:rPr lang="en-US" dirty="0" err="1"/>
              <a:t>uitkomen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>
                <a:solidFill>
                  <a:srgbClr val="00B050"/>
                </a:solidFill>
              </a:rPr>
              <a:t>Deze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kan</a:t>
            </a:r>
            <a:r>
              <a:rPr lang="en-US" dirty="0">
                <a:solidFill>
                  <a:srgbClr val="00B050"/>
                </a:solidFill>
              </a:rPr>
              <a:t> je </a:t>
            </a:r>
            <a:r>
              <a:rPr lang="en-US" dirty="0" err="1">
                <a:solidFill>
                  <a:srgbClr val="00B050"/>
                </a:solidFill>
              </a:rPr>
              <a:t>vinden</a:t>
            </a:r>
            <a:r>
              <a:rPr lang="en-US" dirty="0">
                <a:solidFill>
                  <a:srgbClr val="00B050"/>
                </a:solidFill>
              </a:rPr>
              <a:t> in de (online) cursus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FB0B058-3BB8-9764-E653-3F093A03AB6F}"/>
              </a:ext>
            </a:extLst>
          </p:cNvPr>
          <p:cNvSpPr/>
          <p:nvPr/>
        </p:nvSpPr>
        <p:spPr>
          <a:xfrm>
            <a:off x="5486400" y="1656000"/>
            <a:ext cx="137160" cy="3243546"/>
          </a:xfrm>
          <a:prstGeom prst="rightBrac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351A24-4B32-BF4C-AFF3-7CE5BE20111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783580" y="2408548"/>
            <a:ext cx="624841" cy="216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C90425-CF63-0722-6347-C7A9B6393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86" y="3717742"/>
            <a:ext cx="2549467" cy="240225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D48DDF-1748-D9FE-820A-D8E55E414502}"/>
              </a:ext>
            </a:extLst>
          </p:cNvPr>
          <p:cNvCxnSpPr>
            <a:cxnSpLocks/>
          </p:cNvCxnSpPr>
          <p:nvPr/>
        </p:nvCxnSpPr>
        <p:spPr>
          <a:xfrm flipV="1">
            <a:off x="8451343" y="3668267"/>
            <a:ext cx="527030" cy="153373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73F746D-0453-F01F-0947-6097E717AA9A}"/>
              </a:ext>
            </a:extLst>
          </p:cNvPr>
          <p:cNvSpPr/>
          <p:nvPr/>
        </p:nvSpPr>
        <p:spPr>
          <a:xfrm>
            <a:off x="6014194" y="5216103"/>
            <a:ext cx="2659380" cy="5343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957F6-4D35-15DF-E8B7-55C0BC84ACB0}"/>
              </a:ext>
            </a:extLst>
          </p:cNvPr>
          <p:cNvSpPr txBox="1"/>
          <p:nvPr/>
        </p:nvSpPr>
        <p:spPr>
          <a:xfrm>
            <a:off x="1259450" y="6331029"/>
            <a:ext cx="7965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https://johannesdesmedt.github.io/softwareontwerp_en_programmeren/</a:t>
            </a:r>
          </a:p>
        </p:txBody>
      </p:sp>
    </p:spTree>
    <p:extLst>
      <p:ext uri="{BB962C8B-B14F-4D97-AF65-F5344CB8AC3E}">
        <p14:creationId xmlns:p14="http://schemas.microsoft.com/office/powerpoint/2010/main" val="3285508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074F9-BD1D-D743-8CCA-894FB656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2. Variabelen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9EA386-763A-B34B-BD5D-A9027AA9A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.2-variabelen.ipynb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C266B-CBE8-5F48-8C15-06219221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</a:t>
            </a:fld>
            <a:endParaRPr lang="en-BE"/>
          </a:p>
        </p:txBody>
      </p:sp>
      <p:pic>
        <p:nvPicPr>
          <p:cNvPr id="1026" name="Picture 2" descr="Type stronk | java-memes, python-memes, variables-memes, c++-memes | ProgrammerHumor.io">
            <a:extLst>
              <a:ext uri="{FF2B5EF4-FFF2-40B4-BE49-F238E27FC236}">
                <a16:creationId xmlns:a16="http://schemas.microsoft.com/office/drawing/2014/main" id="{D2CAD92D-A6C7-DE47-3CA4-4DDAA48F3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92234"/>
            <a:ext cx="5512670" cy="424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B5F99C-1475-A913-3B67-1EF42E9B1626}"/>
              </a:ext>
            </a:extLst>
          </p:cNvPr>
          <p:cNvSpPr txBox="1"/>
          <p:nvPr/>
        </p:nvSpPr>
        <p:spPr>
          <a:xfrm>
            <a:off x="1063335" y="6488668"/>
            <a:ext cx="69480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 err="1">
                <a:solidFill>
                  <a:schemeClr val="bg1"/>
                </a:solidFill>
              </a:rPr>
              <a:t>https</a:t>
            </a:r>
            <a:r>
              <a:rPr lang="nl-NL" sz="1400" dirty="0">
                <a:solidFill>
                  <a:schemeClr val="bg1"/>
                </a:solidFill>
              </a:rPr>
              <a:t>://</a:t>
            </a:r>
            <a:r>
              <a:rPr lang="nl-NL" sz="1400" dirty="0" err="1">
                <a:solidFill>
                  <a:schemeClr val="bg1"/>
                </a:solidFill>
              </a:rPr>
              <a:t>programmerhumor.io</a:t>
            </a:r>
            <a:r>
              <a:rPr lang="nl-NL" sz="1400" dirty="0">
                <a:solidFill>
                  <a:schemeClr val="bg1"/>
                </a:solidFill>
              </a:rPr>
              <a:t>/</a:t>
            </a:r>
            <a:r>
              <a:rPr lang="nl-NL" sz="1400" dirty="0" err="1">
                <a:solidFill>
                  <a:schemeClr val="bg1"/>
                </a:solidFill>
              </a:rPr>
              <a:t>programming-memes</a:t>
            </a:r>
            <a:r>
              <a:rPr lang="nl-NL" sz="1400" dirty="0">
                <a:solidFill>
                  <a:schemeClr val="bg1"/>
                </a:solidFill>
              </a:rPr>
              <a:t>/type-stronk/</a:t>
            </a:r>
          </a:p>
        </p:txBody>
      </p:sp>
    </p:spTree>
    <p:extLst>
      <p:ext uri="{BB962C8B-B14F-4D97-AF65-F5344CB8AC3E}">
        <p14:creationId xmlns:p14="http://schemas.microsoft.com/office/powerpoint/2010/main" val="2192594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6326-0660-8448-83C9-66E6A4E1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Zoals in de vorige slides gebruikt, dient het ‘=</a:t>
            </a:r>
            <a:r>
              <a:rPr lang="en-US" dirty="0"/>
              <a:t>‘</a:t>
            </a:r>
            <a:r>
              <a:rPr lang="en-BE" dirty="0"/>
              <a:t> symbool om een variabele een waarde toe te wijzen van een bepaald type</a:t>
            </a:r>
          </a:p>
          <a:p>
            <a:r>
              <a:rPr lang="en-BE" dirty="0"/>
              <a:t>Wat gebeurt er bij de toewijzing?</a:t>
            </a:r>
          </a:p>
          <a:p>
            <a:pPr lvl="1"/>
            <a:r>
              <a:rPr lang="en-BE" sz="2000" dirty="0"/>
              <a:t>Er wordt een verwijzing gemaakt naar een (nieuw) object</a:t>
            </a:r>
          </a:p>
          <a:p>
            <a:pPr lvl="1"/>
            <a:r>
              <a:rPr lang="en-BE" sz="2000" dirty="0"/>
              <a:t>Bv. ‘a = 100’: een verwijzing wordt gemaakt naar (de geheugenplaats van) een nieuw object van het </a:t>
            </a:r>
            <a:r>
              <a:rPr lang="en-BE" sz="2000" i="1" dirty="0">
                <a:solidFill>
                  <a:schemeClr val="accent3">
                    <a:lumMod val="75000"/>
                  </a:schemeClr>
                </a:solidFill>
              </a:rPr>
              <a:t>type</a:t>
            </a:r>
            <a:r>
              <a:rPr lang="en-BE" sz="2000" dirty="0"/>
              <a:t> </a:t>
            </a:r>
            <a:r>
              <a:rPr lang="en-BE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BE" sz="2000" dirty="0"/>
              <a:t> met </a:t>
            </a:r>
            <a:r>
              <a:rPr lang="en-BE" sz="2000" i="1" dirty="0">
                <a:solidFill>
                  <a:schemeClr val="accent3">
                    <a:lumMod val="75000"/>
                  </a:schemeClr>
                </a:solidFill>
              </a:rPr>
              <a:t>waarde</a:t>
            </a:r>
            <a:r>
              <a:rPr lang="en-BE" sz="2000" i="1" dirty="0"/>
              <a:t> 100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E106E1B-6C29-B344-9D4C-99E834D0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ECED-447A-C245-8FB9-D25CB0F5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 aanmaken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3D575-FEE3-254E-91A3-547276C62505}"/>
              </a:ext>
            </a:extLst>
          </p:cNvPr>
          <p:cNvSpPr txBox="1"/>
          <p:nvPr/>
        </p:nvSpPr>
        <p:spPr>
          <a:xfrm>
            <a:off x="2831691" y="5126449"/>
            <a:ext cx="1329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‘a’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252D0-31BB-2B4B-95D1-6F6A9BC0D990}"/>
              </a:ext>
            </a:extLst>
          </p:cNvPr>
          <p:cNvSpPr txBox="1"/>
          <p:nvPr/>
        </p:nvSpPr>
        <p:spPr>
          <a:xfrm>
            <a:off x="5233824" y="4664784"/>
            <a:ext cx="803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BE" dirty="0"/>
              <a:t>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EE70F-DD39-E842-9C72-6E6017C7C726}"/>
              </a:ext>
            </a:extLst>
          </p:cNvPr>
          <p:cNvSpPr txBox="1"/>
          <p:nvPr/>
        </p:nvSpPr>
        <p:spPr>
          <a:xfrm>
            <a:off x="5233823" y="5034116"/>
            <a:ext cx="423599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Type: int</a:t>
            </a:r>
          </a:p>
          <a:p>
            <a:r>
              <a:rPr lang="en-GB" dirty="0" err="1"/>
              <a:t>Waarde</a:t>
            </a:r>
            <a:r>
              <a:rPr lang="en-GB" dirty="0"/>
              <a:t>: 100</a:t>
            </a:r>
          </a:p>
          <a:p>
            <a:r>
              <a:rPr lang="en-GB" dirty="0" err="1"/>
              <a:t>Adres</a:t>
            </a:r>
            <a:r>
              <a:rPr lang="en-GB" dirty="0"/>
              <a:t>: </a:t>
            </a:r>
            <a:r>
              <a:rPr lang="en-GB" dirty="0" err="1"/>
              <a:t>geheugenplaats</a:t>
            </a:r>
            <a:r>
              <a:rPr lang="en-GB" dirty="0"/>
              <a:t> 0x1003939392</a:t>
            </a:r>
            <a:endParaRPr lang="en-BE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483843-0B31-FC49-894D-9415094DA8C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161670" y="5311115"/>
            <a:ext cx="9904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295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6326-0660-8448-83C9-66E6A4E1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Er wordt een verwijzing gemaakt naar een object:</a:t>
            </a:r>
          </a:p>
          <a:p>
            <a:pPr lvl="1"/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 = b = 100</a:t>
            </a:r>
            <a:r>
              <a:rPr lang="en-BE" dirty="0"/>
              <a:t> : zowel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dirty="0"/>
              <a:t> als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BE" dirty="0"/>
              <a:t> verwijzen naar hetzelfde object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 = 200</a:t>
            </a:r>
            <a:r>
              <a:rPr lang="en-US" dirty="0"/>
              <a:t> :</a:t>
            </a:r>
            <a:r>
              <a:rPr lang="en-BE" dirty="0"/>
              <a:t> nieuwe verwijzing naar een nieuw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BE" dirty="0"/>
              <a:t> object</a:t>
            </a:r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  <a:p>
            <a:pPr lvl="1"/>
            <a:endParaRPr lang="en-BE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CAC547D-B0AD-BD46-9DA1-AC9057DC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1ECED-447A-C245-8FB9-D25CB0F5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 aanmaken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3D575-FEE3-254E-91A3-547276C62505}"/>
              </a:ext>
            </a:extLst>
          </p:cNvPr>
          <p:cNvSpPr txBox="1"/>
          <p:nvPr/>
        </p:nvSpPr>
        <p:spPr>
          <a:xfrm>
            <a:off x="3049322" y="5129120"/>
            <a:ext cx="1385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252D0-31BB-2B4B-95D1-6F6A9BC0D990}"/>
              </a:ext>
            </a:extLst>
          </p:cNvPr>
          <p:cNvSpPr txBox="1"/>
          <p:nvPr/>
        </p:nvSpPr>
        <p:spPr>
          <a:xfrm>
            <a:off x="5492315" y="4667455"/>
            <a:ext cx="803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BE" dirty="0"/>
              <a:t>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EE70F-DD39-E842-9C72-6E6017C7C726}"/>
              </a:ext>
            </a:extLst>
          </p:cNvPr>
          <p:cNvSpPr txBox="1"/>
          <p:nvPr/>
        </p:nvSpPr>
        <p:spPr>
          <a:xfrm>
            <a:off x="5492314" y="5036787"/>
            <a:ext cx="453455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Type: int</a:t>
            </a:r>
          </a:p>
          <a:p>
            <a:r>
              <a:rPr lang="en-GB" dirty="0" err="1"/>
              <a:t>Waarde</a:t>
            </a:r>
            <a:r>
              <a:rPr lang="en-GB" dirty="0"/>
              <a:t>: 200</a:t>
            </a:r>
          </a:p>
          <a:p>
            <a:r>
              <a:rPr lang="en-GB" dirty="0" err="1"/>
              <a:t>Adres</a:t>
            </a:r>
            <a:r>
              <a:rPr lang="en-GB" dirty="0"/>
              <a:t>: </a:t>
            </a:r>
            <a:r>
              <a:rPr lang="en-GB" dirty="0" err="1"/>
              <a:t>geheugenplaats</a:t>
            </a:r>
            <a:r>
              <a:rPr lang="en-GB" dirty="0"/>
              <a:t> 0x1004539398</a:t>
            </a:r>
            <a:endParaRPr lang="en-B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31599A-C813-774C-B986-A2B6AD447628}"/>
              </a:ext>
            </a:extLst>
          </p:cNvPr>
          <p:cNvCxnSpPr>
            <a:cxnSpLocks/>
          </p:cNvCxnSpPr>
          <p:nvPr/>
        </p:nvCxnSpPr>
        <p:spPr>
          <a:xfrm>
            <a:off x="4427690" y="5313786"/>
            <a:ext cx="9671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6BDDC3-55E3-AC40-B306-99184BB253D2}"/>
              </a:ext>
            </a:extLst>
          </p:cNvPr>
          <p:cNvSpPr txBox="1"/>
          <p:nvPr/>
        </p:nvSpPr>
        <p:spPr>
          <a:xfrm>
            <a:off x="3074435" y="3192940"/>
            <a:ext cx="134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B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F6B008-C7A1-A34D-912D-74905828EBD5}"/>
              </a:ext>
            </a:extLst>
          </p:cNvPr>
          <p:cNvSpPr txBox="1"/>
          <p:nvPr/>
        </p:nvSpPr>
        <p:spPr>
          <a:xfrm>
            <a:off x="5476568" y="2731275"/>
            <a:ext cx="8034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BE" dirty="0"/>
              <a:t>bject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BF8FB1-39A4-8142-8949-CAFF8B5C5BB3}"/>
              </a:ext>
            </a:extLst>
          </p:cNvPr>
          <p:cNvSpPr txBox="1"/>
          <p:nvPr/>
        </p:nvSpPr>
        <p:spPr>
          <a:xfrm>
            <a:off x="5476567" y="3100607"/>
            <a:ext cx="455030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Type: int</a:t>
            </a:r>
          </a:p>
          <a:p>
            <a:r>
              <a:rPr lang="en-GB" dirty="0" err="1"/>
              <a:t>Waarde</a:t>
            </a:r>
            <a:r>
              <a:rPr lang="en-GB" dirty="0"/>
              <a:t>: 100</a:t>
            </a:r>
          </a:p>
          <a:p>
            <a:r>
              <a:rPr lang="en-GB" dirty="0" err="1"/>
              <a:t>Adres</a:t>
            </a:r>
            <a:r>
              <a:rPr lang="en-GB" dirty="0"/>
              <a:t>: </a:t>
            </a:r>
            <a:r>
              <a:rPr lang="en-GB" dirty="0" err="1"/>
              <a:t>geheugenplaats</a:t>
            </a:r>
            <a:r>
              <a:rPr lang="en-GB" dirty="0"/>
              <a:t> 0x1003939392</a:t>
            </a:r>
            <a:endParaRPr lang="en-BE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67B624-2E57-9B4B-A084-DF481612D97B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418586" y="3377606"/>
            <a:ext cx="97626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97E6144-EA47-8B4D-8A88-241F3F33CE7B}"/>
              </a:ext>
            </a:extLst>
          </p:cNvPr>
          <p:cNvSpPr txBox="1"/>
          <p:nvPr/>
        </p:nvSpPr>
        <p:spPr>
          <a:xfrm>
            <a:off x="3074434" y="3512543"/>
            <a:ext cx="1344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Variabele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en-BE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F30DA2D-395F-5740-91AD-AE9D17196CA3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4418585" y="3512543"/>
            <a:ext cx="976263" cy="1846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062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2A650-0419-1D4F-A48D-1A70BBBDB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Dit werkt met simpele objecten (basis types) zoals integers en strings, maar niet met complexere objecten zoals lijsten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9B1F7D7-00B2-534D-8D0E-F8C61C8A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A5AB4-3CF8-A54C-B2DD-E1DE16B4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 wijzigen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656F93-62FB-5547-932E-23C252515735}"/>
              </a:ext>
            </a:extLst>
          </p:cNvPr>
          <p:cNvSpPr/>
          <p:nvPr/>
        </p:nvSpPr>
        <p:spPr>
          <a:xfrm>
            <a:off x="838200" y="3249080"/>
            <a:ext cx="2327787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b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a += </a:t>
            </a:r>
            <a:r>
              <a:rPr lang="en-GB" sz="1600" dirty="0">
                <a:solidFill>
                  <a:srgbClr val="6A8759"/>
                </a:solidFill>
              </a:rPr>
              <a:t>' 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90EBB5-4742-6540-8D8E-9C15AD8C8B23}"/>
              </a:ext>
            </a:extLst>
          </p:cNvPr>
          <p:cNvSpPr/>
          <p:nvPr/>
        </p:nvSpPr>
        <p:spPr>
          <a:xfrm>
            <a:off x="6381137" y="3249079"/>
            <a:ext cx="3470786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b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a.pop</a:t>
            </a:r>
            <a:r>
              <a:rPr lang="en-GB" sz="1600" dirty="0"/>
              <a:t>()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verwijder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laatste</a:t>
            </a:r>
            <a:r>
              <a:rPr lang="en-GB" sz="1600" dirty="0">
                <a:solidFill>
                  <a:srgbClr val="808080"/>
                </a:solidFill>
              </a:rPr>
              <a:t> element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 - nu:'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endParaRPr lang="en-BE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4AC915-593F-2A41-8363-29B5E4AACFD0}"/>
              </a:ext>
            </a:extLst>
          </p:cNvPr>
          <p:cNvSpPr/>
          <p:nvPr/>
        </p:nvSpPr>
        <p:spPr>
          <a:xfrm>
            <a:off x="3333136" y="3249079"/>
            <a:ext cx="2762864" cy="18466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>
              <a:solidFill>
                <a:sysClr val="windowText" lastClr="000000"/>
              </a:solidFill>
            </a:endParaRPr>
          </a:p>
          <a:p>
            <a:r>
              <a:rPr lang="en-BE" sz="1600" dirty="0">
                <a:solidFill>
                  <a:sysClr val="windowText" lastClr="000000"/>
                </a:solidFill>
              </a:rPr>
              <a:t>a: johannes</a:t>
            </a:r>
          </a:p>
          <a:p>
            <a:r>
              <a:rPr lang="en-BE" sz="1600" dirty="0">
                <a:solidFill>
                  <a:sysClr val="windowText" lastClr="000000"/>
                </a:solidFill>
              </a:rPr>
              <a:t>b: johannes</a:t>
            </a:r>
          </a:p>
          <a:p>
            <a:endParaRPr lang="en-BE" sz="1600" dirty="0">
              <a:solidFill>
                <a:sysClr val="windowText" lastClr="000000"/>
              </a:solidFill>
            </a:endParaRPr>
          </a:p>
          <a:p>
            <a:endParaRPr lang="en-BE" sz="1600" dirty="0">
              <a:solidFill>
                <a:sysClr val="windowText" lastClr="000000"/>
              </a:solidFill>
            </a:endParaRPr>
          </a:p>
          <a:p>
            <a:r>
              <a:rPr lang="en-BE" sz="1600" dirty="0">
                <a:solidFill>
                  <a:sysClr val="windowText" lastClr="000000"/>
                </a:solidFill>
              </a:rPr>
              <a:t>a - nu: johannes de smedt</a:t>
            </a:r>
          </a:p>
          <a:p>
            <a:r>
              <a:rPr lang="en-BE" sz="1600" dirty="0">
                <a:solidFill>
                  <a:sysClr val="windowText" lastClr="000000"/>
                </a:solidFill>
              </a:rPr>
              <a:t>b - nu: johannes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076F87-D604-D945-B1BE-B909CDACA886}"/>
              </a:ext>
            </a:extLst>
          </p:cNvPr>
          <p:cNvSpPr/>
          <p:nvPr/>
        </p:nvSpPr>
        <p:spPr>
          <a:xfrm>
            <a:off x="9930581" y="3249079"/>
            <a:ext cx="1909917" cy="18466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a: [1, 2, 3]</a:t>
            </a:r>
          </a:p>
          <a:p>
            <a:r>
              <a:rPr lang="en-BE" sz="1600" dirty="0"/>
              <a:t>b: [1, 2, 3]</a:t>
            </a:r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a - nu: [1, 2]</a:t>
            </a:r>
          </a:p>
          <a:p>
            <a:r>
              <a:rPr lang="en-BE" sz="1600" dirty="0"/>
              <a:t>b - nu: [1, 2]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138DE6-DC36-9D46-B329-5C2537600B0E}"/>
              </a:ext>
            </a:extLst>
          </p:cNvPr>
          <p:cNvSpPr txBox="1"/>
          <p:nvPr/>
        </p:nvSpPr>
        <p:spPr>
          <a:xfrm>
            <a:off x="839132" y="287974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9612A-81A0-B74C-A373-5DD26BA78575}"/>
              </a:ext>
            </a:extLst>
          </p:cNvPr>
          <p:cNvSpPr txBox="1"/>
          <p:nvPr/>
        </p:nvSpPr>
        <p:spPr>
          <a:xfrm>
            <a:off x="6381137" y="287974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848DA-63D0-1444-B898-60BB12B820E5}"/>
              </a:ext>
            </a:extLst>
          </p:cNvPr>
          <p:cNvSpPr txBox="1"/>
          <p:nvPr/>
        </p:nvSpPr>
        <p:spPr>
          <a:xfrm>
            <a:off x="3333136" y="287974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C9069-2000-D741-8FDA-624EEBC8CDF5}"/>
              </a:ext>
            </a:extLst>
          </p:cNvPr>
          <p:cNvSpPr txBox="1"/>
          <p:nvPr/>
        </p:nvSpPr>
        <p:spPr>
          <a:xfrm>
            <a:off x="9930581" y="287974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AD91A0-39CD-F747-AB5F-85B0F499F833}"/>
              </a:ext>
            </a:extLst>
          </p:cNvPr>
          <p:cNvSpPr txBox="1"/>
          <p:nvPr/>
        </p:nvSpPr>
        <p:spPr>
          <a:xfrm>
            <a:off x="6381137" y="5126516"/>
            <a:ext cx="54593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600" dirty="0"/>
              <a:t>Nu wordt er </a:t>
            </a:r>
            <a:r>
              <a:rPr lang="en-BE" sz="1600" dirty="0">
                <a:solidFill>
                  <a:srgbClr val="FF0000"/>
                </a:solidFill>
              </a:rPr>
              <a:t>geen nieuw object </a:t>
            </a:r>
            <a:r>
              <a:rPr lang="en-BE" sz="1600" dirty="0"/>
              <a:t>aangemaakt en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sz="1600" dirty="0"/>
              <a:t> en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BE" sz="1600" dirty="0"/>
              <a:t> blijven naar hetzelfde object verwijzen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600" dirty="0"/>
              <a:t>Voor niet-basis objecten moeten we dan een deep copy maken (zie later)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AD759-871D-5C48-85AB-32432E1F197C}"/>
              </a:ext>
            </a:extLst>
          </p:cNvPr>
          <p:cNvSpPr txBox="1"/>
          <p:nvPr/>
        </p:nvSpPr>
        <p:spPr>
          <a:xfrm>
            <a:off x="838199" y="5091690"/>
            <a:ext cx="5406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600" dirty="0"/>
              <a:t>Er wordt </a:t>
            </a:r>
            <a:r>
              <a:rPr lang="en-BE" sz="1600" dirty="0">
                <a:solidFill>
                  <a:srgbClr val="00B050"/>
                </a:solidFill>
              </a:rPr>
              <a:t>een nieuw string object aangemaakt </a:t>
            </a:r>
            <a:r>
              <a:rPr lang="en-BE" sz="1600" dirty="0"/>
              <a:t>wanneer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sz="1600" dirty="0"/>
              <a:t> gewijzigd wordt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38A90-50A1-0B4D-85BE-F330C73D8471}"/>
              </a:ext>
            </a:extLst>
          </p:cNvPr>
          <p:cNvSpPr txBox="1"/>
          <p:nvPr/>
        </p:nvSpPr>
        <p:spPr>
          <a:xfrm>
            <a:off x="1147561" y="6210834"/>
            <a:ext cx="7822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b="1" dirty="0">
                <a:solidFill>
                  <a:schemeClr val="bg1"/>
                </a:solidFill>
              </a:rPr>
              <a:t>Onthoud: </a:t>
            </a:r>
            <a:r>
              <a:rPr lang="en-BE" dirty="0">
                <a:solidFill>
                  <a:schemeClr val="bg1"/>
                </a:solidFill>
              </a:rPr>
              <a:t>er is altijd een deep copy nodig behalve voor getallen en strings (basis types), daar wordt bij elke wijziging een nieuw object aangemaakt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225B7D-D18D-2A28-1A40-FA713B3983D3}"/>
              </a:ext>
            </a:extLst>
          </p:cNvPr>
          <p:cNvCxnSpPr/>
          <p:nvPr/>
        </p:nvCxnSpPr>
        <p:spPr>
          <a:xfrm>
            <a:off x="6244491" y="2524923"/>
            <a:ext cx="0" cy="35950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75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EFC74-6F4D-A641-9C70-2AC35F52D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Waarom wordt er automatisch een nieuw object gemaakt van de string maar niet van de lijst?</a:t>
            </a:r>
          </a:p>
          <a:p>
            <a:pPr lvl="1"/>
            <a:r>
              <a:rPr lang="nl-NL" sz="2000" dirty="0"/>
              <a:t>String/int/</a:t>
            </a:r>
            <a:r>
              <a:rPr lang="nl-NL" sz="2000" dirty="0" err="1"/>
              <a:t>float</a:t>
            </a:r>
            <a:r>
              <a:rPr lang="nl-NL" sz="2000" dirty="0"/>
              <a:t>/</a:t>
            </a:r>
            <a:r>
              <a:rPr lang="nl-NL" sz="2000" dirty="0" err="1"/>
              <a:t>boolean</a:t>
            </a:r>
            <a:r>
              <a:rPr lang="nl-NL" sz="2000" dirty="0"/>
              <a:t> verwijzen </a:t>
            </a:r>
            <a:r>
              <a:rPr lang="nl-NL" sz="2000" dirty="0">
                <a:solidFill>
                  <a:schemeClr val="accent6">
                    <a:lumMod val="75000"/>
                  </a:schemeClr>
                </a:solidFill>
              </a:rPr>
              <a:t>naar object met 1 waarde</a:t>
            </a:r>
            <a:r>
              <a:rPr lang="nl-NL" sz="2000" dirty="0"/>
              <a:t>:</a:t>
            </a:r>
          </a:p>
          <a:p>
            <a:pPr lvl="2"/>
            <a:r>
              <a:rPr lang="nl-NL" sz="1800" dirty="0"/>
              <a:t>Kopiëren van waarde is vanzelfsprekend bij een wijziging van de waarde</a:t>
            </a:r>
          </a:p>
          <a:p>
            <a:pPr lvl="1"/>
            <a:r>
              <a:rPr lang="nl-NL" sz="2000" dirty="0"/>
              <a:t>Samengestelde types (lijst/set/eigen gemaakt object) bevatten (mogelijks) </a:t>
            </a:r>
            <a:r>
              <a:rPr lang="nl-NL" sz="2000" dirty="0">
                <a:solidFill>
                  <a:schemeClr val="accent6">
                    <a:lumMod val="75000"/>
                  </a:schemeClr>
                </a:solidFill>
              </a:rPr>
              <a:t>meerdere waarden</a:t>
            </a:r>
            <a:r>
              <a:rPr lang="nl-NL" sz="2000" dirty="0"/>
              <a:t>:</a:t>
            </a:r>
          </a:p>
          <a:p>
            <a:pPr lvl="2"/>
            <a:r>
              <a:rPr lang="nl-NL" sz="1800" dirty="0"/>
              <a:t>Geen eenduidig overzicht welke waarden moeten worden behouden/aangepast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86902-7F7F-CC4D-B0E5-D634ECE5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3D400-F7B1-1148-9AD5-1DE0A9E5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Variabele wijzigen (</a:t>
            </a:r>
            <a:r>
              <a:rPr lang="nl-NL" dirty="0" err="1"/>
              <a:t>cont</a:t>
            </a:r>
            <a:r>
              <a:rPr lang="nl-NL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856273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B272092-A415-F942-A773-CD2887693472}"/>
              </a:ext>
            </a:extLst>
          </p:cNvPr>
          <p:cNvSpPr/>
          <p:nvPr/>
        </p:nvSpPr>
        <p:spPr>
          <a:xfrm>
            <a:off x="7433187" y="2758400"/>
            <a:ext cx="4517923" cy="2670703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688F5-CE57-0A46-AFBB-6540EF3398CF}"/>
              </a:ext>
            </a:extLst>
          </p:cNvPr>
          <p:cNvSpPr/>
          <p:nvPr/>
        </p:nvSpPr>
        <p:spPr>
          <a:xfrm>
            <a:off x="717755" y="2302445"/>
            <a:ext cx="6135329" cy="381755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1401-B612-4C41-9336-0D193920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Wederom, dynamische typering is gevaarlijk:</a:t>
            </a:r>
          </a:p>
          <a:p>
            <a:endParaRPr lang="en-BE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8384356-D1D4-8D45-9A05-BB2C607E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8524E-7051-BD4B-8534-8CDBC9F5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Opgelet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020F06-3600-D744-B45E-8C1C6C9F1CBA}"/>
              </a:ext>
            </a:extLst>
          </p:cNvPr>
          <p:cNvSpPr/>
          <p:nvPr/>
        </p:nvSpPr>
        <p:spPr>
          <a:xfrm>
            <a:off x="838200" y="2758400"/>
            <a:ext cx="1954161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4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br>
              <a:rPr lang="en-GB" dirty="0"/>
            </a:br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vier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DAAB6-6232-A24A-B805-3FCE8650B842}"/>
              </a:ext>
            </a:extLst>
          </p:cNvPr>
          <p:cNvSpPr/>
          <p:nvPr/>
        </p:nvSpPr>
        <p:spPr>
          <a:xfrm>
            <a:off x="838198" y="4763027"/>
            <a:ext cx="5867400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9</a:t>
            </a:r>
          </a:p>
          <a:p>
            <a:r>
              <a:rPr lang="en-BE" sz="16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BE" sz="1600" dirty="0">
                <a:solidFill>
                  <a:srgbClr val="FF0000"/>
                </a:solidFill>
              </a:rPr>
              <a:t>  File ”~/SOEP1/1-basis_data_types.py", line 51, in &lt;module&gt;</a:t>
            </a:r>
          </a:p>
          <a:p>
            <a:r>
              <a:rPr lang="en-BE" sz="1600" dirty="0">
                <a:solidFill>
                  <a:srgbClr val="FF0000"/>
                </a:solidFill>
              </a:rPr>
              <a:t>    print(a + b)</a:t>
            </a:r>
          </a:p>
          <a:p>
            <a:r>
              <a:rPr lang="en-BE" sz="1600" dirty="0">
                <a:solidFill>
                  <a:srgbClr val="FF0000"/>
                </a:solidFill>
              </a:rPr>
              <a:t>TypeError: can only concatenate str (not "int") to str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ECAAF5-2B37-B640-9026-12FF575C537A}"/>
              </a:ext>
            </a:extLst>
          </p:cNvPr>
          <p:cNvSpPr/>
          <p:nvPr/>
        </p:nvSpPr>
        <p:spPr>
          <a:xfrm>
            <a:off x="7546260" y="3220065"/>
            <a:ext cx="1582994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4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br>
              <a:rPr lang="en-GB" dirty="0"/>
            </a:br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vier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br>
              <a:rPr lang="en-GB" dirty="0">
                <a:solidFill>
                  <a:srgbClr val="808080"/>
                </a:solidFill>
              </a:rPr>
            </a:br>
            <a:r>
              <a:rPr lang="en-GB" dirty="0"/>
              <a:t>b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vijf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endParaRPr lang="en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8C59F7-4C66-A645-9CCF-5232D7EFF36D}"/>
              </a:ext>
            </a:extLst>
          </p:cNvPr>
          <p:cNvSpPr/>
          <p:nvPr/>
        </p:nvSpPr>
        <p:spPr>
          <a:xfrm>
            <a:off x="9407011" y="4605059"/>
            <a:ext cx="1494505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9</a:t>
            </a:r>
          </a:p>
          <a:p>
            <a:r>
              <a:rPr lang="en-BE" dirty="0"/>
              <a:t>viervijf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80EE5-125F-984C-8FD8-D0F996651063}"/>
              </a:ext>
            </a:extLst>
          </p:cNvPr>
          <p:cNvSpPr txBox="1"/>
          <p:nvPr/>
        </p:nvSpPr>
        <p:spPr>
          <a:xfrm>
            <a:off x="838198" y="2389069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BC2BE-32E5-2F41-82AD-7FC585D9704F}"/>
              </a:ext>
            </a:extLst>
          </p:cNvPr>
          <p:cNvSpPr txBox="1"/>
          <p:nvPr/>
        </p:nvSpPr>
        <p:spPr>
          <a:xfrm>
            <a:off x="831063" y="4420393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8673FA-AB39-F645-AB17-2AC0C767A9DF}"/>
              </a:ext>
            </a:extLst>
          </p:cNvPr>
          <p:cNvSpPr txBox="1"/>
          <p:nvPr/>
        </p:nvSpPr>
        <p:spPr>
          <a:xfrm>
            <a:off x="7546260" y="290046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18DA-8795-E342-8CC6-6089C0224284}"/>
              </a:ext>
            </a:extLst>
          </p:cNvPr>
          <p:cNvSpPr txBox="1"/>
          <p:nvPr/>
        </p:nvSpPr>
        <p:spPr>
          <a:xfrm>
            <a:off x="9407011" y="423572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603A8E-9C4D-2743-9CB9-B16CB0085456}"/>
              </a:ext>
            </a:extLst>
          </p:cNvPr>
          <p:cNvSpPr txBox="1"/>
          <p:nvPr/>
        </p:nvSpPr>
        <p:spPr>
          <a:xfrm>
            <a:off x="3291347" y="2758400"/>
            <a:ext cx="34142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Na het veranderen van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BE" sz="1600" dirty="0"/>
              <a:t> in een string kunnen we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BE" sz="1600" dirty="0"/>
              <a:t> niet meer gebruiken omdat we 2 verschillende types ‘optellen’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BE" sz="1600" dirty="0"/>
              <a:t>+ bij strings: concatenatie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BE" sz="1600" dirty="0"/>
              <a:t>+ bij integers: optellen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7E65B-2A8C-CB4E-8A74-DF8341699F00}"/>
              </a:ext>
            </a:extLst>
          </p:cNvPr>
          <p:cNvSpPr txBox="1"/>
          <p:nvPr/>
        </p:nvSpPr>
        <p:spPr>
          <a:xfrm>
            <a:off x="9252766" y="2920546"/>
            <a:ext cx="26000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W</a:t>
            </a:r>
            <a:r>
              <a:rPr lang="en-GB" sz="1600" dirty="0"/>
              <a:t>e </a:t>
            </a:r>
            <a:r>
              <a:rPr lang="en-GB" sz="1600" dirty="0" err="1"/>
              <a:t>kunnen</a:t>
            </a:r>
            <a:r>
              <a:rPr lang="en-GB" sz="1600" dirty="0"/>
              <a:t> </a:t>
            </a:r>
            <a:r>
              <a:rPr lang="en-GB" sz="1600" dirty="0" err="1"/>
              <a:t>wel</a:t>
            </a:r>
            <a:r>
              <a:rPr lang="en-GB" sz="1600" dirty="0"/>
              <a:t> 2 strings </a:t>
            </a:r>
            <a:r>
              <a:rPr lang="en-GB" sz="1600" dirty="0" err="1"/>
              <a:t>concateneren</a:t>
            </a:r>
            <a:r>
              <a:rPr lang="en-GB" sz="1600" dirty="0"/>
              <a:t> </a:t>
            </a:r>
            <a:r>
              <a:rPr lang="en-GB" sz="1600" dirty="0" err="1"/>
              <a:t>wanneer</a:t>
            </a:r>
            <a:r>
              <a:rPr lang="en-GB" sz="1600" dirty="0"/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GB" sz="1600" dirty="0"/>
              <a:t> </a:t>
            </a:r>
            <a:r>
              <a:rPr lang="en-GB" sz="1600" dirty="0" err="1"/>
              <a:t>ook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string is </a:t>
            </a:r>
            <a:r>
              <a:rPr lang="en-GB" sz="1600" dirty="0" err="1"/>
              <a:t>geworden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552569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35D92-C9BF-C647-AAEC-76C4CDCA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40310-D0AF-6946-92AE-12102D1B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 Java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FD5440-EFE5-234E-BBF9-43C4E440D785}"/>
              </a:ext>
            </a:extLst>
          </p:cNvPr>
          <p:cNvSpPr/>
          <p:nvPr/>
        </p:nvSpPr>
        <p:spPr>
          <a:xfrm>
            <a:off x="838200" y="2554231"/>
            <a:ext cx="4807975" cy="230832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package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be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kuleuven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soep1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D9E8F7"/>
              </a:solidFill>
              <a:latin typeface="Menlo" panose="020B0609030804020204" pitchFamily="49" charset="0"/>
            </a:endParaRPr>
          </a:p>
          <a:p>
            <a:endParaRPr lang="en-GB" sz="1200" dirty="0">
              <a:latin typeface="Menlo" panose="020B0609030804020204" pitchFamily="49" charset="0"/>
            </a:endParaRPr>
          </a:p>
          <a:p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public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class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 err="1">
                <a:solidFill>
                  <a:srgbClr val="1290C3"/>
                </a:solidFill>
                <a:latin typeface="Menlo" panose="020B0609030804020204" pitchFamily="49" charset="0"/>
              </a:rPr>
              <a:t>Variabelen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{</a:t>
            </a:r>
            <a:endParaRPr lang="en-GB" sz="1200" dirty="0">
              <a:solidFill>
                <a:srgbClr val="CC6C1D"/>
              </a:solidFill>
              <a:latin typeface="Menlo" panose="020B0609030804020204" pitchFamily="49" charset="0"/>
            </a:endParaRPr>
          </a:p>
          <a:p>
            <a:endParaRPr lang="en-GB" sz="1200" dirty="0">
              <a:latin typeface="Menlo" panose="020B0609030804020204" pitchFamily="49" charset="0"/>
            </a:endParaRPr>
          </a:p>
          <a:p>
            <a:pPr lvl="1"/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public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static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void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1EB540"/>
                </a:solidFill>
                <a:latin typeface="Menlo" panose="020B0609030804020204" pitchFamily="49" charset="0"/>
              </a:rPr>
              <a:t>main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(</a:t>
            </a:r>
            <a:r>
              <a:rPr lang="en-GB" sz="1200" dirty="0">
                <a:solidFill>
                  <a:srgbClr val="1290C3"/>
                </a:solidFill>
                <a:latin typeface="Menlo" panose="020B0609030804020204" pitchFamily="49" charset="0"/>
              </a:rPr>
              <a:t>String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[]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 err="1">
                <a:solidFill>
                  <a:schemeClr val="accent3">
                    <a:lumMod val="75000"/>
                  </a:schemeClr>
                </a:solidFill>
                <a:latin typeface="Menlo" panose="020B0609030804020204" pitchFamily="49" charset="0"/>
              </a:rPr>
              <a:t>args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)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{</a:t>
            </a:r>
            <a:endParaRPr lang="en-GB" sz="1200" dirty="0">
              <a:solidFill>
                <a:srgbClr val="CC6C1D"/>
              </a:solidFill>
              <a:latin typeface="Menlo" panose="020B0609030804020204" pitchFamily="49" charset="0"/>
            </a:endParaRPr>
          </a:p>
          <a:p>
            <a:pPr lvl="2"/>
            <a:r>
              <a:rPr lang="en-GB" sz="1200" dirty="0">
                <a:solidFill>
                  <a:srgbClr val="CC6C1D"/>
                </a:solidFill>
                <a:latin typeface="Menlo" panose="020B0609030804020204" pitchFamily="49" charset="0"/>
              </a:rPr>
              <a:t>int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F2F200"/>
                </a:solidFill>
                <a:latin typeface="Menlo" panose="020B0609030804020204" pitchFamily="49" charset="0"/>
              </a:rPr>
              <a:t>a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=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dirty="0">
                <a:solidFill>
                  <a:srgbClr val="6897BB"/>
                </a:solidFill>
                <a:latin typeface="Menlo" panose="020B0609030804020204" pitchFamily="49" charset="0"/>
              </a:rPr>
              <a:t>5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D9E8F7"/>
              </a:solidFill>
              <a:latin typeface="Menlo" panose="020B0609030804020204" pitchFamily="49" charset="0"/>
            </a:endParaRPr>
          </a:p>
          <a:p>
            <a:pPr lvl="2"/>
            <a:br>
              <a:rPr lang="en-GB" sz="1200" dirty="0">
                <a:latin typeface="Menlo" panose="020B0609030804020204" pitchFamily="49" charset="0"/>
              </a:rPr>
            </a:br>
            <a:endParaRPr lang="en-GB" sz="1200" dirty="0">
              <a:latin typeface="Menlo" panose="020B0609030804020204" pitchFamily="49" charset="0"/>
            </a:endParaRPr>
          </a:p>
          <a:p>
            <a:pPr lvl="2"/>
            <a:r>
              <a:rPr lang="en-GB" sz="1200" dirty="0" err="1">
                <a:solidFill>
                  <a:srgbClr val="1290C3"/>
                </a:solidFill>
                <a:latin typeface="Menlo" panose="020B0609030804020204" pitchFamily="49" charset="0"/>
              </a:rPr>
              <a:t>System</a:t>
            </a:r>
            <a:r>
              <a:rPr lang="en-GB" sz="1200" dirty="0" err="1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b="1" i="1" dirty="0" err="1">
                <a:solidFill>
                  <a:srgbClr val="8DDAF8"/>
                </a:solidFill>
                <a:latin typeface="Menlo" panose="020B0609030804020204" pitchFamily="49" charset="0"/>
              </a:rPr>
              <a:t>out</a:t>
            </a:r>
            <a:r>
              <a:rPr lang="en-GB" sz="1200" dirty="0" err="1">
                <a:solidFill>
                  <a:srgbClr val="E6E6FA"/>
                </a:solidFill>
                <a:latin typeface="Menlo" panose="020B0609030804020204" pitchFamily="49" charset="0"/>
              </a:rPr>
              <a:t>.</a:t>
            </a:r>
            <a:r>
              <a:rPr lang="en-GB" sz="1200" dirty="0" err="1">
                <a:solidFill>
                  <a:srgbClr val="A7EC21"/>
                </a:solidFill>
                <a:latin typeface="Menlo" panose="020B0609030804020204" pitchFamily="49" charset="0"/>
              </a:rPr>
              <a:t>println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(</a:t>
            </a:r>
            <a:r>
              <a:rPr lang="en-GB" sz="1200" dirty="0">
                <a:solidFill>
                  <a:srgbClr val="F3EC79"/>
                </a:solidFill>
                <a:latin typeface="Menlo" panose="020B0609030804020204" pitchFamily="49" charset="0"/>
              </a:rPr>
              <a:t>a</a:t>
            </a:r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)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A7EC21"/>
              </a:solidFill>
              <a:latin typeface="Menlo" panose="020B0609030804020204" pitchFamily="49" charset="0"/>
            </a:endParaRPr>
          </a:p>
          <a:p>
            <a:pPr lvl="2"/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a 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=</a:t>
            </a:r>
            <a:r>
              <a:rPr lang="en-GB" sz="1200" dirty="0">
                <a:solidFill>
                  <a:srgbClr val="D9E8F7"/>
                </a:solidFill>
                <a:latin typeface="Menlo" panose="020B0609030804020204" pitchFamily="49" charset="0"/>
              </a:rPr>
              <a:t> </a:t>
            </a:r>
            <a:r>
              <a:rPr lang="en-GB" sz="1200" u="sng" dirty="0">
                <a:solidFill>
                  <a:srgbClr val="17C6A3"/>
                </a:solidFill>
                <a:latin typeface="Menlo" panose="020B0609030804020204" pitchFamily="49" charset="0"/>
              </a:rPr>
              <a:t>"Johannes”</a:t>
            </a:r>
            <a:r>
              <a:rPr lang="en-GB" sz="1200" dirty="0">
                <a:solidFill>
                  <a:srgbClr val="E6E6FA"/>
                </a:solidFill>
                <a:latin typeface="Menlo" panose="020B0609030804020204" pitchFamily="49" charset="0"/>
              </a:rPr>
              <a:t>;</a:t>
            </a:r>
            <a:endParaRPr lang="en-GB" sz="1200" dirty="0">
              <a:solidFill>
                <a:srgbClr val="17C6A3"/>
              </a:solidFill>
              <a:latin typeface="Menlo" panose="020B0609030804020204" pitchFamily="49" charset="0"/>
            </a:endParaRPr>
          </a:p>
          <a:p>
            <a:pPr lvl="1"/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}</a:t>
            </a:r>
            <a:endParaRPr lang="en-GB" sz="1200" dirty="0">
              <a:solidFill>
                <a:srgbClr val="D9E8F7"/>
              </a:solidFill>
              <a:latin typeface="Menlo" panose="020B0609030804020204" pitchFamily="49" charset="0"/>
            </a:endParaRPr>
          </a:p>
          <a:p>
            <a:r>
              <a:rPr lang="en-GB" sz="1200" dirty="0">
                <a:solidFill>
                  <a:srgbClr val="F9FAF4"/>
                </a:solidFill>
                <a:latin typeface="Menlo" panose="020B0609030804020204" pitchFamily="49" charset="0"/>
              </a:rPr>
              <a:t>}</a:t>
            </a:r>
            <a:endParaRPr lang="en-GB" sz="1200" dirty="0">
              <a:solidFill>
                <a:srgbClr val="F9FAF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FE03B-0256-DA4B-85CA-3F0B85132628}"/>
              </a:ext>
            </a:extLst>
          </p:cNvPr>
          <p:cNvSpPr txBox="1"/>
          <p:nvPr/>
        </p:nvSpPr>
        <p:spPr>
          <a:xfrm>
            <a:off x="838200" y="218250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1AE90-9FB8-B645-95E6-650D77EE7068}"/>
              </a:ext>
            </a:extLst>
          </p:cNvPr>
          <p:cNvSpPr txBox="1"/>
          <p:nvPr/>
        </p:nvSpPr>
        <p:spPr>
          <a:xfrm>
            <a:off x="6090724" y="218250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431272-5119-DF43-80B2-88BF42E59891}"/>
              </a:ext>
            </a:extLst>
          </p:cNvPr>
          <p:cNvSpPr/>
          <p:nvPr/>
        </p:nvSpPr>
        <p:spPr>
          <a:xfrm>
            <a:off x="6090724" y="2551837"/>
            <a:ext cx="5363857" cy="11079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Exception in thread "main" </a:t>
            </a:r>
            <a:r>
              <a:rPr lang="en-GB" sz="1100" dirty="0" err="1">
                <a:solidFill>
                  <a:srgbClr val="E11E46"/>
                </a:solidFill>
                <a:latin typeface="Menlo" panose="020B0609030804020204" pitchFamily="49" charset="0"/>
              </a:rPr>
              <a:t>java.lang.Error</a:t>
            </a:r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: Unresolved compilation problem: </a:t>
            </a:r>
          </a:p>
          <a:p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Type mismatch: cannot convert from String to int</a:t>
            </a:r>
          </a:p>
          <a:p>
            <a:br>
              <a:rPr lang="en-GB" sz="1100" dirty="0">
                <a:latin typeface="Menlo" panose="020B0609030804020204" pitchFamily="49" charset="0"/>
              </a:rPr>
            </a:br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at soep1/be.kuleuven.soep1.Variabelen.main(</a:t>
            </a:r>
            <a:r>
              <a:rPr lang="en-GB" sz="1100" u="sng" dirty="0">
                <a:solidFill>
                  <a:srgbClr val="6FC5EE"/>
                </a:solidFill>
                <a:latin typeface="Menlo" panose="020B0609030804020204" pitchFamily="49" charset="0"/>
              </a:rPr>
              <a:t>Variabelen.java:10</a:t>
            </a:r>
            <a:r>
              <a:rPr lang="en-GB" sz="1100" dirty="0">
                <a:solidFill>
                  <a:srgbClr val="E11E46"/>
                </a:solidFill>
                <a:latin typeface="Menlo" panose="020B0609030804020204" pitchFamily="49" charset="0"/>
              </a:rPr>
              <a:t>)</a:t>
            </a:r>
            <a:endParaRPr lang="en-GB" sz="1100" dirty="0">
              <a:solidFill>
                <a:srgbClr val="E11E46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832FA-C654-374F-80A3-BBA0FB3FCA8D}"/>
              </a:ext>
            </a:extLst>
          </p:cNvPr>
          <p:cNvSpPr txBox="1"/>
          <p:nvPr/>
        </p:nvSpPr>
        <p:spPr>
          <a:xfrm>
            <a:off x="6090724" y="4064039"/>
            <a:ext cx="5363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Deze code kan zelfs niet gestart worden door de fout</a:t>
            </a:r>
          </a:p>
        </p:txBody>
      </p:sp>
    </p:spTree>
    <p:extLst>
      <p:ext uri="{BB962C8B-B14F-4D97-AF65-F5344CB8AC3E}">
        <p14:creationId xmlns:p14="http://schemas.microsoft.com/office/powerpoint/2010/main" val="1077129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699BBC-8FC0-0C25-ABB7-8478146CA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a = b = 100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a = a + 1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print(a, b)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x = [1, 2]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y = x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y.append(3)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print(x, y)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4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nl-NL" sz="1800" dirty="0">
                <a:solidFill>
                  <a:srgbClr val="1D8DB0"/>
                </a:solidFill>
              </a:rPr>
              <a:t>Hint: je maakt een copy met </a:t>
            </a:r>
            <a:r>
              <a:rPr lang="nl-NL" sz="1800" dirty="0">
                <a:solidFill>
                  <a:srgbClr val="1D8D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list()</a:t>
            </a:r>
            <a:r>
              <a:rPr lang="nl-NL" sz="1800" dirty="0">
                <a:solidFill>
                  <a:srgbClr val="1D8DB0"/>
                </a:solidFill>
              </a:rPr>
              <a:t> of </a:t>
            </a:r>
            <a:r>
              <a:rPr lang="nl-NL" sz="1800" dirty="0">
                <a:solidFill>
                  <a:srgbClr val="1D8DB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copy()</a:t>
            </a:r>
            <a:r>
              <a:rPr lang="nl-NL" sz="1800" dirty="0">
                <a:solidFill>
                  <a:srgbClr val="1D8DB0"/>
                </a:solidFill>
                <a:latin typeface="+mn-lt"/>
                <a:cs typeface="Courier New" panose="02070309020205020404" pitchFamily="49" charset="0"/>
              </a:rPr>
              <a:t> – zoek de details desnoods online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F5068-7DB2-703C-07B2-0BBD670B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34F367-40AF-59A9-FAF6-BAF5001F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1.2: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165915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80EF-FC3E-DC40-9846-ADBEA0139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3. Composiete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8759B-BE5E-4A42-B347-42979C8B3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F467B-E825-FD4A-8095-6CC90FB2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42704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C6D014-298A-3342-B05A-915336572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Verzamelingen (sets)</a:t>
            </a:r>
          </a:p>
          <a:p>
            <a:r>
              <a:rPr lang="en-BE" dirty="0"/>
              <a:t>Lijsten (lists/tuples)</a:t>
            </a:r>
          </a:p>
          <a:p>
            <a:r>
              <a:rPr lang="en-BE" dirty="0"/>
              <a:t>Woordenboeken (dictionaries)</a:t>
            </a:r>
          </a:p>
          <a:p>
            <a:r>
              <a:rPr lang="en-BE" dirty="0"/>
              <a:t>Zelfgemaakte klasses (komen iets later, 1.10 (notebook 1.13))</a:t>
            </a:r>
          </a:p>
          <a:p>
            <a:endParaRPr lang="en-BE" dirty="0"/>
          </a:p>
          <a:p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EC635-F6A0-E84E-8277-DC0FD9D7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7E578D-4766-0447-B773-061F5B450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Composiete data types</a:t>
            </a:r>
          </a:p>
        </p:txBody>
      </p:sp>
    </p:spTree>
    <p:extLst>
      <p:ext uri="{BB962C8B-B14F-4D97-AF65-F5344CB8AC3E}">
        <p14:creationId xmlns:p14="http://schemas.microsoft.com/office/powerpoint/2010/main" val="2911603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DDC16D-DBFE-B544-857A-E41939D2F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Verzamelingen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A93601B-3C1C-744A-9299-689AAE6B1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.3-sets.ipynb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515D7-8757-BF44-8C97-3F55C06E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8745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D043B-FEFB-C340-BAC1-40D3FEE0D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/>
              <a:t>Zijn ongeordende collecties (maar wel itereerbaar)</a:t>
            </a:r>
          </a:p>
          <a:p>
            <a:r>
              <a:rPr lang="en-BE" sz="2000" dirty="0"/>
              <a:t>Alle elementen zijn uniek (maar niet noodzakelijk van hetzelfde type)</a:t>
            </a:r>
            <a:r>
              <a:rPr lang="en-US" sz="2000" dirty="0"/>
              <a:t>:</a:t>
            </a:r>
            <a:endParaRPr lang="en-BE" sz="2000" dirty="0"/>
          </a:p>
          <a:p>
            <a:pPr lvl="1"/>
            <a:r>
              <a:rPr lang="en-BE" sz="1800" dirty="0"/>
              <a:t>Mogen niet ‘veranderbaar zijn’, dus bv. </a:t>
            </a:r>
            <a:r>
              <a:rPr lang="en-BE" sz="1800" dirty="0">
                <a:solidFill>
                  <a:schemeClr val="accent6">
                    <a:lumMod val="75000"/>
                  </a:schemeClr>
                </a:solidFill>
              </a:rPr>
              <a:t>geen andere sets of lijsten</a:t>
            </a:r>
          </a:p>
          <a:p>
            <a:pPr lvl="2"/>
            <a:r>
              <a:rPr lang="en-BE" sz="1400" dirty="0"/>
              <a:t>Moeten kunnen gecontroleerd worden op hun uniekheid (en lijsten kunnen veranderd worden zodat ze hetzelfde worden)</a:t>
            </a:r>
          </a:p>
          <a:p>
            <a:r>
              <a:rPr lang="en-BE" sz="2000" dirty="0"/>
              <a:t>Makkelijk om vergelijkingen mee te maken via deelverzamelingen, etc.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25873-03DB-8A42-952F-3DCA9FCB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42CCF-BC6D-514F-81EF-89371E56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15912-9750-374A-990D-57C80E67F44F}"/>
              </a:ext>
            </a:extLst>
          </p:cNvPr>
          <p:cNvSpPr/>
          <p:nvPr/>
        </p:nvSpPr>
        <p:spPr>
          <a:xfrm>
            <a:off x="3472802" y="3605419"/>
            <a:ext cx="3190754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 err="1"/>
              <a:t>kleine_set</a:t>
            </a:r>
            <a:r>
              <a:rPr lang="en-GB" dirty="0"/>
              <a:t> = </a:t>
            </a:r>
            <a:r>
              <a:rPr lang="en-GB" dirty="0">
                <a:solidFill>
                  <a:srgbClr val="8888C6"/>
                </a:solidFill>
              </a:rPr>
              <a:t>set</a:t>
            </a:r>
            <a:r>
              <a:rPr lang="en-GB" dirty="0"/>
              <a:t>() </a:t>
            </a:r>
            <a:r>
              <a:rPr lang="en-GB" dirty="0">
                <a:solidFill>
                  <a:srgbClr val="808080"/>
                </a:solidFill>
              </a:rPr>
              <a:t># </a:t>
            </a:r>
            <a:r>
              <a:rPr lang="en-GB" dirty="0" err="1">
                <a:solidFill>
                  <a:srgbClr val="808080"/>
                </a:solidFill>
              </a:rPr>
              <a:t>lege</a:t>
            </a:r>
            <a:r>
              <a:rPr lang="en-GB" dirty="0">
                <a:solidFill>
                  <a:srgbClr val="808080"/>
                </a:solidFill>
              </a:rPr>
              <a:t> set</a:t>
            </a:r>
            <a:br>
              <a:rPr lang="en-GB" dirty="0">
                <a:solidFill>
                  <a:srgbClr val="808080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kleine_set</a:t>
            </a:r>
            <a:r>
              <a:rPr lang="en-GB" dirty="0"/>
              <a:t>)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johannes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 err="1"/>
              <a:t>kleine_set.add</a:t>
            </a:r>
            <a:r>
              <a:rPr lang="en-GB" dirty="0"/>
              <a:t>(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/>
              <a:t>)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kleine_set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E386DB-F48A-C742-85CB-88FCECBFC2C2}"/>
              </a:ext>
            </a:extLst>
          </p:cNvPr>
          <p:cNvSpPr/>
          <p:nvPr/>
        </p:nvSpPr>
        <p:spPr>
          <a:xfrm>
            <a:off x="6806310" y="3605419"/>
            <a:ext cx="1924292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set()</a:t>
            </a: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{'johannes', 1, 2}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82B7C-25EA-E944-82AA-A42D8922BBF3}"/>
              </a:ext>
            </a:extLst>
          </p:cNvPr>
          <p:cNvSpPr txBox="1"/>
          <p:nvPr/>
        </p:nvSpPr>
        <p:spPr>
          <a:xfrm>
            <a:off x="2613771" y="512891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A1AD1-A0D1-BF47-835D-9CACDD9BF586}"/>
              </a:ext>
            </a:extLst>
          </p:cNvPr>
          <p:cNvSpPr txBox="1"/>
          <p:nvPr/>
        </p:nvSpPr>
        <p:spPr>
          <a:xfrm>
            <a:off x="8730602" y="5128913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:Output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178EE-9E43-8941-9F5F-7F3610FB6C85}"/>
              </a:ext>
            </a:extLst>
          </p:cNvPr>
          <p:cNvSpPr txBox="1"/>
          <p:nvPr/>
        </p:nvSpPr>
        <p:spPr>
          <a:xfrm>
            <a:off x="1683963" y="3789490"/>
            <a:ext cx="1859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Toevoegen elementen met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.add()</a:t>
            </a:r>
          </a:p>
        </p:txBody>
      </p:sp>
    </p:spTree>
    <p:extLst>
      <p:ext uri="{BB962C8B-B14F-4D97-AF65-F5344CB8AC3E}">
        <p14:creationId xmlns:p14="http://schemas.microsoft.com/office/powerpoint/2010/main" val="2752741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6435BA6-4556-2C4A-B827-F983CF0E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D0F43-42A8-C648-AF5D-E909E93FA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Elementen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C904E8-9E44-C943-880F-75B2D90A8C43}"/>
              </a:ext>
            </a:extLst>
          </p:cNvPr>
          <p:cNvSpPr/>
          <p:nvPr/>
        </p:nvSpPr>
        <p:spPr>
          <a:xfrm>
            <a:off x="1224000" y="3005030"/>
            <a:ext cx="6848354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08080"/>
                </a:solidFill>
              </a:rPr>
              <a:t># check of </a:t>
            </a:r>
            <a:r>
              <a:rPr lang="en-GB" sz="1600" dirty="0" err="1">
                <a:solidFill>
                  <a:srgbClr val="808080"/>
                </a:solidFill>
              </a:rPr>
              <a:t>iets</a:t>
            </a:r>
            <a:r>
              <a:rPr lang="en-GB" sz="1600" dirty="0">
                <a:solidFill>
                  <a:srgbClr val="808080"/>
                </a:solidFill>
              </a:rPr>
              <a:t> in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set zit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 err="1"/>
              <a:t>nieuwe_set</a:t>
            </a:r>
            <a:r>
              <a:rPr lang="en-GB" sz="1600" dirty="0"/>
              <a:t>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}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nog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manier</a:t>
            </a:r>
            <a:r>
              <a:rPr lang="en-GB" sz="1600" dirty="0">
                <a:solidFill>
                  <a:srgbClr val="808080"/>
                </a:solidFill>
              </a:rPr>
              <a:t> om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set </a:t>
            </a:r>
            <a:r>
              <a:rPr lang="en-GB" sz="1600" dirty="0" err="1">
                <a:solidFill>
                  <a:srgbClr val="808080"/>
                </a:solidFill>
              </a:rPr>
              <a:t>aan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te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maken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nieuwe_set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4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nieuwe_set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set_1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set_2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set_3 = {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7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(set_1.union(set_3))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(set_1.difference(set_2))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(set_1.intersection(set_2))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(set_2.issubset(set_1))</a:t>
            </a:r>
            <a:endParaRPr lang="en-BE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CECA5-61E3-1749-904E-0F95022528DA}"/>
              </a:ext>
            </a:extLst>
          </p:cNvPr>
          <p:cNvSpPr/>
          <p:nvPr/>
        </p:nvSpPr>
        <p:spPr>
          <a:xfrm>
            <a:off x="8253689" y="3005030"/>
            <a:ext cx="2469266" cy="31085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True</a:t>
            </a:r>
          </a:p>
          <a:p>
            <a:r>
              <a:rPr lang="en-BE" sz="1600" dirty="0"/>
              <a:t>False</a:t>
            </a:r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{1, 2, 3, 4, 5, 6, 7}</a:t>
            </a:r>
          </a:p>
          <a:p>
            <a:r>
              <a:rPr lang="en-BE" sz="1600" dirty="0"/>
              <a:t>{4, 5}</a:t>
            </a:r>
          </a:p>
          <a:p>
            <a:r>
              <a:rPr lang="en-BE" sz="1600" dirty="0"/>
              <a:t>{1, 2, 3}</a:t>
            </a:r>
          </a:p>
          <a:p>
            <a:r>
              <a:rPr lang="en-BE" sz="1600" dirty="0"/>
              <a:t>True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7B6CBB-799C-6943-A08E-8F14D4308638}"/>
              </a:ext>
            </a:extLst>
          </p:cNvPr>
          <p:cNvSpPr/>
          <p:nvPr/>
        </p:nvSpPr>
        <p:spPr>
          <a:xfrm>
            <a:off x="6365373" y="833377"/>
            <a:ext cx="1991549" cy="157600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S</a:t>
            </a:r>
            <a:r>
              <a:rPr lang="en-BE" b="1" dirty="0">
                <a:solidFill>
                  <a:schemeClr val="tx1"/>
                </a:solidFill>
              </a:rPr>
              <a:t>et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11C3FC-04B0-3548-AA07-4D95DCBC3737}"/>
              </a:ext>
            </a:extLst>
          </p:cNvPr>
          <p:cNvSpPr/>
          <p:nvPr/>
        </p:nvSpPr>
        <p:spPr>
          <a:xfrm>
            <a:off x="7551538" y="254702"/>
            <a:ext cx="1991548" cy="15760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b="1" dirty="0">
                <a:solidFill>
                  <a:schemeClr val="tx1"/>
                </a:solidFill>
              </a:rPr>
              <a:t>Set 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7C4D60-5E2E-4245-B9B7-67546536A9E7}"/>
              </a:ext>
            </a:extLst>
          </p:cNvPr>
          <p:cNvSpPr/>
          <p:nvPr/>
        </p:nvSpPr>
        <p:spPr>
          <a:xfrm>
            <a:off x="7703938" y="1194804"/>
            <a:ext cx="2229312" cy="154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b="1" dirty="0">
                <a:solidFill>
                  <a:schemeClr val="tx1"/>
                </a:solidFill>
              </a:rPr>
              <a:t>Set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B84C38-97D0-D547-8E62-F46857BC5132}"/>
              </a:ext>
            </a:extLst>
          </p:cNvPr>
          <p:cNvSpPr txBox="1"/>
          <p:nvPr/>
        </p:nvSpPr>
        <p:spPr>
          <a:xfrm>
            <a:off x="7887046" y="10249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979C7-EF9D-DA43-AEB3-FDFC801EDAB0}"/>
              </a:ext>
            </a:extLst>
          </p:cNvPr>
          <p:cNvSpPr txBox="1"/>
          <p:nvPr/>
        </p:nvSpPr>
        <p:spPr>
          <a:xfrm>
            <a:off x="7585360" y="8254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4CDEA-514C-DC43-951E-2CF32279DF94}"/>
              </a:ext>
            </a:extLst>
          </p:cNvPr>
          <p:cNvSpPr txBox="1"/>
          <p:nvPr/>
        </p:nvSpPr>
        <p:spPr>
          <a:xfrm>
            <a:off x="7674332" y="1171422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F7869-9E49-DF4C-B8D5-605A57650AB1}"/>
              </a:ext>
            </a:extLst>
          </p:cNvPr>
          <p:cNvSpPr txBox="1"/>
          <p:nvPr/>
        </p:nvSpPr>
        <p:spPr>
          <a:xfrm>
            <a:off x="6992278" y="10279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A6C67-F534-2A42-988B-ABBC32308704}"/>
              </a:ext>
            </a:extLst>
          </p:cNvPr>
          <p:cNvSpPr txBox="1"/>
          <p:nvPr/>
        </p:nvSpPr>
        <p:spPr>
          <a:xfrm>
            <a:off x="7789391" y="17462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726874-0C79-614D-BF96-CB147BCE4315}"/>
              </a:ext>
            </a:extLst>
          </p:cNvPr>
          <p:cNvSpPr txBox="1"/>
          <p:nvPr/>
        </p:nvSpPr>
        <p:spPr>
          <a:xfrm>
            <a:off x="8864594" y="21555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B110E-72CF-D240-A4F9-7A5032B8846C}"/>
              </a:ext>
            </a:extLst>
          </p:cNvPr>
          <p:cNvSpPr txBox="1"/>
          <p:nvPr/>
        </p:nvSpPr>
        <p:spPr>
          <a:xfrm>
            <a:off x="9144186" y="21510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accent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2F694-F1CB-6A4B-A105-8CA53534EE29}"/>
              </a:ext>
            </a:extLst>
          </p:cNvPr>
          <p:cNvSpPr txBox="1"/>
          <p:nvPr/>
        </p:nvSpPr>
        <p:spPr>
          <a:xfrm>
            <a:off x="1224000" y="265377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F39E67-D05F-D54F-95C4-8839637E5B24}"/>
              </a:ext>
            </a:extLst>
          </p:cNvPr>
          <p:cNvSpPr txBox="1"/>
          <p:nvPr/>
        </p:nvSpPr>
        <p:spPr>
          <a:xfrm>
            <a:off x="9880976" y="265377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D989BA-6D44-684F-8B1B-7E4E1E9C74D1}"/>
              </a:ext>
            </a:extLst>
          </p:cNvPr>
          <p:cNvCxnSpPr>
            <a:cxnSpLocks/>
          </p:cNvCxnSpPr>
          <p:nvPr/>
        </p:nvCxnSpPr>
        <p:spPr>
          <a:xfrm flipH="1" flipV="1">
            <a:off x="4365074" y="2626484"/>
            <a:ext cx="407100" cy="6327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C696D9-4BD5-AC45-8111-B404937D11A1}"/>
              </a:ext>
            </a:extLst>
          </p:cNvPr>
          <p:cNvSpPr txBox="1"/>
          <p:nvPr/>
        </p:nvSpPr>
        <p:spPr>
          <a:xfrm>
            <a:off x="2314484" y="1621380"/>
            <a:ext cx="3660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Aanmaken kan dus met {}, maar er moeten telkens al elementen meegegeven worden – anders wordt het object aanzien als een dictionary (zie later)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1270EA-5F58-464D-8462-BDC7C4C036FB}"/>
              </a:ext>
            </a:extLst>
          </p:cNvPr>
          <p:cNvCxnSpPr>
            <a:cxnSpLocks/>
          </p:cNvCxnSpPr>
          <p:nvPr/>
        </p:nvCxnSpPr>
        <p:spPr>
          <a:xfrm>
            <a:off x="2098964" y="4021282"/>
            <a:ext cx="1900963" cy="2426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AC33D5-9FBC-4B40-816F-D638DD210509}"/>
                  </a:ext>
                </a:extLst>
              </p:cNvPr>
              <p:cNvSpPr txBox="1"/>
              <p:nvPr/>
            </p:nvSpPr>
            <p:spPr>
              <a:xfrm>
                <a:off x="3923255" y="4094672"/>
                <a:ext cx="12907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E" sz="1400" dirty="0"/>
                  <a:t>De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BE" sz="1400" dirty="0"/>
                  <a:t> operator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8AC33D5-9FBC-4B40-816F-D638DD210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255" y="4094672"/>
                <a:ext cx="1290738" cy="307777"/>
              </a:xfrm>
              <a:prstGeom prst="rect">
                <a:avLst/>
              </a:prstGeom>
              <a:blipFill>
                <a:blip r:embed="rId3"/>
                <a:stretch>
                  <a:fillRect l="-1961" t="-4000" b="-2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940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1383-D028-2A47-A001-7FC978FAE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400" dirty="0"/>
              <a:t>Objecten hebben gereserveerde functies die op hen kunnen toegepast worden – methodes</a:t>
            </a:r>
            <a:r>
              <a:rPr lang="en-US" sz="2400" dirty="0"/>
              <a:t> </a:t>
            </a:r>
            <a:r>
              <a:rPr lang="en-US" sz="2400" dirty="0" err="1"/>
              <a:t>genaamd</a:t>
            </a:r>
            <a:r>
              <a:rPr lang="en-US" sz="2400" dirty="0"/>
              <a:t> </a:t>
            </a:r>
            <a:r>
              <a:rPr lang="en-BE" sz="2400" dirty="0"/>
              <a:t>(oproepen via </a:t>
            </a:r>
            <a:r>
              <a:rPr lang="en-B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dirty="0"/>
              <a:t> – </a:t>
            </a:r>
            <a:r>
              <a:rPr lang="en-US" sz="2400" dirty="0" err="1"/>
              <a:t>zie</a:t>
            </a:r>
            <a:r>
              <a:rPr lang="en-US" sz="2400" dirty="0"/>
              <a:t> later</a:t>
            </a:r>
            <a:r>
              <a:rPr lang="en-BE" sz="2400" dirty="0"/>
              <a:t>)</a:t>
            </a:r>
          </a:p>
          <a:p>
            <a:r>
              <a:rPr lang="en-BE" sz="2400" dirty="0"/>
              <a:t>In plaats van </a:t>
            </a:r>
            <a:r>
              <a:rPr lang="en-BE" sz="2400" dirty="0">
                <a:solidFill>
                  <a:srgbClr val="00B0F0"/>
                </a:solidFill>
              </a:rPr>
              <a:t>methodes</a:t>
            </a:r>
            <a:r>
              <a:rPr lang="en-BE" sz="2400" dirty="0"/>
              <a:t> (van het object) te gebruiken, kunnen ook </a:t>
            </a:r>
            <a:r>
              <a:rPr lang="en-BE" sz="2400" dirty="0">
                <a:solidFill>
                  <a:schemeClr val="accent5">
                    <a:lumMod val="75000"/>
                  </a:schemeClr>
                </a:solidFill>
              </a:rPr>
              <a:t>operatoren</a:t>
            </a:r>
            <a:r>
              <a:rPr lang="en-BE" sz="2400" dirty="0"/>
              <a:t> gebruikt worden (over het object/de objecten):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258A4A-7042-9644-8545-5521A658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416A8-185C-734E-BBE9-F388A214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Methodes vs. operatoren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9F719-69AF-BF45-810F-E0800EB98B59}"/>
              </a:ext>
            </a:extLst>
          </p:cNvPr>
          <p:cNvSpPr/>
          <p:nvPr/>
        </p:nvSpPr>
        <p:spPr>
          <a:xfrm>
            <a:off x="1224000" y="4348995"/>
            <a:ext cx="6096000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sz="1600" dirty="0"/>
              <a:t>set_1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set_2 = {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set_3 = {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set_1 | set_2 | set_3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chemeClr val="accent3">
                    <a:lumMod val="75000"/>
                  </a:schemeClr>
                </a:solidFill>
              </a:rPr>
              <a:t>set_1.union(set_2).union(set_3)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set_1 &amp; set_2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chemeClr val="accent3">
                    <a:lumMod val="75000"/>
                  </a:schemeClr>
                </a:solidFill>
              </a:rPr>
              <a:t>set_1.intersection(set_2)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chemeClr val="accent5">
                    <a:lumMod val="75000"/>
                  </a:schemeClr>
                </a:solidFill>
              </a:rPr>
              <a:t>set_1 - set_2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chemeClr val="accent3">
                    <a:lumMod val="75000"/>
                  </a:schemeClr>
                </a:solidFill>
              </a:rPr>
              <a:t>set_1.difference(set_2)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8A3DFF-FBB9-1848-B51E-BF496F061BF6}"/>
              </a:ext>
            </a:extLst>
          </p:cNvPr>
          <p:cNvSpPr/>
          <p:nvPr/>
        </p:nvSpPr>
        <p:spPr>
          <a:xfrm>
            <a:off x="7821669" y="5056881"/>
            <a:ext cx="2947686" cy="8617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{1, 2, 3, 4, 6}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{1, 2, 3, 4, 6}</a:t>
            </a:r>
          </a:p>
          <a:p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{1}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{1}</a:t>
            </a:r>
          </a:p>
          <a:p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{3, 4}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{3, 4}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0C957-565E-9D47-963A-3F6E04D686CD}"/>
              </a:ext>
            </a:extLst>
          </p:cNvPr>
          <p:cNvSpPr txBox="1"/>
          <p:nvPr/>
        </p:nvSpPr>
        <p:spPr>
          <a:xfrm>
            <a:off x="1224000" y="397966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2ECF9-6FC2-7B4B-834F-283EAA1C1C97}"/>
              </a:ext>
            </a:extLst>
          </p:cNvPr>
          <p:cNvSpPr txBox="1"/>
          <p:nvPr/>
        </p:nvSpPr>
        <p:spPr>
          <a:xfrm>
            <a:off x="7821669" y="473346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84269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E76EC-1EC5-E24A-96BE-6D58A41FB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Elementen toevoegen en verwijderen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BE" dirty="0"/>
              <a:t>via deze methodes: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add()</a:t>
            </a:r>
            <a:r>
              <a:rPr lang="en-BE" sz="2000" dirty="0"/>
              <a:t>: toevoegen van 1 of meerdere elementen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update()</a:t>
            </a:r>
            <a:r>
              <a:rPr lang="en-BE" sz="2000" dirty="0"/>
              <a:t>: toevoegen van 1 of meerdere elementen</a:t>
            </a:r>
            <a:r>
              <a:rPr lang="en-US" sz="2000" dirty="0"/>
              <a:t> </a:t>
            </a:r>
            <a:r>
              <a:rPr lang="en-US" sz="2000" dirty="0" err="1"/>
              <a:t>uit</a:t>
            </a:r>
            <a:r>
              <a:rPr lang="en-US" sz="2000" dirty="0"/>
              <a:t>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itereerbaar</a:t>
            </a:r>
            <a:r>
              <a:rPr lang="en-US" sz="2000" dirty="0"/>
              <a:t> object</a:t>
            </a:r>
            <a:endParaRPr lang="en-BE" sz="2000" dirty="0"/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remove()</a:t>
            </a:r>
            <a:r>
              <a:rPr lang="en-BE" sz="2000" dirty="0"/>
              <a:t>: verwijdert een element maar geeft een foutenboodschap als het element niet aanwezig is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discard()</a:t>
            </a:r>
            <a:r>
              <a:rPr lang="en-BE" sz="2000" dirty="0"/>
              <a:t>: probeert een element te verwijderen, of het aanwezig is of niet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op()</a:t>
            </a:r>
            <a:r>
              <a:rPr lang="en-BE" sz="2000" dirty="0"/>
              <a:t>: verwijdert een willekeurig element (foutenboodschap bij lege set)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clear()</a:t>
            </a:r>
            <a:r>
              <a:rPr lang="en-BE" sz="2000" dirty="0"/>
              <a:t>: maakt de set leeg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9A60F-1FA0-F948-B194-77F6C8BE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29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27558-60A9-A341-A926-B2B2DF8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Verwijderen en toevoegen</a:t>
            </a:r>
          </a:p>
        </p:txBody>
      </p:sp>
    </p:spTree>
    <p:extLst>
      <p:ext uri="{BB962C8B-B14F-4D97-AF65-F5344CB8AC3E}">
        <p14:creationId xmlns:p14="http://schemas.microsoft.com/office/powerpoint/2010/main" val="3753469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D5F265-7B60-EE4E-8E99-D900CD75FF82}"/>
              </a:ext>
            </a:extLst>
          </p:cNvPr>
          <p:cNvSpPr/>
          <p:nvPr/>
        </p:nvSpPr>
        <p:spPr>
          <a:xfrm>
            <a:off x="4449985" y="2545949"/>
            <a:ext cx="6096000" cy="33239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endParaRPr lang="en-BE" sz="1400" dirty="0"/>
          </a:p>
          <a:p>
            <a:endParaRPr lang="en-BE" sz="1400" dirty="0"/>
          </a:p>
          <a:p>
            <a:r>
              <a:rPr lang="en-BE" sz="1400" dirty="0"/>
              <a:t>{1, 4, 'Johanna', 'Johannes’}</a:t>
            </a:r>
          </a:p>
          <a:p>
            <a:endParaRPr lang="en-BE" sz="1400" dirty="0"/>
          </a:p>
          <a:p>
            <a:r>
              <a:rPr lang="en-BE" sz="1400" dirty="0"/>
              <a:t>{4, 'Johanna', 'Johannes’}</a:t>
            </a:r>
          </a:p>
          <a:p>
            <a:endParaRPr lang="en-BE" sz="1400" dirty="0"/>
          </a:p>
          <a:p>
            <a:r>
              <a:rPr lang="en-BE" sz="1400" dirty="0"/>
              <a:t>{4, 'Johanna’}</a:t>
            </a:r>
          </a:p>
          <a:p>
            <a:endParaRPr lang="en-BE" sz="1400" dirty="0"/>
          </a:p>
          <a:p>
            <a:r>
              <a:rPr lang="en-BE" sz="1400" dirty="0"/>
              <a:t>{4, 'Johanna’}</a:t>
            </a:r>
          </a:p>
          <a:p>
            <a:endParaRPr lang="en-BE" sz="1400" dirty="0"/>
          </a:p>
          <a:p>
            <a:r>
              <a:rPr lang="en-BE" sz="14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BE" sz="1400" dirty="0">
                <a:solidFill>
                  <a:srgbClr val="FF0000"/>
                </a:solidFill>
              </a:rPr>
              <a:t>  File "/Users/johannesdesmedt/Desktop/Teaching/SOEP1/Deel 1/1.3-sets.py", line 60, in &lt;module&gt;</a:t>
            </a:r>
          </a:p>
          <a:p>
            <a:r>
              <a:rPr lang="en-BE" sz="1400" dirty="0">
                <a:solidFill>
                  <a:srgbClr val="FF0000"/>
                </a:solidFill>
              </a:rPr>
              <a:t>    set_4.remove('Johannes')  # dit geeft een foutmelding</a:t>
            </a:r>
          </a:p>
          <a:p>
            <a:r>
              <a:rPr lang="en-BE" sz="1400" dirty="0">
                <a:solidFill>
                  <a:srgbClr val="FF0000"/>
                </a:solidFill>
              </a:rPr>
              <a:t>KeyError: 'Johannes'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A88C3DB-6011-DD4B-9708-D55F29B0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27558-60A9-A341-A926-B2B2DF86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499E6-F014-D54A-A07C-B0B3A0A6FAB0}"/>
              </a:ext>
            </a:extLst>
          </p:cNvPr>
          <p:cNvSpPr txBox="1"/>
          <p:nvPr/>
        </p:nvSpPr>
        <p:spPr>
          <a:xfrm>
            <a:off x="941408" y="209837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6ABF8-ED66-F34B-98A9-FF7D82EF52D4}"/>
              </a:ext>
            </a:extLst>
          </p:cNvPr>
          <p:cNvSpPr txBox="1"/>
          <p:nvPr/>
        </p:nvSpPr>
        <p:spPr>
          <a:xfrm>
            <a:off x="4449985" y="208244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180F1-7BBB-8146-AAEE-994F2C6B9CF4}"/>
              </a:ext>
            </a:extLst>
          </p:cNvPr>
          <p:cNvSpPr txBox="1"/>
          <p:nvPr/>
        </p:nvSpPr>
        <p:spPr>
          <a:xfrm>
            <a:off x="6813694" y="5891012"/>
            <a:ext cx="27366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Dit element is niet aanwezig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08E753-DD04-4E45-9E2E-C93749D173F8}"/>
              </a:ext>
            </a:extLst>
          </p:cNvPr>
          <p:cNvCxnSpPr>
            <a:cxnSpLocks/>
          </p:cNvCxnSpPr>
          <p:nvPr/>
        </p:nvCxnSpPr>
        <p:spPr>
          <a:xfrm>
            <a:off x="5899313" y="5770481"/>
            <a:ext cx="833377" cy="28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506516-074B-DD48-8E9D-A9F525863D45}"/>
              </a:ext>
            </a:extLst>
          </p:cNvPr>
          <p:cNvCxnSpPr>
            <a:cxnSpLocks/>
          </p:cNvCxnSpPr>
          <p:nvPr/>
        </p:nvCxnSpPr>
        <p:spPr>
          <a:xfrm flipV="1">
            <a:off x="3185652" y="1120877"/>
            <a:ext cx="1723753" cy="33178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166CC6F-3B8E-FA42-A91C-74BE1992C67F}"/>
              </a:ext>
            </a:extLst>
          </p:cNvPr>
          <p:cNvSpPr txBox="1"/>
          <p:nvPr/>
        </p:nvSpPr>
        <p:spPr>
          <a:xfrm>
            <a:off x="4909405" y="797711"/>
            <a:ext cx="5360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Dit element is niet meer aanwezig, maar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.discard() </a:t>
            </a:r>
            <a:r>
              <a:rPr lang="en-BE" sz="1600" dirty="0"/>
              <a:t>geeft hier geen foutenboodschap voor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C47299-17F4-5E4B-9463-558B9B212E40}"/>
              </a:ext>
            </a:extLst>
          </p:cNvPr>
          <p:cNvSpPr/>
          <p:nvPr/>
        </p:nvSpPr>
        <p:spPr>
          <a:xfrm>
            <a:off x="970507" y="2547234"/>
            <a:ext cx="2616521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set_4 = {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4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}</a:t>
            </a:r>
            <a:br>
              <a:rPr lang="en-GB" sz="1400" dirty="0"/>
            </a:br>
            <a:r>
              <a:rPr lang="en-GB" sz="1400" dirty="0"/>
              <a:t>set_4.add(</a:t>
            </a:r>
            <a:r>
              <a:rPr lang="en-GB" sz="1400" dirty="0">
                <a:solidFill>
                  <a:srgbClr val="6A8759"/>
                </a:solidFill>
              </a:rPr>
              <a:t>'Johanna'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set_4.pop()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set_4.discard(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set_4.discard(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)</a:t>
            </a:r>
            <a:br>
              <a:rPr lang="en-GB" sz="1400" dirty="0">
                <a:solidFill>
                  <a:srgbClr val="808080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(set_4)</a:t>
            </a:r>
            <a:br>
              <a:rPr lang="en-GB" sz="1400" dirty="0"/>
            </a:br>
            <a:r>
              <a:rPr lang="en-GB" sz="1400" dirty="0"/>
              <a:t>set_4.remove(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)</a:t>
            </a: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3753361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DDC16D-DBFE-B544-857A-E41939D2F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Lijsten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A93601B-3C1C-744A-9299-689AAE6B1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.4-lijsten.ipynb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515D7-8757-BF44-8C97-3F55C06E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512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A200-4926-D046-AEDC-B4E6DDF9B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collectie van eender welk type objecten opgeslagen in de volgorde waarin ze worden meegegeven</a:t>
            </a:r>
          </a:p>
          <a:p>
            <a:r>
              <a:rPr lang="nl-NL" dirty="0"/>
              <a:t>Volledig geïndexeerd en makkelijk te navigeren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ED9E133-1C74-184F-A96F-9D4DD267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2FE6C-1B72-1D4B-9255-5A4F19BC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5752C8-C750-7941-BAB3-CD6DF0EFE437}"/>
              </a:ext>
            </a:extLst>
          </p:cNvPr>
          <p:cNvSpPr/>
          <p:nvPr/>
        </p:nvSpPr>
        <p:spPr>
          <a:xfrm>
            <a:off x="2858947" y="3677757"/>
            <a:ext cx="3237053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lijst_1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(lijst_1)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(lijst_1[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(lijst_1[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lijst_2 = </a:t>
            </a:r>
            <a:r>
              <a:rPr lang="en-GB" sz="1600" dirty="0">
                <a:solidFill>
                  <a:srgbClr val="8888C6"/>
                </a:solidFill>
              </a:rPr>
              <a:t>list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/>
              <a:t>lijst_2.append(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(lijst_2)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A9171-886D-874A-9F7C-A3C2628CC35C}"/>
              </a:ext>
            </a:extLst>
          </p:cNvPr>
          <p:cNvSpPr/>
          <p:nvPr/>
        </p:nvSpPr>
        <p:spPr>
          <a:xfrm>
            <a:off x="6443242" y="3677757"/>
            <a:ext cx="2345803" cy="21236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[1, 2, 'johannes', 2]</a:t>
            </a:r>
          </a:p>
          <a:p>
            <a:r>
              <a:rPr lang="en-BE" sz="1600" dirty="0"/>
              <a:t>1</a:t>
            </a:r>
          </a:p>
          <a:p>
            <a:r>
              <a:rPr lang="en-BE" sz="1600" dirty="0"/>
              <a:t>2</a:t>
            </a:r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[2]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3C642-BA13-0547-AF11-2D67B5CFA46B}"/>
              </a:ext>
            </a:extLst>
          </p:cNvPr>
          <p:cNvSpPr txBox="1"/>
          <p:nvPr/>
        </p:nvSpPr>
        <p:spPr>
          <a:xfrm>
            <a:off x="2858947" y="330614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06AD0-0AE4-C24B-BAE2-BE84DC3940F5}"/>
              </a:ext>
            </a:extLst>
          </p:cNvPr>
          <p:cNvSpPr txBox="1"/>
          <p:nvPr/>
        </p:nvSpPr>
        <p:spPr>
          <a:xfrm>
            <a:off x="6443242" y="330614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2CE898-36C2-494B-B6B5-A749C18669E5}"/>
              </a:ext>
            </a:extLst>
          </p:cNvPr>
          <p:cNvCxnSpPr>
            <a:cxnSpLocks/>
          </p:cNvCxnSpPr>
          <p:nvPr/>
        </p:nvCxnSpPr>
        <p:spPr>
          <a:xfrm>
            <a:off x="4235669" y="4391964"/>
            <a:ext cx="1366345" cy="14094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16CF74F-35B8-0847-A83F-52C276BD830B}"/>
              </a:ext>
            </a:extLst>
          </p:cNvPr>
          <p:cNvSpPr txBox="1"/>
          <p:nvPr/>
        </p:nvSpPr>
        <p:spPr>
          <a:xfrm>
            <a:off x="5401355" y="5808647"/>
            <a:ext cx="5415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Zoals in de meeste programmeertalen tellen we vanaf 0</a:t>
            </a:r>
          </a:p>
        </p:txBody>
      </p:sp>
    </p:spTree>
    <p:extLst>
      <p:ext uri="{BB962C8B-B14F-4D97-AF65-F5344CB8AC3E}">
        <p14:creationId xmlns:p14="http://schemas.microsoft.com/office/powerpoint/2010/main" val="19268808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413DE-F5AC-344B-837B-DB6C0462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3207A-9C15-6C4F-9912-F8533567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Indexering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2E0FF-B18B-3040-A89E-CC83A08231BD}"/>
              </a:ext>
            </a:extLst>
          </p:cNvPr>
          <p:cNvSpPr/>
          <p:nvPr/>
        </p:nvSpPr>
        <p:spPr>
          <a:xfrm>
            <a:off x="4633731" y="2669170"/>
            <a:ext cx="3146387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lijst_3 = [</a:t>
            </a:r>
            <a:r>
              <a:rPr lang="en-GB" sz="1600" dirty="0">
                <a:solidFill>
                  <a:srgbClr val="6A8759"/>
                </a:solidFill>
              </a:rPr>
              <a:t>'a'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'c'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'f'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(lijst_3[-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(lijst_3[-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:])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(lijst_3[-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:-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(lijst_3[::-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85039-D1F5-5048-8FA5-E050E86E6AC1}"/>
              </a:ext>
            </a:extLst>
          </p:cNvPr>
          <p:cNvSpPr/>
          <p:nvPr/>
        </p:nvSpPr>
        <p:spPr>
          <a:xfrm>
            <a:off x="7969386" y="2884613"/>
            <a:ext cx="3048000" cy="23391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['a', 'b', 'c', 'f', 1, 3, 4]</a:t>
            </a:r>
          </a:p>
          <a:p>
            <a:r>
              <a:rPr lang="en-BE" sz="1600" dirty="0"/>
              <a:t>a</a:t>
            </a:r>
          </a:p>
          <a:p>
            <a:r>
              <a:rPr lang="en-BE" sz="1600" dirty="0"/>
              <a:t>f</a:t>
            </a:r>
          </a:p>
          <a:p>
            <a:r>
              <a:rPr lang="en-BE" sz="1600" dirty="0"/>
              <a:t>4</a:t>
            </a:r>
          </a:p>
          <a:p>
            <a:r>
              <a:rPr lang="en-BE" sz="1600" dirty="0"/>
              <a:t>['b', 'c']</a:t>
            </a:r>
          </a:p>
          <a:p>
            <a:r>
              <a:rPr lang="en-BE" sz="1600" dirty="0"/>
              <a:t>['b', 'f']</a:t>
            </a:r>
          </a:p>
          <a:p>
            <a:r>
              <a:rPr lang="en-BE" sz="1600" dirty="0"/>
              <a:t>[1, 3, 4]</a:t>
            </a:r>
          </a:p>
          <a:p>
            <a:r>
              <a:rPr lang="en-BE" sz="1600" dirty="0"/>
              <a:t>['f', 1]</a:t>
            </a:r>
          </a:p>
          <a:p>
            <a:r>
              <a:rPr lang="en-BE" sz="1600" dirty="0"/>
              <a:t>[4, 3, 1, 'f', 'c', 'b', 'a']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6CF55-3EA0-7640-BE47-D85A0CE5BE72}"/>
              </a:ext>
            </a:extLst>
          </p:cNvPr>
          <p:cNvSpPr txBox="1"/>
          <p:nvPr/>
        </p:nvSpPr>
        <p:spPr>
          <a:xfrm>
            <a:off x="991388" y="2946168"/>
            <a:ext cx="3642343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sz="1600" dirty="0"/>
              <a:t>Volledige lijst:</a:t>
            </a:r>
          </a:p>
          <a:p>
            <a:pPr algn="r"/>
            <a:r>
              <a:rPr lang="en-BE" sz="1600" dirty="0"/>
              <a:t>Eerste element:</a:t>
            </a:r>
          </a:p>
          <a:p>
            <a:pPr algn="r"/>
            <a:r>
              <a:rPr lang="en-BE" sz="1600" dirty="0"/>
              <a:t>Vierde element:</a:t>
            </a:r>
          </a:p>
          <a:p>
            <a:pPr algn="r"/>
            <a:r>
              <a:rPr lang="en-BE" sz="1600" dirty="0"/>
              <a:t>Laatste element:</a:t>
            </a:r>
          </a:p>
          <a:p>
            <a:pPr algn="r"/>
            <a:r>
              <a:rPr lang="en-BE" sz="1600" dirty="0"/>
              <a:t>Elementen 2 </a:t>
            </a:r>
            <a:r>
              <a:rPr lang="en-BE" sz="1600" b="1" dirty="0"/>
              <a:t>tot</a:t>
            </a:r>
            <a:r>
              <a:rPr lang="en-BE" sz="1600" dirty="0"/>
              <a:t> 4:</a:t>
            </a:r>
          </a:p>
          <a:p>
            <a:pPr algn="r"/>
            <a:r>
              <a:rPr lang="en-BE" sz="1600" dirty="0"/>
              <a:t>Elementen 2, 4 (2 </a:t>
            </a:r>
            <a:r>
              <a:rPr lang="en-BE" sz="1600" b="1" dirty="0"/>
              <a:t>tot</a:t>
            </a:r>
            <a:r>
              <a:rPr lang="en-BE" sz="1600" dirty="0"/>
              <a:t> 6 per 2):</a:t>
            </a:r>
          </a:p>
          <a:p>
            <a:pPr algn="r"/>
            <a:r>
              <a:rPr lang="en-BE" sz="1600" dirty="0"/>
              <a:t>Laatste 3 elementen:</a:t>
            </a:r>
          </a:p>
          <a:p>
            <a:pPr algn="r"/>
            <a:r>
              <a:rPr lang="en-BE" sz="1600" dirty="0"/>
              <a:t>4de laatste </a:t>
            </a:r>
            <a:r>
              <a:rPr lang="en-BE" sz="1600" b="1" dirty="0"/>
              <a:t>tot</a:t>
            </a:r>
            <a:r>
              <a:rPr lang="en-BE" sz="1600" dirty="0"/>
              <a:t> 2de laatste elementen:</a:t>
            </a:r>
          </a:p>
          <a:p>
            <a:pPr algn="r"/>
            <a:r>
              <a:rPr lang="en-BE" sz="1600" dirty="0"/>
              <a:t>Omgekeerde lijst: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811EE-9D0C-8D4E-B93D-15F6AB88EA30}"/>
              </a:ext>
            </a:extLst>
          </p:cNvPr>
          <p:cNvSpPr txBox="1"/>
          <p:nvPr/>
        </p:nvSpPr>
        <p:spPr>
          <a:xfrm>
            <a:off x="4633731" y="229983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077B1-75B6-4649-871B-749BD8D14644}"/>
              </a:ext>
            </a:extLst>
          </p:cNvPr>
          <p:cNvSpPr txBox="1"/>
          <p:nvPr/>
        </p:nvSpPr>
        <p:spPr>
          <a:xfrm>
            <a:off x="7969386" y="2299838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84A46-D312-A443-B4EE-B7015D1AF970}"/>
              </a:ext>
            </a:extLst>
          </p:cNvPr>
          <p:cNvSpPr txBox="1"/>
          <p:nvPr/>
        </p:nvSpPr>
        <p:spPr>
          <a:xfrm>
            <a:off x="2629941" y="5652056"/>
            <a:ext cx="668324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BE" sz="1600" dirty="0"/>
              <a:t>Strings zijn ook itereerbare objecten die dezelfde indexering hanteren</a:t>
            </a:r>
          </a:p>
        </p:txBody>
      </p:sp>
    </p:spTree>
    <p:extLst>
      <p:ext uri="{BB962C8B-B14F-4D97-AF65-F5344CB8AC3E}">
        <p14:creationId xmlns:p14="http://schemas.microsoft.com/office/powerpoint/2010/main" val="3063186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A897FA-BEBE-E14B-A81B-D4583D36C682}"/>
              </a:ext>
            </a:extLst>
          </p:cNvPr>
          <p:cNvCxnSpPr>
            <a:cxnSpLocks/>
          </p:cNvCxnSpPr>
          <p:nvPr/>
        </p:nvCxnSpPr>
        <p:spPr>
          <a:xfrm flipV="1">
            <a:off x="2764221" y="423826"/>
            <a:ext cx="4886645" cy="31496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EAB93-0E97-7944-9CFB-4C8C431F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0D41F-81B2-6E4D-8B04-D82291EC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Verwijderen en toevoegen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4E3C3-8B24-9E45-884E-EBC627C43444}"/>
              </a:ext>
            </a:extLst>
          </p:cNvPr>
          <p:cNvSpPr/>
          <p:nvPr/>
        </p:nvSpPr>
        <p:spPr>
          <a:xfrm>
            <a:off x="838200" y="1460599"/>
            <a:ext cx="3293962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lijst_4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lijst_4.append(</a:t>
            </a:r>
            <a:r>
              <a:rPr lang="en-GB" sz="1600" dirty="0">
                <a:solidFill>
                  <a:srgbClr val="6A8759"/>
                </a:solidFill>
              </a:rPr>
              <a:t>'Johanna'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lijst_4.append([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lijst_4.extend([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 = lijst_4 +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lijst_4.pop()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lijst_4.insert(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blabla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/>
              <a:t>lijst_4[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8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br>
              <a:rPr lang="en-GB" sz="1600" dirty="0"/>
            </a:br>
            <a:r>
              <a:rPr lang="en-GB" sz="1600" dirty="0"/>
              <a:t>lijst_4.remove(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(lijst_4)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09437-70BB-7E43-9762-47BD02230F76}"/>
              </a:ext>
            </a:extLst>
          </p:cNvPr>
          <p:cNvSpPr/>
          <p:nvPr/>
        </p:nvSpPr>
        <p:spPr>
          <a:xfrm>
            <a:off x="4287455" y="1460599"/>
            <a:ext cx="7391401" cy="47705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[1, 2, 'johannes’]</a:t>
            </a:r>
          </a:p>
          <a:p>
            <a:endParaRPr lang="en-BE" sz="1600" dirty="0"/>
          </a:p>
          <a:p>
            <a:r>
              <a:rPr lang="en-BE" sz="1600" dirty="0"/>
              <a:t>[1, 2, 'johannes', 'Johanna’]</a:t>
            </a:r>
          </a:p>
          <a:p>
            <a:endParaRPr lang="en-BE" sz="1600" dirty="0"/>
          </a:p>
          <a:p>
            <a:r>
              <a:rPr lang="en-BE" sz="1600" dirty="0"/>
              <a:t>[1, 2, 'johannes', 'Johanna', </a:t>
            </a:r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[2, 'Johannes’] </a:t>
            </a:r>
            <a:r>
              <a:rPr lang="en-BE" sz="1600" dirty="0"/>
              <a:t>] </a:t>
            </a:r>
            <a:r>
              <a:rPr lang="en-BE" sz="1600" dirty="0">
                <a:solidFill>
                  <a:schemeClr val="accent5">
                    <a:lumMod val="75000"/>
                  </a:schemeClr>
                </a:solidFill>
              </a:rPr>
              <a:t># dit is een lijst in een lijst</a:t>
            </a:r>
          </a:p>
          <a:p>
            <a:endParaRPr lang="en-BE" sz="1600" dirty="0"/>
          </a:p>
          <a:p>
            <a:r>
              <a:rPr lang="en-BE" sz="1600" dirty="0"/>
              <a:t>[1, 2, 'johannes', 'Johanna', [2, 'Johannes'], 3, 5, 6]</a:t>
            </a:r>
          </a:p>
          <a:p>
            <a:endParaRPr lang="en-BE" sz="1600" dirty="0"/>
          </a:p>
          <a:p>
            <a:r>
              <a:rPr lang="en-BE" sz="1600" dirty="0"/>
              <a:t>[1, 2, 'johannes', 'Johanna', [2, 'Johannes'], 3, 5, 6, 0]</a:t>
            </a:r>
          </a:p>
          <a:p>
            <a:endParaRPr lang="en-BE" sz="1600" dirty="0"/>
          </a:p>
          <a:p>
            <a:r>
              <a:rPr lang="en-BE" sz="1600" dirty="0"/>
              <a:t>[1, 2, 'johannes', 'Johanna', [2, 'Johannes'], 3, 5, 6]</a:t>
            </a:r>
          </a:p>
          <a:p>
            <a:endParaRPr lang="en-BE" sz="1600" dirty="0"/>
          </a:p>
          <a:p>
            <a:r>
              <a:rPr lang="en-BE" sz="1600" dirty="0"/>
              <a:t>[1, 2, 'johannes', 'blabla', 'Johanna', [2, 'Johannes'], 3, 5, 6]</a:t>
            </a:r>
          </a:p>
          <a:p>
            <a:endParaRPr lang="en-BE" sz="1600" dirty="0"/>
          </a:p>
          <a:p>
            <a:r>
              <a:rPr lang="en-BE" sz="1600" dirty="0"/>
              <a:t>[1, 2, 6]</a:t>
            </a:r>
          </a:p>
          <a:p>
            <a:endParaRPr lang="en-GB" sz="1600" dirty="0">
              <a:solidFill>
                <a:srgbClr val="FF0000"/>
              </a:solidFill>
            </a:endParaRPr>
          </a:p>
          <a:p>
            <a:r>
              <a:rPr lang="en-GB" sz="1600" dirty="0">
                <a:solidFill>
                  <a:srgbClr val="FF0000"/>
                </a:solidFill>
              </a:rPr>
              <a:t>Traceback (most recent call last):   File ~/SOEP1/1-lijsten.py", line 42, in &lt;module&gt;     lijst_4.remove('Johannes’) </a:t>
            </a:r>
            <a:r>
              <a:rPr lang="en-GB" sz="1600" dirty="0" err="1">
                <a:solidFill>
                  <a:srgbClr val="FF0000"/>
                </a:solidFill>
              </a:rPr>
              <a:t>ValueError</a:t>
            </a:r>
            <a:r>
              <a:rPr lang="en-GB" sz="1600" dirty="0">
                <a:solidFill>
                  <a:srgbClr val="FF0000"/>
                </a:solidFill>
              </a:rPr>
              <a:t>: </a:t>
            </a:r>
            <a:r>
              <a:rPr lang="en-GB" sz="1600" dirty="0" err="1">
                <a:solidFill>
                  <a:srgbClr val="FF0000"/>
                </a:solidFill>
              </a:rPr>
              <a:t>list.remove</a:t>
            </a:r>
            <a:r>
              <a:rPr lang="en-GB" sz="1600" dirty="0">
                <a:solidFill>
                  <a:srgbClr val="FF0000"/>
                </a:solidFill>
              </a:rPr>
              <a:t>(x): x not in list</a:t>
            </a:r>
            <a:endParaRPr lang="en-BE" sz="16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F1731A-7E27-CC4D-B478-D63BED0D03EE}"/>
              </a:ext>
            </a:extLst>
          </p:cNvPr>
          <p:cNvSpPr txBox="1"/>
          <p:nvPr/>
        </p:nvSpPr>
        <p:spPr>
          <a:xfrm>
            <a:off x="30866" y="147261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2CD0D-849F-1545-BCA7-A7BC742EF62F}"/>
              </a:ext>
            </a:extLst>
          </p:cNvPr>
          <p:cNvSpPr txBox="1"/>
          <p:nvPr/>
        </p:nvSpPr>
        <p:spPr>
          <a:xfrm>
            <a:off x="8343900" y="109126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69164-7310-5B4D-9A29-4FD54047A3C7}"/>
              </a:ext>
            </a:extLst>
          </p:cNvPr>
          <p:cNvSpPr txBox="1"/>
          <p:nvPr/>
        </p:nvSpPr>
        <p:spPr>
          <a:xfrm>
            <a:off x="7647490" y="93456"/>
            <a:ext cx="393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200" dirty="0"/>
              <a:t>Als we de </a:t>
            </a:r>
            <a:r>
              <a:rPr lang="en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BE" sz="1200" dirty="0"/>
              <a:t> operator gebruiken moeten we een andere </a:t>
            </a:r>
            <a:r>
              <a:rPr lang="en-US" sz="1200" dirty="0" err="1"/>
              <a:t>lijst</a:t>
            </a:r>
            <a:r>
              <a:rPr lang="en-BE" sz="1200" dirty="0"/>
              <a:t> aan onze lijst koppelen (hier dus met haken om een lijst aan te maken met 1 element). De </a:t>
            </a:r>
            <a:r>
              <a:rPr lang="en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BE" sz="1200" dirty="0"/>
              <a:t> operator werkt zoals </a:t>
            </a:r>
            <a:r>
              <a:rPr lang="en-BE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extend()</a:t>
            </a:r>
            <a:r>
              <a:rPr lang="en-BE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1585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4247ABF-2110-5FA2-B335-ECEBE94E5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count(el)</a:t>
            </a:r>
            <a:r>
              <a:rPr lang="en-US" dirty="0"/>
              <a:t>: </a:t>
            </a:r>
            <a:r>
              <a:rPr lang="en-US" dirty="0" err="1"/>
              <a:t>telt</a:t>
            </a:r>
            <a:r>
              <a:rPr lang="en-US" dirty="0"/>
              <a:t> het </a:t>
            </a:r>
            <a:r>
              <a:rPr lang="en-US" dirty="0" err="1"/>
              <a:t>aantal</a:t>
            </a:r>
            <a:r>
              <a:rPr lang="en-US" dirty="0"/>
              <a:t> </a:t>
            </a:r>
            <a:r>
              <a:rPr lang="en-US" dirty="0" err="1"/>
              <a:t>voorkomens</a:t>
            </a:r>
            <a:r>
              <a:rPr lang="en-US" dirty="0"/>
              <a:t> van element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index(el)</a:t>
            </a:r>
            <a:r>
              <a:rPr lang="en-US" dirty="0"/>
              <a:t>: </a:t>
            </a:r>
            <a:r>
              <a:rPr lang="en-US" dirty="0" err="1"/>
              <a:t>geeft</a:t>
            </a:r>
            <a:r>
              <a:rPr lang="en-US" dirty="0"/>
              <a:t> de index </a:t>
            </a:r>
            <a:r>
              <a:rPr lang="en-US" dirty="0" err="1"/>
              <a:t>terug</a:t>
            </a:r>
            <a:r>
              <a:rPr lang="en-US" dirty="0"/>
              <a:t> van element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dirty="0"/>
              <a:t>, of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foutenmelding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4FD35F-8888-2FF1-B6A1-593A8B64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450D04-718B-5142-B462-C035CAAA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Handige</a:t>
            </a:r>
            <a:r>
              <a:rPr lang="en-US" dirty="0"/>
              <a:t> </a:t>
            </a:r>
            <a:r>
              <a:rPr lang="en-US" dirty="0" err="1"/>
              <a:t>methodes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8FFC7-6636-D5DF-3DF3-2E78AE33D503}"/>
              </a:ext>
            </a:extLst>
          </p:cNvPr>
          <p:cNvSpPr txBox="1"/>
          <p:nvPr/>
        </p:nvSpPr>
        <p:spPr>
          <a:xfrm>
            <a:off x="576000" y="3626068"/>
            <a:ext cx="5520000" cy="16979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johannes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'Johanna'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'Index van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eerste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2:'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'Aantal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keer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2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voorkomt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"Aantal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keer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blabla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voorkomt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blabla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blabla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geeft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foutmelding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'Fout:'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"'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blabla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is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niet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aanwezig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 de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lijst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8E821-82F9-9BDA-FAD0-0B1ADA795C01}"/>
              </a:ext>
            </a:extLst>
          </p:cNvPr>
          <p:cNvSpPr txBox="1"/>
          <p:nvPr/>
        </p:nvSpPr>
        <p:spPr>
          <a:xfrm>
            <a:off x="6220690" y="4105686"/>
            <a:ext cx="5284473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 van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eerste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2: 0 </a:t>
            </a:r>
          </a:p>
          <a:p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Aantal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keer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2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voorkomt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2 </a:t>
            </a:r>
          </a:p>
          <a:p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Aantal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keer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blabla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voorkomt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0 </a:t>
            </a:r>
          </a:p>
          <a:p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Fout: '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blabla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 is not in list '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blabla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 is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niet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aanwezig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 de </a:t>
            </a:r>
            <a:r>
              <a:rPr lang="en-US" sz="105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lijst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B3ACC-FA21-C049-2553-1D9775C38F81}"/>
              </a:ext>
            </a:extLst>
          </p:cNvPr>
          <p:cNvSpPr txBox="1"/>
          <p:nvPr/>
        </p:nvSpPr>
        <p:spPr>
          <a:xfrm>
            <a:off x="576000" y="3166706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7B68B-AB23-4AE1-30D6-34106CED4E9F}"/>
              </a:ext>
            </a:extLst>
          </p:cNvPr>
          <p:cNvSpPr txBox="1"/>
          <p:nvPr/>
        </p:nvSpPr>
        <p:spPr>
          <a:xfrm>
            <a:off x="6220690" y="375995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072327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231C-55FD-704F-A624-1E52708F7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Eender welk</a:t>
            </a:r>
            <a:r>
              <a:rPr lang="en-US" dirty="0"/>
              <a:t> </a:t>
            </a:r>
            <a:r>
              <a:rPr lang="en-US" dirty="0" err="1"/>
              <a:t>soort</a:t>
            </a:r>
            <a:r>
              <a:rPr lang="en-BE" dirty="0"/>
              <a:t> object </a:t>
            </a:r>
            <a:r>
              <a:rPr lang="en-US" dirty="0" err="1"/>
              <a:t>kan</a:t>
            </a:r>
            <a:r>
              <a:rPr lang="en-BE" dirty="0"/>
              <a:t> in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BE" dirty="0"/>
              <a:t>lijst gestopt worden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/>
              <a:t>Dus ook andere lijsten</a:t>
            </a:r>
          </a:p>
          <a:p>
            <a:r>
              <a:rPr lang="en-BE" dirty="0"/>
              <a:t>Zo kunnen matrices worden gebouwd: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BA027-AE84-9C45-BC2C-42BB26F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D9831-E5F5-CF48-9A31-30428070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Nesten van lijsten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B850B-9DA4-4144-B6E8-2CFC642025F1}"/>
              </a:ext>
            </a:extLst>
          </p:cNvPr>
          <p:cNvSpPr/>
          <p:nvPr/>
        </p:nvSpPr>
        <p:spPr>
          <a:xfrm>
            <a:off x="2285035" y="4145638"/>
            <a:ext cx="4047281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hoofdlijst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</a:rPr>
              <a:t>list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/>
              <a:t>sublijst_1 = 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/>
              <a:t>sublijst_2 = [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 err="1"/>
              <a:t>hoofdlijst.extend</a:t>
            </a:r>
            <a:r>
              <a:rPr lang="en-GB" sz="1600" dirty="0"/>
              <a:t>([sublijst_1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sublijst_2])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hoofdlijst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hoofdlijst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hoofdlijst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7D51A-0918-5A47-B8BD-673353EE6E85}"/>
              </a:ext>
            </a:extLst>
          </p:cNvPr>
          <p:cNvSpPr/>
          <p:nvPr/>
        </p:nvSpPr>
        <p:spPr>
          <a:xfrm>
            <a:off x="6858964" y="5099746"/>
            <a:ext cx="475703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[[1, 2, 3], ['johannes', 5, 6]]</a:t>
            </a:r>
          </a:p>
          <a:p>
            <a:r>
              <a:rPr lang="en-GB" sz="1600" dirty="0"/>
              <a:t>J</a:t>
            </a:r>
            <a:r>
              <a:rPr lang="en-BE" sz="1600" dirty="0"/>
              <a:t>ohannes 	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(tweede rij, eerste kolom)</a:t>
            </a:r>
          </a:p>
          <a:p>
            <a:r>
              <a:rPr lang="en-BE" sz="1600" dirty="0"/>
              <a:t>3 		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(eerste rij, derde kolom)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92DC0-F3C4-C346-89DD-082CAD654093}"/>
              </a:ext>
            </a:extLst>
          </p:cNvPr>
          <p:cNvSpPr txBox="1"/>
          <p:nvPr/>
        </p:nvSpPr>
        <p:spPr>
          <a:xfrm>
            <a:off x="2285035" y="3776306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ABA8E-B6EF-C146-8639-7ED01DC3A47C}"/>
              </a:ext>
            </a:extLst>
          </p:cNvPr>
          <p:cNvSpPr txBox="1"/>
          <p:nvPr/>
        </p:nvSpPr>
        <p:spPr>
          <a:xfrm>
            <a:off x="6858965" y="472503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1422308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CE7A6-5778-6C4E-9245-6896B0B0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AE7B8-1849-A147-B8F9-74214A1C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Shallow</a:t>
            </a:r>
            <a:r>
              <a:rPr lang="nl-NL" dirty="0"/>
              <a:t> copy vs. </a:t>
            </a:r>
            <a:r>
              <a:rPr lang="nl-NL" dirty="0" err="1"/>
              <a:t>deep</a:t>
            </a:r>
            <a:r>
              <a:rPr lang="nl-NL" dirty="0"/>
              <a:t> copy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118E5-24D9-8A41-96B4-887677317F0B}"/>
              </a:ext>
            </a:extLst>
          </p:cNvPr>
          <p:cNvSpPr txBox="1"/>
          <p:nvPr/>
        </p:nvSpPr>
        <p:spPr>
          <a:xfrm>
            <a:off x="1345323" y="1898869"/>
            <a:ext cx="4256690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</a:rPr>
              <a:t>import </a:t>
            </a:r>
            <a:r>
              <a:rPr lang="en-GB" sz="1600" dirty="0"/>
              <a:t>copy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eerste_lijst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  <a:effectLst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</a:rPr>
              <a:t>, 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  <a:effectLst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</a:rPr>
              <a:t>4</a:t>
            </a:r>
            <a:r>
              <a:rPr lang="en-GB" sz="1600" dirty="0"/>
              <a:t>]]</a:t>
            </a:r>
            <a:br>
              <a:rPr lang="en-GB" sz="1600" dirty="0"/>
            </a:br>
            <a:r>
              <a:rPr lang="en-GB" sz="1600" dirty="0" err="1"/>
              <a:t>tweede_lijst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  <a:effectLst/>
              </a:rPr>
              <a:t>list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 </a:t>
            </a:r>
            <a:r>
              <a:rPr lang="en-GB" sz="1600" dirty="0">
                <a:solidFill>
                  <a:schemeClr val="bg1">
                    <a:lumMod val="65000"/>
                  </a:schemeClr>
                </a:solidFill>
              </a:rPr>
              <a:t># shallow copy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tweede_lijst.append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'extra'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tweede_lijst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tweede_lijst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  <a:effectLst/>
              </a:rPr>
              <a:t>0</a:t>
            </a:r>
            <a:r>
              <a:rPr lang="en-GB" sz="1600" dirty="0"/>
              <a:t>] = </a:t>
            </a:r>
            <a:r>
              <a:rPr lang="en-GB" sz="1600" dirty="0">
                <a:solidFill>
                  <a:srgbClr val="6897BB"/>
                </a:solidFill>
                <a:effectLst/>
              </a:rPr>
              <a:t>5</a:t>
            </a:r>
            <a:br>
              <a:rPr lang="en-GB" sz="1600" dirty="0">
                <a:solidFill>
                  <a:srgbClr val="6897BB"/>
                </a:solidFill>
                <a:effectLst/>
              </a:rPr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tweede_lijst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derde_lijst</a:t>
            </a:r>
            <a:r>
              <a:rPr lang="en-GB" sz="1600" dirty="0"/>
              <a:t> = </a:t>
            </a:r>
            <a:r>
              <a:rPr lang="en-GB" sz="1600" dirty="0" err="1"/>
              <a:t>copy.deepcopy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derde_lijst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/>
              <a:t>][</a:t>
            </a:r>
            <a:r>
              <a:rPr lang="en-GB" sz="1600" dirty="0">
                <a:solidFill>
                  <a:srgbClr val="6897BB"/>
                </a:solidFill>
                <a:effectLst/>
              </a:rPr>
              <a:t>0</a:t>
            </a:r>
            <a:r>
              <a:rPr lang="en-GB" sz="1600" dirty="0"/>
              <a:t>] = </a:t>
            </a:r>
            <a:r>
              <a:rPr lang="en-GB" sz="1600" dirty="0">
                <a:solidFill>
                  <a:srgbClr val="6897BB"/>
                </a:solidFill>
                <a:effectLst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</a:rPr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eerste_lijst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derde_lijst</a:t>
            </a:r>
            <a:r>
              <a:rPr lang="en-GB" sz="1600" dirty="0"/>
              <a:t>)</a:t>
            </a:r>
            <a:endParaRPr lang="nl-N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FA4E0-D180-104D-9624-3BDF9579F823}"/>
              </a:ext>
            </a:extLst>
          </p:cNvPr>
          <p:cNvSpPr txBox="1"/>
          <p:nvPr/>
        </p:nvSpPr>
        <p:spPr>
          <a:xfrm>
            <a:off x="5749159" y="1898869"/>
            <a:ext cx="1975945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[1, 2, [</a:t>
            </a:r>
            <a:r>
              <a:rPr lang="nl-NL" sz="1600" dirty="0">
                <a:solidFill>
                  <a:srgbClr val="FF0000"/>
                </a:solidFill>
              </a:rPr>
              <a:t>3</a:t>
            </a:r>
            <a:r>
              <a:rPr lang="nl-NL" sz="1600" dirty="0"/>
              <a:t>, 4]]</a:t>
            </a:r>
          </a:p>
          <a:p>
            <a:r>
              <a:rPr lang="nl-NL" sz="1600" dirty="0"/>
              <a:t>[1, 2, [3, 4], 'extra’]</a:t>
            </a:r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[1, 2, [5, 4]]</a:t>
            </a:r>
          </a:p>
          <a:p>
            <a:r>
              <a:rPr lang="nl-NL" sz="1600" dirty="0"/>
              <a:t>[1, 2, [5, 4], 'extra’]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[1, 2, [5, 4]]</a:t>
            </a:r>
          </a:p>
          <a:p>
            <a:r>
              <a:rPr lang="nl-NL" sz="1600" dirty="0"/>
              <a:t>[1, 2, [1, 4]]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C21A3-D6CC-7147-93AE-9A7024FF18F4}"/>
              </a:ext>
            </a:extLst>
          </p:cNvPr>
          <p:cNvSpPr txBox="1"/>
          <p:nvPr/>
        </p:nvSpPr>
        <p:spPr>
          <a:xfrm>
            <a:off x="1345323" y="157926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7ABB0-355E-9540-8F3D-57CE9998465F}"/>
              </a:ext>
            </a:extLst>
          </p:cNvPr>
          <p:cNvSpPr txBox="1"/>
          <p:nvPr/>
        </p:nvSpPr>
        <p:spPr>
          <a:xfrm>
            <a:off x="5749159" y="157398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FDB25-0462-C548-8387-176D43211933}"/>
              </a:ext>
            </a:extLst>
          </p:cNvPr>
          <p:cNvSpPr txBox="1"/>
          <p:nvPr/>
        </p:nvSpPr>
        <p:spPr>
          <a:xfrm>
            <a:off x="8661775" y="2974288"/>
            <a:ext cx="3499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Een ‘</a:t>
            </a:r>
            <a:r>
              <a:rPr lang="nl-NL" sz="1600" dirty="0" err="1"/>
              <a:t>shallow</a:t>
            </a:r>
            <a:r>
              <a:rPr lang="nl-NL" sz="1600" dirty="0"/>
              <a:t>’ kopie van een lijst kan gemaakt worden met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list()</a:t>
            </a:r>
            <a:r>
              <a:rPr lang="nl-NL" sz="1600" dirty="0"/>
              <a:t>, maar deze zal niet de onderliggende elementen kopiëren – de lijst in de lijst wordt gewoon in beide lijsten gewijzigd (3 -&gt; 5)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3BA074-28D3-E64A-BE60-49738AE6D8DD}"/>
              </a:ext>
            </a:extLst>
          </p:cNvPr>
          <p:cNvCxnSpPr>
            <a:cxnSpLocks/>
          </p:cNvCxnSpPr>
          <p:nvPr/>
        </p:nvCxnSpPr>
        <p:spPr>
          <a:xfrm flipV="1">
            <a:off x="7651531" y="3429000"/>
            <a:ext cx="1040524" cy="3442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EEB9C8-972C-1549-B0F3-8B51CAEC2B47}"/>
              </a:ext>
            </a:extLst>
          </p:cNvPr>
          <p:cNvCxnSpPr>
            <a:cxnSpLocks/>
          </p:cNvCxnSpPr>
          <p:nvPr/>
        </p:nvCxnSpPr>
        <p:spPr>
          <a:xfrm flipV="1">
            <a:off x="7514897" y="4260014"/>
            <a:ext cx="1177158" cy="3337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6FC64-2003-A345-A0F5-50AC179624F0}"/>
              </a:ext>
            </a:extLst>
          </p:cNvPr>
          <p:cNvCxnSpPr>
            <a:cxnSpLocks/>
          </p:cNvCxnSpPr>
          <p:nvPr/>
        </p:nvCxnSpPr>
        <p:spPr>
          <a:xfrm flipV="1">
            <a:off x="6989381" y="5365055"/>
            <a:ext cx="1765737" cy="5273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2B3359-BBA3-8146-9FBA-73FC27FF318E}"/>
              </a:ext>
            </a:extLst>
          </p:cNvPr>
          <p:cNvSpPr txBox="1"/>
          <p:nvPr/>
        </p:nvSpPr>
        <p:spPr>
          <a:xfrm>
            <a:off x="8812474" y="5154889"/>
            <a:ext cx="3290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Om dit te vermijden kan een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deepcopy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600" dirty="0"/>
              <a:t> gebruikt worden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8887A17-00D9-316B-7A61-098333022AE5}"/>
              </a:ext>
            </a:extLst>
          </p:cNvPr>
          <p:cNvCxnSpPr>
            <a:cxnSpLocks/>
          </p:cNvCxnSpPr>
          <p:nvPr/>
        </p:nvCxnSpPr>
        <p:spPr>
          <a:xfrm flipV="1">
            <a:off x="6463861" y="2221911"/>
            <a:ext cx="2651859" cy="12070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D8364A-A994-B2C6-3C2D-8CD3B1926C57}"/>
              </a:ext>
            </a:extLst>
          </p:cNvPr>
          <p:cNvSpPr txBox="1"/>
          <p:nvPr/>
        </p:nvSpPr>
        <p:spPr>
          <a:xfrm>
            <a:off x="9115720" y="2037245"/>
            <a:ext cx="2106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FF0000"/>
                </a:solidFill>
              </a:rPr>
              <a:t>eerste_lijst</a:t>
            </a:r>
            <a:r>
              <a:rPr lang="en-GB" sz="1600" dirty="0">
                <a:solidFill>
                  <a:srgbClr val="FF0000"/>
                </a:solidFill>
              </a:rPr>
              <a:t>[</a:t>
            </a:r>
            <a:r>
              <a:rPr lang="en-GB" sz="1600" dirty="0">
                <a:solidFill>
                  <a:srgbClr val="FF0000"/>
                </a:solidFill>
                <a:effectLst/>
              </a:rPr>
              <a:t>2</a:t>
            </a:r>
            <a:r>
              <a:rPr lang="en-GB" sz="1600" dirty="0">
                <a:solidFill>
                  <a:srgbClr val="FF0000"/>
                </a:solidFill>
              </a:rPr>
              <a:t>][</a:t>
            </a:r>
            <a:r>
              <a:rPr lang="en-GB" sz="1600" dirty="0">
                <a:solidFill>
                  <a:srgbClr val="FF0000"/>
                </a:solidFill>
                <a:effectLst/>
              </a:rPr>
              <a:t>0</a:t>
            </a:r>
            <a:r>
              <a:rPr lang="en-GB" sz="1600" dirty="0">
                <a:solidFill>
                  <a:srgbClr val="FF0000"/>
                </a:solidFill>
              </a:rPr>
              <a:t>] </a:t>
            </a:r>
            <a:endParaRPr lang="en-BE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974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FC897E-F026-1CE3-C80B-1059E74E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14F3EC-C2DF-B67B-E94F-1CDED7E5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</a:t>
            </a:r>
            <a:r>
              <a:rPr lang="en-US" dirty="0" err="1"/>
              <a:t>voorbeeld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A6EB8-1B72-8E30-87FB-927893CC8431}"/>
              </a:ext>
            </a:extLst>
          </p:cNvPr>
          <p:cNvSpPr txBox="1"/>
          <p:nvPr/>
        </p:nvSpPr>
        <p:spPr>
          <a:xfrm>
            <a:off x="7051142" y="1533688"/>
            <a:ext cx="3869620" cy="39162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beide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lijsten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verwijzen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naar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dezelfde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plaats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 het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geheugen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nu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wordt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nieuw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object op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nieuwe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plaats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aangemaakt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voor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lijst_3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B641EB-5113-546B-E845-4A1071180786}"/>
              </a:ext>
            </a:extLst>
          </p:cNvPr>
          <p:cNvSpPr txBox="1"/>
          <p:nvPr/>
        </p:nvSpPr>
        <p:spPr>
          <a:xfrm>
            <a:off x="3046771" y="1645152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62AE04-E071-7A8A-3CE0-C2382DD8A9AC}"/>
              </a:ext>
            </a:extLst>
          </p:cNvPr>
          <p:cNvSpPr txBox="1"/>
          <p:nvPr/>
        </p:nvSpPr>
        <p:spPr>
          <a:xfrm>
            <a:off x="3364066" y="1645152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F5CF87-548A-3548-A5D9-4D53AF3A5148}"/>
              </a:ext>
            </a:extLst>
          </p:cNvPr>
          <p:cNvSpPr txBox="1"/>
          <p:nvPr/>
        </p:nvSpPr>
        <p:spPr>
          <a:xfrm>
            <a:off x="3676972" y="1645152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506F-2E71-D7D2-AF72-7015E36B7C3E}"/>
              </a:ext>
            </a:extLst>
          </p:cNvPr>
          <p:cNvSpPr/>
          <p:nvPr/>
        </p:nvSpPr>
        <p:spPr>
          <a:xfrm>
            <a:off x="721112" y="1701077"/>
            <a:ext cx="890868" cy="313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lijst_1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5E08C1-B57E-EA3C-1B76-FF2E50033ED3}"/>
              </a:ext>
            </a:extLst>
          </p:cNvPr>
          <p:cNvSpPr/>
          <p:nvPr/>
        </p:nvSpPr>
        <p:spPr>
          <a:xfrm>
            <a:off x="2953897" y="1578414"/>
            <a:ext cx="2302044" cy="5678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chemeClr val="accent3">
                    <a:lumMod val="75000"/>
                  </a:schemeClr>
                </a:solidFill>
              </a:rPr>
              <a:t>Lijst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 object x 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6B71F4-8172-F7A3-1411-F3BEB006601A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611980" y="1847385"/>
            <a:ext cx="1263805" cy="10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5400CA-04E7-8519-E472-CB88255FD29C}"/>
              </a:ext>
            </a:extLst>
          </p:cNvPr>
          <p:cNvCxnSpPr>
            <a:cxnSpLocks/>
          </p:cNvCxnSpPr>
          <p:nvPr/>
        </p:nvCxnSpPr>
        <p:spPr>
          <a:xfrm flipV="1">
            <a:off x="1611980" y="2065351"/>
            <a:ext cx="1233192" cy="1013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50B1561-B3C3-8903-56DC-A60AA75EA280}"/>
              </a:ext>
            </a:extLst>
          </p:cNvPr>
          <p:cNvSpPr txBox="1"/>
          <p:nvPr/>
        </p:nvSpPr>
        <p:spPr>
          <a:xfrm>
            <a:off x="3046771" y="3709638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AE9659-5ACE-5CDB-785E-9716455CC9AD}"/>
              </a:ext>
            </a:extLst>
          </p:cNvPr>
          <p:cNvSpPr txBox="1"/>
          <p:nvPr/>
        </p:nvSpPr>
        <p:spPr>
          <a:xfrm>
            <a:off x="3364066" y="3709638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43B5F2-8745-9E96-BF73-A5368597EB15}"/>
              </a:ext>
            </a:extLst>
          </p:cNvPr>
          <p:cNvSpPr txBox="1"/>
          <p:nvPr/>
        </p:nvSpPr>
        <p:spPr>
          <a:xfrm>
            <a:off x="3676972" y="3709638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8AF2FF4-2879-34D9-76BD-2235FB6FEF90}"/>
              </a:ext>
            </a:extLst>
          </p:cNvPr>
          <p:cNvCxnSpPr>
            <a:cxnSpLocks/>
          </p:cNvCxnSpPr>
          <p:nvPr/>
        </p:nvCxnSpPr>
        <p:spPr>
          <a:xfrm flipV="1">
            <a:off x="1611980" y="3911871"/>
            <a:ext cx="1263805" cy="217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093823-817C-018C-D124-5C94F7D9F151}"/>
              </a:ext>
            </a:extLst>
          </p:cNvPr>
          <p:cNvCxnSpPr>
            <a:cxnSpLocks/>
          </p:cNvCxnSpPr>
          <p:nvPr/>
        </p:nvCxnSpPr>
        <p:spPr>
          <a:xfrm>
            <a:off x="1611980" y="5143213"/>
            <a:ext cx="12638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8956A78-F138-B4AC-5939-A8FD3213C0BE}"/>
              </a:ext>
            </a:extLst>
          </p:cNvPr>
          <p:cNvSpPr txBox="1"/>
          <p:nvPr/>
        </p:nvSpPr>
        <p:spPr>
          <a:xfrm>
            <a:off x="2968659" y="4850319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1934F2-EC29-C5ED-709A-2F3623A1D825}"/>
              </a:ext>
            </a:extLst>
          </p:cNvPr>
          <p:cNvSpPr txBox="1"/>
          <p:nvPr/>
        </p:nvSpPr>
        <p:spPr>
          <a:xfrm>
            <a:off x="3285954" y="4850319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49F3A3-8F01-F298-5E00-1FAB66E55731}"/>
              </a:ext>
            </a:extLst>
          </p:cNvPr>
          <p:cNvSpPr txBox="1"/>
          <p:nvPr/>
        </p:nvSpPr>
        <p:spPr>
          <a:xfrm>
            <a:off x="3598860" y="4850319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A29D7D-00FD-655F-72FE-9656A0AB554C}"/>
              </a:ext>
            </a:extLst>
          </p:cNvPr>
          <p:cNvSpPr txBox="1"/>
          <p:nvPr/>
        </p:nvSpPr>
        <p:spPr>
          <a:xfrm>
            <a:off x="1944356" y="2740141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lijst_3=lijst_1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64157C-852D-8E54-008E-C1F816C36594}"/>
              </a:ext>
            </a:extLst>
          </p:cNvPr>
          <p:cNvSpPr txBox="1"/>
          <p:nvPr/>
        </p:nvSpPr>
        <p:spPr>
          <a:xfrm>
            <a:off x="1061727" y="5318398"/>
            <a:ext cx="2323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lijst_3 = list(lijst_1)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E3EF10-D57D-911D-97FE-80AEFCC75E7E}"/>
              </a:ext>
            </a:extLst>
          </p:cNvPr>
          <p:cNvSpPr/>
          <p:nvPr/>
        </p:nvSpPr>
        <p:spPr>
          <a:xfrm>
            <a:off x="2914021" y="3612385"/>
            <a:ext cx="2302044" cy="5678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chemeClr val="accent3">
                    <a:lumMod val="75000"/>
                  </a:schemeClr>
                </a:solidFill>
              </a:rPr>
              <a:t>Lijst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 object x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3319CD-A0C5-D740-1A6A-840C48C726CF}"/>
              </a:ext>
            </a:extLst>
          </p:cNvPr>
          <p:cNvSpPr/>
          <p:nvPr/>
        </p:nvSpPr>
        <p:spPr>
          <a:xfrm>
            <a:off x="2935343" y="4799790"/>
            <a:ext cx="2302044" cy="56784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Lijst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object y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21F1C1-C68D-A32E-F40B-491BCE52EA6B}"/>
              </a:ext>
            </a:extLst>
          </p:cNvPr>
          <p:cNvSpPr/>
          <p:nvPr/>
        </p:nvSpPr>
        <p:spPr>
          <a:xfrm>
            <a:off x="721112" y="2903364"/>
            <a:ext cx="890868" cy="313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lijst_3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98C7A-B971-9021-02F8-E3354A6B03E8}"/>
              </a:ext>
            </a:extLst>
          </p:cNvPr>
          <p:cNvSpPr/>
          <p:nvPr/>
        </p:nvSpPr>
        <p:spPr>
          <a:xfrm>
            <a:off x="723470" y="3989348"/>
            <a:ext cx="890868" cy="313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lijst_1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243FB3-E5C9-4CD9-49FD-27DC2EF41DFB}"/>
              </a:ext>
            </a:extLst>
          </p:cNvPr>
          <p:cNvSpPr/>
          <p:nvPr/>
        </p:nvSpPr>
        <p:spPr>
          <a:xfrm>
            <a:off x="716723" y="4985972"/>
            <a:ext cx="890868" cy="313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lijst_3</a:t>
            </a:r>
          </a:p>
        </p:txBody>
      </p:sp>
    </p:spTree>
    <p:extLst>
      <p:ext uri="{BB962C8B-B14F-4D97-AF65-F5344CB8AC3E}">
        <p14:creationId xmlns:p14="http://schemas.microsoft.com/office/powerpoint/2010/main" val="8833242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D44B-1C10-022A-C481-7CE072DF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70A8CD-F6AC-4522-F9F9-97F222E5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39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8CE954-3F30-07F1-026F-CBB0164A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</a:t>
            </a:r>
            <a:r>
              <a:rPr lang="en-US" dirty="0" err="1"/>
              <a:t>voorbeeld</a:t>
            </a:r>
            <a:r>
              <a:rPr lang="en-US" dirty="0"/>
              <a:t> </a:t>
            </a:r>
            <a:r>
              <a:rPr lang="en-US" dirty="0" err="1"/>
              <a:t>grafisch</a:t>
            </a:r>
            <a:r>
              <a:rPr lang="en-US" dirty="0"/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7C7F2F-33DA-AF77-7C54-2621014E6316}"/>
              </a:ext>
            </a:extLst>
          </p:cNvPr>
          <p:cNvSpPr txBox="1"/>
          <p:nvPr/>
        </p:nvSpPr>
        <p:spPr>
          <a:xfrm>
            <a:off x="7636308" y="104627"/>
            <a:ext cx="4555692" cy="592495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nu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bevat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de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lijst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andere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lijst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we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maken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shallow copy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het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probleem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blijft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bestaan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want de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lijst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 de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lijst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verwijst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nog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altijd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naar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dezelfde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geheugenplaats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copy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deepcopy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deep copy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zal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elk element (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ook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samengesteld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nieuwe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plaats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 het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geheugen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krijgen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lijst_3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FB4FD5-7554-23A0-3EF1-D548AEACF935}"/>
              </a:ext>
            </a:extLst>
          </p:cNvPr>
          <p:cNvSpPr txBox="1"/>
          <p:nvPr/>
        </p:nvSpPr>
        <p:spPr>
          <a:xfrm>
            <a:off x="3046771" y="1645152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3CE72-AAC9-8B07-E557-B30D9849DE16}"/>
              </a:ext>
            </a:extLst>
          </p:cNvPr>
          <p:cNvSpPr txBox="1"/>
          <p:nvPr/>
        </p:nvSpPr>
        <p:spPr>
          <a:xfrm>
            <a:off x="3364066" y="1645152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21CDC-3B04-43FD-F96D-CDE71C3E24E6}"/>
              </a:ext>
            </a:extLst>
          </p:cNvPr>
          <p:cNvSpPr txBox="1"/>
          <p:nvPr/>
        </p:nvSpPr>
        <p:spPr>
          <a:xfrm>
            <a:off x="3676972" y="1645152"/>
            <a:ext cx="184731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857301-2701-F3D5-7480-50429782D1E0}"/>
              </a:ext>
            </a:extLst>
          </p:cNvPr>
          <p:cNvSpPr/>
          <p:nvPr/>
        </p:nvSpPr>
        <p:spPr>
          <a:xfrm>
            <a:off x="721112" y="1701077"/>
            <a:ext cx="890868" cy="313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lijst_1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5E3779-F816-D637-F68F-7F3FDE294145}"/>
              </a:ext>
            </a:extLst>
          </p:cNvPr>
          <p:cNvSpPr/>
          <p:nvPr/>
        </p:nvSpPr>
        <p:spPr>
          <a:xfrm>
            <a:off x="2953897" y="1578414"/>
            <a:ext cx="2934714" cy="5678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chemeClr val="accent3">
                    <a:lumMod val="75000"/>
                  </a:schemeClr>
                </a:solidFill>
              </a:rPr>
              <a:t>Lijst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 object x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4ED706-A3F1-4018-91A7-6EFD9E9B0B4D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611980" y="1847385"/>
            <a:ext cx="1263805" cy="10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9AEB37-DD00-4DA2-12AF-BA100C89AD8C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1611980" y="3078727"/>
            <a:ext cx="1094812" cy="188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ADEC54-2DD7-B4DF-29C0-A027876ADFCA}"/>
              </a:ext>
            </a:extLst>
          </p:cNvPr>
          <p:cNvSpPr txBox="1"/>
          <p:nvPr/>
        </p:nvSpPr>
        <p:spPr>
          <a:xfrm>
            <a:off x="576000" y="3353410"/>
            <a:ext cx="2137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lijst_3=list(lijst_1)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1338DA-380D-722D-A1B4-336F239DFAF3}"/>
              </a:ext>
            </a:extLst>
          </p:cNvPr>
          <p:cNvSpPr/>
          <p:nvPr/>
        </p:nvSpPr>
        <p:spPr>
          <a:xfrm>
            <a:off x="721112" y="2903364"/>
            <a:ext cx="890868" cy="313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lijst_3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D87A53A-214E-A980-A85E-E54354188C7A}"/>
              </a:ext>
            </a:extLst>
          </p:cNvPr>
          <p:cNvSpPr/>
          <p:nvPr/>
        </p:nvSpPr>
        <p:spPr>
          <a:xfrm>
            <a:off x="4086365" y="2327657"/>
            <a:ext cx="2934714" cy="56784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Lijst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object z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89B5F46-7FF7-82A9-7A72-CEEA0D938684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3498014" y="2611581"/>
            <a:ext cx="588351" cy="61063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655C108-C492-9695-7AD0-3F06B7406A5E}"/>
              </a:ext>
            </a:extLst>
          </p:cNvPr>
          <p:cNvSpPr txBox="1"/>
          <p:nvPr/>
        </p:nvSpPr>
        <p:spPr>
          <a:xfrm>
            <a:off x="4174149" y="2443395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1FB246-9E54-E52A-1E79-588FDD0AB239}"/>
              </a:ext>
            </a:extLst>
          </p:cNvPr>
          <p:cNvSpPr txBox="1"/>
          <p:nvPr/>
        </p:nvSpPr>
        <p:spPr>
          <a:xfrm>
            <a:off x="4491444" y="2443395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BF4DF9-008B-D38D-A79C-037BAC0B6120}"/>
              </a:ext>
            </a:extLst>
          </p:cNvPr>
          <p:cNvSpPr txBox="1"/>
          <p:nvPr/>
        </p:nvSpPr>
        <p:spPr>
          <a:xfrm>
            <a:off x="4804350" y="2443395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6A9A1F0-BD08-5C3D-8ABB-BE82B5807532}"/>
              </a:ext>
            </a:extLst>
          </p:cNvPr>
          <p:cNvSpPr txBox="1"/>
          <p:nvPr/>
        </p:nvSpPr>
        <p:spPr>
          <a:xfrm>
            <a:off x="2799666" y="3049843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8E4B007-04D8-0539-04AA-A296EB9A6D7E}"/>
              </a:ext>
            </a:extLst>
          </p:cNvPr>
          <p:cNvSpPr txBox="1"/>
          <p:nvPr/>
        </p:nvSpPr>
        <p:spPr>
          <a:xfrm>
            <a:off x="3116961" y="3049843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F5C7524-7732-262C-0F2F-A022254CC8FE}"/>
              </a:ext>
            </a:extLst>
          </p:cNvPr>
          <p:cNvSpPr txBox="1"/>
          <p:nvPr/>
        </p:nvSpPr>
        <p:spPr>
          <a:xfrm>
            <a:off x="3429867" y="3049843"/>
            <a:ext cx="184731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20C5E36-7139-5F0E-94A9-EB370994D3D7}"/>
              </a:ext>
            </a:extLst>
          </p:cNvPr>
          <p:cNvSpPr/>
          <p:nvPr/>
        </p:nvSpPr>
        <p:spPr>
          <a:xfrm>
            <a:off x="2706792" y="2983105"/>
            <a:ext cx="2934714" cy="56784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Lijst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object t 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D088863-39AF-4EA5-BFA8-7E6813BE49A8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3755084" y="1848233"/>
            <a:ext cx="331281" cy="76334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9D95001-21A8-E378-C294-9DF0DECA86CA}"/>
              </a:ext>
            </a:extLst>
          </p:cNvPr>
          <p:cNvCxnSpPr>
            <a:cxnSpLocks/>
          </p:cNvCxnSpPr>
          <p:nvPr/>
        </p:nvCxnSpPr>
        <p:spPr>
          <a:xfrm>
            <a:off x="1631196" y="4835426"/>
            <a:ext cx="1094812" cy="188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6F42D7D-15A2-8A95-5B5D-248389F120A6}"/>
              </a:ext>
            </a:extLst>
          </p:cNvPr>
          <p:cNvSpPr txBox="1"/>
          <p:nvPr/>
        </p:nvSpPr>
        <p:spPr>
          <a:xfrm>
            <a:off x="629456" y="4284240"/>
            <a:ext cx="29738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lijst_3=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copy.deepcopy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(lijst_1)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BE5FE7B-4CE3-4D7E-4FFD-33F7CFA2878C}"/>
              </a:ext>
            </a:extLst>
          </p:cNvPr>
          <p:cNvSpPr/>
          <p:nvPr/>
        </p:nvSpPr>
        <p:spPr>
          <a:xfrm>
            <a:off x="721112" y="4660063"/>
            <a:ext cx="890868" cy="313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lijst_3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3E3993C-038C-2B43-0669-F76769A70730}"/>
              </a:ext>
            </a:extLst>
          </p:cNvPr>
          <p:cNvSpPr/>
          <p:nvPr/>
        </p:nvSpPr>
        <p:spPr>
          <a:xfrm>
            <a:off x="4086365" y="4084356"/>
            <a:ext cx="2934714" cy="56784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rgbClr val="7030A0"/>
                </a:solidFill>
              </a:rPr>
              <a:t>Lijst</a:t>
            </a:r>
            <a:r>
              <a:rPr lang="en-US" sz="1400" dirty="0">
                <a:solidFill>
                  <a:srgbClr val="7030A0"/>
                </a:solidFill>
              </a:rPr>
              <a:t> object s 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2C0D35F-3A18-96ED-5891-D40F6902A321}"/>
              </a:ext>
            </a:extLst>
          </p:cNvPr>
          <p:cNvCxnSpPr>
            <a:cxnSpLocks/>
            <a:endCxn id="120" idx="1"/>
          </p:cNvCxnSpPr>
          <p:nvPr/>
        </p:nvCxnSpPr>
        <p:spPr>
          <a:xfrm flipV="1">
            <a:off x="3498014" y="4368280"/>
            <a:ext cx="588351" cy="6106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DA1C61A6-E355-0B37-F7E3-3FB39BC5AE72}"/>
              </a:ext>
            </a:extLst>
          </p:cNvPr>
          <p:cNvSpPr txBox="1"/>
          <p:nvPr/>
        </p:nvSpPr>
        <p:spPr>
          <a:xfrm>
            <a:off x="4174149" y="4200094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371D4F4-9EB3-37D7-1926-79850A826601}"/>
              </a:ext>
            </a:extLst>
          </p:cNvPr>
          <p:cNvSpPr txBox="1"/>
          <p:nvPr/>
        </p:nvSpPr>
        <p:spPr>
          <a:xfrm>
            <a:off x="4491444" y="4200094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E128DC9-7D88-5AD3-D68F-2C34CCC498F6}"/>
              </a:ext>
            </a:extLst>
          </p:cNvPr>
          <p:cNvSpPr txBox="1"/>
          <p:nvPr/>
        </p:nvSpPr>
        <p:spPr>
          <a:xfrm>
            <a:off x="4804350" y="4200094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51CCE8B-1940-40F9-6360-796FF062EEAD}"/>
              </a:ext>
            </a:extLst>
          </p:cNvPr>
          <p:cNvSpPr txBox="1"/>
          <p:nvPr/>
        </p:nvSpPr>
        <p:spPr>
          <a:xfrm>
            <a:off x="2799666" y="4806542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8DA772C-112F-9032-2335-7BA35D4E0777}"/>
              </a:ext>
            </a:extLst>
          </p:cNvPr>
          <p:cNvSpPr txBox="1"/>
          <p:nvPr/>
        </p:nvSpPr>
        <p:spPr>
          <a:xfrm>
            <a:off x="3116961" y="4806542"/>
            <a:ext cx="312906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6F4EBC3-F1EB-D934-402A-2E2A9CA4503D}"/>
              </a:ext>
            </a:extLst>
          </p:cNvPr>
          <p:cNvSpPr txBox="1"/>
          <p:nvPr/>
        </p:nvSpPr>
        <p:spPr>
          <a:xfrm>
            <a:off x="3429867" y="4806542"/>
            <a:ext cx="184731" cy="36933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10FD864-8C09-CD2E-6EAD-CBBDC9C49170}"/>
              </a:ext>
            </a:extLst>
          </p:cNvPr>
          <p:cNvSpPr/>
          <p:nvPr/>
        </p:nvSpPr>
        <p:spPr>
          <a:xfrm>
            <a:off x="2735408" y="4689546"/>
            <a:ext cx="2934714" cy="56784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Lijst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object 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921E3C-63C5-4C0A-564C-FE6A9DB7D9E6}"/>
              </a:ext>
            </a:extLst>
          </p:cNvPr>
          <p:cNvSpPr txBox="1"/>
          <p:nvPr/>
        </p:nvSpPr>
        <p:spPr>
          <a:xfrm rot="16200000">
            <a:off x="-380672" y="2434725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Shallow copy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3B51B-E4F8-4219-6B96-B372B46B287C}"/>
              </a:ext>
            </a:extLst>
          </p:cNvPr>
          <p:cNvSpPr txBox="1"/>
          <p:nvPr/>
        </p:nvSpPr>
        <p:spPr>
          <a:xfrm rot="16200000">
            <a:off x="-255819" y="452596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 copy</a:t>
            </a:r>
          </a:p>
        </p:txBody>
      </p:sp>
    </p:spTree>
    <p:extLst>
      <p:ext uri="{BB962C8B-B14F-4D97-AF65-F5344CB8AC3E}">
        <p14:creationId xmlns:p14="http://schemas.microsoft.com/office/powerpoint/2010/main" val="1627325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1B9E-9A2D-DC47-BFAD-E54BE979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sz="2000" dirty="0"/>
              <a:t>Gelijkaardig aan lijsten, maar niet-veranderbaar (immutable)</a:t>
            </a:r>
          </a:p>
          <a:p>
            <a:r>
              <a:rPr lang="en-BE" sz="2000" dirty="0"/>
              <a:t>Kunnen dus bv. wel in sets gebruikt worden als hun elementen ook immutable zijn</a:t>
            </a:r>
          </a:p>
          <a:p>
            <a:r>
              <a:rPr lang="en-BE" sz="2000" dirty="0"/>
              <a:t>Gebruiken dezelfde indexering als lijsten</a:t>
            </a:r>
          </a:p>
          <a:p>
            <a:r>
              <a:rPr lang="en-BE" sz="2000" dirty="0"/>
              <a:t>Gebruiken ronde haakjes bij het aanmaken en komen vaak voor om bv. paren te gebruiken (bv. </a:t>
            </a:r>
            <a:r>
              <a:rPr lang="nl-BE" sz="2000" dirty="0"/>
              <a:t>K</a:t>
            </a:r>
            <a:r>
              <a:rPr lang="en-BE" sz="2000" dirty="0"/>
              <a:t>ey</a:t>
            </a:r>
            <a:r>
              <a:rPr lang="en-US" sz="2000" dirty="0"/>
              <a:t>-</a:t>
            </a:r>
            <a:r>
              <a:rPr lang="en-BE" sz="2000" dirty="0"/>
              <a:t>value pairs in dictionaries – zie later)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0A434-C43D-D445-AEBC-51FFFF7A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CB225-DCEB-B34B-890B-FEE767F9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Tuples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6B3186-3D76-C845-B5C9-960377FBF0C6}"/>
              </a:ext>
            </a:extLst>
          </p:cNvPr>
          <p:cNvSpPr/>
          <p:nvPr/>
        </p:nvSpPr>
        <p:spPr>
          <a:xfrm>
            <a:off x="1936831" y="4466163"/>
            <a:ext cx="2855089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 err="1"/>
              <a:t>paar</a:t>
            </a:r>
            <a:r>
              <a:rPr lang="en-GB" sz="1400" dirty="0"/>
              <a:t> = (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/>
              <a:t>[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3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])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paar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paar</a:t>
            </a:r>
            <a:r>
              <a:rPr lang="en-GB" sz="1400" dirty="0"/>
              <a:t>[</a:t>
            </a:r>
            <a:r>
              <a:rPr lang="en-GB" sz="1400" dirty="0">
                <a:solidFill>
                  <a:srgbClr val="6897BB"/>
                </a:solidFill>
              </a:rPr>
              <a:t>0</a:t>
            </a:r>
            <a:r>
              <a:rPr lang="en-GB" sz="1400" dirty="0"/>
              <a:t>])</a:t>
            </a:r>
            <a:br>
              <a:rPr lang="en-GB" sz="1400" dirty="0"/>
            </a:br>
            <a:r>
              <a:rPr lang="en-GB" sz="1400" dirty="0" err="1"/>
              <a:t>paar.append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</a:rPr>
              <a:t>'3'</a:t>
            </a:r>
            <a:r>
              <a:rPr lang="en-GB" sz="1400" dirty="0"/>
              <a:t>)</a:t>
            </a:r>
            <a:endParaRPr lang="en-BE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8D67B2-D521-D047-B144-51C159ADEBFD}"/>
              </a:ext>
            </a:extLst>
          </p:cNvPr>
          <p:cNvSpPr/>
          <p:nvPr/>
        </p:nvSpPr>
        <p:spPr>
          <a:xfrm>
            <a:off x="5039809" y="4466163"/>
            <a:ext cx="6941984" cy="16004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400" dirty="0"/>
          </a:p>
          <a:p>
            <a:r>
              <a:rPr lang="en-BE" sz="1400" dirty="0"/>
              <a:t>(1, [2, 3, 'Johannes'])</a:t>
            </a:r>
          </a:p>
          <a:p>
            <a:r>
              <a:rPr lang="en-BE" sz="1400" dirty="0"/>
              <a:t>1</a:t>
            </a:r>
          </a:p>
          <a:p>
            <a:r>
              <a:rPr lang="en-GB" sz="14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File “~/SOEP1/1-lijsten.py", line 60, in &lt;module&gt;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  </a:t>
            </a:r>
            <a:r>
              <a:rPr lang="en-GB" sz="1400" dirty="0" err="1">
                <a:solidFill>
                  <a:srgbClr val="FF0000"/>
                </a:solidFill>
              </a:rPr>
              <a:t>paar.append</a:t>
            </a:r>
            <a:r>
              <a:rPr lang="en-GB" sz="1400" dirty="0">
                <a:solidFill>
                  <a:srgbClr val="FF0000"/>
                </a:solidFill>
              </a:rPr>
              <a:t>('3')</a:t>
            </a:r>
          </a:p>
          <a:p>
            <a:r>
              <a:rPr lang="en-GB" sz="1400" dirty="0" err="1">
                <a:solidFill>
                  <a:srgbClr val="FF0000"/>
                </a:solidFill>
              </a:rPr>
              <a:t>AttributeError</a:t>
            </a:r>
            <a:r>
              <a:rPr lang="en-GB" sz="1400" dirty="0">
                <a:solidFill>
                  <a:srgbClr val="FF0000"/>
                </a:solidFill>
              </a:rPr>
              <a:t>: 'tuple' object has no attribute 'append'</a:t>
            </a:r>
            <a:endParaRPr lang="en-BE" sz="1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AF3C2-F11C-7943-AAE9-2999EA80D69D}"/>
              </a:ext>
            </a:extLst>
          </p:cNvPr>
          <p:cNvSpPr txBox="1"/>
          <p:nvPr/>
        </p:nvSpPr>
        <p:spPr>
          <a:xfrm>
            <a:off x="1936831" y="414656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4C078-B008-B242-993E-7B2B6558B60F}"/>
              </a:ext>
            </a:extLst>
          </p:cNvPr>
          <p:cNvSpPr txBox="1"/>
          <p:nvPr/>
        </p:nvSpPr>
        <p:spPr>
          <a:xfrm>
            <a:off x="4971710" y="414656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144D48-E6C3-DE46-97A6-DEE16E7633B0}"/>
              </a:ext>
            </a:extLst>
          </p:cNvPr>
          <p:cNvCxnSpPr>
            <a:cxnSpLocks/>
          </p:cNvCxnSpPr>
          <p:nvPr/>
        </p:nvCxnSpPr>
        <p:spPr>
          <a:xfrm>
            <a:off x="2812382" y="5420270"/>
            <a:ext cx="219919" cy="2481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46E135-524C-4143-B81D-DDAA9A823D9D}"/>
              </a:ext>
            </a:extLst>
          </p:cNvPr>
          <p:cNvSpPr txBox="1"/>
          <p:nvPr/>
        </p:nvSpPr>
        <p:spPr>
          <a:xfrm>
            <a:off x="2230771" y="5604936"/>
            <a:ext cx="2503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200" dirty="0"/>
              <a:t>Toevoegen gaat uiteraard niet want ze zijn niet-veranderbaar</a:t>
            </a:r>
          </a:p>
        </p:txBody>
      </p:sp>
    </p:spTree>
    <p:extLst>
      <p:ext uri="{BB962C8B-B14F-4D97-AF65-F5344CB8AC3E}">
        <p14:creationId xmlns:p14="http://schemas.microsoft.com/office/powerpoint/2010/main" val="24312469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4B0160-182D-1F41-A8D2-D3D364BA2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Dictionaries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F3B8FC5-8736-784B-91FB-A1763053A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.5-dictionaries.ipynb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472D8-578A-3F4D-8226-D22005A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0844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9D19-0DA2-654D-8C1E-F7AB97C5A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/>
              <a:t>Een collectie van sleutel-waarde (key-value) paren zoals misschien bekend uit databases</a:t>
            </a:r>
            <a:r>
              <a:rPr lang="en-US" sz="2000" dirty="0"/>
              <a:t>:</a:t>
            </a:r>
            <a:endParaRPr lang="en-BE" sz="2000" dirty="0"/>
          </a:p>
          <a:p>
            <a:pPr lvl="1"/>
            <a:r>
              <a:rPr lang="en-BE" sz="1800" dirty="0"/>
              <a:t>Sleutels zijn </a:t>
            </a:r>
            <a:r>
              <a:rPr lang="en-BE" sz="1800" dirty="0">
                <a:solidFill>
                  <a:srgbClr val="FF0000"/>
                </a:solidFill>
              </a:rPr>
              <a:t>uniek</a:t>
            </a:r>
            <a:r>
              <a:rPr lang="en-BE" sz="1800" dirty="0"/>
              <a:t>, waardes kunnen uiteraard meerdere keren voorkomen</a:t>
            </a:r>
          </a:p>
          <a:p>
            <a:pPr lvl="1"/>
            <a:r>
              <a:rPr lang="en-BE" sz="1800" dirty="0"/>
              <a:t>Sleutels moeten niet van hetzelfde type zijn (maar wel immutable – zie sets)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472D8-578A-3F4D-8226-D22005A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356FD-32A3-424A-85DE-2DA4EED4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1457F-F47F-AC48-ABE3-6B7DD8742CDC}"/>
              </a:ext>
            </a:extLst>
          </p:cNvPr>
          <p:cNvSpPr/>
          <p:nvPr/>
        </p:nvSpPr>
        <p:spPr>
          <a:xfrm>
            <a:off x="838200" y="3804053"/>
            <a:ext cx="6096000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sz="1400" dirty="0" err="1"/>
              <a:t>woordenboek</a:t>
            </a:r>
            <a:r>
              <a:rPr lang="en-GB" sz="1400" dirty="0"/>
              <a:t> = {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'SOEP1'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'Jan'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'SOEP2'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'SOEP3'</a:t>
            </a:r>
            <a:r>
              <a:rPr lang="en-GB" sz="1400" dirty="0"/>
              <a:t>}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)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 err="1"/>
              <a:t>woordenboek</a:t>
            </a:r>
            <a:r>
              <a:rPr lang="en-GB" sz="1400" dirty="0"/>
              <a:t> _2 = </a:t>
            </a:r>
            <a:r>
              <a:rPr lang="en-GB" sz="1400" dirty="0" err="1">
                <a:solidFill>
                  <a:srgbClr val="8888C6"/>
                </a:solidFill>
              </a:rPr>
              <a:t>dict</a:t>
            </a:r>
            <a:r>
              <a:rPr lang="en-GB" sz="1400" dirty="0"/>
              <a:t>()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 _2)</a:t>
            </a:r>
            <a:br>
              <a:rPr lang="en-GB" sz="1400" dirty="0"/>
            </a:br>
            <a:r>
              <a:rPr lang="en-GB" sz="1400" dirty="0" err="1"/>
              <a:t>woordenboek</a:t>
            </a:r>
            <a:r>
              <a:rPr lang="en-GB" sz="1400" dirty="0"/>
              <a:t> _2[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] = </a:t>
            </a:r>
            <a:r>
              <a:rPr lang="en-GB" sz="1400" dirty="0">
                <a:solidFill>
                  <a:srgbClr val="6A8759"/>
                </a:solidFill>
              </a:rPr>
              <a:t>'SOEP1'</a:t>
            </a: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 _2)</a:t>
            </a:r>
            <a:br>
              <a:rPr lang="en-GB" sz="1400" dirty="0"/>
            </a:br>
            <a:r>
              <a:rPr lang="en-GB" sz="1400" dirty="0"/>
              <a:t>woordenboek_2[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] = </a:t>
            </a:r>
            <a:r>
              <a:rPr lang="en-GB" sz="1400" dirty="0">
                <a:solidFill>
                  <a:srgbClr val="6A8759"/>
                </a:solidFill>
              </a:rPr>
              <a:t>'SOEP2'</a:t>
            </a: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 err="1"/>
              <a:t>woordenboek</a:t>
            </a:r>
            <a:r>
              <a:rPr lang="en-GB" sz="1400" dirty="0"/>
              <a:t> _2)</a:t>
            </a:r>
            <a:endParaRPr lang="en-BE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B8CFF4-BDF6-2646-B8FE-FCADA640F13A}"/>
              </a:ext>
            </a:extLst>
          </p:cNvPr>
          <p:cNvSpPr/>
          <p:nvPr/>
        </p:nvSpPr>
        <p:spPr>
          <a:xfrm>
            <a:off x="7157013" y="3804053"/>
            <a:ext cx="4579716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400" dirty="0"/>
          </a:p>
          <a:p>
            <a:r>
              <a:rPr lang="en-BE" sz="1400" dirty="0"/>
              <a:t>{'Johannes': 'SOEP1', 'Jan': 'SOEP2', 2: 'SOEP3’}</a:t>
            </a:r>
          </a:p>
          <a:p>
            <a:endParaRPr lang="en-BE" sz="1400" dirty="0"/>
          </a:p>
          <a:p>
            <a:endParaRPr lang="en-BE" sz="1400" dirty="0"/>
          </a:p>
          <a:p>
            <a:r>
              <a:rPr lang="en-BE" sz="1400" dirty="0"/>
              <a:t>{}</a:t>
            </a:r>
          </a:p>
          <a:p>
            <a:endParaRPr lang="en-BE" sz="1400" dirty="0"/>
          </a:p>
          <a:p>
            <a:r>
              <a:rPr lang="en-BE" sz="1400" dirty="0"/>
              <a:t>{'Johannes': 'SOEP1’}</a:t>
            </a:r>
          </a:p>
          <a:p>
            <a:endParaRPr lang="en-BE" sz="1400" dirty="0"/>
          </a:p>
          <a:p>
            <a:r>
              <a:rPr lang="en-BE" sz="1400" dirty="0"/>
              <a:t>{'Johannes': 'SOEP2'}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A3F35-406B-8844-A0C9-5612F51E54A7}"/>
              </a:ext>
            </a:extLst>
          </p:cNvPr>
          <p:cNvSpPr txBox="1"/>
          <p:nvPr/>
        </p:nvSpPr>
        <p:spPr>
          <a:xfrm>
            <a:off x="838200" y="343472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47502-AD3B-B44F-950C-B59BCD533698}"/>
              </a:ext>
            </a:extLst>
          </p:cNvPr>
          <p:cNvSpPr txBox="1"/>
          <p:nvPr/>
        </p:nvSpPr>
        <p:spPr>
          <a:xfrm>
            <a:off x="7157013" y="343472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72F884-2B05-1A42-A31A-558AD0A0A68F}"/>
              </a:ext>
            </a:extLst>
          </p:cNvPr>
          <p:cNvCxnSpPr>
            <a:cxnSpLocks/>
          </p:cNvCxnSpPr>
          <p:nvPr/>
        </p:nvCxnSpPr>
        <p:spPr>
          <a:xfrm>
            <a:off x="4273383" y="5016805"/>
            <a:ext cx="578735" cy="185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7911BD-ECBE-4647-B80B-DC462BA23C50}"/>
              </a:ext>
            </a:extLst>
          </p:cNvPr>
          <p:cNvCxnSpPr>
            <a:cxnSpLocks/>
          </p:cNvCxnSpPr>
          <p:nvPr/>
        </p:nvCxnSpPr>
        <p:spPr>
          <a:xfrm flipV="1">
            <a:off x="4324023" y="5288973"/>
            <a:ext cx="528095" cy="2117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E5F74D-83D9-694D-876B-32D4253B3839}"/>
              </a:ext>
            </a:extLst>
          </p:cNvPr>
          <p:cNvSpPr txBox="1"/>
          <p:nvPr/>
        </p:nvSpPr>
        <p:spPr>
          <a:xfrm>
            <a:off x="4962609" y="4986556"/>
            <a:ext cx="1354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100" dirty="0"/>
              <a:t>Waarde wordt overschreven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EE0DD8-536D-B65F-13D3-C3D7B2C4143D}"/>
              </a:ext>
            </a:extLst>
          </p:cNvPr>
          <p:cNvCxnSpPr/>
          <p:nvPr/>
        </p:nvCxnSpPr>
        <p:spPr>
          <a:xfrm>
            <a:off x="2780907" y="3601039"/>
            <a:ext cx="0" cy="320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7BD97B-5D3F-A6F1-E686-E7D20CD35A28}"/>
              </a:ext>
            </a:extLst>
          </p:cNvPr>
          <p:cNvCxnSpPr>
            <a:cxnSpLocks/>
          </p:cNvCxnSpPr>
          <p:nvPr/>
        </p:nvCxnSpPr>
        <p:spPr>
          <a:xfrm>
            <a:off x="2933307" y="3506771"/>
            <a:ext cx="1120219" cy="2972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64138B-CE12-FC9A-8753-9F99B4CC4DDD}"/>
              </a:ext>
            </a:extLst>
          </p:cNvPr>
          <p:cNvCxnSpPr>
            <a:cxnSpLocks/>
          </p:cNvCxnSpPr>
          <p:nvPr/>
        </p:nvCxnSpPr>
        <p:spPr>
          <a:xfrm>
            <a:off x="3085706" y="3452398"/>
            <a:ext cx="2117890" cy="351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AE67F88-C228-F1BA-40ED-C5B6821534A9}"/>
              </a:ext>
            </a:extLst>
          </p:cNvPr>
          <p:cNvSpPr txBox="1"/>
          <p:nvPr/>
        </p:nvSpPr>
        <p:spPr>
          <a:xfrm>
            <a:off x="2194560" y="318211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rgbClr val="FF0000"/>
                </a:solidFill>
              </a:rPr>
              <a:t>sleutels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6C993A-474B-3409-F890-523B81270B09}"/>
              </a:ext>
            </a:extLst>
          </p:cNvPr>
          <p:cNvCxnSpPr>
            <a:cxnSpLocks/>
          </p:cNvCxnSpPr>
          <p:nvPr/>
        </p:nvCxnSpPr>
        <p:spPr>
          <a:xfrm flipH="1">
            <a:off x="3493416" y="3342741"/>
            <a:ext cx="722766" cy="46131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EDA4A2-76A8-DAB0-556D-1286FC074C95}"/>
              </a:ext>
            </a:extLst>
          </p:cNvPr>
          <p:cNvCxnSpPr>
            <a:cxnSpLocks/>
          </p:cNvCxnSpPr>
          <p:nvPr/>
        </p:nvCxnSpPr>
        <p:spPr>
          <a:xfrm>
            <a:off x="4324023" y="3362398"/>
            <a:ext cx="276413" cy="3988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471601-A63B-E8DA-5188-D72B78A4A91B}"/>
              </a:ext>
            </a:extLst>
          </p:cNvPr>
          <p:cNvCxnSpPr>
            <a:cxnSpLocks/>
          </p:cNvCxnSpPr>
          <p:nvPr/>
        </p:nvCxnSpPr>
        <p:spPr>
          <a:xfrm>
            <a:off x="4461236" y="3362398"/>
            <a:ext cx="1034591" cy="39889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5CCA0CF-E09E-5BA4-FA08-2AE7DDB417EA}"/>
              </a:ext>
            </a:extLst>
          </p:cNvPr>
          <p:cNvSpPr txBox="1"/>
          <p:nvPr/>
        </p:nvSpPr>
        <p:spPr>
          <a:xfrm>
            <a:off x="3821783" y="2988798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rgbClr val="7030A0"/>
                </a:solidFill>
              </a:rPr>
              <a:t>waardes</a:t>
            </a:r>
          </a:p>
        </p:txBody>
      </p:sp>
    </p:spTree>
    <p:extLst>
      <p:ext uri="{BB962C8B-B14F-4D97-AF65-F5344CB8AC3E}">
        <p14:creationId xmlns:p14="http://schemas.microsoft.com/office/powerpoint/2010/main" val="1128217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8E5E-0734-0F44-9866-A94117AB1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.items()</a:t>
            </a:r>
            <a:r>
              <a:rPr lang="en-BE" sz="2000" dirty="0"/>
              <a:t> geeft de data als paren terug</a:t>
            </a:r>
          </a:p>
          <a:p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.keys()</a:t>
            </a:r>
            <a:r>
              <a:rPr lang="en-BE" sz="2000" dirty="0"/>
              <a:t>/.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values()</a:t>
            </a:r>
            <a:r>
              <a:rPr lang="en-BE" sz="2000" dirty="0"/>
              <a:t> geven de sleutels respectievelijk de waarden terug</a:t>
            </a:r>
          </a:p>
          <a:p>
            <a:r>
              <a:rPr lang="en-GB" sz="2000" dirty="0"/>
              <a:t>L</a:t>
            </a:r>
            <a:r>
              <a:rPr lang="en-BE" sz="2000" dirty="0"/>
              <a:t>et wel: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dict_items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dict_keys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dict_values</a:t>
            </a:r>
            <a:r>
              <a:rPr lang="en-BE" sz="2000" dirty="0"/>
              <a:t> objecten worden teruggegeven - deze kunnen omgezet worden in bv. een set of </a:t>
            </a:r>
            <a:r>
              <a:rPr lang="en-BE" sz="2000" dirty="0">
                <a:solidFill>
                  <a:srgbClr val="8888C6"/>
                </a:solidFill>
                <a:latin typeface="+mn-lt"/>
              </a:rPr>
              <a:t>lijst</a:t>
            </a:r>
            <a:r>
              <a:rPr lang="en-BE" sz="2000" dirty="0"/>
              <a:t> om makkelijk behandeld te worden (of itereer zelf – zie volgende slide)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62721-433D-5E4A-B968-63215B34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382BD-78BC-9941-95ED-8A99A8C7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Opvragen van data: methodes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44BBC-7E2D-6644-9836-382FB189D87B}"/>
              </a:ext>
            </a:extLst>
          </p:cNvPr>
          <p:cNvSpPr/>
          <p:nvPr/>
        </p:nvSpPr>
        <p:spPr>
          <a:xfrm>
            <a:off x="838200" y="4390123"/>
            <a:ext cx="4857509" cy="16004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dict_1 = {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'SOEP1'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A8759"/>
                </a:solidFill>
              </a:rPr>
              <a:t>'Johanna'</a:t>
            </a:r>
            <a:r>
              <a:rPr lang="en-GB" sz="1400" dirty="0"/>
              <a:t>: </a:t>
            </a:r>
            <a:r>
              <a:rPr lang="en-GB" sz="1400" dirty="0">
                <a:solidFill>
                  <a:srgbClr val="6A8759"/>
                </a:solidFill>
              </a:rPr>
              <a:t>'SOEP2'</a:t>
            </a:r>
            <a:r>
              <a:rPr lang="en-GB" sz="1400" dirty="0"/>
              <a:t>}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(dict_1.items())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(dict_1.keys())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8888C6"/>
                </a:solidFill>
              </a:rPr>
              <a:t>type</a:t>
            </a:r>
            <a:r>
              <a:rPr lang="en-GB" sz="1400" dirty="0"/>
              <a:t>(dict_1.keys()))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8888C6"/>
                </a:solidFill>
              </a:rPr>
              <a:t>list</a:t>
            </a:r>
            <a:r>
              <a:rPr lang="en-GB" sz="1400" dirty="0"/>
              <a:t>(dict_1.keys()))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(dict_1.values())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8888C6"/>
                </a:solidFill>
              </a:rPr>
              <a:t>list</a:t>
            </a:r>
            <a:r>
              <a:rPr lang="en-GB" sz="1400" dirty="0"/>
              <a:t>(dict_1.values())[</a:t>
            </a:r>
            <a:r>
              <a:rPr lang="en-GB" sz="1400" dirty="0">
                <a:solidFill>
                  <a:srgbClr val="6897BB"/>
                </a:solidFill>
              </a:rPr>
              <a:t>0</a:t>
            </a:r>
            <a:r>
              <a:rPr lang="en-GB" sz="1400" dirty="0"/>
              <a:t>])</a:t>
            </a:r>
            <a:endParaRPr lang="en-BE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FD6DD9-798B-FC4D-BC50-DCA03F15E7B4}"/>
              </a:ext>
            </a:extLst>
          </p:cNvPr>
          <p:cNvSpPr/>
          <p:nvPr/>
        </p:nvSpPr>
        <p:spPr>
          <a:xfrm>
            <a:off x="5875116" y="4390123"/>
            <a:ext cx="5470967" cy="16004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400" dirty="0"/>
          </a:p>
          <a:p>
            <a:r>
              <a:rPr lang="en-BE" sz="1400" dirty="0"/>
              <a:t>dict_items([('Johannes', 'SOEP1'), ('Johanna', 'SOEP2')])</a:t>
            </a:r>
          </a:p>
          <a:p>
            <a:r>
              <a:rPr lang="en-BE" sz="1400" dirty="0"/>
              <a:t>dict_keys(['Johannes', 'Johanna'])</a:t>
            </a:r>
          </a:p>
          <a:p>
            <a:r>
              <a:rPr lang="en-BE" sz="1400" dirty="0"/>
              <a:t>&lt;class 'dict_keys'&gt;</a:t>
            </a:r>
          </a:p>
          <a:p>
            <a:r>
              <a:rPr lang="en-BE" sz="1400" dirty="0"/>
              <a:t>['Johannes', 'Johanna']</a:t>
            </a:r>
          </a:p>
          <a:p>
            <a:r>
              <a:rPr lang="en-BE" sz="1400" dirty="0"/>
              <a:t>dict_values(['SOEP1', 'SOEP2'])</a:t>
            </a:r>
          </a:p>
          <a:p>
            <a:r>
              <a:rPr lang="en-BE" sz="1400" dirty="0"/>
              <a:t>SOEP1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4F376D-363F-D54B-BC7D-11570DEBC6CC}"/>
              </a:ext>
            </a:extLst>
          </p:cNvPr>
          <p:cNvCxnSpPr>
            <a:cxnSpLocks/>
          </p:cNvCxnSpPr>
          <p:nvPr/>
        </p:nvCxnSpPr>
        <p:spPr>
          <a:xfrm flipH="1">
            <a:off x="3107267" y="3195687"/>
            <a:ext cx="2588442" cy="2519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5D0690-1532-5244-99CF-41DEB624F192}"/>
              </a:ext>
            </a:extLst>
          </p:cNvPr>
          <p:cNvSpPr txBox="1"/>
          <p:nvPr/>
        </p:nvSpPr>
        <p:spPr>
          <a:xfrm>
            <a:off x="838200" y="402079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9D0ACC-F803-BB49-B9E4-8F6B75A1ECF3}"/>
              </a:ext>
            </a:extLst>
          </p:cNvPr>
          <p:cNvSpPr txBox="1"/>
          <p:nvPr/>
        </p:nvSpPr>
        <p:spPr>
          <a:xfrm>
            <a:off x="5875116" y="402079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258230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8E759-7DC2-6D48-9F13-3496B809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E" dirty="0"/>
              <a:t>Zelf itereren:</a:t>
            </a:r>
          </a:p>
          <a:p>
            <a:r>
              <a:rPr lang="en-BE" sz="2000" dirty="0"/>
              <a:t>Merk op dat we telkens een paar terugkrijgen </a:t>
            </a:r>
            <a:r>
              <a:rPr lang="en-US" sz="2000" dirty="0" err="1"/>
              <a:t>dat</a:t>
            </a:r>
            <a:r>
              <a:rPr lang="en-BE" sz="2000" dirty="0"/>
              <a:t> we in 2 variabelen stoppen,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BE" sz="2000" dirty="0"/>
              <a:t> en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endParaRPr lang="en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DF5AF-D61B-EC45-98DE-3E3A32A9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C4C7A-25E4-DC4A-93AA-C9C78901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Opvragen van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7DB26-DA5D-2942-A554-C1F953AEED22}"/>
              </a:ext>
            </a:extLst>
          </p:cNvPr>
          <p:cNvSpPr/>
          <p:nvPr/>
        </p:nvSpPr>
        <p:spPr>
          <a:xfrm>
            <a:off x="838200" y="3759548"/>
            <a:ext cx="609600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zelf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itereren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/>
              <a:t>key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value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dict_1.items():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Sleutel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key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\</a:t>
            </a:r>
            <a:r>
              <a:rPr lang="en-GB" sz="1600" dirty="0" err="1">
                <a:solidFill>
                  <a:srgbClr val="CC7832"/>
                </a:solidFill>
              </a:rPr>
              <a:t>t</a:t>
            </a:r>
            <a:r>
              <a:rPr lang="en-GB" sz="1600" dirty="0" err="1">
                <a:solidFill>
                  <a:srgbClr val="6A8759"/>
                </a:solidFill>
              </a:rPr>
              <a:t>waarde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value)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23FEAB-D62D-FB45-84F3-DA1377334714}"/>
              </a:ext>
            </a:extLst>
          </p:cNvPr>
          <p:cNvSpPr/>
          <p:nvPr/>
        </p:nvSpPr>
        <p:spPr>
          <a:xfrm>
            <a:off x="7340278" y="3759548"/>
            <a:ext cx="3607443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Sleutel: Johannes 	waarde: SOEP1</a:t>
            </a:r>
          </a:p>
          <a:p>
            <a:r>
              <a:rPr lang="en-BE" sz="1600" dirty="0"/>
              <a:t>Sleutel: Johanna 	waarde: SOEP2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355CE-28F0-D64C-8C15-FE0502759A2F}"/>
              </a:ext>
            </a:extLst>
          </p:cNvPr>
          <p:cNvSpPr txBox="1"/>
          <p:nvPr/>
        </p:nvSpPr>
        <p:spPr>
          <a:xfrm>
            <a:off x="838200" y="342900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FF97A-F4C6-634A-9D40-0F3F6E959EB1}"/>
              </a:ext>
            </a:extLst>
          </p:cNvPr>
          <p:cNvSpPr txBox="1"/>
          <p:nvPr/>
        </p:nvSpPr>
        <p:spPr>
          <a:xfrm>
            <a:off x="7340278" y="342900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2632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65F05-BFB8-124A-A027-530AE9D26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z="900" smtClean="0"/>
              <a:t>45</a:t>
            </a:fld>
            <a:endParaRPr lang="en-BE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EFE8C-629C-7A46-B8E8-A047A38E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Verwijderen en samenvoegen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FC6022-CBE8-5C45-8D8D-C42AD0E1826F}"/>
              </a:ext>
            </a:extLst>
          </p:cNvPr>
          <p:cNvSpPr/>
          <p:nvPr/>
        </p:nvSpPr>
        <p:spPr>
          <a:xfrm>
            <a:off x="571984" y="2341582"/>
            <a:ext cx="5400554" cy="35394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dict_1 = {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Belgie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'Nederland'</a:t>
            </a:r>
            <a:r>
              <a:rPr lang="en-GB" sz="1600" dirty="0"/>
              <a:t>: -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/>
              <a:t>dict_2 = {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Frankrijk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Duitsland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r>
              <a:rPr lang="en-GB" sz="1600" dirty="0"/>
              <a:t>dict_1.update(dict_2)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/>
              <a:t>dict_1[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Belgie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pop </a:t>
            </a:r>
            <a:r>
              <a:rPr lang="en-GB" sz="1600" dirty="0" err="1">
                <a:solidFill>
                  <a:srgbClr val="808080"/>
                </a:solidFill>
              </a:rPr>
              <a:t>verwijdert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sleutel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waarde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als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resultaat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 err="1"/>
              <a:t>waarde</a:t>
            </a:r>
            <a:r>
              <a:rPr lang="en-GB" sz="1600" dirty="0"/>
              <a:t> = dict_1.pop(</a:t>
            </a:r>
            <a:r>
              <a:rPr lang="en-GB" sz="1600" dirty="0">
                <a:solidFill>
                  <a:srgbClr val="6A8759"/>
                </a:solidFill>
              </a:rPr>
              <a:t>'Nederland'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(dict_1)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waarde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F8A2D0-A261-A44A-BFB6-FEF7EFD274C4}"/>
              </a:ext>
            </a:extLst>
          </p:cNvPr>
          <p:cNvSpPr/>
          <p:nvPr/>
        </p:nvSpPr>
        <p:spPr>
          <a:xfrm>
            <a:off x="6234898" y="2341582"/>
            <a:ext cx="5505157" cy="36625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{'Belgie': 10, 'Nederland': -10}</a:t>
            </a:r>
          </a:p>
          <a:p>
            <a:endParaRPr lang="en-BE" sz="1600" dirty="0"/>
          </a:p>
          <a:p>
            <a:r>
              <a:rPr lang="en-BE" sz="1600" dirty="0"/>
              <a:t>{'Belgie': 10, 'Nederland': -10, 'Frankrijk': 2, 'Duitsland': 2}</a:t>
            </a:r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{'Nederland': -10, 'Frankrijk': 2, 'Duitsland': 2}</a:t>
            </a:r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{'Frankrijk': 2, 'Duitsland': 2}</a:t>
            </a:r>
          </a:p>
          <a:p>
            <a:r>
              <a:rPr lang="en-BE" sz="1600" dirty="0"/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AF0D8-4029-2147-97C9-06A0228E4C36}"/>
              </a:ext>
            </a:extLst>
          </p:cNvPr>
          <p:cNvSpPr txBox="1"/>
          <p:nvPr/>
        </p:nvSpPr>
        <p:spPr>
          <a:xfrm>
            <a:off x="571984" y="197225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E65C7-C9F2-D044-941A-965C4FF5676F}"/>
              </a:ext>
            </a:extLst>
          </p:cNvPr>
          <p:cNvSpPr txBox="1"/>
          <p:nvPr/>
        </p:nvSpPr>
        <p:spPr>
          <a:xfrm>
            <a:off x="6234898" y="197225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646917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get(sleutel)</a:t>
            </a:r>
            <a:r>
              <a:rPr lang="nl-BE" sz="2000" dirty="0"/>
              <a:t>: geeft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nl-BE" sz="2000" dirty="0"/>
              <a:t> terug in plaats van een </a:t>
            </a:r>
            <a:r>
              <a:rPr lang="nl-BE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000" dirty="0">
                <a:latin typeface="+mj-lt"/>
                <a:cs typeface="Courier New" panose="02070309020205020404" pitchFamily="49" charset="0"/>
              </a:rPr>
              <a:t>indien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sleutel</a:t>
            </a:r>
            <a:r>
              <a:rPr lang="nl-BE" sz="2000" dirty="0">
                <a:latin typeface="+mj-lt"/>
                <a:cs typeface="Courier New" panose="02070309020205020404" pitchFamily="49" charset="0"/>
              </a:rPr>
              <a:t> niet aanwezig</a:t>
            </a:r>
            <a:endParaRPr lang="nl-B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get(sleutel, standaardwaarde)</a:t>
            </a:r>
            <a:r>
              <a:rPr lang="nl-BE" sz="2000" dirty="0"/>
              <a:t>: geeft zelf een alternatief mee, </a:t>
            </a:r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standaardwaarde</a:t>
            </a:r>
            <a:endParaRPr lang="nl-BE" sz="2000" dirty="0"/>
          </a:p>
          <a:p>
            <a:r>
              <a:rPr lang="nl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BE" sz="2000" dirty="0"/>
              <a:t>: controleert of een sleutel bestaat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Veilig opvragen: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get()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612961"/>
            <a:ext cx="400596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Brussel</a:t>
            </a:r>
          </a:p>
          <a:p>
            <a:r>
              <a:rPr lang="en-GB" sz="1600" dirty="0"/>
              <a:t>None</a:t>
            </a:r>
          </a:p>
          <a:p>
            <a:r>
              <a:rPr lang="en-GB" sz="1600" dirty="0"/>
              <a:t>onbekend</a:t>
            </a:r>
          </a:p>
          <a:p>
            <a:r>
              <a:rPr lang="en-GB" sz="1600" dirty="0"/>
              <a:t>True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98538" y="328210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244969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620655"/>
            <a:ext cx="5100577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steden = {</a:t>
            </a:r>
            <a:r>
              <a:rPr lang="en-GB" sz="1600" dirty="0">
                <a:solidFill>
                  <a:srgbClr val="6A8759"/>
                </a:solidFill>
              </a:rPr>
              <a:t>'Belgie'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A8759"/>
                </a:solidFill>
              </a:rPr>
              <a:t>'Brussel'</a:t>
            </a:r>
            <a:r>
              <a:rPr lang="en-GB" sz="1600" dirty="0">
                <a:solidFill>
                  <a:srgbClr val="CC7832"/>
                </a:solidFill>
              </a:rPr>
              <a:t>,</a:t>
            </a:r>
            <a:br>
              <a:rPr lang="en-GB" sz="1600" dirty="0"/>
            </a:br>
            <a:r>
              <a:rPr lang="en-GB" sz="1600" dirty="0"/>
              <a:t>          </a:t>
            </a:r>
            <a:r>
              <a:rPr lang="en-GB" sz="1600" dirty="0">
                <a:solidFill>
                  <a:srgbClr val="6A8759"/>
                </a:solidFill>
              </a:rPr>
              <a:t>'Nederland'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A8759"/>
                </a:solidFill>
              </a:rPr>
              <a:t>'Amsterdam'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(steden.get(</a:t>
            </a:r>
            <a:r>
              <a:rPr lang="en-GB" sz="1600" dirty="0">
                <a:solidFill>
                  <a:srgbClr val="6A8759"/>
                </a:solidFill>
              </a:rPr>
              <a:t>'Belgie'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(steden.get(</a:t>
            </a:r>
            <a:r>
              <a:rPr lang="en-GB" sz="1600" dirty="0">
                <a:solidFill>
                  <a:srgbClr val="6A8759"/>
                </a:solidFill>
              </a:rPr>
              <a:t>'Frankrijk'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(steden.get(</a:t>
            </a:r>
            <a:r>
              <a:rPr lang="en-GB" sz="1600" dirty="0">
                <a:solidFill>
                  <a:srgbClr val="6A8759"/>
                </a:solidFill>
              </a:rPr>
              <a:t>'Frankrijk'</a:t>
            </a:r>
            <a:r>
              <a:rPr lang="en-GB" sz="1600" dirty="0">
                <a:solidFill>
                  <a:srgbClr val="CC7832"/>
                </a:solidFill>
              </a:rPr>
              <a:t>,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6A8759"/>
                </a:solidFill>
              </a:rPr>
              <a:t>'onbekend'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'Belgie'</a:t>
            </a:r>
            <a:r>
              <a:rPr lang="en-GB" sz="1600" dirty="0">
                <a:solidFill>
                  <a:srgbClr val="CC7832"/>
                </a:solidFill>
              </a:rPr>
              <a:t> in </a:t>
            </a:r>
            <a:r>
              <a:rPr lang="en-GB" sz="1600" dirty="0"/>
              <a:t>steden)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steden['Frankrijk'] geeft een KeyError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25894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E5F2-93D9-B145-848A-32E8EB8EF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Itereerbare objecten (sets, lijsten, woordenboeken, etc.) kunnen gesorteerd worden gegeven dat de elementen vergelijkbaar zijn:</a:t>
            </a:r>
          </a:p>
          <a:p>
            <a:pPr lvl="1"/>
            <a:r>
              <a:rPr lang="en-BE" sz="2000" dirty="0"/>
              <a:t>Dit geldt oa. voor getallen (=,&lt;,&gt;,=&lt;,&gt;=) en strings (alfabetisch)</a:t>
            </a:r>
          </a:p>
          <a:p>
            <a:r>
              <a:rPr lang="en-BE" dirty="0"/>
              <a:t>2 mogelijkheden: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orted()</a:t>
            </a:r>
            <a:r>
              <a:rPr lang="en-BE" sz="2000" dirty="0"/>
              <a:t>: ingebouwde Python </a:t>
            </a:r>
            <a:r>
              <a:rPr lang="en-BE" sz="2000" b="1" dirty="0"/>
              <a:t>functie</a:t>
            </a:r>
            <a:r>
              <a:rPr lang="en-BE" sz="2000" dirty="0"/>
              <a:t> (zoals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len()</a:t>
            </a:r>
            <a:r>
              <a:rPr lang="en-BE" sz="2000" dirty="0"/>
              <a:t> of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type()</a:t>
            </a:r>
            <a:r>
              <a:rPr lang="en-BE" sz="2000" dirty="0"/>
              <a:t>) die een gesorteerd object teruggeeft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sort()</a:t>
            </a:r>
            <a:r>
              <a:rPr lang="en-GB" sz="2000" dirty="0"/>
              <a:t>: </a:t>
            </a:r>
            <a:r>
              <a:rPr lang="en-GB" sz="2000" dirty="0" err="1"/>
              <a:t>ingebouwde</a:t>
            </a:r>
            <a:r>
              <a:rPr lang="en-GB" sz="2000" dirty="0"/>
              <a:t> </a:t>
            </a:r>
            <a:r>
              <a:rPr lang="en-GB" sz="2000" b="1" dirty="0" err="1"/>
              <a:t>methode</a:t>
            </a:r>
            <a:r>
              <a:rPr lang="en-GB" sz="2000" dirty="0"/>
              <a:t> van </a:t>
            </a:r>
            <a:r>
              <a:rPr lang="en-GB" sz="2000" dirty="0" err="1"/>
              <a:t>lijsten</a:t>
            </a:r>
            <a:r>
              <a:rPr lang="en-GB" sz="2000" dirty="0"/>
              <a:t> - </a:t>
            </a:r>
            <a:r>
              <a:rPr lang="en-GB" sz="2000" dirty="0" err="1"/>
              <a:t>eens</a:t>
            </a:r>
            <a:r>
              <a:rPr lang="en-GB" sz="2000" dirty="0"/>
              <a:t> </a:t>
            </a:r>
            <a:r>
              <a:rPr lang="en-GB" sz="2000" dirty="0" err="1"/>
              <a:t>opgeroepen</a:t>
            </a:r>
            <a:r>
              <a:rPr lang="en-GB" sz="2000" dirty="0"/>
              <a:t> is het object </a:t>
            </a:r>
            <a:r>
              <a:rPr lang="en-GB" sz="2000" dirty="0" err="1"/>
              <a:t>zelf</a:t>
            </a:r>
            <a:r>
              <a:rPr lang="en-GB" sz="2000" dirty="0"/>
              <a:t> </a:t>
            </a:r>
            <a:r>
              <a:rPr lang="en-GB" sz="2000" dirty="0" err="1"/>
              <a:t>gesorteerd</a:t>
            </a:r>
            <a:r>
              <a:rPr lang="en-GB" sz="2000" dirty="0"/>
              <a:t> </a:t>
            </a:r>
            <a:r>
              <a:rPr lang="en-GB" sz="2000" dirty="0" err="1"/>
              <a:t>en</a:t>
            </a:r>
            <a:r>
              <a:rPr lang="en-GB" sz="2000" dirty="0"/>
              <a:t> </a:t>
            </a:r>
            <a:r>
              <a:rPr lang="en-GB" sz="2000" dirty="0" err="1"/>
              <a:t>krijgt</a:t>
            </a:r>
            <a:r>
              <a:rPr lang="en-GB" sz="2000" dirty="0"/>
              <a:t> het </a:t>
            </a:r>
            <a:r>
              <a:rPr lang="en-GB" sz="2000" dirty="0" err="1"/>
              <a:t>een</a:t>
            </a:r>
            <a:r>
              <a:rPr lang="en-GB" sz="2000" dirty="0"/>
              <a:t> </a:t>
            </a:r>
            <a:r>
              <a:rPr lang="en-GB" sz="2000" dirty="0" err="1"/>
              <a:t>nieuwe</a:t>
            </a:r>
            <a:r>
              <a:rPr lang="en-GB" sz="2000" dirty="0"/>
              <a:t> </a:t>
            </a:r>
            <a:r>
              <a:rPr lang="en-GB" sz="2000" dirty="0" err="1"/>
              <a:t>volgorde</a:t>
            </a:r>
            <a:endParaRPr lang="en-BE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6759C-6A93-5E4E-A895-4CEBE3EF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492E4-6348-E841-B7C9-17D96A6D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Sorteren van itereerbare objecten</a:t>
            </a:r>
          </a:p>
        </p:txBody>
      </p:sp>
    </p:spTree>
    <p:extLst>
      <p:ext uri="{BB962C8B-B14F-4D97-AF65-F5344CB8AC3E}">
        <p14:creationId xmlns:p14="http://schemas.microsoft.com/office/powerpoint/2010/main" val="21609164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1F3B1-A55F-F44B-B6D7-60DD8663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E0423-5B3F-D442-8D5F-39DEF42D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 sorteren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ABFA8-D359-6F41-A456-9360941CC6DA}"/>
              </a:ext>
            </a:extLst>
          </p:cNvPr>
          <p:cNvSpPr/>
          <p:nvPr/>
        </p:nvSpPr>
        <p:spPr>
          <a:xfrm>
            <a:off x="5139558" y="3429000"/>
            <a:ext cx="2081048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-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sorted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lijst.sort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lijst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50982-7888-814A-BB30-283E70794CEB}"/>
              </a:ext>
            </a:extLst>
          </p:cNvPr>
          <p:cNvSpPr/>
          <p:nvPr/>
        </p:nvSpPr>
        <p:spPr>
          <a:xfrm>
            <a:off x="8050924" y="3429000"/>
            <a:ext cx="1636987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r>
              <a:rPr lang="en-BE" sz="1600" dirty="0"/>
              <a:t>[0, 4, 1, -5, 2]</a:t>
            </a:r>
          </a:p>
          <a:p>
            <a:r>
              <a:rPr lang="en-BE" sz="1600" dirty="0"/>
              <a:t>[-5, 0, 1, 2, 4]</a:t>
            </a:r>
          </a:p>
          <a:p>
            <a:r>
              <a:rPr lang="en-BE" sz="1600" dirty="0"/>
              <a:t>[0, 4, 1, -5, 2]</a:t>
            </a:r>
          </a:p>
          <a:p>
            <a:endParaRPr lang="en-BE" sz="1600" dirty="0"/>
          </a:p>
          <a:p>
            <a:r>
              <a:rPr lang="en-BE" sz="1600" dirty="0"/>
              <a:t>[-5, 0, 1, 2, 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44FABF-4B4F-AA41-A4B4-1AF1D05B78E9}"/>
              </a:ext>
            </a:extLst>
          </p:cNvPr>
          <p:cNvSpPr txBox="1"/>
          <p:nvPr/>
        </p:nvSpPr>
        <p:spPr>
          <a:xfrm>
            <a:off x="5139558" y="306795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311E0-7A1D-BD40-B544-02883BB5DDEE}"/>
              </a:ext>
            </a:extLst>
          </p:cNvPr>
          <p:cNvSpPr txBox="1"/>
          <p:nvPr/>
        </p:nvSpPr>
        <p:spPr>
          <a:xfrm>
            <a:off x="8050924" y="305966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B3A10-AB8F-4C42-AE68-B87EFB5AE6F2}"/>
              </a:ext>
            </a:extLst>
          </p:cNvPr>
          <p:cNvSpPr txBox="1"/>
          <p:nvPr/>
        </p:nvSpPr>
        <p:spPr>
          <a:xfrm>
            <a:off x="1593331" y="3705998"/>
            <a:ext cx="35462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E" sz="1600" dirty="0"/>
              <a:t>Originele lijst:</a:t>
            </a:r>
          </a:p>
          <a:p>
            <a:pPr algn="r"/>
            <a:r>
              <a:rPr lang="en-BE" sz="1600" dirty="0"/>
              <a:t>Gesorteerde lijst (niet permanent):</a:t>
            </a:r>
          </a:p>
          <a:p>
            <a:pPr algn="r"/>
            <a:r>
              <a:rPr lang="en-BE" sz="1600" dirty="0"/>
              <a:t>Lijst is hetzelfde gebleven:</a:t>
            </a:r>
          </a:p>
          <a:p>
            <a:pPr algn="r"/>
            <a:endParaRPr lang="en-BE" sz="1600" dirty="0"/>
          </a:p>
          <a:p>
            <a:pPr algn="r"/>
            <a:r>
              <a:rPr lang="en-BE" sz="1600" dirty="0"/>
              <a:t>Nu is de lijst wel definitief aangepast:</a:t>
            </a:r>
          </a:p>
        </p:txBody>
      </p:sp>
    </p:spTree>
    <p:extLst>
      <p:ext uri="{BB962C8B-B14F-4D97-AF65-F5344CB8AC3E}">
        <p14:creationId xmlns:p14="http://schemas.microsoft.com/office/powerpoint/2010/main" val="39272359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A620EF-7236-3155-BF83-F8A8B9273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s = {1, 2, 2, 3, 3, 3}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print(len(s), sorted(s))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l = [10, 20, 30, 40]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print(l[1], l[-1], l[1:3])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d = {'a': 1, 'b': 2}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print(d['a'], d.get('c'))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4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chemeClr val="tx2"/>
                </a:solidFill>
              </a:rPr>
              <a:t>Voorspel eerst de output (30 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chemeClr val="tx2"/>
                </a:solidFill>
              </a:rPr>
              <a:t>Dan runnen en verbeteren in de notebook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2D5D2-25F0-4011-9218-035CFDDF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49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BFB18C-ADD3-F186-8AE5-3A86C441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1.3: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31482544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03E740-D471-D929-ECEF-5C702EE1C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F3B04-3EA1-CAFB-A00E-293CD6F5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402012-A3A5-07AC-DA34-4B10469A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15DF00-0367-E7A1-D7C3-25FD5066C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875" y="293377"/>
            <a:ext cx="4407291" cy="5115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2958E4-1028-43C9-851F-4C33C21DE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11" y="1449036"/>
            <a:ext cx="6731249" cy="446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6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23437E-5330-CD4E-A95E-34CE403E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4. Operatoren en bewerkingen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259F51-A033-7046-A280-90D9301FC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.6-operatoren.ipynb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ABBE5-02AB-7E41-A217-793FE0A2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57352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EDCA4-F969-4E4F-980B-7933F78E3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Python bevat allerlei basisbewerkingen die kunnen uitgevoerd worden met operatoren</a:t>
            </a:r>
          </a:p>
          <a:p>
            <a:r>
              <a:rPr lang="en-BE" dirty="0"/>
              <a:t>Interpretatie anders per type van variabele/waarde waarop toegepast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 + b</a:t>
            </a:r>
          </a:p>
          <a:p>
            <a:pPr lvl="1"/>
            <a:r>
              <a:rPr lang="en-BE" sz="2000" dirty="0"/>
              <a:t>Optellen van strings resulteert in concatenatie</a:t>
            </a:r>
          </a:p>
          <a:p>
            <a:pPr lvl="1"/>
            <a:r>
              <a:rPr lang="en-BE" sz="2000" dirty="0"/>
              <a:t>Optellen van getallen geeft de som</a:t>
            </a:r>
          </a:p>
          <a:p>
            <a:pPr lvl="1"/>
            <a:r>
              <a:rPr lang="en-BE" sz="2000" dirty="0"/>
              <a:t>Optellen van lijsten voegt de elementen achter elkaar in 1 lijst (zoals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.extend()</a:t>
            </a:r>
            <a:r>
              <a:rPr lang="en-BE" sz="2000" dirty="0"/>
              <a:t>)</a:t>
            </a:r>
          </a:p>
          <a:p>
            <a:r>
              <a:rPr lang="en-BE" dirty="0"/>
              <a:t>De operatoren moeten altijd met dezelfde types gebruikt worden:</a:t>
            </a:r>
          </a:p>
          <a:p>
            <a:pPr lvl="1"/>
            <a:r>
              <a:rPr lang="en-BE" sz="2000" dirty="0"/>
              <a:t>Dus niet: string + integer (bv. niet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2 +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tekst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BE" sz="2000" dirty="0"/>
              <a:t> maar wel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‘2’ + ‘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tekst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BE" sz="2000" dirty="0"/>
              <a:t>)</a:t>
            </a:r>
          </a:p>
          <a:p>
            <a:r>
              <a:rPr lang="en-BE" dirty="0"/>
              <a:t>Zoals altijd: volgorde is belangrijk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CFE7C-72BE-9840-9964-17CAF12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A55C0-D52C-004B-8758-2A310499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</p:spTree>
    <p:extLst>
      <p:ext uri="{BB962C8B-B14F-4D97-AF65-F5344CB8AC3E}">
        <p14:creationId xmlns:p14="http://schemas.microsoft.com/office/powerpoint/2010/main" val="4008762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F076-B5A4-144E-AE37-F0839BB7E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E" dirty="0"/>
              <a:t>+  : 	optellen</a:t>
            </a:r>
          </a:p>
          <a:p>
            <a:pPr marL="0" indent="0">
              <a:buNone/>
            </a:pPr>
            <a:r>
              <a:rPr lang="en-BE" dirty="0"/>
              <a:t>-   : 	aftrekken</a:t>
            </a:r>
          </a:p>
          <a:p>
            <a:pPr marL="0" indent="0">
              <a:buNone/>
            </a:pPr>
            <a:r>
              <a:rPr lang="en-BE" dirty="0"/>
              <a:t>*   : 	vermenigvuldigen</a:t>
            </a:r>
          </a:p>
          <a:p>
            <a:pPr marL="0" indent="0">
              <a:buNone/>
            </a:pPr>
            <a:r>
              <a:rPr lang="en-BE" dirty="0"/>
              <a:t>/   : 	delen</a:t>
            </a:r>
          </a:p>
          <a:p>
            <a:pPr marL="0" indent="0">
              <a:buNone/>
            </a:pPr>
            <a:r>
              <a:rPr lang="en-BE" dirty="0"/>
              <a:t>//  : 	gehele deling (afgerond naar onder)</a:t>
            </a:r>
          </a:p>
          <a:p>
            <a:pPr marL="0" indent="0">
              <a:buNone/>
            </a:pPr>
            <a:r>
              <a:rPr lang="en-BE" dirty="0"/>
              <a:t>% :	rest van deling</a:t>
            </a:r>
          </a:p>
          <a:p>
            <a:pPr marL="0" indent="0">
              <a:buNone/>
            </a:pPr>
            <a:r>
              <a:rPr lang="en-BE" dirty="0"/>
              <a:t>** :	exponent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2D352-9E07-DD4A-ADFD-97A38D7D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C4722-8890-944F-9F76-642FE16F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Rekenkundige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BACF9-70A7-B94F-84B0-24B65462B456}"/>
              </a:ext>
            </a:extLst>
          </p:cNvPr>
          <p:cNvSpPr/>
          <p:nvPr/>
        </p:nvSpPr>
        <p:spPr>
          <a:xfrm>
            <a:off x="9405392" y="2431633"/>
            <a:ext cx="1558725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r>
              <a:rPr lang="en-BE" dirty="0"/>
              <a:t>-7</a:t>
            </a:r>
          </a:p>
          <a:p>
            <a:r>
              <a:rPr lang="en-BE" dirty="0"/>
              <a:t>13</a:t>
            </a:r>
          </a:p>
          <a:p>
            <a:r>
              <a:rPr lang="en-BE" dirty="0"/>
              <a:t>-30</a:t>
            </a:r>
          </a:p>
          <a:p>
            <a:r>
              <a:rPr lang="en-BE" dirty="0"/>
              <a:t>-0.3</a:t>
            </a:r>
          </a:p>
          <a:p>
            <a:r>
              <a:rPr lang="en-BE" dirty="0"/>
              <a:t>3</a:t>
            </a:r>
          </a:p>
          <a:p>
            <a:r>
              <a:rPr lang="en-BE" dirty="0"/>
              <a:t>1</a:t>
            </a:r>
          </a:p>
          <a:p>
            <a:r>
              <a:rPr lang="en-BE" dirty="0"/>
              <a:t>-1000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33F43-B350-7842-9308-12AF293712FE}"/>
              </a:ext>
            </a:extLst>
          </p:cNvPr>
          <p:cNvSpPr txBox="1"/>
          <p:nvPr/>
        </p:nvSpPr>
        <p:spPr>
          <a:xfrm>
            <a:off x="7353780" y="206230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36B48-DFAE-E34D-80A2-4C7254CCFDD1}"/>
              </a:ext>
            </a:extLst>
          </p:cNvPr>
          <p:cNvSpPr txBox="1"/>
          <p:nvPr/>
        </p:nvSpPr>
        <p:spPr>
          <a:xfrm>
            <a:off x="9405392" y="2062301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35453D-7FF8-1644-A638-D0FE1BD42A13}"/>
              </a:ext>
            </a:extLst>
          </p:cNvPr>
          <p:cNvSpPr/>
          <p:nvPr/>
        </p:nvSpPr>
        <p:spPr>
          <a:xfrm>
            <a:off x="7353780" y="2431632"/>
            <a:ext cx="1541844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3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-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+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-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*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/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(10 // 3)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(10 % 3)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(b ** a)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0279482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A21B2-9390-0743-8C8B-FAF82DA6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BE" dirty="0"/>
              <a:t>==:	is gelijk aan</a:t>
            </a:r>
          </a:p>
          <a:p>
            <a:pPr marL="0" indent="0">
              <a:buNone/>
            </a:pPr>
            <a:r>
              <a:rPr lang="en-BE" dirty="0"/>
              <a:t>!=: 	is niet gelijk aan</a:t>
            </a:r>
          </a:p>
          <a:p>
            <a:pPr marL="0" indent="0">
              <a:buNone/>
            </a:pPr>
            <a:r>
              <a:rPr lang="en-BE" dirty="0"/>
              <a:t>&lt;:	is kleiner dan</a:t>
            </a:r>
          </a:p>
          <a:p>
            <a:pPr marL="0" indent="0">
              <a:buNone/>
            </a:pPr>
            <a:r>
              <a:rPr lang="en-BE" dirty="0"/>
              <a:t>&gt;: 	is groter dan</a:t>
            </a:r>
          </a:p>
          <a:p>
            <a:pPr marL="0" indent="0">
              <a:buNone/>
            </a:pPr>
            <a:r>
              <a:rPr lang="en-BE" dirty="0"/>
              <a:t>&lt;=: 	is kleiner of gelijk aan</a:t>
            </a:r>
          </a:p>
          <a:p>
            <a:pPr marL="0" indent="0">
              <a:buNone/>
            </a:pPr>
            <a:r>
              <a:rPr lang="en-BE" dirty="0"/>
              <a:t>&gt;=: 	is groter of gelijk aan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 err="1"/>
              <a:t>Vergelijken</a:t>
            </a:r>
            <a:r>
              <a:rPr lang="en-US" sz="2000" dirty="0"/>
              <a:t> (</a:t>
            </a:r>
            <a:r>
              <a:rPr lang="en-US" sz="2000" dirty="0" err="1"/>
              <a:t>vergelijkbare</a:t>
            </a:r>
            <a:r>
              <a:rPr lang="en-US" sz="2000" dirty="0"/>
              <a:t>/</a:t>
            </a:r>
            <a:r>
              <a:rPr lang="en-US" sz="2000" dirty="0" err="1"/>
              <a:t>sorteerbare</a:t>
            </a:r>
            <a:r>
              <a:rPr lang="en-US" sz="2000" dirty="0"/>
              <a:t>) </a:t>
            </a:r>
            <a:r>
              <a:rPr lang="en-US" sz="2000" dirty="0" err="1"/>
              <a:t>objecten</a:t>
            </a:r>
            <a:r>
              <a:rPr lang="en-US" sz="2000" dirty="0"/>
              <a:t> </a:t>
            </a:r>
            <a:r>
              <a:rPr lang="en-US" sz="2000" dirty="0" err="1"/>
              <a:t>zoals</a:t>
            </a:r>
            <a:r>
              <a:rPr lang="en-US" sz="2000" dirty="0"/>
              <a:t> bv. </a:t>
            </a:r>
            <a:r>
              <a:rPr lang="en-US" sz="2000" dirty="0" err="1"/>
              <a:t>getallen</a:t>
            </a:r>
            <a:r>
              <a:rPr lang="en-US" sz="2000" dirty="0"/>
              <a:t>/strings</a:t>
            </a:r>
            <a:endParaRPr lang="en-BE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44ACD-64E8-FC4B-888C-00D918ED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8906B-EF44-B240-B516-FEB97490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Vergelijkende operatoren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3CED4A-8B75-764D-884E-68C8009CEB85}"/>
              </a:ext>
            </a:extLst>
          </p:cNvPr>
          <p:cNvSpPr/>
          <p:nvPr/>
        </p:nvSpPr>
        <p:spPr>
          <a:xfrm>
            <a:off x="6096000" y="2483580"/>
            <a:ext cx="2577296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b = -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c = </a:t>
            </a:r>
            <a:r>
              <a:rPr lang="en-GB" dirty="0">
                <a:solidFill>
                  <a:srgbClr val="6897BB"/>
                </a:solidFill>
              </a:rPr>
              <a:t>5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d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== d)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==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!=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&lt; b)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 &gt;= b)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819DC-7C7C-424A-803A-A24D6F9F81D7}"/>
              </a:ext>
            </a:extLst>
          </p:cNvPr>
          <p:cNvSpPr/>
          <p:nvPr/>
        </p:nvSpPr>
        <p:spPr>
          <a:xfrm>
            <a:off x="9124708" y="2483580"/>
            <a:ext cx="1165185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6CFC5-4510-0446-BD8F-23060D1F7AA4}"/>
              </a:ext>
            </a:extLst>
          </p:cNvPr>
          <p:cNvSpPr txBox="1"/>
          <p:nvPr/>
        </p:nvSpPr>
        <p:spPr>
          <a:xfrm>
            <a:off x="6096000" y="211424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CDCBA-6371-FF41-AC5E-CE16EAEA3F08}"/>
              </a:ext>
            </a:extLst>
          </p:cNvPr>
          <p:cNvSpPr txBox="1"/>
          <p:nvPr/>
        </p:nvSpPr>
        <p:spPr>
          <a:xfrm>
            <a:off x="9124708" y="211424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5997429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8A13D-B652-3E41-A22B-8E06675A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GB" sz="2000" dirty="0"/>
              <a:t>: 		het statement </a:t>
            </a:r>
            <a:r>
              <a:rPr lang="en-GB" sz="2000" dirty="0" err="1"/>
              <a:t>houdt</a:t>
            </a:r>
            <a:r>
              <a:rPr lang="en-GB" sz="2000" dirty="0"/>
              <a:t> </a:t>
            </a:r>
            <a:r>
              <a:rPr lang="en-GB" sz="2000" dirty="0" err="1"/>
              <a:t>niet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GB" sz="2000" dirty="0"/>
              <a:t>:		</a:t>
            </a:r>
            <a:r>
              <a:rPr lang="en-GB" sz="2000" dirty="0" err="1"/>
              <a:t>minstens</a:t>
            </a:r>
            <a:r>
              <a:rPr lang="en-GB" sz="2000" dirty="0"/>
              <a:t> 1 van de statements </a:t>
            </a:r>
            <a:r>
              <a:rPr lang="en-GB" sz="2000" dirty="0" err="1"/>
              <a:t>geldt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GB" sz="2000" dirty="0"/>
              <a:t>:		</a:t>
            </a:r>
            <a:r>
              <a:rPr lang="en-GB" sz="2000" dirty="0" err="1"/>
              <a:t>allebei</a:t>
            </a:r>
            <a:r>
              <a:rPr lang="en-GB" sz="2000" dirty="0"/>
              <a:t> de statements </a:t>
            </a:r>
            <a:r>
              <a:rPr lang="en-GB" sz="2000" dirty="0" err="1"/>
              <a:t>gelden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GB" sz="2000" dirty="0"/>
              <a:t>:		object is </a:t>
            </a:r>
            <a:r>
              <a:rPr lang="en-GB" sz="2000" dirty="0" err="1"/>
              <a:t>gelijk</a:t>
            </a:r>
            <a:r>
              <a:rPr lang="en-GB" sz="2000" dirty="0"/>
              <a:t> </a:t>
            </a:r>
            <a:r>
              <a:rPr lang="en-GB" sz="2000" dirty="0" err="1"/>
              <a:t>aan</a:t>
            </a:r>
            <a:r>
              <a:rPr lang="en-GB" sz="2000" dirty="0"/>
              <a:t> </a:t>
            </a:r>
            <a:r>
              <a:rPr lang="en-GB" sz="2000" dirty="0" err="1"/>
              <a:t>ander</a:t>
            </a:r>
            <a:r>
              <a:rPr lang="en-GB" sz="2000" dirty="0"/>
              <a:t> object (</a:t>
            </a:r>
            <a:r>
              <a:rPr lang="en-GB" sz="2000" dirty="0" err="1"/>
              <a:t>plaats</a:t>
            </a:r>
            <a:r>
              <a:rPr lang="en-GB" sz="2000" dirty="0"/>
              <a:t> in het </a:t>
            </a:r>
            <a:r>
              <a:rPr lang="en-GB" sz="2000" dirty="0" err="1"/>
              <a:t>geheugen</a:t>
            </a:r>
            <a:r>
              <a:rPr lang="en-GB" sz="2000" dirty="0"/>
              <a:t> </a:t>
            </a:r>
            <a:r>
              <a:rPr lang="en-GB" sz="2000" dirty="0" err="1"/>
              <a:t>komt</a:t>
            </a:r>
            <a:r>
              <a:rPr lang="en-GB" sz="2000" dirty="0"/>
              <a:t> </a:t>
            </a:r>
            <a:r>
              <a:rPr lang="en-GB" sz="2000" dirty="0" err="1"/>
              <a:t>overeen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is not</a:t>
            </a:r>
            <a:r>
              <a:rPr lang="en-GB" sz="2000" dirty="0"/>
              <a:t>:	object is </a:t>
            </a:r>
            <a:r>
              <a:rPr lang="en-GB" sz="2000" dirty="0" err="1"/>
              <a:t>niet</a:t>
            </a:r>
            <a:r>
              <a:rPr lang="en-GB" sz="2000" dirty="0"/>
              <a:t> </a:t>
            </a:r>
            <a:r>
              <a:rPr lang="en-GB" sz="2000" dirty="0" err="1"/>
              <a:t>gelijk</a:t>
            </a:r>
            <a:r>
              <a:rPr lang="en-GB" sz="2000" dirty="0"/>
              <a:t> </a:t>
            </a:r>
            <a:r>
              <a:rPr lang="en-GB" sz="2000" dirty="0" err="1"/>
              <a:t>aan</a:t>
            </a:r>
            <a:r>
              <a:rPr lang="en-GB" sz="2000" dirty="0"/>
              <a:t> </a:t>
            </a:r>
            <a:r>
              <a:rPr lang="en-GB" sz="2000" dirty="0" err="1"/>
              <a:t>ander</a:t>
            </a:r>
            <a:r>
              <a:rPr lang="en-GB" sz="2000" dirty="0"/>
              <a:t> object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en-GB" dirty="0" err="1"/>
              <a:t>Gebruiken</a:t>
            </a:r>
            <a:r>
              <a:rPr lang="en-GB" dirty="0"/>
              <a:t> de Boolean </a:t>
            </a:r>
            <a:r>
              <a:rPr lang="en-GB" dirty="0" err="1"/>
              <a:t>uitkomst</a:t>
            </a:r>
            <a:r>
              <a:rPr lang="en-GB" dirty="0"/>
              <a:t> van </a:t>
            </a:r>
            <a:r>
              <a:rPr lang="en-GB" dirty="0" err="1"/>
              <a:t>een</a:t>
            </a:r>
            <a:r>
              <a:rPr lang="en-GB" dirty="0"/>
              <a:t> statement (</a:t>
            </a:r>
            <a:r>
              <a:rPr lang="en-GB" dirty="0" err="1"/>
              <a:t>bv</a:t>
            </a:r>
            <a:r>
              <a:rPr lang="en-GB" dirty="0"/>
              <a:t>.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 &gt; 2</a:t>
            </a:r>
            <a:r>
              <a:rPr lang="en-GB" dirty="0"/>
              <a:t>)</a:t>
            </a:r>
          </a:p>
          <a:p>
            <a:r>
              <a:rPr lang="en-GB" dirty="0"/>
              <a:t>Worden </a:t>
            </a:r>
            <a:r>
              <a:rPr lang="en-GB" dirty="0" err="1"/>
              <a:t>vooral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GB" dirty="0"/>
              <a:t>-statements (</a:t>
            </a:r>
            <a:r>
              <a:rPr lang="en-GB" dirty="0" err="1"/>
              <a:t>zie</a:t>
            </a:r>
            <a:r>
              <a:rPr lang="en-GB" dirty="0"/>
              <a:t> later)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8C6A-3DBA-EC4A-BC9B-F1784ED6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671C5-A7C7-4846-8A7A-F8B67FB2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Logische operatoren</a:t>
            </a:r>
          </a:p>
        </p:txBody>
      </p:sp>
    </p:spTree>
    <p:extLst>
      <p:ext uri="{BB962C8B-B14F-4D97-AF65-F5344CB8AC3E}">
        <p14:creationId xmlns:p14="http://schemas.microsoft.com/office/powerpoint/2010/main" val="28936375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8C6A-3DBA-EC4A-BC9B-F1784ED6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671C5-A7C7-4846-8A7A-F8B67FB2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Logische operatoren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20BCB-96E2-244B-A084-5146E1037A06}"/>
              </a:ext>
            </a:extLst>
          </p:cNvPr>
          <p:cNvSpPr txBox="1"/>
          <p:nvPr/>
        </p:nvSpPr>
        <p:spPr>
          <a:xfrm>
            <a:off x="1375334" y="2808138"/>
            <a:ext cx="91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2229E-7871-EF49-884E-02BEDC5687DA}"/>
              </a:ext>
            </a:extLst>
          </p:cNvPr>
          <p:cNvSpPr txBox="1"/>
          <p:nvPr/>
        </p:nvSpPr>
        <p:spPr>
          <a:xfrm>
            <a:off x="4134303" y="280813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3F8B81-97F3-3E4E-A64B-CFCF3ED35D20}"/>
              </a:ext>
            </a:extLst>
          </p:cNvPr>
          <p:cNvSpPr/>
          <p:nvPr/>
        </p:nvSpPr>
        <p:spPr>
          <a:xfrm>
            <a:off x="1239516" y="3265705"/>
            <a:ext cx="2711865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CC7832"/>
                </a:solidFill>
              </a:rPr>
              <a:t>True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CC7832"/>
                </a:solidFill>
              </a:rPr>
              <a:t>False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and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and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or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or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is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not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is not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'not a'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CC7832"/>
                </a:solidFill>
              </a:rPr>
              <a:t>not </a:t>
            </a:r>
            <a:r>
              <a:rPr lang="en-GB" sz="1600" dirty="0"/>
              <a:t>a))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'not b'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CC7832"/>
                </a:solidFill>
              </a:rPr>
              <a:t>not </a:t>
            </a:r>
            <a:r>
              <a:rPr lang="en-GB" sz="1600" dirty="0"/>
              <a:t>b))</a:t>
            </a:r>
            <a:endParaRPr lang="en-BE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25733-39BF-A54B-BDF5-9E9DF0DAB317}"/>
              </a:ext>
            </a:extLst>
          </p:cNvPr>
          <p:cNvSpPr/>
          <p:nvPr/>
        </p:nvSpPr>
        <p:spPr>
          <a:xfrm>
            <a:off x="4134303" y="3265705"/>
            <a:ext cx="1902864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a and b False</a:t>
            </a:r>
          </a:p>
          <a:p>
            <a:r>
              <a:rPr lang="en-BE" sz="1600" dirty="0"/>
              <a:t>a or b True</a:t>
            </a:r>
          </a:p>
          <a:p>
            <a:r>
              <a:rPr lang="en-BE" sz="1600" dirty="0"/>
              <a:t>a is b False</a:t>
            </a:r>
          </a:p>
          <a:p>
            <a:r>
              <a:rPr lang="en-BE" sz="1600" dirty="0"/>
              <a:t>a is not b True</a:t>
            </a:r>
          </a:p>
          <a:p>
            <a:r>
              <a:rPr lang="en-BE" sz="1600" dirty="0"/>
              <a:t>not a False</a:t>
            </a:r>
          </a:p>
          <a:p>
            <a:r>
              <a:rPr lang="en-BE" sz="1600" dirty="0"/>
              <a:t>not b True</a:t>
            </a:r>
          </a:p>
        </p:txBody>
      </p:sp>
      <p:pic>
        <p:nvPicPr>
          <p:cNvPr id="1026" name="Picture 2" descr="r/LogicGateMemes - The first logic gates">
            <a:extLst>
              <a:ext uri="{FF2B5EF4-FFF2-40B4-BE49-F238E27FC236}">
                <a16:creationId xmlns:a16="http://schemas.microsoft.com/office/drawing/2014/main" id="{E436F94C-4D8C-DF34-D879-1288C4D63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519" y="555842"/>
            <a:ext cx="4693856" cy="351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F70FD1-8ABE-CE5A-589B-694D2EDF56CE}"/>
              </a:ext>
            </a:extLst>
          </p:cNvPr>
          <p:cNvSpPr txBox="1"/>
          <p:nvPr/>
        </p:nvSpPr>
        <p:spPr>
          <a:xfrm>
            <a:off x="1075667" y="6497075"/>
            <a:ext cx="7481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https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://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www.reddit.com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/r/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LogicGateMemes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comments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/d2nr07/</a:t>
            </a:r>
            <a:r>
              <a:rPr lang="nl-NL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the_first_logic_gates</a:t>
            </a:r>
            <a:r>
              <a:rPr lang="nl-NL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55590-043C-22A2-B9EE-30336264C666}"/>
              </a:ext>
            </a:extLst>
          </p:cNvPr>
          <p:cNvSpPr txBox="1"/>
          <p:nvPr/>
        </p:nvSpPr>
        <p:spPr>
          <a:xfrm>
            <a:off x="7535610" y="152958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9145A-88A6-9EAC-ED72-9F96239C18A4}"/>
              </a:ext>
            </a:extLst>
          </p:cNvPr>
          <p:cNvSpPr txBox="1"/>
          <p:nvPr/>
        </p:nvSpPr>
        <p:spPr>
          <a:xfrm>
            <a:off x="7469586" y="308103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not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7C9EF-C00B-7B97-EE63-7C82DFA86B59}"/>
              </a:ext>
            </a:extLst>
          </p:cNvPr>
          <p:cNvSpPr txBox="1"/>
          <p:nvPr/>
        </p:nvSpPr>
        <p:spPr>
          <a:xfrm>
            <a:off x="10121375" y="311680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xor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0ADFDA-22C9-6735-C17B-162076051E85}"/>
              </a:ext>
            </a:extLst>
          </p:cNvPr>
          <p:cNvSpPr txBox="1"/>
          <p:nvPr/>
        </p:nvSpPr>
        <p:spPr>
          <a:xfrm>
            <a:off x="9984158" y="1554718"/>
            <a:ext cx="38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chemeClr val="bg1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8611301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0D9E-DAB2-8F41-A262-958D8A8D8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GB" dirty="0"/>
              <a:t> operator: </a:t>
            </a:r>
            <a:r>
              <a:rPr lang="en-GB" dirty="0" err="1"/>
              <a:t>controleert</a:t>
            </a:r>
            <a:r>
              <a:rPr lang="en-GB" dirty="0"/>
              <a:t> of 2 </a:t>
            </a:r>
            <a:r>
              <a:rPr lang="en-GB" dirty="0" err="1">
                <a:solidFill>
                  <a:srgbClr val="00B0F0"/>
                </a:solidFill>
              </a:rPr>
              <a:t>objecten</a:t>
            </a:r>
            <a:r>
              <a:rPr lang="en-GB" dirty="0"/>
              <a:t> </a:t>
            </a:r>
            <a:r>
              <a:rPr lang="en-GB" dirty="0" err="1"/>
              <a:t>gelijk</a:t>
            </a:r>
            <a:r>
              <a:rPr lang="en-GB" dirty="0"/>
              <a:t> </a:t>
            </a:r>
            <a:r>
              <a:rPr lang="en-GB" dirty="0" err="1"/>
              <a:t>zijn</a:t>
            </a:r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GB" dirty="0"/>
              <a:t> operator: </a:t>
            </a:r>
            <a:r>
              <a:rPr lang="en-GB" dirty="0" err="1"/>
              <a:t>controleert</a:t>
            </a:r>
            <a:r>
              <a:rPr lang="en-GB" dirty="0"/>
              <a:t> of 2 </a:t>
            </a:r>
            <a:r>
              <a:rPr lang="en-GB" dirty="0" err="1">
                <a:solidFill>
                  <a:srgbClr val="00B0F0"/>
                </a:solidFill>
              </a:rPr>
              <a:t>waarden</a:t>
            </a:r>
            <a:r>
              <a:rPr lang="en-GB" dirty="0"/>
              <a:t> </a:t>
            </a:r>
            <a:r>
              <a:rPr lang="en-GB" dirty="0" err="1"/>
              <a:t>gelijk</a:t>
            </a:r>
            <a:r>
              <a:rPr lang="en-GB" dirty="0"/>
              <a:t> </a:t>
            </a:r>
            <a:r>
              <a:rPr lang="en-GB" dirty="0" err="1"/>
              <a:t>zijn</a:t>
            </a:r>
            <a:endParaRPr lang="en-GB" dirty="0"/>
          </a:p>
          <a:p>
            <a:endParaRPr lang="en-GB" dirty="0"/>
          </a:p>
          <a:p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478B3-D080-E34D-9841-3BECA4EB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1E471B-E7C2-FC44-B41A-3CD53BE8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Gelijkheid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EB4DE-B596-794B-B819-81DEBA19A7DB}"/>
              </a:ext>
            </a:extLst>
          </p:cNvPr>
          <p:cNvSpPr txBox="1"/>
          <p:nvPr/>
        </p:nvSpPr>
        <p:spPr>
          <a:xfrm>
            <a:off x="5744743" y="4714416"/>
            <a:ext cx="587125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400" dirty="0"/>
              <a:t>De inhoud van de lijsten is hetzelfde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400" dirty="0"/>
              <a:t>De objecten zijn niet hetzelfde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E" sz="1400" dirty="0"/>
              <a:t>De integer waarden en objecten zijn wel hetzelfde: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sz="1200" dirty="0"/>
              <a:t>Meestal houdt onze Python implementatie deze integers/strings</a:t>
            </a:r>
            <a:r>
              <a:rPr lang="en-US" sz="1200" dirty="0"/>
              <a:t> </a:t>
            </a:r>
            <a:r>
              <a:rPr lang="en-US" sz="1200" dirty="0" err="1"/>
              <a:t>bij</a:t>
            </a:r>
            <a:r>
              <a:rPr lang="en-BE" sz="1200" dirty="0"/>
              <a:t> als hetzelfde object op dezelfde geheugenplaats (dit is mogelijk bij simpele types </a:t>
            </a:r>
            <a:r>
              <a:rPr lang="en-US" sz="1200" dirty="0" err="1"/>
              <a:t>zoals</a:t>
            </a:r>
            <a:r>
              <a:rPr lang="en-US" sz="1200" dirty="0"/>
              <a:t> integers</a:t>
            </a:r>
            <a:r>
              <a:rPr lang="en-BE" sz="1200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5C085-915E-4E46-BEAF-42280852D49B}"/>
              </a:ext>
            </a:extLst>
          </p:cNvPr>
          <p:cNvSpPr/>
          <p:nvPr/>
        </p:nvSpPr>
        <p:spPr>
          <a:xfrm>
            <a:off x="4163993" y="4642746"/>
            <a:ext cx="1223058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400" dirty="0"/>
              <a:t>True</a:t>
            </a:r>
          </a:p>
          <a:p>
            <a:r>
              <a:rPr lang="en-BE" sz="1400" dirty="0"/>
              <a:t>False</a:t>
            </a:r>
          </a:p>
          <a:p>
            <a:r>
              <a:rPr lang="en-BE" sz="1400" dirty="0"/>
              <a:t>True</a:t>
            </a:r>
          </a:p>
          <a:p>
            <a:r>
              <a:rPr lang="en-BE" sz="1400" dirty="0"/>
              <a:t>True</a:t>
            </a:r>
          </a:p>
          <a:p>
            <a:r>
              <a:rPr lang="en-BE" sz="1400" dirty="0"/>
              <a:t>True</a:t>
            </a:r>
          </a:p>
          <a:p>
            <a:r>
              <a:rPr lang="en-BE" sz="1400" dirty="0"/>
              <a:t>True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5793F3-F496-DA44-AE96-2755906A9A38}"/>
              </a:ext>
            </a:extLst>
          </p:cNvPr>
          <p:cNvSpPr/>
          <p:nvPr/>
        </p:nvSpPr>
        <p:spPr>
          <a:xfrm>
            <a:off x="1867383" y="3164681"/>
            <a:ext cx="2010137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/>
              <a:t>a = [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3</a:t>
            </a:r>
            <a:r>
              <a:rPr lang="en-GB" sz="1400" dirty="0"/>
              <a:t>]</a:t>
            </a:r>
            <a:br>
              <a:rPr lang="en-GB" sz="1400" dirty="0"/>
            </a:br>
            <a:r>
              <a:rPr lang="en-GB" sz="1400" dirty="0"/>
              <a:t>b = [</a:t>
            </a:r>
            <a:r>
              <a:rPr lang="en-GB" sz="1400" dirty="0">
                <a:solidFill>
                  <a:srgbClr val="6897BB"/>
                </a:solidFill>
              </a:rPr>
              <a:t>1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2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3</a:t>
            </a:r>
            <a:r>
              <a:rPr lang="en-GB" sz="1400" dirty="0"/>
              <a:t>]</a:t>
            </a:r>
            <a:br>
              <a:rPr lang="en-GB" sz="1400" dirty="0"/>
            </a:br>
            <a:r>
              <a:rPr lang="en-GB" sz="1400" dirty="0"/>
              <a:t>c = </a:t>
            </a:r>
            <a:r>
              <a:rPr lang="en-GB" sz="1400" dirty="0">
                <a:solidFill>
                  <a:srgbClr val="6897BB"/>
                </a:solidFill>
              </a:rPr>
              <a:t>10</a:t>
            </a:r>
            <a:br>
              <a:rPr lang="en-GB" sz="1400" dirty="0">
                <a:solidFill>
                  <a:srgbClr val="6897BB"/>
                </a:solidFill>
              </a:rPr>
            </a:br>
            <a:r>
              <a:rPr lang="en-GB" sz="1400" dirty="0"/>
              <a:t>d = </a:t>
            </a:r>
            <a:r>
              <a:rPr lang="en-GB" sz="1400" dirty="0">
                <a:solidFill>
                  <a:srgbClr val="6897BB"/>
                </a:solidFill>
              </a:rPr>
              <a:t>10</a:t>
            </a:r>
            <a:br>
              <a:rPr lang="en-GB" sz="1400" dirty="0">
                <a:solidFill>
                  <a:srgbClr val="6897BB"/>
                </a:solidFill>
              </a:rPr>
            </a:br>
            <a:r>
              <a:rPr lang="en-GB" sz="1400" dirty="0"/>
              <a:t>e =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/>
              <a:t>f = </a:t>
            </a:r>
            <a:r>
              <a:rPr lang="en-GB" sz="1400" dirty="0">
                <a:solidFill>
                  <a:srgbClr val="6A8759"/>
                </a:solidFill>
              </a:rPr>
              <a:t>'Johannes'</a:t>
            </a:r>
            <a:br>
              <a:rPr lang="en-GB" sz="1400" dirty="0">
                <a:solidFill>
                  <a:srgbClr val="6A8759"/>
                </a:solidFill>
              </a:rPr>
            </a:br>
            <a:br>
              <a:rPr lang="en-GB" sz="1400" dirty="0">
                <a:solidFill>
                  <a:srgbClr val="6A8759"/>
                </a:solidFill>
              </a:rPr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(a == b)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(a </a:t>
            </a:r>
            <a:r>
              <a:rPr lang="en-GB" sz="1400" dirty="0">
                <a:solidFill>
                  <a:srgbClr val="CC7832"/>
                </a:solidFill>
              </a:rPr>
              <a:t>is </a:t>
            </a:r>
            <a:r>
              <a:rPr lang="en-GB" sz="1400" dirty="0"/>
              <a:t>b)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(c == d)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(c </a:t>
            </a:r>
            <a:r>
              <a:rPr lang="en-GB" sz="1400" dirty="0">
                <a:solidFill>
                  <a:srgbClr val="CC7832"/>
                </a:solidFill>
              </a:rPr>
              <a:t>is </a:t>
            </a:r>
            <a:r>
              <a:rPr lang="en-GB" sz="1400" dirty="0"/>
              <a:t>d)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(e == f)</a:t>
            </a:r>
            <a:br>
              <a:rPr lang="en-GB" sz="1400" dirty="0"/>
            </a:b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(e </a:t>
            </a:r>
            <a:r>
              <a:rPr lang="en-GB" sz="1400" dirty="0">
                <a:solidFill>
                  <a:srgbClr val="CC7832"/>
                </a:solidFill>
              </a:rPr>
              <a:t>is </a:t>
            </a:r>
            <a:r>
              <a:rPr lang="en-GB" sz="1400" dirty="0"/>
              <a:t>f)</a:t>
            </a:r>
            <a:endParaRPr lang="en-B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2B1FA-CCF0-EA49-8576-7E9AD5B291ED}"/>
              </a:ext>
            </a:extLst>
          </p:cNvPr>
          <p:cNvSpPr txBox="1"/>
          <p:nvPr/>
        </p:nvSpPr>
        <p:spPr>
          <a:xfrm>
            <a:off x="1867383" y="284507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19FBEB-0B49-3F44-BD44-3C6BCF97DF21}"/>
              </a:ext>
            </a:extLst>
          </p:cNvPr>
          <p:cNvSpPr txBox="1"/>
          <p:nvPr/>
        </p:nvSpPr>
        <p:spPr>
          <a:xfrm>
            <a:off x="4163993" y="4340376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Output: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5348B22-4F08-5246-A819-9A4BC913832F}"/>
              </a:ext>
            </a:extLst>
          </p:cNvPr>
          <p:cNvSpPr/>
          <p:nvPr/>
        </p:nvSpPr>
        <p:spPr>
          <a:xfrm>
            <a:off x="5477326" y="4714416"/>
            <a:ext cx="266217" cy="1214551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BE" sz="1400"/>
          </a:p>
        </p:txBody>
      </p:sp>
    </p:spTree>
    <p:extLst>
      <p:ext uri="{BB962C8B-B14F-4D97-AF65-F5344CB8AC3E}">
        <p14:creationId xmlns:p14="http://schemas.microsoft.com/office/powerpoint/2010/main" val="11465007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8C6A-3DBA-EC4A-BC9B-F1784ED6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671C5-A7C7-4846-8A7A-F8B67FB2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Volgorde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93A135-3DE3-E34E-8A32-9ABBA8587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266242"/>
              </p:ext>
            </p:extLst>
          </p:nvPr>
        </p:nvGraphicFramePr>
        <p:xfrm>
          <a:off x="3862409" y="1523999"/>
          <a:ext cx="4467180" cy="31802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3590">
                  <a:extLst>
                    <a:ext uri="{9D8B030D-6E8A-4147-A177-3AD203B41FA5}">
                      <a16:colId xmlns:a16="http://schemas.microsoft.com/office/drawing/2014/main" val="2578974734"/>
                    </a:ext>
                  </a:extLst>
                </a:gridCol>
                <a:gridCol w="2233590">
                  <a:extLst>
                    <a:ext uri="{9D8B030D-6E8A-4147-A177-3AD203B41FA5}">
                      <a16:colId xmlns:a16="http://schemas.microsoft.com/office/drawing/2014/main" val="3184690200"/>
                    </a:ext>
                  </a:extLst>
                </a:gridCol>
              </a:tblGrid>
              <a:tr h="487020">
                <a:tc>
                  <a:txBody>
                    <a:bodyPr/>
                    <a:lstStyle/>
                    <a:p>
                      <a:pPr algn="l" fontAlgn="b"/>
                      <a:br>
                        <a:rPr lang="en-GB" sz="1600" b="1" dirty="0">
                          <a:effectLst/>
                        </a:rPr>
                      </a:br>
                      <a:r>
                        <a:rPr lang="en-GB" sz="1600" b="1" dirty="0" err="1">
                          <a:effectLst/>
                        </a:rPr>
                        <a:t>Prioriteit</a:t>
                      </a:r>
                      <a:endParaRPr lang="en-GB" sz="1600" b="1" dirty="0">
                        <a:effectLst/>
                      </a:endParaRPr>
                    </a:p>
                  </a:txBody>
                  <a:tcPr marL="62162" marR="62162" marT="31081" marB="31081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1" dirty="0">
                          <a:effectLst/>
                        </a:rPr>
                        <a:t>Operator</a:t>
                      </a:r>
                    </a:p>
                  </a:txBody>
                  <a:tcPr marL="62162" marR="62162" marT="31081" marB="31081" anchor="b"/>
                </a:tc>
                <a:extLst>
                  <a:ext uri="{0D108BD9-81ED-4DB2-BD59-A6C34878D82A}">
                    <a16:rowId xmlns:a16="http://schemas.microsoft.com/office/drawing/2014/main" val="1973406003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r>
                        <a:rPr lang="en-GB" sz="1600" b="0" dirty="0" err="1">
                          <a:effectLst/>
                        </a:rPr>
                        <a:t>laagste</a:t>
                      </a:r>
                      <a:endParaRPr lang="en-GB" sz="1600" b="0" dirty="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or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2819860507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and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3109651073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not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680200529"/>
                  </a:ext>
                </a:extLst>
              </a:tr>
              <a:tr h="48702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600" dirty="0">
                          <a:effectLst/>
                        </a:rPr>
                        <a:t>==, !=, &lt;, &lt;=, &gt;, &gt;=, is, is not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4183063988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BE" sz="1600" dirty="0">
                          <a:effectLst/>
                        </a:rPr>
                        <a:t>+, -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719203915"/>
                  </a:ext>
                </a:extLst>
              </a:tr>
              <a:tr h="550597">
                <a:tc>
                  <a:txBody>
                    <a:bodyPr/>
                    <a:lstStyle/>
                    <a:p>
                      <a:pPr fontAlgn="t"/>
                      <a:endParaRPr lang="en-BE" sz="160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BE" sz="1600" dirty="0">
                          <a:effectLst/>
                        </a:rPr>
                        <a:t>*, /, //, %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3461141048"/>
                  </a:ext>
                </a:extLst>
              </a:tr>
              <a:tr h="271040">
                <a:tc>
                  <a:txBody>
                    <a:bodyPr/>
                    <a:lstStyle/>
                    <a:p>
                      <a:pPr fontAlgn="t"/>
                      <a:r>
                        <a:rPr lang="en-GB" sz="1600" b="0" dirty="0" err="1">
                          <a:effectLst/>
                        </a:rPr>
                        <a:t>hoogste</a:t>
                      </a:r>
                      <a:endParaRPr lang="en-GB" sz="1600" b="0" dirty="0">
                        <a:effectLst/>
                      </a:endParaRPr>
                    </a:p>
                  </a:txBody>
                  <a:tcPr marL="62162" marR="62162" marT="31081" marB="31081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BE" sz="1600" dirty="0">
                          <a:effectLst/>
                        </a:rPr>
                        <a:t>**</a:t>
                      </a:r>
                    </a:p>
                  </a:txBody>
                  <a:tcPr marL="62162" marR="62162" marT="31081" marB="31081"/>
                </a:tc>
                <a:extLst>
                  <a:ext uri="{0D108BD9-81ED-4DB2-BD59-A6C34878D82A}">
                    <a16:rowId xmlns:a16="http://schemas.microsoft.com/office/drawing/2014/main" val="45591879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9799EF2-F7DE-D04B-B241-9A539D101953}"/>
              </a:ext>
            </a:extLst>
          </p:cNvPr>
          <p:cNvSpPr/>
          <p:nvPr/>
        </p:nvSpPr>
        <p:spPr>
          <a:xfrm>
            <a:off x="4382533" y="5255214"/>
            <a:ext cx="266991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5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6897BB"/>
                </a:solidFill>
              </a:rPr>
              <a:t>2 </a:t>
            </a:r>
            <a:r>
              <a:rPr lang="en-GB" sz="1600" dirty="0"/>
              <a:t>* </a:t>
            </a:r>
            <a:r>
              <a:rPr lang="en-GB" sz="1600" dirty="0">
                <a:solidFill>
                  <a:srgbClr val="6897BB"/>
                </a:solidFill>
              </a:rPr>
              <a:t>4 </a:t>
            </a:r>
            <a:r>
              <a:rPr lang="en-GB" sz="1600" dirty="0"/>
              <a:t>** </a:t>
            </a:r>
            <a:r>
              <a:rPr lang="en-GB" sz="1600" dirty="0">
                <a:solidFill>
                  <a:srgbClr val="6897BB"/>
                </a:solidFill>
              </a:rPr>
              <a:t>3 </a:t>
            </a:r>
            <a:r>
              <a:rPr lang="en-GB" sz="1600" dirty="0"/>
              <a:t>//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4 </a:t>
            </a:r>
            <a:r>
              <a:rPr lang="en-GB" sz="1600" dirty="0"/>
              <a:t>- (</a:t>
            </a:r>
            <a:r>
              <a:rPr lang="en-GB" sz="1600" dirty="0">
                <a:solidFill>
                  <a:srgbClr val="6897BB"/>
                </a:solidFill>
              </a:rPr>
              <a:t>2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)**</a:t>
            </a:r>
            <a:r>
              <a:rPr lang="en-GB" sz="1600" dirty="0">
                <a:solidFill>
                  <a:srgbClr val="6897BB"/>
                </a:solidFill>
              </a:rPr>
              <a:t>2 </a:t>
            </a:r>
            <a:r>
              <a:rPr lang="en-GB" sz="1600" dirty="0"/>
              <a:t>%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DCF08-B4F1-C443-824F-6AC354C023A3}"/>
              </a:ext>
            </a:extLst>
          </p:cNvPr>
          <p:cNvSpPr/>
          <p:nvPr/>
        </p:nvSpPr>
        <p:spPr>
          <a:xfrm>
            <a:off x="7314802" y="5255213"/>
            <a:ext cx="240755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47</a:t>
            </a:r>
          </a:p>
          <a:p>
            <a:r>
              <a:rPr lang="en-BE" sz="1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66FF6-7E88-714D-98AF-02DEE115C5C0}"/>
              </a:ext>
            </a:extLst>
          </p:cNvPr>
          <p:cNvSpPr txBox="1"/>
          <p:nvPr/>
        </p:nvSpPr>
        <p:spPr>
          <a:xfrm>
            <a:off x="4382532" y="4846619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0E000-FBE5-8B4B-A6D7-9F7925D36673}"/>
              </a:ext>
            </a:extLst>
          </p:cNvPr>
          <p:cNvSpPr txBox="1"/>
          <p:nvPr/>
        </p:nvSpPr>
        <p:spPr>
          <a:xfrm>
            <a:off x="7314802" y="488588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F97712-1784-D644-ABA1-301C8A139753}"/>
              </a:ext>
            </a:extLst>
          </p:cNvPr>
          <p:cNvSpPr txBox="1"/>
          <p:nvPr/>
        </p:nvSpPr>
        <p:spPr>
          <a:xfrm>
            <a:off x="1866703" y="5215951"/>
            <a:ext cx="2407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((4**3) * 2) // 3) + 5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0E608-5040-0048-8796-839C29A042B0}"/>
              </a:ext>
            </a:extLst>
          </p:cNvPr>
          <p:cNvSpPr txBox="1"/>
          <p:nvPr/>
        </p:nvSpPr>
        <p:spPr>
          <a:xfrm>
            <a:off x="1866703" y="5532212"/>
            <a:ext cx="2407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4 – (((2 + 4)**2) % 5))</a:t>
            </a:r>
          </a:p>
        </p:txBody>
      </p:sp>
    </p:spTree>
    <p:extLst>
      <p:ext uri="{BB962C8B-B14F-4D97-AF65-F5344CB8AC3E}">
        <p14:creationId xmlns:p14="http://schemas.microsoft.com/office/powerpoint/2010/main" val="405177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0FE0F4-413C-1195-9362-24758047B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print(7 / 2, 7 // 2, 7 % 2)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print(-7 // 2, -7 % 2)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a = [1, 2]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b = [1, 2]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print(a == b, a is b)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x = 5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print(0 &lt; x &lt; 10, not x &gt; 3)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2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5DBA8-E09C-2397-68FE-D7B15110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59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F56E9B-9B5B-AF02-ABEA-574CB7E6C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1.4: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19642179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63D326-1A14-C246-8408-1BE33779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5. Statements en control flow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081FDA-E838-AC4B-9B2F-9DF6472EE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033F1-C576-3D4F-9427-0A6F9F1E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622795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73D8C-7695-5C49-988C-E0B29619C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Toewijzigen:</a:t>
            </a:r>
          </a:p>
          <a:p>
            <a:pPr lvl="1"/>
            <a:r>
              <a:rPr lang="en-GB" sz="2000" dirty="0"/>
              <a:t>V</a:t>
            </a:r>
            <a:r>
              <a:rPr lang="en-BE" sz="2000" dirty="0"/>
              <a:t>ullen of aanpassen van variabelen, bv.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 = 10</a:t>
            </a:r>
          </a:p>
          <a:p>
            <a:r>
              <a:rPr lang="en-BE" dirty="0"/>
              <a:t>Oproepen van functies/methodes:</a:t>
            </a:r>
          </a:p>
          <a:p>
            <a:pPr lvl="1"/>
            <a:r>
              <a:rPr lang="en-BE" sz="2000" dirty="0"/>
              <a:t>Zie later (maar denk aan bv.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BE" sz="2000" dirty="0"/>
              <a:t>,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int()</a:t>
            </a:r>
            <a:r>
              <a:rPr lang="en-BE" sz="2000" dirty="0"/>
              <a:t>, of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BE" sz="2000" dirty="0"/>
              <a:t> die standaard in Python zitten)</a:t>
            </a:r>
          </a:p>
          <a:p>
            <a:r>
              <a:rPr lang="en-BE" dirty="0"/>
              <a:t>Conditionele uitvoering:</a:t>
            </a:r>
          </a:p>
          <a:p>
            <a:pPr lvl="1"/>
            <a:r>
              <a:rPr lang="en-BE" sz="2000" dirty="0"/>
              <a:t>If/then/else</a:t>
            </a:r>
          </a:p>
          <a:p>
            <a:r>
              <a:rPr lang="en-BE" dirty="0"/>
              <a:t>Herhaling: </a:t>
            </a:r>
          </a:p>
          <a:p>
            <a:pPr lvl="1"/>
            <a:r>
              <a:rPr lang="en-GB" sz="2000" dirty="0"/>
              <a:t>F</a:t>
            </a:r>
            <a:r>
              <a:rPr lang="en-BE" sz="2000" dirty="0"/>
              <a:t>or-loops</a:t>
            </a:r>
          </a:p>
          <a:p>
            <a:pPr lvl="1"/>
            <a:r>
              <a:rPr lang="en-BE" sz="2000" dirty="0"/>
              <a:t>While-loops</a:t>
            </a:r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7C12-DB9D-CC45-B7CF-89AFFBC0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73E50-239C-9F44-87F3-64B216A6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Soorten statements</a:t>
            </a:r>
          </a:p>
        </p:txBody>
      </p:sp>
    </p:spTree>
    <p:extLst>
      <p:ext uri="{BB962C8B-B14F-4D97-AF65-F5344CB8AC3E}">
        <p14:creationId xmlns:p14="http://schemas.microsoft.com/office/powerpoint/2010/main" val="38392961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5D57D7-5437-CA4D-B03D-F102FDB4B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If-then-else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664816A-581D-8E40-875B-0D485B0D3B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.7-conditionals.ipynb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AAB43-E845-504E-96E7-E8267D62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85121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47CB2-34A2-344D-9262-AF7BB67E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BE" dirty="0"/>
              <a:t>: c</a:t>
            </a:r>
            <a:r>
              <a:rPr lang="en-GB" dirty="0" err="1"/>
              <a:t>onditionele</a:t>
            </a:r>
            <a:r>
              <a:rPr lang="en-GB" dirty="0"/>
              <a:t> </a:t>
            </a:r>
            <a:r>
              <a:rPr lang="en-GB" dirty="0" err="1"/>
              <a:t>uitvoering</a:t>
            </a:r>
            <a:r>
              <a:rPr lang="en-BE" dirty="0"/>
              <a:t> die een boolean uitkomst verwacht om voorwaarden te controleren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lse</a:t>
            </a:r>
            <a:r>
              <a:rPr lang="en-BE" dirty="0"/>
              <a:t>: is optioneel en vangt alle uitvoering op wanneer de conditie(s) niet voldaan is/zijn</a:t>
            </a:r>
          </a:p>
          <a:p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FA6E-F1A0-1141-BC9B-97BCDDFD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02CBF-BB95-174A-AAD8-222B9BC7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If-then-else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1569C-492C-0E41-8902-23D0CB0A6A13}"/>
              </a:ext>
            </a:extLst>
          </p:cNvPr>
          <p:cNvSpPr/>
          <p:nvPr/>
        </p:nvSpPr>
        <p:spPr>
          <a:xfrm>
            <a:off x="483211" y="4408230"/>
            <a:ext cx="1516284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 = 10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514CE3-A117-8C44-94F5-AD718D0D9407}"/>
              </a:ext>
            </a:extLst>
          </p:cNvPr>
          <p:cNvSpPr/>
          <p:nvPr/>
        </p:nvSpPr>
        <p:spPr>
          <a:xfrm>
            <a:off x="5277058" y="3614460"/>
            <a:ext cx="2486627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2’)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17236-7F09-7442-9CBB-B096E5A68F09}"/>
              </a:ext>
            </a:extLst>
          </p:cNvPr>
          <p:cNvSpPr/>
          <p:nvPr/>
        </p:nvSpPr>
        <p:spPr>
          <a:xfrm>
            <a:off x="5277058" y="5202000"/>
            <a:ext cx="2486627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kleiner of gelijk aan 2’)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5CDE297-4760-F147-B052-88F791E47F1F}"/>
              </a:ext>
            </a:extLst>
          </p:cNvPr>
          <p:cNvSpPr/>
          <p:nvPr/>
        </p:nvSpPr>
        <p:spPr>
          <a:xfrm>
            <a:off x="2510710" y="4251068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 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437ACD-DE90-B043-9BEF-401BA7EC4C2F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1999495" y="4726534"/>
            <a:ext cx="511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93CE7E-1A40-F14A-9F81-64DFFBF11F0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 flipV="1">
            <a:off x="4360730" y="3932764"/>
            <a:ext cx="916328" cy="793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BFF9DF-6947-234D-8D5F-1F19B175AEC9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4360730" y="4726534"/>
            <a:ext cx="916328" cy="793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68DC43-A4F5-5C43-AA24-CED133839DF3}"/>
              </a:ext>
            </a:extLst>
          </p:cNvPr>
          <p:cNvSpPr txBox="1"/>
          <p:nvPr/>
        </p:nvSpPr>
        <p:spPr>
          <a:xfrm>
            <a:off x="2149966" y="4408230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C092C1-7BDA-BA47-88D4-26C63322AD68}"/>
              </a:ext>
            </a:extLst>
          </p:cNvPr>
          <p:cNvSpPr txBox="1"/>
          <p:nvPr/>
        </p:nvSpPr>
        <p:spPr>
          <a:xfrm>
            <a:off x="4215996" y="4038898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Then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D1BE62-AB07-E24D-AF27-6A114C4D50B7}"/>
              </a:ext>
            </a:extLst>
          </p:cNvPr>
          <p:cNvSpPr txBox="1"/>
          <p:nvPr/>
        </p:nvSpPr>
        <p:spPr>
          <a:xfrm>
            <a:off x="4215996" y="5135438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86BCD5-D3D4-FB45-9006-30198A804659}"/>
              </a:ext>
            </a:extLst>
          </p:cNvPr>
          <p:cNvSpPr/>
          <p:nvPr/>
        </p:nvSpPr>
        <p:spPr>
          <a:xfrm>
            <a:off x="8036425" y="3614460"/>
            <a:ext cx="3892339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2'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2'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6118964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9FD8-A224-8C4E-990E-91FF2BB59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>
                <a:solidFill>
                  <a:srgbClr val="FF0000"/>
                </a:solidFill>
              </a:rPr>
              <a:t>Inspringen</a:t>
            </a:r>
            <a:r>
              <a:rPr lang="nl-NL" dirty="0"/>
              <a:t> om control flow aan te duiden en ‘diepte’ van uitvoering</a:t>
            </a:r>
          </a:p>
          <a:p>
            <a:r>
              <a:rPr lang="nl-NL" dirty="0"/>
              <a:t>Voor functies, </a:t>
            </a:r>
            <a:r>
              <a:rPr lang="nl-NL" dirty="0" err="1"/>
              <a:t>for</a:t>
            </a:r>
            <a:r>
              <a:rPr lang="nl-NL" dirty="0"/>
              <a:t>-loops, </a:t>
            </a:r>
            <a:r>
              <a:rPr lang="nl-NL" dirty="0" err="1"/>
              <a:t>if</a:t>
            </a:r>
            <a:r>
              <a:rPr lang="nl-NL" dirty="0"/>
              <a:t>/</a:t>
            </a:r>
            <a:r>
              <a:rPr lang="nl-NL" dirty="0" err="1"/>
              <a:t>then</a:t>
            </a:r>
            <a:r>
              <a:rPr lang="nl-NL" dirty="0"/>
              <a:t>, etc.</a:t>
            </a:r>
          </a:p>
          <a:p>
            <a:r>
              <a:rPr lang="nl-NL" dirty="0"/>
              <a:t>Met een </a:t>
            </a:r>
            <a:r>
              <a:rPr lang="nl-NL" dirty="0">
                <a:solidFill>
                  <a:srgbClr val="FF0000"/>
                </a:solidFill>
              </a:rPr>
              <a:t>tab</a:t>
            </a:r>
            <a:r>
              <a:rPr lang="nl-NL" dirty="0"/>
              <a:t> of </a:t>
            </a:r>
            <a:r>
              <a:rPr lang="nl-NL" dirty="0">
                <a:solidFill>
                  <a:srgbClr val="FF0000"/>
                </a:solidFill>
              </a:rPr>
              <a:t>4 spaties </a:t>
            </a:r>
            <a:r>
              <a:rPr lang="nl-NL" dirty="0"/>
              <a:t>(standaard 4 spaties in </a:t>
            </a:r>
            <a:r>
              <a:rPr lang="nl-NL" dirty="0" err="1"/>
              <a:t>Spyder</a:t>
            </a:r>
            <a:r>
              <a:rPr lang="nl-NL" dirty="0"/>
              <a:t>, geen verschil in </a:t>
            </a:r>
            <a:r>
              <a:rPr lang="nl-NL" dirty="0" err="1"/>
              <a:t>Jupyter</a:t>
            </a:r>
            <a:r>
              <a:rPr lang="nl-NL" dirty="0"/>
              <a:t> notebooks)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3A15-42EC-BC4F-98EC-CD5CE9AD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48F98-9A3D-2846-9FB6-CB59CFD66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Indents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F5041-BF7F-CE43-BF79-03C479CC6218}"/>
              </a:ext>
            </a:extLst>
          </p:cNvPr>
          <p:cNvSpPr txBox="1"/>
          <p:nvPr/>
        </p:nvSpPr>
        <p:spPr>
          <a:xfrm>
            <a:off x="1702419" y="4166904"/>
            <a:ext cx="397726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  <a:effectLst/>
              </a:rPr>
              <a:t>10</a:t>
            </a:r>
            <a:br>
              <a:rPr lang="en-GB" sz="1600" dirty="0">
                <a:solidFill>
                  <a:srgbClr val="6897BB"/>
                </a:solidFill>
                <a:effectLst/>
              </a:rPr>
            </a:br>
            <a:br>
              <a:rPr lang="en-GB" sz="1600" dirty="0">
                <a:solidFill>
                  <a:srgbClr val="6897BB"/>
                </a:solidFill>
                <a:effectLst/>
              </a:rPr>
            </a:br>
            <a:r>
              <a:rPr lang="en-GB" sz="1600" dirty="0">
                <a:solidFill>
                  <a:srgbClr val="CC7832"/>
                </a:solidFill>
                <a:effectLst/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  <a:effectLst/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>
                <a:highlight>
                  <a:srgbClr val="FF0000"/>
                </a:highlight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</a:rPr>
              <a:t>\</a:t>
            </a:r>
            <a:r>
              <a:rPr lang="en-GB" sz="1600" dirty="0" err="1">
                <a:solidFill>
                  <a:srgbClr val="CC7832"/>
                </a:solidFill>
                <a:effectLst/>
              </a:rPr>
              <a:t>t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Binnen</a:t>
            </a:r>
            <a:r>
              <a:rPr lang="en-GB" sz="1600" dirty="0">
                <a:solidFill>
                  <a:srgbClr val="6A8759"/>
                </a:solidFill>
                <a:effectLst/>
              </a:rPr>
              <a:t> het if-statement'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highlight>
                  <a:srgbClr val="FF0000"/>
                </a:highlight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</a:rPr>
              <a:t>\t</a:t>
            </a:r>
            <a:r>
              <a:rPr lang="en-GB" sz="1600" dirty="0">
                <a:solidFill>
                  <a:srgbClr val="6A8759"/>
                </a:solidFill>
                <a:effectLst/>
              </a:rPr>
              <a:t>a is 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groter</a:t>
            </a:r>
            <a:r>
              <a:rPr lang="en-GB" sz="1600" dirty="0">
                <a:solidFill>
                  <a:srgbClr val="6A8759"/>
                </a:solidFill>
                <a:effectLst/>
              </a:rPr>
              <a:t> dan 2'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  <a:effectLst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Dit</a:t>
            </a:r>
            <a:r>
              <a:rPr lang="en-GB" sz="1600" dirty="0">
                <a:solidFill>
                  <a:srgbClr val="6A8759"/>
                </a:solidFill>
                <a:effectLst/>
              </a:rPr>
              <a:t> 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komt</a:t>
            </a:r>
            <a:r>
              <a:rPr lang="en-GB" sz="1600" dirty="0">
                <a:solidFill>
                  <a:srgbClr val="6A8759"/>
                </a:solidFill>
                <a:effectLst/>
              </a:rPr>
              <a:t> </a:t>
            </a:r>
            <a:r>
              <a:rPr lang="en-GB" sz="1600" dirty="0" err="1">
                <a:solidFill>
                  <a:srgbClr val="6A8759"/>
                </a:solidFill>
                <a:effectLst/>
              </a:rPr>
              <a:t>na</a:t>
            </a:r>
            <a:r>
              <a:rPr lang="en-GB" sz="1600" dirty="0">
                <a:solidFill>
                  <a:srgbClr val="6A8759"/>
                </a:solidFill>
                <a:effectLst/>
              </a:rPr>
              <a:t> het if-statement'</a:t>
            </a:r>
            <a:r>
              <a:rPr lang="en-GB" sz="1600" dirty="0"/>
              <a:t>)</a:t>
            </a:r>
            <a:endParaRPr lang="nl-NL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98514-6A13-DC4C-A903-C36CB6C034C3}"/>
              </a:ext>
            </a:extLst>
          </p:cNvPr>
          <p:cNvSpPr txBox="1"/>
          <p:nvPr/>
        </p:nvSpPr>
        <p:spPr>
          <a:xfrm>
            <a:off x="6270381" y="4844621"/>
            <a:ext cx="3443868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/>
              <a:t>	Binnen het </a:t>
            </a:r>
            <a:r>
              <a:rPr lang="nl-NL" sz="1600" dirty="0" err="1"/>
              <a:t>if</a:t>
            </a:r>
            <a:r>
              <a:rPr lang="nl-NL" sz="1600" dirty="0"/>
              <a:t>-statement</a:t>
            </a:r>
          </a:p>
          <a:p>
            <a:r>
              <a:rPr lang="nl-NL" sz="1600" dirty="0"/>
              <a:t>	a is groter dan 2</a:t>
            </a:r>
          </a:p>
          <a:p>
            <a:r>
              <a:rPr lang="nl-NL" sz="1600" dirty="0"/>
              <a:t>Dit komt na het </a:t>
            </a:r>
            <a:r>
              <a:rPr lang="nl-NL" sz="1600" dirty="0" err="1"/>
              <a:t>if</a:t>
            </a:r>
            <a:r>
              <a:rPr lang="nl-NL" sz="1600" dirty="0"/>
              <a:t>-statement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237A0-94AF-6E42-B0D1-0FC4CD1B9B73}"/>
              </a:ext>
            </a:extLst>
          </p:cNvPr>
          <p:cNvSpPr txBox="1"/>
          <p:nvPr/>
        </p:nvSpPr>
        <p:spPr>
          <a:xfrm>
            <a:off x="1702419" y="379757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A8B719-CB45-2B41-8F9B-233C25D81082}"/>
              </a:ext>
            </a:extLst>
          </p:cNvPr>
          <p:cNvSpPr txBox="1"/>
          <p:nvPr/>
        </p:nvSpPr>
        <p:spPr>
          <a:xfrm>
            <a:off x="6268526" y="4475289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6AD3336-28BB-C2F7-382F-67A8B02CF7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-484800" y="3112335"/>
            <a:ext cx="3149265" cy="1030064"/>
          </a:xfrm>
          <a:prstGeom prst="curvedConnector3">
            <a:avLst>
              <a:gd name="adj1" fmla="val 10481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8102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B635-63C9-BF46-8589-753268429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If statements kunnen ook binnen andere if-statements voorkomen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228F6-86B5-6643-86D4-CDBED84F9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3C1FA-6261-2048-8FA3-77C1D690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Geneste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686855-965A-4A48-8C46-F0F0F682CE91}"/>
              </a:ext>
            </a:extLst>
          </p:cNvPr>
          <p:cNvSpPr/>
          <p:nvPr/>
        </p:nvSpPr>
        <p:spPr>
          <a:xfrm>
            <a:off x="1355736" y="4683963"/>
            <a:ext cx="1516284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 = 10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462213-B67B-AF41-AFDC-215564FBB316}"/>
              </a:ext>
            </a:extLst>
          </p:cNvPr>
          <p:cNvSpPr/>
          <p:nvPr/>
        </p:nvSpPr>
        <p:spPr>
          <a:xfrm>
            <a:off x="8847346" y="3152266"/>
            <a:ext cx="3023990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of </a:t>
            </a:r>
            <a:r>
              <a:rPr lang="en-GB" sz="1600" dirty="0" err="1">
                <a:solidFill>
                  <a:schemeClr val="tx1"/>
                </a:solidFill>
              </a:rPr>
              <a:t>gelijk</a:t>
            </a:r>
            <a:r>
              <a:rPr lang="en-GB" sz="1600" dirty="0">
                <a:solidFill>
                  <a:schemeClr val="tx1"/>
                </a:solidFill>
              </a:rPr>
              <a:t> 4’)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195B8-3367-A446-A663-6514D93446B0}"/>
              </a:ext>
            </a:extLst>
          </p:cNvPr>
          <p:cNvSpPr/>
          <p:nvPr/>
        </p:nvSpPr>
        <p:spPr>
          <a:xfrm>
            <a:off x="6149583" y="5477733"/>
            <a:ext cx="2933218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kleiner dan of gelijk aan 2’)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ACBFE03-9FCF-7749-97BE-419EE59DDFD3}"/>
              </a:ext>
            </a:extLst>
          </p:cNvPr>
          <p:cNvSpPr/>
          <p:nvPr/>
        </p:nvSpPr>
        <p:spPr>
          <a:xfrm>
            <a:off x="3383235" y="4526801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 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0E8B88-3C3A-AE46-886A-14BACAFCC2F9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872020" y="5002267"/>
            <a:ext cx="511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7966C5-EAF5-9E46-8B2F-B65CC55C4F0C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 flipV="1">
            <a:off x="8004089" y="3470570"/>
            <a:ext cx="843257" cy="885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5608D3-E0D4-3944-A7ED-B5E0A88A42E6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5233255" y="5002267"/>
            <a:ext cx="916328" cy="7937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408A60-D6BA-494A-84A3-58300653CF38}"/>
              </a:ext>
            </a:extLst>
          </p:cNvPr>
          <p:cNvSpPr txBox="1"/>
          <p:nvPr/>
        </p:nvSpPr>
        <p:spPr>
          <a:xfrm>
            <a:off x="3022491" y="4683963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9AD528-C052-8841-84DF-43D1B58D67B9}"/>
              </a:ext>
            </a:extLst>
          </p:cNvPr>
          <p:cNvSpPr txBox="1"/>
          <p:nvPr/>
        </p:nvSpPr>
        <p:spPr>
          <a:xfrm>
            <a:off x="7944616" y="3525293"/>
            <a:ext cx="655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Then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E2095-E156-1B45-8725-73DDC328C990}"/>
              </a:ext>
            </a:extLst>
          </p:cNvPr>
          <p:cNvSpPr txBox="1"/>
          <p:nvPr/>
        </p:nvSpPr>
        <p:spPr>
          <a:xfrm>
            <a:off x="5362546" y="5437764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D77A732A-1D6D-524F-A9A1-387D19E44508}"/>
              </a:ext>
            </a:extLst>
          </p:cNvPr>
          <p:cNvSpPr/>
          <p:nvPr/>
        </p:nvSpPr>
        <p:spPr>
          <a:xfrm>
            <a:off x="6154069" y="3880814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&gt;=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EEFD4B-DADC-0C4B-A5DC-68ECBFA99E3D}"/>
              </a:ext>
            </a:extLst>
          </p:cNvPr>
          <p:cNvSpPr/>
          <p:nvPr/>
        </p:nvSpPr>
        <p:spPr>
          <a:xfrm>
            <a:off x="8847346" y="4560848"/>
            <a:ext cx="3023990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groter dan 2 maar kleiner dan 4’)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1086E3-3EA5-4A44-A06D-33CF396FF62C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8004089" y="4356280"/>
            <a:ext cx="843257" cy="522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513F71-F1F9-9142-84A9-CD753D27C6F8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 flipV="1">
            <a:off x="5233255" y="4356280"/>
            <a:ext cx="920814" cy="645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6E4A723-8173-EC4C-8B64-E24B7213BB15}"/>
              </a:ext>
            </a:extLst>
          </p:cNvPr>
          <p:cNvSpPr txBox="1"/>
          <p:nvPr/>
        </p:nvSpPr>
        <p:spPr>
          <a:xfrm>
            <a:off x="5483573" y="4380801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0C153-87B2-544C-B67A-DA99721B9122}"/>
              </a:ext>
            </a:extLst>
          </p:cNvPr>
          <p:cNvSpPr txBox="1"/>
          <p:nvPr/>
        </p:nvSpPr>
        <p:spPr>
          <a:xfrm>
            <a:off x="8045605" y="4642986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ED34F6-2A05-E347-AA92-BA3AF6A962DF}"/>
              </a:ext>
            </a:extLst>
          </p:cNvPr>
          <p:cNvSpPr/>
          <p:nvPr/>
        </p:nvSpPr>
        <p:spPr>
          <a:xfrm>
            <a:off x="513454" y="2236184"/>
            <a:ext cx="4813400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2 maar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2'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0719284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C16A6-2F6D-184F-9475-2CC80053C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92681"/>
          </a:xfrm>
        </p:spPr>
        <p:txBody>
          <a:bodyPr>
            <a:normAutofit/>
          </a:bodyPr>
          <a:lstStyle/>
          <a:p>
            <a:r>
              <a:rPr lang="en-BE" dirty="0"/>
              <a:t>Indien er meerdere condities zijn: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BE" dirty="0"/>
              <a:t> (else if) kan ook gebruikt worden</a:t>
            </a:r>
          </a:p>
          <a:p>
            <a:r>
              <a:rPr lang="en-BE" dirty="0"/>
              <a:t>Ideaal voor intervallen</a:t>
            </a:r>
          </a:p>
          <a:p>
            <a:r>
              <a:rPr lang="en-BE" dirty="0"/>
              <a:t>Overzichtelijker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E9C68-A8D5-8F47-B016-025943E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539CA-032E-A546-9035-B0C01855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If-elif-else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5C9CCB-553F-7447-BACF-AC832790386D}"/>
              </a:ext>
            </a:extLst>
          </p:cNvPr>
          <p:cNvSpPr/>
          <p:nvPr/>
        </p:nvSpPr>
        <p:spPr>
          <a:xfrm>
            <a:off x="678805" y="4230032"/>
            <a:ext cx="1516284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 = 10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2AEEBD-C768-EC45-B30A-2DEED85288CD}"/>
              </a:ext>
            </a:extLst>
          </p:cNvPr>
          <p:cNvSpPr/>
          <p:nvPr/>
        </p:nvSpPr>
        <p:spPr>
          <a:xfrm>
            <a:off x="4718887" y="3527625"/>
            <a:ext cx="2406207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of </a:t>
            </a:r>
            <a:r>
              <a:rPr lang="en-GB" sz="1600" dirty="0" err="1">
                <a:solidFill>
                  <a:schemeClr val="tx1"/>
                </a:solidFill>
              </a:rPr>
              <a:t>gelijk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aan</a:t>
            </a:r>
            <a:r>
              <a:rPr lang="en-GB" sz="1600" dirty="0">
                <a:solidFill>
                  <a:schemeClr val="tx1"/>
                </a:solidFill>
              </a:rPr>
              <a:t> 4’)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055F68-5396-9E4B-8972-B7582B11067C}"/>
              </a:ext>
            </a:extLst>
          </p:cNvPr>
          <p:cNvSpPr/>
          <p:nvPr/>
        </p:nvSpPr>
        <p:spPr>
          <a:xfrm>
            <a:off x="7386835" y="5323439"/>
            <a:ext cx="3335105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</a:t>
            </a:r>
            <a:r>
              <a:rPr lang="en-BE" sz="1600" dirty="0">
                <a:solidFill>
                  <a:schemeClr val="tx1"/>
                </a:solidFill>
              </a:rPr>
              <a:t>rint(‘a is kleiner dan of gelijk aan 2’)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90BB5B3-5A93-5542-AF44-530D52DCE31C}"/>
              </a:ext>
            </a:extLst>
          </p:cNvPr>
          <p:cNvSpPr/>
          <p:nvPr/>
        </p:nvSpPr>
        <p:spPr>
          <a:xfrm>
            <a:off x="2406586" y="4072870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&gt;= 4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845239-5C95-314A-B2E8-E4FE61D0D9E0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2195089" y="4548336"/>
            <a:ext cx="2114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E2CA05-64E6-FA4E-B2CF-0BD715E811E6}"/>
              </a:ext>
            </a:extLst>
          </p:cNvPr>
          <p:cNvCxnSpPr>
            <a:cxnSpLocks/>
            <a:stCxn id="17" idx="3"/>
            <a:endCxn id="60" idx="1"/>
          </p:cNvCxnSpPr>
          <p:nvPr/>
        </p:nvCxnSpPr>
        <p:spPr>
          <a:xfrm flipV="1">
            <a:off x="6554085" y="4824929"/>
            <a:ext cx="832750" cy="236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E1D286-B493-A14F-B687-3E44DF6ADA13}"/>
              </a:ext>
            </a:extLst>
          </p:cNvPr>
          <p:cNvCxnSpPr>
            <a:cxnSpLocks/>
            <a:stCxn id="17" idx="3"/>
            <a:endCxn id="7" idx="1"/>
          </p:cNvCxnSpPr>
          <p:nvPr/>
        </p:nvCxnSpPr>
        <p:spPr>
          <a:xfrm>
            <a:off x="6554085" y="5060942"/>
            <a:ext cx="832750" cy="580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CFB2E2-E3CC-044E-8836-96D82B4B8704}"/>
              </a:ext>
            </a:extLst>
          </p:cNvPr>
          <p:cNvSpPr txBox="1"/>
          <p:nvPr/>
        </p:nvSpPr>
        <p:spPr>
          <a:xfrm>
            <a:off x="2160831" y="4181799"/>
            <a:ext cx="3000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If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78D68636-19E8-F847-8956-12A90B8EBD82}"/>
              </a:ext>
            </a:extLst>
          </p:cNvPr>
          <p:cNvSpPr/>
          <p:nvPr/>
        </p:nvSpPr>
        <p:spPr>
          <a:xfrm>
            <a:off x="4704065" y="4585476"/>
            <a:ext cx="1850020" cy="95093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200" dirty="0">
                <a:solidFill>
                  <a:schemeClr val="tx1"/>
                </a:solidFill>
              </a:rPr>
              <a:t>a &gt;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3EA85-9650-9949-90A0-34BCF4E4B96E}"/>
              </a:ext>
            </a:extLst>
          </p:cNvPr>
          <p:cNvSpPr txBox="1"/>
          <p:nvPr/>
        </p:nvSpPr>
        <p:spPr>
          <a:xfrm>
            <a:off x="4323757" y="4497308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Elif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9E6A391-E280-D84D-BB2F-0AC3E9184911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4256606" y="3845929"/>
            <a:ext cx="462281" cy="702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17061466-CCEC-BA42-B3C3-9991E26EC795}"/>
              </a:ext>
            </a:extLst>
          </p:cNvPr>
          <p:cNvSpPr/>
          <p:nvPr/>
        </p:nvSpPr>
        <p:spPr>
          <a:xfrm>
            <a:off x="7386835" y="4506625"/>
            <a:ext cx="3335105" cy="636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print(‘a is </a:t>
            </a:r>
            <a:r>
              <a:rPr lang="en-GB" sz="1600" dirty="0" err="1">
                <a:solidFill>
                  <a:schemeClr val="tx1"/>
                </a:solidFill>
              </a:rPr>
              <a:t>groter</a:t>
            </a:r>
            <a:r>
              <a:rPr lang="en-GB" sz="1600" dirty="0">
                <a:solidFill>
                  <a:schemeClr val="tx1"/>
                </a:solidFill>
              </a:rPr>
              <a:t> dan 2 maar </a:t>
            </a:r>
            <a:r>
              <a:rPr lang="en-GB" sz="1600" dirty="0" err="1">
                <a:solidFill>
                  <a:schemeClr val="tx1"/>
                </a:solidFill>
              </a:rPr>
              <a:t>kleiner</a:t>
            </a:r>
            <a:r>
              <a:rPr lang="en-GB" sz="1600" dirty="0">
                <a:solidFill>
                  <a:schemeClr val="tx1"/>
                </a:solidFill>
              </a:rPr>
              <a:t> dan 4’)</a:t>
            </a:r>
            <a:endParaRPr lang="en-BE" sz="160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54839A-8366-334E-87C7-35ED5D8ECEFE}"/>
              </a:ext>
            </a:extLst>
          </p:cNvPr>
          <p:cNvSpPr txBox="1"/>
          <p:nvPr/>
        </p:nvSpPr>
        <p:spPr>
          <a:xfrm>
            <a:off x="6460531" y="5170203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Else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79C0F3-0F7D-2044-A18B-D34ED131FEF4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4256606" y="4548336"/>
            <a:ext cx="447459" cy="5126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F557B9B-9C1E-C840-A851-E285DDD0B45D}"/>
              </a:ext>
            </a:extLst>
          </p:cNvPr>
          <p:cNvSpPr/>
          <p:nvPr/>
        </p:nvSpPr>
        <p:spPr>
          <a:xfrm>
            <a:off x="7386835" y="2630792"/>
            <a:ext cx="4429246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>
                <a:solidFill>
                  <a:srgbClr val="CC7832"/>
                </a:solidFill>
              </a:rPr>
              <a:t>elif</a:t>
            </a:r>
            <a:r>
              <a:rPr lang="en-GB" sz="1600" dirty="0">
                <a:solidFill>
                  <a:srgbClr val="CC7832"/>
                </a:solidFill>
              </a:rPr>
              <a:t>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2 maar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4'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2'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12547317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D64E8-87DD-ED4D-BB37-D4C0982D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Opletten dat condities elkaar niet tegenspreken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675D-ED90-B84A-91F7-3B8DE272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67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22BD0F-16B4-BA45-8622-8B31C8B2B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Geneste if/elif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1C876-9E82-DD4D-AAE7-9BA0560FAF6F}"/>
              </a:ext>
            </a:extLst>
          </p:cNvPr>
          <p:cNvSpPr/>
          <p:nvPr/>
        </p:nvSpPr>
        <p:spPr>
          <a:xfrm>
            <a:off x="838200" y="2985631"/>
            <a:ext cx="4162063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&lt;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dit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wordt</a:t>
            </a:r>
            <a:r>
              <a:rPr lang="en-GB" sz="1600" dirty="0">
                <a:solidFill>
                  <a:srgbClr val="6A8759"/>
                </a:solidFill>
              </a:rPr>
              <a:t> nooit </a:t>
            </a:r>
            <a:r>
              <a:rPr lang="en-GB" sz="1600" dirty="0" err="1">
                <a:solidFill>
                  <a:srgbClr val="6A8759"/>
                </a:solidFill>
              </a:rPr>
              <a:t>uitgevoerd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10'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10'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76E8C-0E36-3F4C-B50D-C18E1A53F2FE}"/>
              </a:ext>
            </a:extLst>
          </p:cNvPr>
          <p:cNvSpPr txBox="1"/>
          <p:nvPr/>
        </p:nvSpPr>
        <p:spPr>
          <a:xfrm>
            <a:off x="838200" y="4952925"/>
            <a:ext cx="3613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De geneste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BE" sz="1600" dirty="0"/>
              <a:t> wordt nooit uitgevoerd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84BE34-0C38-8F40-A197-3A04606F4528}"/>
              </a:ext>
            </a:extLst>
          </p:cNvPr>
          <p:cNvSpPr txBox="1"/>
          <p:nvPr/>
        </p:nvSpPr>
        <p:spPr>
          <a:xfrm>
            <a:off x="6096000" y="4583593"/>
            <a:ext cx="43250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Deze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BE" sz="1600" dirty="0"/>
              <a:t> wordt wel uitgevoerd. Hier is de uitkomst duidelijker maar houden de intervallen misschien niet meteen steek (beter &gt;=10, dan &gt; 5, dan else)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E071E2-363B-1845-B11D-B61A301E9B6F}"/>
              </a:ext>
            </a:extLst>
          </p:cNvPr>
          <p:cNvSpPr/>
          <p:nvPr/>
        </p:nvSpPr>
        <p:spPr>
          <a:xfrm>
            <a:off x="6096000" y="2985631"/>
            <a:ext cx="4737904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10'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>
                <a:solidFill>
                  <a:srgbClr val="CC7832"/>
                </a:solidFill>
              </a:rPr>
              <a:t>elif</a:t>
            </a:r>
            <a:r>
              <a:rPr lang="en-GB" sz="1600" dirty="0">
                <a:solidFill>
                  <a:srgbClr val="CC7832"/>
                </a:solidFill>
              </a:rPr>
              <a:t> </a:t>
            </a:r>
            <a:r>
              <a:rPr lang="en-GB" sz="1600" dirty="0"/>
              <a:t>a &lt;=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of </a:t>
            </a:r>
            <a:r>
              <a:rPr lang="en-GB" sz="1600" dirty="0" err="1">
                <a:solidFill>
                  <a:srgbClr val="6A8759"/>
                </a:solidFill>
              </a:rPr>
              <a:t>gelijk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5'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kleiner</a:t>
            </a:r>
            <a:r>
              <a:rPr lang="en-GB" sz="1600" dirty="0">
                <a:solidFill>
                  <a:srgbClr val="6A8759"/>
                </a:solidFill>
              </a:rPr>
              <a:t> dan 10 maar </a:t>
            </a:r>
            <a:r>
              <a:rPr lang="en-GB" sz="1600" dirty="0" err="1">
                <a:solidFill>
                  <a:srgbClr val="6A8759"/>
                </a:solidFill>
              </a:rPr>
              <a:t>groter</a:t>
            </a:r>
            <a:r>
              <a:rPr lang="en-GB" sz="1600" dirty="0">
                <a:solidFill>
                  <a:srgbClr val="6A8759"/>
                </a:solidFill>
              </a:rPr>
              <a:t> dan 5'</a:t>
            </a:r>
            <a:r>
              <a:rPr lang="en-GB" sz="1600" dirty="0"/>
              <a:t>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10920112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91BE-3AD4-B641-A44C-A0F2C54EE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Zorgen ervoor dat condities aan elkaar worden gelijmd</a:t>
            </a:r>
          </a:p>
          <a:p>
            <a:r>
              <a:rPr lang="nl-NL" sz="2000" dirty="0"/>
              <a:t>Worden geëvalueerd van links naar rechts:</a:t>
            </a:r>
          </a:p>
          <a:p>
            <a:pPr lvl="1"/>
            <a:r>
              <a:rPr lang="nl-NL" sz="1600" dirty="0"/>
              <a:t>Zet conditie die hoogste kans heeft om te falen eerst bij AND</a:t>
            </a:r>
          </a:p>
          <a:p>
            <a:pPr lvl="1"/>
            <a:r>
              <a:rPr lang="nl-NL" sz="1600" dirty="0"/>
              <a:t>Zet conditie die hoogste kans heeft om waar te zijn eerst bij 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DDC11-2E44-E246-9041-B8A072E6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68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ED168-D789-2E45-8E6D-7D00FC3F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Logische operatoren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B6308-0F1E-6646-A0F3-5ACED01D147D}"/>
              </a:ext>
            </a:extLst>
          </p:cNvPr>
          <p:cNvSpPr/>
          <p:nvPr/>
        </p:nvSpPr>
        <p:spPr>
          <a:xfrm>
            <a:off x="1795843" y="3585420"/>
            <a:ext cx="2473124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30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c = </a:t>
            </a:r>
            <a:r>
              <a:rPr lang="en-GB" sz="1600" dirty="0">
                <a:solidFill>
                  <a:srgbClr val="CC7832"/>
                </a:solidFill>
              </a:rPr>
              <a:t>False</a:t>
            </a:r>
            <a:br>
              <a:rPr lang="en-GB" sz="1600" dirty="0">
                <a:solidFill>
                  <a:srgbClr val="CC7832"/>
                </a:solidFill>
              </a:rPr>
            </a:b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&gt; </a:t>
            </a:r>
            <a:r>
              <a:rPr lang="en-GB" sz="1600" dirty="0">
                <a:solidFill>
                  <a:srgbClr val="6897BB"/>
                </a:solidFill>
              </a:rPr>
              <a:t>20 </a:t>
            </a:r>
            <a:r>
              <a:rPr lang="en-GB" sz="1600" dirty="0">
                <a:solidFill>
                  <a:srgbClr val="CC7832"/>
                </a:solidFill>
              </a:rPr>
              <a:t>and </a:t>
            </a:r>
            <a:r>
              <a:rPr lang="en-GB" sz="1600" dirty="0"/>
              <a:t>b &lt;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Eerste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deel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>
                <a:solidFill>
                  <a:srgbClr val="CC7832"/>
                </a:solidFill>
              </a:rPr>
              <a:t>elif</a:t>
            </a:r>
            <a:r>
              <a:rPr lang="en-GB" sz="1600" dirty="0">
                <a:solidFill>
                  <a:srgbClr val="CC7832"/>
                </a:solidFill>
              </a:rPr>
              <a:t> not </a:t>
            </a:r>
            <a:r>
              <a:rPr lang="en-GB" sz="1600" dirty="0"/>
              <a:t>c </a:t>
            </a:r>
            <a:r>
              <a:rPr lang="en-GB" sz="1600" dirty="0">
                <a:solidFill>
                  <a:srgbClr val="CC7832"/>
                </a:solidFill>
              </a:rPr>
              <a:t>or </a:t>
            </a:r>
            <a:r>
              <a:rPr lang="en-GB" sz="1600" dirty="0"/>
              <a:t>a ==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‘c </a:t>
            </a:r>
            <a:r>
              <a:rPr lang="en-GB" sz="1600" dirty="0" err="1">
                <a:solidFill>
                  <a:srgbClr val="6A8759"/>
                </a:solidFill>
              </a:rPr>
              <a:t>houdt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niet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else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'Else'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32FAD-1E2A-4545-BC5D-F0240904126C}"/>
              </a:ext>
            </a:extLst>
          </p:cNvPr>
          <p:cNvSpPr/>
          <p:nvPr/>
        </p:nvSpPr>
        <p:spPr>
          <a:xfrm>
            <a:off x="4464564" y="5806818"/>
            <a:ext cx="12907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1600" dirty="0"/>
              <a:t>c</a:t>
            </a:r>
            <a:r>
              <a:rPr lang="en-BE" sz="1600" dirty="0"/>
              <a:t> houdt niet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E29452-2F8C-EA4C-B8A5-D8591BED154B}"/>
              </a:ext>
            </a:extLst>
          </p:cNvPr>
          <p:cNvSpPr/>
          <p:nvPr/>
        </p:nvSpPr>
        <p:spPr>
          <a:xfrm>
            <a:off x="6810431" y="3974859"/>
            <a:ext cx="2195332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== b: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== b'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a </a:t>
            </a:r>
            <a:r>
              <a:rPr lang="en-GB" sz="1600" dirty="0">
                <a:solidFill>
                  <a:srgbClr val="CC7832"/>
                </a:solidFill>
              </a:rPr>
              <a:t>is </a:t>
            </a:r>
            <a:r>
              <a:rPr lang="en-GB" sz="1600" dirty="0"/>
              <a:t>b: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b'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27AB2F-AF22-904C-9680-089592E5B05C}"/>
              </a:ext>
            </a:extLst>
          </p:cNvPr>
          <p:cNvSpPr/>
          <p:nvPr/>
        </p:nvSpPr>
        <p:spPr>
          <a:xfrm>
            <a:off x="9227954" y="4959744"/>
            <a:ext cx="1084162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a == b</a:t>
            </a:r>
          </a:p>
          <a:p>
            <a:r>
              <a:rPr lang="en-BE" sz="1600" dirty="0"/>
              <a:t>a is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23CD6-7AC9-E840-82F9-BA8001A77BD2}"/>
              </a:ext>
            </a:extLst>
          </p:cNvPr>
          <p:cNvSpPr txBox="1"/>
          <p:nvPr/>
        </p:nvSpPr>
        <p:spPr>
          <a:xfrm>
            <a:off x="1795843" y="322136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25014-B2D0-8F43-BF56-444857B09C6C}"/>
              </a:ext>
            </a:extLst>
          </p:cNvPr>
          <p:cNvSpPr txBox="1"/>
          <p:nvPr/>
        </p:nvSpPr>
        <p:spPr>
          <a:xfrm>
            <a:off x="4464564" y="543748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9158B-83AE-B943-8707-96E22EDB0FF0}"/>
              </a:ext>
            </a:extLst>
          </p:cNvPr>
          <p:cNvSpPr txBox="1"/>
          <p:nvPr/>
        </p:nvSpPr>
        <p:spPr>
          <a:xfrm>
            <a:off x="6810431" y="360552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B3BF0F-9D10-8B47-9630-744560779467}"/>
              </a:ext>
            </a:extLst>
          </p:cNvPr>
          <p:cNvSpPr txBox="1"/>
          <p:nvPr/>
        </p:nvSpPr>
        <p:spPr>
          <a:xfrm>
            <a:off x="9227954" y="462923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12012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08AF44-4725-1C42-9324-0BA85D6E4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Iteraties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4C08C95-6D4D-204B-8787-543010B195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.8-iteraties.ipynb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781B4-2486-7A49-9F5B-A88E73E9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69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486506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9E1F-0945-9E4F-A9EA-B279BBE8F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Blijven uitgevoerd worden zolang de meegegeven conditie houdt</a:t>
            </a:r>
          </a:p>
          <a:p>
            <a:r>
              <a:rPr lang="en-BE" dirty="0"/>
              <a:t>Handig als er </a:t>
            </a:r>
            <a:r>
              <a:rPr lang="en-BE" dirty="0">
                <a:solidFill>
                  <a:schemeClr val="accent3">
                    <a:lumMod val="75000"/>
                  </a:schemeClr>
                </a:solidFill>
              </a:rPr>
              <a:t>geen vast aantal mogelijkheden </a:t>
            </a:r>
            <a:r>
              <a:rPr lang="en-BE" dirty="0"/>
              <a:t>moet overlopen worden</a:t>
            </a:r>
            <a:endParaRPr lang="en-US" dirty="0"/>
          </a:p>
          <a:p>
            <a:pPr lvl="1"/>
            <a:r>
              <a:rPr lang="en-US" sz="2000" dirty="0" err="1"/>
              <a:t>Bv</a:t>
            </a:r>
            <a:r>
              <a:rPr lang="en-US" sz="2000" dirty="0"/>
              <a:t>.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bepaald</a:t>
            </a:r>
            <a:r>
              <a:rPr lang="en-US" sz="2000" dirty="0"/>
              <a:t> </a:t>
            </a:r>
            <a:r>
              <a:rPr lang="en-US" sz="2000" dirty="0" err="1"/>
              <a:t>getal</a:t>
            </a:r>
            <a:r>
              <a:rPr lang="en-US" sz="2000" dirty="0"/>
              <a:t> </a:t>
            </a:r>
            <a:r>
              <a:rPr lang="en-US" sz="2000" dirty="0" err="1"/>
              <a:t>vinden</a:t>
            </a:r>
            <a:r>
              <a:rPr lang="en-US" sz="2000" dirty="0"/>
              <a:t> in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lijst</a:t>
            </a:r>
            <a:r>
              <a:rPr lang="en-US" sz="2000" dirty="0"/>
              <a:t> (</a:t>
            </a:r>
            <a:r>
              <a:rPr lang="en-US" sz="2000" dirty="0" err="1"/>
              <a:t>weten</a:t>
            </a:r>
            <a:r>
              <a:rPr lang="en-US" sz="2000" dirty="0"/>
              <a:t> </a:t>
            </a:r>
            <a:r>
              <a:rPr lang="en-US" sz="2000" dirty="0" err="1"/>
              <a:t>niet</a:t>
            </a:r>
            <a:r>
              <a:rPr lang="en-US" sz="2000" dirty="0"/>
              <a:t> </a:t>
            </a:r>
            <a:r>
              <a:rPr lang="en-US" sz="2000" dirty="0" err="1"/>
              <a:t>wanneer</a:t>
            </a:r>
            <a:r>
              <a:rPr lang="en-US" sz="2000" dirty="0"/>
              <a:t> we het </a:t>
            </a:r>
            <a:r>
              <a:rPr lang="en-US" sz="2000" dirty="0" err="1"/>
              <a:t>tegenkomen</a:t>
            </a:r>
            <a:r>
              <a:rPr lang="en-US" sz="2000" dirty="0"/>
              <a:t>)</a:t>
            </a:r>
            <a:endParaRPr lang="en-BE" sz="2000" dirty="0"/>
          </a:p>
          <a:p>
            <a:r>
              <a:rPr lang="en-BE" dirty="0"/>
              <a:t>Heel foutengevoelig en kan makkelijk leiden tot </a:t>
            </a:r>
            <a:r>
              <a:rPr lang="en-BE" dirty="0">
                <a:solidFill>
                  <a:schemeClr val="accent3">
                    <a:lumMod val="75000"/>
                  </a:schemeClr>
                </a:solidFill>
              </a:rPr>
              <a:t>oneindige lussen</a:t>
            </a:r>
          </a:p>
          <a:p>
            <a:r>
              <a:rPr lang="en-BE" dirty="0"/>
              <a:t>Kan afgesloten worden met een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BE" dirty="0"/>
              <a:t> die wordt uitgevoerd als de while</a:t>
            </a:r>
            <a:r>
              <a:rPr lang="en-US" dirty="0"/>
              <a:t> (</a:t>
            </a:r>
            <a:r>
              <a:rPr lang="en-US" dirty="0" err="1"/>
              <a:t>zonder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dirty="0"/>
              <a:t>)</a:t>
            </a:r>
            <a:r>
              <a:rPr lang="en-BE" dirty="0"/>
              <a:t> is afgelopen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76A8B-098E-F345-A0CB-9F8913A0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190E1-1092-664F-89B6-172F8CF9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While-loops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B4298-C6D8-6F41-9E34-8F66F17EAE6A}"/>
              </a:ext>
            </a:extLst>
          </p:cNvPr>
          <p:cNvSpPr/>
          <p:nvPr/>
        </p:nvSpPr>
        <p:spPr>
          <a:xfrm>
            <a:off x="5583771" y="4503006"/>
            <a:ext cx="1639747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897BB"/>
                </a:solidFill>
              </a:rPr>
              <a:t>3</a:t>
            </a:r>
            <a:br>
              <a:rPr lang="en-GB" dirty="0">
                <a:solidFill>
                  <a:srgbClr val="6897BB"/>
                </a:solidFill>
              </a:rPr>
            </a:b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CC7832"/>
                </a:solidFill>
              </a:rPr>
              <a:t>while </a:t>
            </a:r>
            <a:r>
              <a:rPr lang="en-GB" dirty="0"/>
              <a:t>a &gt; </a:t>
            </a:r>
            <a:r>
              <a:rPr lang="en-GB" dirty="0">
                <a:solidFill>
                  <a:srgbClr val="6897BB"/>
                </a:solidFill>
              </a:rPr>
              <a:t>0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(a)</a:t>
            </a:r>
            <a:br>
              <a:rPr lang="en-GB" dirty="0"/>
            </a:br>
            <a:r>
              <a:rPr lang="en-GB" dirty="0"/>
              <a:t>    a = a - </a:t>
            </a:r>
            <a:r>
              <a:rPr lang="en-GB" dirty="0">
                <a:solidFill>
                  <a:srgbClr val="6897BB"/>
                </a:solidFill>
              </a:rPr>
              <a:t>1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BABB72-2B12-AD42-A67F-EE6E91722E0C}"/>
              </a:ext>
            </a:extLst>
          </p:cNvPr>
          <p:cNvSpPr/>
          <p:nvPr/>
        </p:nvSpPr>
        <p:spPr>
          <a:xfrm>
            <a:off x="7696151" y="5057004"/>
            <a:ext cx="119412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3</a:t>
            </a:r>
          </a:p>
          <a:p>
            <a:r>
              <a:rPr lang="en-BE" dirty="0"/>
              <a:t>2</a:t>
            </a:r>
          </a:p>
          <a:p>
            <a:r>
              <a:rPr lang="en-BE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53BDA-527C-2F49-8A00-C10992C33CB7}"/>
              </a:ext>
            </a:extLst>
          </p:cNvPr>
          <p:cNvSpPr txBox="1"/>
          <p:nvPr/>
        </p:nvSpPr>
        <p:spPr>
          <a:xfrm>
            <a:off x="5583771" y="413367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941613-0C70-7D4D-985F-33E2CF555733}"/>
              </a:ext>
            </a:extLst>
          </p:cNvPr>
          <p:cNvSpPr txBox="1"/>
          <p:nvPr/>
        </p:nvSpPr>
        <p:spPr>
          <a:xfrm>
            <a:off x="7696151" y="468767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12630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28211-21EE-D246-9D42-62F68EAA8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Overlopen van een lijst</a:t>
            </a:r>
            <a:r>
              <a:rPr lang="en-US" dirty="0"/>
              <a:t> die </a:t>
            </a:r>
            <a:r>
              <a:rPr lang="en-US" dirty="0" err="1"/>
              <a:t>stapsgewijs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leeggemaakt</a:t>
            </a:r>
            <a:endParaRPr lang="en-BE" dirty="0"/>
          </a:p>
          <a:p>
            <a:r>
              <a:rPr lang="en-BE" dirty="0"/>
              <a:t>Hier wordt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BE" dirty="0"/>
              <a:t> gebruikt</a:t>
            </a:r>
          </a:p>
          <a:p>
            <a:r>
              <a:rPr lang="en-BE" dirty="0"/>
              <a:t>Let op: verwijder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.pop()</a:t>
            </a:r>
            <a:r>
              <a:rPr lang="en-BE" dirty="0"/>
              <a:t> en het programma blijft eeuwig verderlopen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CE826-B770-3C4A-97FE-68F09D21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C583D-148C-C848-BB3B-12FDD255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While 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BFE10A-3A35-6D45-9A24-B120DEF047DE}"/>
              </a:ext>
            </a:extLst>
          </p:cNvPr>
          <p:cNvSpPr/>
          <p:nvPr/>
        </p:nvSpPr>
        <p:spPr>
          <a:xfrm>
            <a:off x="4189104" y="3874811"/>
            <a:ext cx="2577296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b = [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'a'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'd’</a:t>
            </a:r>
            <a:r>
              <a:rPr lang="en-GB" dirty="0"/>
              <a:t>]</a:t>
            </a:r>
          </a:p>
          <a:p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while </a:t>
            </a:r>
            <a:r>
              <a:rPr lang="en-GB" dirty="0">
                <a:solidFill>
                  <a:srgbClr val="00B050"/>
                </a:solidFill>
              </a:rPr>
              <a:t>b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(b)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 err="1"/>
              <a:t>b.pop</a:t>
            </a:r>
            <a:r>
              <a:rPr lang="en-GB" dirty="0"/>
              <a:t>()</a:t>
            </a:r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else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Lijst</a:t>
            </a:r>
            <a:r>
              <a:rPr lang="en-GB" dirty="0">
                <a:solidFill>
                  <a:srgbClr val="6A8759"/>
                </a:solidFill>
              </a:rPr>
              <a:t> is nu </a:t>
            </a:r>
            <a:r>
              <a:rPr lang="en-GB" dirty="0" err="1">
                <a:solidFill>
                  <a:srgbClr val="6A8759"/>
                </a:solidFill>
              </a:rPr>
              <a:t>leeg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B2695D-A312-094E-B82A-D7BADFECEF21}"/>
              </a:ext>
            </a:extLst>
          </p:cNvPr>
          <p:cNvSpPr/>
          <p:nvPr/>
        </p:nvSpPr>
        <p:spPr>
          <a:xfrm>
            <a:off x="7268286" y="4428808"/>
            <a:ext cx="2183757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[1, 'a', 3, 'd']</a:t>
            </a:r>
          </a:p>
          <a:p>
            <a:r>
              <a:rPr lang="en-BE" dirty="0"/>
              <a:t>[1, 'a', 3]</a:t>
            </a:r>
          </a:p>
          <a:p>
            <a:r>
              <a:rPr lang="en-BE" dirty="0"/>
              <a:t>[1, 'a']</a:t>
            </a:r>
          </a:p>
          <a:p>
            <a:r>
              <a:rPr lang="en-BE" dirty="0"/>
              <a:t>[1]</a:t>
            </a:r>
          </a:p>
          <a:p>
            <a:r>
              <a:rPr lang="en-BE" dirty="0"/>
              <a:t>Lijst is nu leeg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D506E-054F-3546-A98F-BF50164EF175}"/>
              </a:ext>
            </a:extLst>
          </p:cNvPr>
          <p:cNvSpPr txBox="1"/>
          <p:nvPr/>
        </p:nvSpPr>
        <p:spPr>
          <a:xfrm>
            <a:off x="4189104" y="3505479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227EE-F7F6-ED4C-8F02-4A7A1AA4FACC}"/>
              </a:ext>
            </a:extLst>
          </p:cNvPr>
          <p:cNvSpPr txBox="1"/>
          <p:nvPr/>
        </p:nvSpPr>
        <p:spPr>
          <a:xfrm>
            <a:off x="7270981" y="404435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61DCC-8080-3D4A-9039-7BD52BB30AAB}"/>
              </a:ext>
            </a:extLst>
          </p:cNvPr>
          <p:cNvSpPr txBox="1"/>
          <p:nvPr/>
        </p:nvSpPr>
        <p:spPr>
          <a:xfrm>
            <a:off x="1451309" y="4278670"/>
            <a:ext cx="2577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dirty="0">
                <a:solidFill>
                  <a:srgbClr val="00B050"/>
                </a:solidFill>
              </a:rPr>
              <a:t>Een lijst/verzameling is ‘waar’ zolang die niet leeg is</a:t>
            </a:r>
          </a:p>
        </p:txBody>
      </p:sp>
    </p:spTree>
    <p:extLst>
      <p:ext uri="{BB962C8B-B14F-4D97-AF65-F5344CB8AC3E}">
        <p14:creationId xmlns:p14="http://schemas.microsoft.com/office/powerpoint/2010/main" val="3052860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DAD8-8A22-434D-95D7-8654011F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Overlopen een </a:t>
            </a:r>
            <a:r>
              <a:rPr lang="en-BE" dirty="0">
                <a:solidFill>
                  <a:schemeClr val="accent3">
                    <a:lumMod val="75000"/>
                  </a:schemeClr>
                </a:solidFill>
              </a:rPr>
              <a:t>vast/vooraf gekend aantal mogelijkheden</a:t>
            </a:r>
          </a:p>
          <a:p>
            <a:r>
              <a:rPr lang="en-BE" dirty="0"/>
              <a:t>Overlopen itereerbare objecten zoals lijsten, sets, strings, ranges, files, etc.</a:t>
            </a:r>
          </a:p>
          <a:p>
            <a:r>
              <a:rPr lang="en-BE" dirty="0"/>
              <a:t>Voor de itereerbare objecten wordt een iterator-object aangemaakt dat hun inhoud element per element overloopt, maar dit blijft in de achtergrond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289FF-11E0-964D-B056-F037C7E7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4B1E0-964A-854C-A26E-F511A34E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For-loops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56C8C-A3B8-2B43-9335-025DBFD47A96}"/>
              </a:ext>
            </a:extLst>
          </p:cNvPr>
          <p:cNvSpPr/>
          <p:nvPr/>
        </p:nvSpPr>
        <p:spPr>
          <a:xfrm>
            <a:off x="3946967" y="4782664"/>
            <a:ext cx="2149033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for </a:t>
            </a:r>
            <a:r>
              <a:rPr lang="en-GB" dirty="0"/>
              <a:t>a </a:t>
            </a:r>
            <a:r>
              <a:rPr lang="en-GB" dirty="0">
                <a:solidFill>
                  <a:srgbClr val="CC7832"/>
                </a:solidFill>
              </a:rPr>
              <a:t>in </a:t>
            </a:r>
            <a:r>
              <a:rPr lang="en-GB" dirty="0"/>
              <a:t>[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/>
              <a:t>]: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(a)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15990-EC5B-FE40-8BD8-1B39AD63894F}"/>
              </a:ext>
            </a:extLst>
          </p:cNvPr>
          <p:cNvSpPr/>
          <p:nvPr/>
        </p:nvSpPr>
        <p:spPr>
          <a:xfrm>
            <a:off x="6948670" y="4831460"/>
            <a:ext cx="574876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1</a:t>
            </a:r>
          </a:p>
          <a:p>
            <a:r>
              <a:rPr lang="en-BE" dirty="0"/>
              <a:t>2</a:t>
            </a:r>
          </a:p>
          <a:p>
            <a:r>
              <a:rPr lang="en-BE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F49AB-8EC4-2447-B769-42B87736B2AE}"/>
              </a:ext>
            </a:extLst>
          </p:cNvPr>
          <p:cNvSpPr txBox="1"/>
          <p:nvPr/>
        </p:nvSpPr>
        <p:spPr>
          <a:xfrm>
            <a:off x="3946967" y="445949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FA655-38FD-A04C-A2BF-17EBE3FFF79F}"/>
              </a:ext>
            </a:extLst>
          </p:cNvPr>
          <p:cNvSpPr txBox="1"/>
          <p:nvPr/>
        </p:nvSpPr>
        <p:spPr>
          <a:xfrm>
            <a:off x="6948670" y="4459498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FE5F85-5D00-645D-0187-37FED4CC4311}"/>
              </a:ext>
            </a:extLst>
          </p:cNvPr>
          <p:cNvCxnSpPr/>
          <p:nvPr/>
        </p:nvCxnSpPr>
        <p:spPr>
          <a:xfrm flipV="1">
            <a:off x="4676654" y="4101737"/>
            <a:ext cx="792329" cy="727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2AB5D8-BE83-4855-832C-5B26EDDFE4D8}"/>
              </a:ext>
            </a:extLst>
          </p:cNvPr>
          <p:cNvSpPr txBox="1"/>
          <p:nvPr/>
        </p:nvSpPr>
        <p:spPr>
          <a:xfrm>
            <a:off x="5468983" y="3799271"/>
            <a:ext cx="62111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1600" dirty="0"/>
              <a:t> wordt gebruikt in combinatie met een nieuwe variabele (hier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nl-NL" sz="1600" dirty="0"/>
              <a:t>) en het te overlopen </a:t>
            </a:r>
            <a:r>
              <a:rPr lang="nl-NL" sz="1600" dirty="0" err="1"/>
              <a:t>itereerbaar</a:t>
            </a:r>
            <a:r>
              <a:rPr lang="nl-NL" sz="1600" dirty="0"/>
              <a:t> object, de lijst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[1,2,3]</a:t>
            </a:r>
          </a:p>
        </p:txBody>
      </p:sp>
    </p:spTree>
    <p:extLst>
      <p:ext uri="{BB962C8B-B14F-4D97-AF65-F5344CB8AC3E}">
        <p14:creationId xmlns:p14="http://schemas.microsoft.com/office/powerpoint/2010/main" val="1484431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91292-CBE6-6445-B51A-759AE7D1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0CC58-3720-9E44-85D5-0CA3D26D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For-loops voor dictionaries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9201F-4C0A-E44E-A0F0-D33356BE0D7F}"/>
              </a:ext>
            </a:extLst>
          </p:cNvPr>
          <p:cNvSpPr txBox="1"/>
          <p:nvPr/>
        </p:nvSpPr>
        <p:spPr>
          <a:xfrm>
            <a:off x="983848" y="2624476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674010-C934-6948-83D6-929C0680F71F}"/>
              </a:ext>
            </a:extLst>
          </p:cNvPr>
          <p:cNvSpPr txBox="1"/>
          <p:nvPr/>
        </p:nvSpPr>
        <p:spPr>
          <a:xfrm>
            <a:off x="8178374" y="265483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1E6022-47BA-6542-886D-2D800777815E}"/>
              </a:ext>
            </a:extLst>
          </p:cNvPr>
          <p:cNvSpPr/>
          <p:nvPr/>
        </p:nvSpPr>
        <p:spPr>
          <a:xfrm>
            <a:off x="983848" y="2993808"/>
            <a:ext cx="6921661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b = {</a:t>
            </a:r>
            <a:r>
              <a:rPr lang="en-GB" sz="1600" dirty="0">
                <a:solidFill>
                  <a:srgbClr val="6A8759"/>
                </a:solidFill>
              </a:rPr>
              <a:t>'a'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'b'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20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'c'</a:t>
            </a:r>
            <a:r>
              <a:rPr lang="en-GB" sz="1600" dirty="0"/>
              <a:t>: </a:t>
            </a:r>
            <a:r>
              <a:rPr lang="en-GB" sz="1600" dirty="0">
                <a:solidFill>
                  <a:srgbClr val="6897BB"/>
                </a:solidFill>
              </a:rPr>
              <a:t>30</a:t>
            </a:r>
            <a:r>
              <a:rPr lang="en-GB" sz="1600" dirty="0"/>
              <a:t>}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/>
              <a:t>(</a:t>
            </a:r>
            <a:r>
              <a:rPr lang="en-GB" sz="1600" dirty="0" err="1"/>
              <a:t>sleutel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waarde</a:t>
            </a:r>
            <a:r>
              <a:rPr lang="en-GB" sz="1600" dirty="0"/>
              <a:t>)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b.items</a:t>
            </a:r>
            <a:r>
              <a:rPr lang="en-GB" sz="1600" dirty="0"/>
              <a:t>():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key-value </a:t>
            </a:r>
            <a:r>
              <a:rPr lang="en-GB" sz="1600" dirty="0" err="1">
                <a:solidFill>
                  <a:srgbClr val="808080"/>
                </a:solidFill>
              </a:rPr>
              <a:t>paren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08080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sleutel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waarde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waarde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/>
              <a:t>b.values</a:t>
            </a:r>
            <a:r>
              <a:rPr lang="en-GB" sz="1600" dirty="0"/>
              <a:t>():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waardes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08080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waarde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sleutel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b: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gewoon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dict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overlopen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geeft</a:t>
            </a:r>
            <a:r>
              <a:rPr lang="en-GB" sz="1600" dirty="0">
                <a:solidFill>
                  <a:srgbClr val="808080"/>
                </a:solidFill>
              </a:rPr>
              <a:t> de </a:t>
            </a:r>
            <a:r>
              <a:rPr lang="en-GB" sz="1600" dirty="0" err="1">
                <a:solidFill>
                  <a:srgbClr val="808080"/>
                </a:solidFill>
              </a:rPr>
              <a:t>sleutels</a:t>
            </a:r>
            <a:r>
              <a:rPr lang="en-GB" sz="1600" dirty="0">
                <a:solidFill>
                  <a:srgbClr val="808080"/>
                </a:solidFill>
              </a:rPr>
              <a:t> </a:t>
            </a:r>
            <a:r>
              <a:rPr lang="en-GB" sz="1600" dirty="0" err="1">
                <a:solidFill>
                  <a:srgbClr val="808080"/>
                </a:solidFill>
              </a:rPr>
              <a:t>terug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08080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sleutel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774464-7070-3F4B-98E2-129F13510451}"/>
              </a:ext>
            </a:extLst>
          </p:cNvPr>
          <p:cNvSpPr/>
          <p:nvPr/>
        </p:nvSpPr>
        <p:spPr>
          <a:xfrm>
            <a:off x="8178374" y="2993808"/>
            <a:ext cx="992822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a - 10</a:t>
            </a:r>
          </a:p>
          <a:p>
            <a:r>
              <a:rPr lang="en-BE" sz="1600" dirty="0"/>
              <a:t>b - 20</a:t>
            </a:r>
          </a:p>
          <a:p>
            <a:r>
              <a:rPr lang="en-BE" sz="1600" dirty="0"/>
              <a:t>c – 30</a:t>
            </a:r>
          </a:p>
          <a:p>
            <a:endParaRPr lang="en-BE" sz="1600" dirty="0"/>
          </a:p>
          <a:p>
            <a:r>
              <a:rPr lang="en-BE" sz="1600" dirty="0"/>
              <a:t>10</a:t>
            </a:r>
          </a:p>
          <a:p>
            <a:r>
              <a:rPr lang="en-BE" sz="1600" dirty="0"/>
              <a:t>20</a:t>
            </a:r>
          </a:p>
          <a:p>
            <a:r>
              <a:rPr lang="en-BE" sz="1600" dirty="0"/>
              <a:t>30</a:t>
            </a:r>
          </a:p>
          <a:p>
            <a:endParaRPr lang="en-BE" sz="1600" dirty="0"/>
          </a:p>
          <a:p>
            <a:r>
              <a:rPr lang="en-BE" sz="1600" dirty="0"/>
              <a:t>a</a:t>
            </a:r>
          </a:p>
          <a:p>
            <a:r>
              <a:rPr lang="en-BE" sz="1600" dirty="0"/>
              <a:t>b</a:t>
            </a:r>
          </a:p>
          <a:p>
            <a:r>
              <a:rPr lang="en-BE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781971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987-3AB7-EB4B-895F-E42FB680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Laat toe om makkelijk integer reeksen te maken</a:t>
            </a:r>
          </a:p>
          <a:p>
            <a:r>
              <a:rPr lang="en-BE" dirty="0"/>
              <a:t>Maakt geen lijst aan, maar een itereerbaar range object</a:t>
            </a:r>
          </a:p>
          <a:p>
            <a:r>
              <a:rPr lang="en-BE" dirty="0"/>
              <a:t>Kan omgezet worden naar een lijst</a:t>
            </a:r>
            <a:r>
              <a:rPr lang="en-US" dirty="0"/>
              <a:t> (met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list()</a:t>
            </a:r>
            <a:r>
              <a:rPr lang="en-US" dirty="0"/>
              <a:t>)</a:t>
            </a:r>
            <a:r>
              <a:rPr lang="en-BE" dirty="0"/>
              <a:t> voor andere doeleinden</a:t>
            </a:r>
          </a:p>
          <a:p>
            <a:r>
              <a:rPr lang="en-BE" dirty="0"/>
              <a:t>Heeft een begin, einde en interval/sprong argument</a:t>
            </a:r>
          </a:p>
          <a:p>
            <a:endParaRPr lang="en-BE" dirty="0"/>
          </a:p>
          <a:p>
            <a:endParaRPr lang="en-BE" dirty="0"/>
          </a:p>
          <a:p>
            <a:pPr marL="0" indent="0">
              <a:buNone/>
            </a:pPr>
            <a:r>
              <a:rPr lang="en-BE" sz="2000" b="1" dirty="0"/>
              <a:t>Merk op: </a:t>
            </a:r>
            <a:r>
              <a:rPr lang="en-BE" sz="2000" dirty="0"/>
              <a:t>bovengrens</a:t>
            </a:r>
          </a:p>
          <a:p>
            <a:pPr marL="0" indent="0">
              <a:buNone/>
            </a:pPr>
            <a:r>
              <a:rPr lang="en-GB" sz="2000" dirty="0"/>
              <a:t>w</a:t>
            </a:r>
            <a:r>
              <a:rPr lang="en-BE" sz="2000" dirty="0"/>
              <a:t>ordt zoals altijd niet meegenomen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3790F-603A-7642-93CE-1AC617FB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8FAE9-48EE-B847-B979-46BE20E7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Range functie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9890F-6451-9F43-BF35-D0BF2AE7C450}"/>
              </a:ext>
            </a:extLst>
          </p:cNvPr>
          <p:cNvSpPr/>
          <p:nvPr/>
        </p:nvSpPr>
        <p:spPr>
          <a:xfrm>
            <a:off x="5556812" y="4551650"/>
            <a:ext cx="239210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range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i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range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-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i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F94CF1-C7B5-854B-B61D-BF0387D12D2B}"/>
              </a:ext>
            </a:extLst>
          </p:cNvPr>
          <p:cNvSpPr/>
          <p:nvPr/>
        </p:nvSpPr>
        <p:spPr>
          <a:xfrm>
            <a:off x="9576236" y="3475580"/>
            <a:ext cx="1084162" cy="26161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0</a:t>
            </a:r>
          </a:p>
          <a:p>
            <a:r>
              <a:rPr lang="en-BE" sz="1600" dirty="0"/>
              <a:t>1</a:t>
            </a:r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3</a:t>
            </a:r>
          </a:p>
          <a:p>
            <a:r>
              <a:rPr lang="en-BE" sz="1600" dirty="0"/>
              <a:t>4</a:t>
            </a:r>
          </a:p>
          <a:p>
            <a:r>
              <a:rPr lang="en-BE" sz="1600" dirty="0"/>
              <a:t>5</a:t>
            </a:r>
          </a:p>
          <a:p>
            <a:r>
              <a:rPr lang="en-BE" sz="1600" dirty="0"/>
              <a:t>--</a:t>
            </a:r>
          </a:p>
          <a:p>
            <a:r>
              <a:rPr lang="en-BE" sz="1600" dirty="0"/>
              <a:t>6</a:t>
            </a:r>
          </a:p>
          <a:p>
            <a:r>
              <a:rPr lang="en-BE" sz="1600" dirty="0"/>
              <a:t>4</a:t>
            </a:r>
          </a:p>
          <a:p>
            <a:r>
              <a:rPr lang="en-BE" sz="16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6244-8B5C-354A-8F1F-DD5CD6EF3811}"/>
              </a:ext>
            </a:extLst>
          </p:cNvPr>
          <p:cNvSpPr txBox="1"/>
          <p:nvPr/>
        </p:nvSpPr>
        <p:spPr>
          <a:xfrm>
            <a:off x="5556812" y="418231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A802B-5A8F-9442-82D3-1DDDBD619CC4}"/>
              </a:ext>
            </a:extLst>
          </p:cNvPr>
          <p:cNvSpPr txBox="1"/>
          <p:nvPr/>
        </p:nvSpPr>
        <p:spPr>
          <a:xfrm>
            <a:off x="9576236" y="310526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0FEA0F-3FFE-D04C-A641-E4177101DE49}"/>
              </a:ext>
            </a:extLst>
          </p:cNvPr>
          <p:cNvCxnSpPr>
            <a:cxnSpLocks/>
          </p:cNvCxnSpPr>
          <p:nvPr/>
        </p:nvCxnSpPr>
        <p:spPr>
          <a:xfrm flipH="1">
            <a:off x="6146309" y="5607598"/>
            <a:ext cx="706550" cy="379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CDDDD6-7C70-3940-B938-925481C70206}"/>
              </a:ext>
            </a:extLst>
          </p:cNvPr>
          <p:cNvSpPr txBox="1"/>
          <p:nvPr/>
        </p:nvSpPr>
        <p:spPr>
          <a:xfrm>
            <a:off x="5046426" y="5903902"/>
            <a:ext cx="1136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ondergrens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7E40DB-85F8-654C-9A2D-59E4816CB0D0}"/>
              </a:ext>
            </a:extLst>
          </p:cNvPr>
          <p:cNvSpPr txBox="1"/>
          <p:nvPr/>
        </p:nvSpPr>
        <p:spPr>
          <a:xfrm>
            <a:off x="6234700" y="5934679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bovengrens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EB08AD-F832-F34C-B52E-749AC45B8E71}"/>
              </a:ext>
            </a:extLst>
          </p:cNvPr>
          <p:cNvCxnSpPr>
            <a:cxnSpLocks/>
          </p:cNvCxnSpPr>
          <p:nvPr/>
        </p:nvCxnSpPr>
        <p:spPr>
          <a:xfrm flipH="1">
            <a:off x="6916997" y="5592504"/>
            <a:ext cx="211623" cy="361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460014-C60E-3149-B2EA-3381731B61A1}"/>
              </a:ext>
            </a:extLst>
          </p:cNvPr>
          <p:cNvSpPr txBox="1"/>
          <p:nvPr/>
        </p:nvSpPr>
        <p:spPr>
          <a:xfrm>
            <a:off x="7406046" y="5919290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sprong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434988-2FDE-0446-B2D9-6EFFA464B300}"/>
              </a:ext>
            </a:extLst>
          </p:cNvPr>
          <p:cNvCxnSpPr>
            <a:cxnSpLocks/>
          </p:cNvCxnSpPr>
          <p:nvPr/>
        </p:nvCxnSpPr>
        <p:spPr>
          <a:xfrm>
            <a:off x="7436221" y="5581775"/>
            <a:ext cx="260606" cy="3523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0176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C130-8CEC-6642-9E3E-A4D51DF7D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Maakt automatisch een teller aan voor de iteraties over een itereerbaar object</a:t>
            </a:r>
          </a:p>
          <a:p>
            <a:r>
              <a:rPr lang="en-BE" dirty="0"/>
              <a:t>Resultaat is nu een tupel met 2 elementen: </a:t>
            </a:r>
            <a:r>
              <a:rPr lang="en-US" dirty="0"/>
              <a:t>(</a:t>
            </a:r>
            <a:r>
              <a:rPr lang="en-BE" dirty="0"/>
              <a:t>volgnummer</a:t>
            </a:r>
            <a:r>
              <a:rPr lang="en-US" dirty="0"/>
              <a:t>,</a:t>
            </a:r>
            <a:r>
              <a:rPr lang="en-BE" dirty="0"/>
              <a:t> element</a:t>
            </a:r>
            <a:r>
              <a:rPr lang="en-US" dirty="0"/>
              <a:t>)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AA757-A45C-C34D-ADFE-3030FABF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DE075-72FC-294A-B4EE-37A059EC4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enumerate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A1D192-1DD0-A748-A956-4594BA52E208}"/>
              </a:ext>
            </a:extLst>
          </p:cNvPr>
          <p:cNvSpPr/>
          <p:nvPr/>
        </p:nvSpPr>
        <p:spPr>
          <a:xfrm>
            <a:off x="838200" y="4050665"/>
            <a:ext cx="5772807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>
                <a:solidFill>
                  <a:srgbClr val="FF0000"/>
                </a:solidFill>
              </a:rPr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chemeClr val="accent1">
                    <a:lumMod val="75000"/>
                  </a:schemeClr>
                </a:solidFill>
              </a:rPr>
              <a:t>inhoud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enumerate</a:t>
            </a:r>
            <a:r>
              <a:rPr lang="en-GB" sz="1600" dirty="0"/>
              <a:t>([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6</a:t>
            </a:r>
            <a:r>
              <a:rPr lang="en-GB" sz="1600" dirty="0"/>
              <a:t>]):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inhoud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AA4926"/>
                </a:solidFill>
              </a:rPr>
              <a:t>sep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A8759"/>
                </a:solidFill>
              </a:rPr>
              <a:t>' : 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inhoud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enumerate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8888C6"/>
                </a:solidFill>
              </a:rPr>
              <a:t>set</a:t>
            </a:r>
            <a:r>
              <a:rPr lang="en-GB" sz="1600" dirty="0"/>
              <a:t>([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8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9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9</a:t>
            </a:r>
            <a:r>
              <a:rPr lang="en-GB" sz="1600" dirty="0"/>
              <a:t>])):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volg_nummer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inhoud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AA4926"/>
                </a:solidFill>
              </a:rPr>
              <a:t>sep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A8759"/>
                </a:solidFill>
              </a:rPr>
              <a:t>' : 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1D289-6B31-8244-BA7B-C7D5F2F733E4}"/>
              </a:ext>
            </a:extLst>
          </p:cNvPr>
          <p:cNvSpPr/>
          <p:nvPr/>
        </p:nvSpPr>
        <p:spPr>
          <a:xfrm>
            <a:off x="7651531" y="4003576"/>
            <a:ext cx="882869" cy="212365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0 : 3</a:t>
            </a:r>
          </a:p>
          <a:p>
            <a:r>
              <a:rPr lang="en-BE" sz="1600" dirty="0"/>
              <a:t>1 : 4</a:t>
            </a:r>
          </a:p>
          <a:p>
            <a:r>
              <a:rPr lang="en-BE" sz="1600" dirty="0"/>
              <a:t>2 : 5</a:t>
            </a:r>
          </a:p>
          <a:p>
            <a:r>
              <a:rPr lang="en-BE" sz="1600" dirty="0"/>
              <a:t>3 : 6</a:t>
            </a:r>
          </a:p>
          <a:p>
            <a:r>
              <a:rPr lang="en-BE" sz="1600" dirty="0"/>
              <a:t>----</a:t>
            </a:r>
          </a:p>
          <a:p>
            <a:r>
              <a:rPr lang="en-BE" sz="1600" dirty="0"/>
              <a:t>0 : 8</a:t>
            </a:r>
          </a:p>
          <a:p>
            <a:r>
              <a:rPr lang="en-BE" sz="1600" dirty="0"/>
              <a:t>1 : 9</a:t>
            </a:r>
          </a:p>
          <a:p>
            <a:r>
              <a:rPr lang="en-BE" sz="1600" dirty="0"/>
              <a:t>2 :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BE8E9-6E0B-4140-8736-F7157AE60116}"/>
              </a:ext>
            </a:extLst>
          </p:cNvPr>
          <p:cNvSpPr txBox="1"/>
          <p:nvPr/>
        </p:nvSpPr>
        <p:spPr>
          <a:xfrm>
            <a:off x="838200" y="368133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ACF03-267D-6845-AEE3-F9753AA88F9E}"/>
              </a:ext>
            </a:extLst>
          </p:cNvPr>
          <p:cNvSpPr txBox="1"/>
          <p:nvPr/>
        </p:nvSpPr>
        <p:spPr>
          <a:xfrm>
            <a:off x="7615559" y="363952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9" name="U-turn Arrow 18">
            <a:extLst>
              <a:ext uri="{FF2B5EF4-FFF2-40B4-BE49-F238E27FC236}">
                <a16:creationId xmlns:a16="http://schemas.microsoft.com/office/drawing/2014/main" id="{CA8361EA-85FF-783D-5D7B-D461B4DA8811}"/>
              </a:ext>
            </a:extLst>
          </p:cNvPr>
          <p:cNvSpPr/>
          <p:nvPr/>
        </p:nvSpPr>
        <p:spPr>
          <a:xfrm>
            <a:off x="2991555" y="3639523"/>
            <a:ext cx="2073050" cy="484267"/>
          </a:xfrm>
          <a:prstGeom prst="uturnArrow">
            <a:avLst>
              <a:gd name="adj1" fmla="val 25000"/>
              <a:gd name="adj2" fmla="val 25000"/>
              <a:gd name="adj3" fmla="val 175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20" name="U-turn Arrow 19">
            <a:extLst>
              <a:ext uri="{FF2B5EF4-FFF2-40B4-BE49-F238E27FC236}">
                <a16:creationId xmlns:a16="http://schemas.microsoft.com/office/drawing/2014/main" id="{232F5815-B1E2-6266-A8CA-B340EE048CC2}"/>
              </a:ext>
            </a:extLst>
          </p:cNvPr>
          <p:cNvSpPr/>
          <p:nvPr/>
        </p:nvSpPr>
        <p:spPr>
          <a:xfrm>
            <a:off x="1929998" y="3218477"/>
            <a:ext cx="2226418" cy="905313"/>
          </a:xfrm>
          <a:prstGeom prst="uturnArrow">
            <a:avLst>
              <a:gd name="adj1" fmla="val 25000"/>
              <a:gd name="adj2" fmla="val 25000"/>
              <a:gd name="adj3" fmla="val 19994"/>
              <a:gd name="adj4" fmla="val 43750"/>
              <a:gd name="adj5" fmla="val 8996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5967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85D1-1EBF-AA4B-9D91-D11C1F51B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0782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reak</a:t>
            </a:r>
            <a:r>
              <a:rPr lang="en-BE" dirty="0"/>
              <a:t> laat het toe uit een iteratie te springen </a:t>
            </a:r>
          </a:p>
          <a:p>
            <a:endParaRPr lang="en-GB" dirty="0"/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ntinue</a:t>
            </a:r>
            <a:r>
              <a:rPr lang="en-BE" dirty="0"/>
              <a:t> laat het toe om (stappen in) een iteratie over te slaan en de volgende iteratie in te zetten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9D825-0F2F-7D4D-B58E-95CAB27B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F5822D-3F4F-7845-8B9D-D0877B2F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</a:t>
            </a:r>
            <a:r>
              <a:rPr lang="en-BE" dirty="0"/>
              <a:t> en continue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7867E8-78D3-4947-94A6-4ACC1D468F6C}"/>
              </a:ext>
            </a:extLst>
          </p:cNvPr>
          <p:cNvSpPr/>
          <p:nvPr/>
        </p:nvSpPr>
        <p:spPr>
          <a:xfrm>
            <a:off x="6890795" y="2600120"/>
            <a:ext cx="2235788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>
                <a:solidFill>
                  <a:srgbClr val="8888C6"/>
                </a:solidFill>
              </a:rPr>
              <a:t>range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 err="1"/>
              <a:t>i</a:t>
            </a:r>
            <a:r>
              <a:rPr lang="en-GB" sz="1600" dirty="0"/>
              <a:t> ==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CC7832"/>
                </a:solidFill>
              </a:rPr>
              <a:t>break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f 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while </a:t>
            </a:r>
            <a:r>
              <a:rPr lang="en-GB" sz="1600" dirty="0"/>
              <a:t>f &lt; </a:t>
            </a:r>
            <a:r>
              <a:rPr lang="en-GB" sz="1600" dirty="0">
                <a:solidFill>
                  <a:srgbClr val="6897BB"/>
                </a:solidFill>
              </a:rPr>
              <a:t>7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f +=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6897BB"/>
                </a:solidFill>
              </a:rPr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f ==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CC7832"/>
                </a:solidFill>
              </a:rPr>
              <a:t>continue</a:t>
            </a:r>
            <a:br>
              <a:rPr lang="en-GB" sz="1600" dirty="0">
                <a:solidFill>
                  <a:srgbClr val="CC7832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'f:'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f)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DE93A-7BDC-7D42-BB3F-724EEFC718A6}"/>
              </a:ext>
            </a:extLst>
          </p:cNvPr>
          <p:cNvSpPr/>
          <p:nvPr/>
        </p:nvSpPr>
        <p:spPr>
          <a:xfrm>
            <a:off x="9522779" y="3261839"/>
            <a:ext cx="1139142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i: 0</a:t>
            </a:r>
          </a:p>
          <a:p>
            <a:r>
              <a:rPr lang="en-BE" sz="1600" dirty="0"/>
              <a:t>i: 1</a:t>
            </a:r>
          </a:p>
          <a:p>
            <a:r>
              <a:rPr lang="en-BE" sz="1600" dirty="0"/>
              <a:t>f: 4</a:t>
            </a:r>
          </a:p>
          <a:p>
            <a:r>
              <a:rPr lang="en-BE" sz="1600" dirty="0"/>
              <a:t>f: 5</a:t>
            </a:r>
          </a:p>
          <a:p>
            <a:r>
              <a:rPr lang="en-BE" sz="1600" dirty="0"/>
              <a:t>f: 6</a:t>
            </a:r>
          </a:p>
          <a:p>
            <a:r>
              <a:rPr lang="en-BE" sz="1600" dirty="0"/>
              <a:t>f: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9BF16-3FED-0F4B-BA95-29F935448E05}"/>
              </a:ext>
            </a:extLst>
          </p:cNvPr>
          <p:cNvSpPr txBox="1"/>
          <p:nvPr/>
        </p:nvSpPr>
        <p:spPr>
          <a:xfrm>
            <a:off x="6890795" y="223606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448E3-5ECC-7144-8D81-8E3A1A978E3C}"/>
              </a:ext>
            </a:extLst>
          </p:cNvPr>
          <p:cNvSpPr txBox="1"/>
          <p:nvPr/>
        </p:nvSpPr>
        <p:spPr>
          <a:xfrm>
            <a:off x="9522779" y="292328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4316810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B5B66-C3CE-4C0F-175F-37B91B71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2A788-7E79-2695-354E-1BEB332F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</a:t>
            </a:r>
            <a:r>
              <a:rPr lang="en-BE" dirty="0"/>
              <a:t> en continue (2)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621A1-8DA9-57D4-F0D7-0BF56CDB3385}"/>
              </a:ext>
            </a:extLst>
          </p:cNvPr>
          <p:cNvSpPr txBox="1"/>
          <p:nvPr/>
        </p:nvSpPr>
        <p:spPr>
          <a:xfrm>
            <a:off x="762000" y="1711482"/>
            <a:ext cx="8365958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 err="1">
                <a:cs typeface="Courier New" panose="02070309020205020404" pitchFamily="49" charset="0"/>
              </a:rPr>
              <a:t>even_getallen_gevonden</a:t>
            </a:r>
            <a:r>
              <a:rPr lang="en-GB" sz="1200" dirty="0">
                <a:cs typeface="Courier New" panose="02070309020205020404" pitchFamily="49" charset="0"/>
              </a:rPr>
              <a:t> 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0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10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while </a:t>
            </a:r>
            <a:r>
              <a:rPr lang="en-GB" sz="1200" dirty="0" err="1">
                <a:cs typeface="Courier New" panose="02070309020205020404" pitchFamily="49" charset="0"/>
              </a:rPr>
              <a:t>even_getallen_gevonden</a:t>
            </a:r>
            <a:r>
              <a:rPr lang="en-GB" sz="1200" dirty="0">
                <a:cs typeface="Courier New" panose="02070309020205020404" pitchFamily="49" charset="0"/>
              </a:rPr>
              <a:t> &lt;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5</a:t>
            </a:r>
            <a:r>
              <a:rPr lang="en-GB" sz="1200" dirty="0">
                <a:cs typeface="Courier New" panose="02070309020205020404" pitchFamily="49" charset="0"/>
              </a:rPr>
              <a:t>: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if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%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2 </a:t>
            </a:r>
            <a:r>
              <a:rPr lang="en-GB" sz="1200" dirty="0">
                <a:cs typeface="Courier New" panose="02070309020205020404" pitchFamily="49" charset="0"/>
              </a:rPr>
              <a:t>==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</a:t>
            </a:r>
            <a:r>
              <a:rPr lang="en-GB" sz="1200" dirty="0">
                <a:cs typeface="Courier New" panose="02070309020205020404" pitchFamily="49" charset="0"/>
              </a:rPr>
              <a:t>: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Controleer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of het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oneven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is</a:t>
            </a:r>
            <a:b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      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+=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continue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Ga door met de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volgende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iteratie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als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het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oneven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is</a:t>
            </a:r>
            <a:b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</a:br>
            <a:b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8888C6"/>
                </a:solidFill>
                <a:effectLst/>
                <a:cs typeface="Courier New" panose="02070309020205020404" pitchFamily="49" charset="0"/>
              </a:rPr>
              <a:t>print</a:t>
            </a:r>
            <a:r>
              <a:rPr lang="en-GB" sz="1200" dirty="0">
                <a:cs typeface="Courier New" panose="02070309020205020404" pitchFamily="49" charset="0"/>
              </a:rPr>
              <a:t>(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)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</a:t>
            </a:r>
            <a:r>
              <a:rPr lang="en-GB" sz="1200" dirty="0" err="1">
                <a:cs typeface="Courier New" panose="02070309020205020404" pitchFamily="49" charset="0"/>
              </a:rPr>
              <a:t>even_getallen_gevonden</a:t>
            </a:r>
            <a:r>
              <a:rPr lang="en-GB" sz="1200" dirty="0">
                <a:cs typeface="Courier New" panose="02070309020205020404" pitchFamily="49" charset="0"/>
              </a:rPr>
              <a:t> +=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   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+=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2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Ga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naar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het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volgende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even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endParaRPr lang="nl-NL" sz="1200" dirty="0"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8E7F1-ED46-A55E-A8CE-165E09CB4C20}"/>
              </a:ext>
            </a:extLst>
          </p:cNvPr>
          <p:cNvSpPr txBox="1"/>
          <p:nvPr/>
        </p:nvSpPr>
        <p:spPr>
          <a:xfrm>
            <a:off x="762000" y="4348967"/>
            <a:ext cx="690612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 err="1">
                <a:cs typeface="Courier New" panose="02070309020205020404" pitchFamily="49" charset="0"/>
              </a:rPr>
              <a:t>getallen</a:t>
            </a:r>
            <a:r>
              <a:rPr lang="en-GB" sz="1200" dirty="0">
                <a:cs typeface="Courier New" panose="02070309020205020404" pitchFamily="49" charset="0"/>
              </a:rPr>
              <a:t> = [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5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8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cs typeface="Courier New" panose="02070309020205020404" pitchFamily="49" charset="0"/>
              </a:rPr>
              <a:t>-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3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10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cs typeface="Courier New" panose="02070309020205020404" pitchFamily="49" charset="0"/>
              </a:rPr>
              <a:t>-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2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15</a:t>
            </a:r>
            <a:r>
              <a:rPr lang="en-GB" sz="1200" dirty="0">
                <a:cs typeface="Courier New" panose="02070309020205020404" pitchFamily="49" charset="0"/>
              </a:rPr>
              <a:t>]</a:t>
            </a:r>
            <a:br>
              <a:rPr lang="en-GB" sz="1200" dirty="0">
                <a:cs typeface="Courier New" panose="02070309020205020404" pitchFamily="49" charset="0"/>
              </a:rPr>
            </a:b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for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in </a:t>
            </a:r>
            <a:r>
              <a:rPr lang="en-GB" sz="1200" dirty="0" err="1">
                <a:cs typeface="Courier New" panose="02070309020205020404" pitchFamily="49" charset="0"/>
              </a:rPr>
              <a:t>getallen</a:t>
            </a:r>
            <a:r>
              <a:rPr lang="en-GB" sz="1200" dirty="0">
                <a:cs typeface="Courier New" panose="02070309020205020404" pitchFamily="49" charset="0"/>
              </a:rPr>
              <a:t>: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if 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cs typeface="Courier New" panose="02070309020205020404" pitchFamily="49" charset="0"/>
              </a:rPr>
              <a:t> &lt; </a:t>
            </a:r>
            <a:r>
              <a:rPr lang="en-GB" sz="1200" dirty="0">
                <a:solidFill>
                  <a:srgbClr val="6897BB"/>
                </a:solidFill>
                <a:effectLst/>
                <a:cs typeface="Courier New" panose="02070309020205020404" pitchFamily="49" charset="0"/>
              </a:rPr>
              <a:t>0</a:t>
            </a:r>
            <a:r>
              <a:rPr lang="en-GB" sz="1200" dirty="0">
                <a:cs typeface="Courier New" panose="02070309020205020404" pitchFamily="49" charset="0"/>
              </a:rPr>
              <a:t>: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8888C6"/>
                </a:solidFill>
                <a:effectLst/>
                <a:cs typeface="Courier New" panose="02070309020205020404" pitchFamily="49" charset="0"/>
              </a:rPr>
              <a:t>print</a:t>
            </a:r>
            <a:r>
              <a:rPr lang="en-GB" sz="1200" dirty="0">
                <a:cs typeface="Courier New" panose="02070309020205020404" pitchFamily="49" charset="0"/>
              </a:rPr>
              <a:t>(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f"Eerste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negatieve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gevonden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: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{</a:t>
            </a:r>
            <a:r>
              <a:rPr lang="en-GB" sz="1200" dirty="0" err="1"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}</a:t>
            </a:r>
            <a:r>
              <a:rPr lang="en-GB" sz="1200" dirty="0">
                <a:solidFill>
                  <a:srgbClr val="6A8759"/>
                </a:solidFill>
                <a:effectLst/>
                <a:cs typeface="Courier New" panose="02070309020205020404" pitchFamily="49" charset="0"/>
              </a:rPr>
              <a:t>"</a:t>
            </a:r>
            <a:r>
              <a:rPr lang="en-GB" sz="1200" dirty="0">
                <a:cs typeface="Courier New" panose="02070309020205020404" pitchFamily="49" charset="0"/>
              </a:rPr>
              <a:t>)</a:t>
            </a:r>
            <a:br>
              <a:rPr lang="en-GB" sz="1200" dirty="0">
                <a:cs typeface="Courier New" panose="02070309020205020404" pitchFamily="49" charset="0"/>
              </a:rPr>
            </a:br>
            <a:r>
              <a:rPr lang="en-GB" sz="1200" dirty="0">
                <a:cs typeface="Courier New" panose="02070309020205020404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cs typeface="Courier New" panose="02070309020205020404" pitchFamily="49" charset="0"/>
              </a:rPr>
              <a:t>break  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#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Verlaat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de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lus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zodra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een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negatief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getal</a:t>
            </a:r>
            <a:r>
              <a:rPr lang="en-GB" sz="1200" dirty="0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 is </a:t>
            </a:r>
            <a:r>
              <a:rPr lang="en-GB" sz="1200" dirty="0" err="1">
                <a:solidFill>
                  <a:srgbClr val="808080"/>
                </a:solidFill>
                <a:effectLst/>
                <a:cs typeface="Courier New" panose="02070309020205020404" pitchFamily="49" charset="0"/>
              </a:rPr>
              <a:t>gevonden</a:t>
            </a:r>
            <a:endParaRPr lang="nl-NL" sz="1200" dirty="0"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29350E-0872-43E8-D821-C02614C6CE6C}"/>
              </a:ext>
            </a:extLst>
          </p:cNvPr>
          <p:cNvSpPr txBox="1"/>
          <p:nvPr/>
        </p:nvSpPr>
        <p:spPr>
          <a:xfrm>
            <a:off x="9328485" y="2819477"/>
            <a:ext cx="47324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2FACC7-C552-B236-0C93-E1163CB0F347}"/>
              </a:ext>
            </a:extLst>
          </p:cNvPr>
          <p:cNvSpPr txBox="1"/>
          <p:nvPr/>
        </p:nvSpPr>
        <p:spPr>
          <a:xfrm>
            <a:off x="7820524" y="5272297"/>
            <a:ext cx="360947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Eerste negatieve getal gevonden: -3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18209C-651F-7316-CE61-94DD0E131D68}"/>
              </a:ext>
            </a:extLst>
          </p:cNvPr>
          <p:cNvSpPr txBox="1"/>
          <p:nvPr/>
        </p:nvSpPr>
        <p:spPr>
          <a:xfrm>
            <a:off x="762000" y="139926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E83993-923A-515A-AC6E-7A54A1BAC4DD}"/>
              </a:ext>
            </a:extLst>
          </p:cNvPr>
          <p:cNvSpPr txBox="1"/>
          <p:nvPr/>
        </p:nvSpPr>
        <p:spPr>
          <a:xfrm>
            <a:off x="9220198" y="130870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D9E0E3-673B-0D44-1F96-6DC0CA8D03C5}"/>
              </a:ext>
            </a:extLst>
          </p:cNvPr>
          <p:cNvSpPr txBox="1"/>
          <p:nvPr/>
        </p:nvSpPr>
        <p:spPr>
          <a:xfrm>
            <a:off x="9797013" y="1937484"/>
            <a:ext cx="2158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>
                <a:solidFill>
                  <a:srgbClr val="00B050"/>
                </a:solidFill>
              </a:rPr>
              <a:t>Speel zelf eens met de beginwaarde van </a:t>
            </a:r>
            <a:r>
              <a:rPr lang="en-BE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getal</a:t>
            </a:r>
            <a:r>
              <a:rPr lang="en-BE" sz="14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93157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56F1E1-BEAC-ED54-DBB8-7E433709B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score = 85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if score &gt;= 60: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    print('geslaagd')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elif score &gt;= 85: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    print('onderscheiding')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for i in range(1, 4):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    print(i)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2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27ED0-EA0B-148E-6A56-8D59943D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FBB311-B480-B00E-1120-EA74BC14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1.5: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27395265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D91E-B8E6-9F3A-2B95-4D7E2DD5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4993D7-CC6A-5884-6999-90636243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6. </a:t>
            </a:r>
            <a:r>
              <a:rPr lang="en-US" dirty="0"/>
              <a:t>Comprehensions</a:t>
            </a:r>
            <a:endParaRPr lang="en-BE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F0010E-B2C3-BEE1-C539-E146F18AB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.9-comprehensions.ipynb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04CF-5305-A034-A800-432A40450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79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72335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4F50-C17F-CF41-8923-D497835B3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Samentrekkingen (eigen vertaling van </a:t>
            </a:r>
            <a:r>
              <a:rPr lang="nl-NL" dirty="0" err="1"/>
              <a:t>comprehension</a:t>
            </a:r>
            <a:r>
              <a:rPr lang="nl-NL" dirty="0"/>
              <a:t>) laten toe lijsten, sets en </a:t>
            </a:r>
            <a:r>
              <a:rPr lang="nl-NL" dirty="0" err="1"/>
              <a:t>dictionaries</a:t>
            </a:r>
            <a:r>
              <a:rPr lang="nl-NL" dirty="0"/>
              <a:t> aan te maken met 1 lijn code</a:t>
            </a:r>
          </a:p>
          <a:p>
            <a:r>
              <a:rPr lang="nl-NL" dirty="0"/>
              <a:t>Kunnen zo alles wat een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nl-NL" dirty="0"/>
              <a:t> en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nl-NL" dirty="0"/>
              <a:t> functie kunnen en meer (zie 1.9)</a:t>
            </a:r>
          </a:p>
          <a:p>
            <a:r>
              <a:rPr lang="nl-NL" dirty="0"/>
              <a:t>Handig om bv. lijsten aan te passen, </a:t>
            </a:r>
            <a:r>
              <a:rPr lang="nl-NL" dirty="0" err="1"/>
              <a:t>dictionaries</a:t>
            </a:r>
            <a:r>
              <a:rPr lang="nl-NL" dirty="0"/>
              <a:t> te vullen met standaardwaarden voor de sleutels, etc.</a:t>
            </a:r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DE44A-C33E-974A-A065-D40CE52C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80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8A61F-2911-034D-8A0D-D4036A5B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</p:txBody>
      </p:sp>
    </p:spTree>
    <p:extLst>
      <p:ext uri="{BB962C8B-B14F-4D97-AF65-F5344CB8AC3E}">
        <p14:creationId xmlns:p14="http://schemas.microsoft.com/office/powerpoint/2010/main" val="32869884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88AB1-253D-FB41-ACF3-D180E208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 gekende vierkante haken worden opgevuld met elementen van een </a:t>
            </a:r>
            <a:r>
              <a:rPr lang="nl-NL" dirty="0" err="1"/>
              <a:t>for</a:t>
            </a:r>
            <a:r>
              <a:rPr lang="nl-NL" dirty="0"/>
              <a:t>-loop met eventuele condities (zodat we filteren)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8A866-A6B0-9D4F-9096-D13FF665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81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E4CB5-6FCB-F84B-BC9C-6960DE2E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Lijstsamentrekkingen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2BC607-43C8-B14D-B6F3-BBC876994996}"/>
              </a:ext>
            </a:extLst>
          </p:cNvPr>
          <p:cNvSpPr/>
          <p:nvPr/>
        </p:nvSpPr>
        <p:spPr>
          <a:xfrm>
            <a:off x="949234" y="2999482"/>
            <a:ext cx="5556069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400" dirty="0" err="1"/>
              <a:t>eerste_lijst</a:t>
            </a:r>
            <a:r>
              <a:rPr lang="nl-NL" sz="1400" dirty="0"/>
              <a:t> = []</a:t>
            </a:r>
            <a:br>
              <a:rPr lang="nl-NL" sz="1400" dirty="0"/>
            </a:br>
            <a:r>
              <a:rPr lang="nl-NL" sz="1400" dirty="0" err="1">
                <a:solidFill>
                  <a:srgbClr val="CC7832"/>
                </a:solidFill>
              </a:rPr>
              <a:t>for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i </a:t>
            </a:r>
            <a:r>
              <a:rPr lang="nl-NL" sz="1400" dirty="0">
                <a:solidFill>
                  <a:srgbClr val="CC7832"/>
                </a:solidFill>
              </a:rPr>
              <a:t>in </a:t>
            </a:r>
            <a:r>
              <a:rPr lang="nl-NL" sz="1400" dirty="0">
                <a:solidFill>
                  <a:srgbClr val="8888C6"/>
                </a:solidFill>
              </a:rPr>
              <a:t>range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897BB"/>
                </a:solidFill>
              </a:rPr>
              <a:t>5</a:t>
            </a:r>
            <a:r>
              <a:rPr lang="nl-NL" sz="1400" dirty="0"/>
              <a:t>):</a:t>
            </a:r>
            <a:br>
              <a:rPr lang="nl-NL" sz="1400" dirty="0"/>
            </a:br>
            <a:r>
              <a:rPr lang="nl-NL" sz="1400" dirty="0"/>
              <a:t>    </a:t>
            </a:r>
            <a:r>
              <a:rPr lang="nl-NL" sz="1400" dirty="0" err="1"/>
              <a:t>eerste_lijst.append</a:t>
            </a:r>
            <a:r>
              <a:rPr lang="nl-NL" sz="1400" dirty="0"/>
              <a:t>(i ** </a:t>
            </a:r>
            <a:r>
              <a:rPr lang="nl-NL" sz="1400" dirty="0">
                <a:solidFill>
                  <a:srgbClr val="6897BB"/>
                </a:solidFill>
              </a:rPr>
              <a:t>2</a:t>
            </a:r>
            <a:r>
              <a:rPr lang="nl-NL" sz="1400" dirty="0"/>
              <a:t>)</a:t>
            </a:r>
            <a:br>
              <a:rPr lang="nl-NL" sz="1400" dirty="0"/>
            </a:br>
            <a:r>
              <a:rPr lang="nl-NL" sz="1400" dirty="0">
                <a:solidFill>
                  <a:srgbClr val="8888C6"/>
                </a:solidFill>
              </a:rPr>
              <a:t>print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A8759"/>
                </a:solidFill>
              </a:rPr>
              <a:t>'Eerste lijst:'</a:t>
            </a:r>
            <a:r>
              <a:rPr lang="nl-NL" sz="1400" dirty="0">
                <a:solidFill>
                  <a:srgbClr val="CC7832"/>
                </a:solidFill>
              </a:rPr>
              <a:t>, </a:t>
            </a:r>
            <a:r>
              <a:rPr lang="nl-NL" sz="1400" dirty="0" err="1"/>
              <a:t>eerste_lijst</a:t>
            </a:r>
            <a:r>
              <a:rPr lang="nl-NL" sz="1400" dirty="0"/>
              <a:t>)</a:t>
            </a:r>
            <a:br>
              <a:rPr lang="nl-NL" sz="1400" dirty="0"/>
            </a:br>
            <a:br>
              <a:rPr lang="nl-NL" sz="1400" dirty="0"/>
            </a:br>
            <a:r>
              <a:rPr lang="nl-NL" sz="1400" dirty="0">
                <a:solidFill>
                  <a:srgbClr val="808080"/>
                </a:solidFill>
              </a:rPr>
              <a:t># korter met </a:t>
            </a:r>
            <a:r>
              <a:rPr lang="nl-NL" sz="1400" dirty="0" err="1">
                <a:solidFill>
                  <a:srgbClr val="808080"/>
                </a:solidFill>
              </a:rPr>
              <a:t>comprehension</a:t>
            </a:r>
            <a:br>
              <a:rPr lang="nl-NL" sz="1400" dirty="0">
                <a:solidFill>
                  <a:srgbClr val="808080"/>
                </a:solidFill>
              </a:rPr>
            </a:br>
            <a:r>
              <a:rPr lang="nl-NL" sz="1400" dirty="0" err="1"/>
              <a:t>een_lijn_lijst</a:t>
            </a:r>
            <a:r>
              <a:rPr lang="nl-NL" sz="1400" dirty="0"/>
              <a:t> = [i ** </a:t>
            </a:r>
            <a:r>
              <a:rPr lang="nl-NL" sz="1400" dirty="0">
                <a:solidFill>
                  <a:srgbClr val="6897BB"/>
                </a:solidFill>
              </a:rPr>
              <a:t>2 </a:t>
            </a:r>
            <a:r>
              <a:rPr lang="nl-NL" sz="1400" dirty="0" err="1">
                <a:solidFill>
                  <a:srgbClr val="CC7832"/>
                </a:solidFill>
              </a:rPr>
              <a:t>for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i </a:t>
            </a:r>
            <a:r>
              <a:rPr lang="nl-NL" sz="1400" dirty="0">
                <a:solidFill>
                  <a:srgbClr val="CC7832"/>
                </a:solidFill>
              </a:rPr>
              <a:t>in </a:t>
            </a:r>
            <a:r>
              <a:rPr lang="nl-NL" sz="1400" dirty="0">
                <a:solidFill>
                  <a:srgbClr val="8888C6"/>
                </a:solidFill>
              </a:rPr>
              <a:t>range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897BB"/>
                </a:solidFill>
              </a:rPr>
              <a:t>5</a:t>
            </a:r>
            <a:r>
              <a:rPr lang="nl-NL" sz="1400" dirty="0"/>
              <a:t>)]</a:t>
            </a:r>
            <a:br>
              <a:rPr lang="nl-NL" sz="1400" dirty="0"/>
            </a:br>
            <a:r>
              <a:rPr lang="nl-NL" sz="1400" dirty="0">
                <a:solidFill>
                  <a:srgbClr val="8888C6"/>
                </a:solidFill>
              </a:rPr>
              <a:t>print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A8759"/>
                </a:solidFill>
              </a:rPr>
              <a:t>'1-lijn lijst:'</a:t>
            </a:r>
            <a:r>
              <a:rPr lang="nl-NL" sz="1400" dirty="0">
                <a:solidFill>
                  <a:srgbClr val="CC7832"/>
                </a:solidFill>
              </a:rPr>
              <a:t>, </a:t>
            </a:r>
            <a:r>
              <a:rPr lang="nl-NL" sz="1400" dirty="0" err="1"/>
              <a:t>een_lijn_lijst</a:t>
            </a:r>
            <a:r>
              <a:rPr lang="nl-NL" sz="1400" dirty="0"/>
              <a:t>)</a:t>
            </a: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r>
              <a:rPr lang="nl-NL" sz="1400" dirty="0">
                <a:solidFill>
                  <a:srgbClr val="808080"/>
                </a:solidFill>
              </a:rPr>
              <a:t># met condities (zoals een filter)</a:t>
            </a:r>
            <a:br>
              <a:rPr lang="nl-NL" sz="1400" dirty="0">
                <a:solidFill>
                  <a:srgbClr val="808080"/>
                </a:solidFill>
              </a:rPr>
            </a:br>
            <a:r>
              <a:rPr lang="nl-NL" sz="1400" dirty="0" err="1"/>
              <a:t>een_andere_lijst</a:t>
            </a:r>
            <a:r>
              <a:rPr lang="nl-NL" sz="1400" dirty="0"/>
              <a:t> = [i ** </a:t>
            </a:r>
            <a:r>
              <a:rPr lang="nl-NL" sz="1400" dirty="0">
                <a:solidFill>
                  <a:srgbClr val="6897BB"/>
                </a:solidFill>
              </a:rPr>
              <a:t>2 </a:t>
            </a:r>
            <a:r>
              <a:rPr lang="nl-NL" sz="1400" dirty="0" err="1">
                <a:solidFill>
                  <a:srgbClr val="CC7832"/>
                </a:solidFill>
              </a:rPr>
              <a:t>for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i </a:t>
            </a:r>
            <a:r>
              <a:rPr lang="nl-NL" sz="1400" dirty="0">
                <a:solidFill>
                  <a:srgbClr val="CC7832"/>
                </a:solidFill>
              </a:rPr>
              <a:t>in </a:t>
            </a:r>
            <a:r>
              <a:rPr lang="nl-NL" sz="1400" dirty="0">
                <a:solidFill>
                  <a:srgbClr val="8888C6"/>
                </a:solidFill>
              </a:rPr>
              <a:t>range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897BB"/>
                </a:solidFill>
              </a:rPr>
              <a:t>10</a:t>
            </a:r>
            <a:r>
              <a:rPr lang="nl-NL" sz="1400" dirty="0"/>
              <a:t>) </a:t>
            </a:r>
            <a:r>
              <a:rPr lang="nl-NL" sz="1400" dirty="0" err="1">
                <a:solidFill>
                  <a:srgbClr val="CC7832"/>
                </a:solidFill>
              </a:rPr>
              <a:t>if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i % </a:t>
            </a:r>
            <a:r>
              <a:rPr lang="nl-NL" sz="1400" dirty="0">
                <a:solidFill>
                  <a:srgbClr val="6897BB"/>
                </a:solidFill>
              </a:rPr>
              <a:t>2 </a:t>
            </a:r>
            <a:r>
              <a:rPr lang="nl-NL" sz="1400" dirty="0"/>
              <a:t>== </a:t>
            </a:r>
            <a:r>
              <a:rPr lang="nl-NL" sz="1400" dirty="0">
                <a:solidFill>
                  <a:srgbClr val="6897BB"/>
                </a:solidFill>
              </a:rPr>
              <a:t>0</a:t>
            </a:r>
            <a:r>
              <a:rPr lang="nl-NL" sz="1400" dirty="0"/>
              <a:t>]</a:t>
            </a:r>
            <a:br>
              <a:rPr lang="nl-NL" sz="1400" dirty="0"/>
            </a:br>
            <a:r>
              <a:rPr lang="nl-NL" sz="1400" dirty="0">
                <a:solidFill>
                  <a:srgbClr val="8888C6"/>
                </a:solidFill>
              </a:rPr>
              <a:t>print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A8759"/>
                </a:solidFill>
              </a:rPr>
              <a:t>'Kwadraten van even getallen onder tien:'</a:t>
            </a:r>
            <a:r>
              <a:rPr lang="nl-NL" sz="1400" dirty="0">
                <a:solidFill>
                  <a:srgbClr val="CC7832"/>
                </a:solidFill>
              </a:rPr>
              <a:t>, </a:t>
            </a:r>
            <a:r>
              <a:rPr lang="nl-NL" sz="1400" dirty="0" err="1"/>
              <a:t>een_andere_lijst</a:t>
            </a:r>
            <a:r>
              <a:rPr lang="nl-NL" sz="14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530967-0006-0145-A1BF-29201D5D3592}"/>
              </a:ext>
            </a:extLst>
          </p:cNvPr>
          <p:cNvSpPr/>
          <p:nvPr/>
        </p:nvSpPr>
        <p:spPr>
          <a:xfrm>
            <a:off x="6616337" y="2998113"/>
            <a:ext cx="5103223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Eerste lijst: [0, 1, 4, 9, 16]</a:t>
            </a:r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1-lijn lijst: [0, 1, 4, 9, 16]</a:t>
            </a:r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Kwadraten van even getallen onder tien: [0, 4, 16, 36, 64]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AB69E-01C0-5343-8126-6CD85CEF73A5}"/>
              </a:ext>
            </a:extLst>
          </p:cNvPr>
          <p:cNvSpPr txBox="1"/>
          <p:nvPr/>
        </p:nvSpPr>
        <p:spPr>
          <a:xfrm>
            <a:off x="949234" y="267851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8E8EF-C1F2-7A48-9F87-E320B490CFD3}"/>
              </a:ext>
            </a:extLst>
          </p:cNvPr>
          <p:cNvSpPr txBox="1"/>
          <p:nvPr/>
        </p:nvSpPr>
        <p:spPr>
          <a:xfrm>
            <a:off x="6639110" y="267851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F6A36B-F065-8D49-89C8-DFC4AE7C1696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508365" y="4422141"/>
            <a:ext cx="295319" cy="924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7E314D-DD0C-0643-94E5-5FD4FF943645}"/>
              </a:ext>
            </a:extLst>
          </p:cNvPr>
          <p:cNvSpPr txBox="1"/>
          <p:nvPr/>
        </p:nvSpPr>
        <p:spPr>
          <a:xfrm>
            <a:off x="4803684" y="4206697"/>
            <a:ext cx="16490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sz="1100" dirty="0"/>
              <a:t> staat hier achteraan en werkt als filter</a:t>
            </a:r>
          </a:p>
        </p:txBody>
      </p:sp>
    </p:spTree>
    <p:extLst>
      <p:ext uri="{BB962C8B-B14F-4D97-AF65-F5344CB8AC3E}">
        <p14:creationId xmlns:p14="http://schemas.microsoft.com/office/powerpoint/2010/main" val="9041418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1FEB-CF34-C946-B177-53CEDF708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Werkt ook met functies zodat we kunnen mappen en condities vooraan zodat we alternatieve uitkomsten krijgen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9F4BB-4083-0C47-AF46-B4C4135E2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82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C5FA0-7CA9-3C4C-887F-2FD623919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Lijstsamentrekkingen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DF0B6F-DB8B-2F48-AC41-72037CAE44B5}"/>
              </a:ext>
            </a:extLst>
          </p:cNvPr>
          <p:cNvSpPr/>
          <p:nvPr/>
        </p:nvSpPr>
        <p:spPr>
          <a:xfrm>
            <a:off x="838200" y="3062990"/>
            <a:ext cx="6096000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nl-NL" sz="1400" dirty="0">
                <a:solidFill>
                  <a:srgbClr val="808080"/>
                </a:solidFill>
              </a:rPr>
              <a:t># met alternatieve waarde</a:t>
            </a:r>
            <a:br>
              <a:rPr lang="nl-NL" sz="1400" dirty="0">
                <a:solidFill>
                  <a:srgbClr val="808080"/>
                </a:solidFill>
              </a:rPr>
            </a:br>
            <a:r>
              <a:rPr lang="nl-NL" sz="1400" dirty="0" err="1"/>
              <a:t>een_laatste_lijst</a:t>
            </a:r>
            <a:r>
              <a:rPr lang="nl-NL" sz="1400" dirty="0"/>
              <a:t> = [i ** </a:t>
            </a:r>
            <a:r>
              <a:rPr lang="nl-NL" sz="1400" dirty="0">
                <a:solidFill>
                  <a:srgbClr val="6897BB"/>
                </a:solidFill>
              </a:rPr>
              <a:t>2 </a:t>
            </a:r>
            <a:r>
              <a:rPr lang="nl-NL" sz="1400" dirty="0" err="1">
                <a:solidFill>
                  <a:srgbClr val="CC7832"/>
                </a:solidFill>
              </a:rPr>
              <a:t>if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(i % </a:t>
            </a:r>
            <a:r>
              <a:rPr lang="nl-NL" sz="1400" dirty="0">
                <a:solidFill>
                  <a:srgbClr val="6897BB"/>
                </a:solidFill>
              </a:rPr>
              <a:t>2 </a:t>
            </a:r>
            <a:r>
              <a:rPr lang="nl-NL" sz="1400" dirty="0"/>
              <a:t>== </a:t>
            </a:r>
            <a:r>
              <a:rPr lang="nl-NL" sz="1400" dirty="0">
                <a:solidFill>
                  <a:srgbClr val="6897BB"/>
                </a:solidFill>
              </a:rPr>
              <a:t>0</a:t>
            </a:r>
            <a:r>
              <a:rPr lang="nl-NL" sz="1400" dirty="0"/>
              <a:t>) </a:t>
            </a:r>
            <a:r>
              <a:rPr lang="nl-NL" sz="1400" dirty="0" err="1">
                <a:solidFill>
                  <a:srgbClr val="CC7832"/>
                </a:solidFill>
              </a:rPr>
              <a:t>else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>
                <a:solidFill>
                  <a:srgbClr val="6897BB"/>
                </a:solidFill>
              </a:rPr>
              <a:t>0 </a:t>
            </a:r>
            <a:r>
              <a:rPr lang="nl-NL" sz="1400" dirty="0" err="1">
                <a:solidFill>
                  <a:srgbClr val="CC7832"/>
                </a:solidFill>
              </a:rPr>
              <a:t>for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i </a:t>
            </a:r>
            <a:r>
              <a:rPr lang="nl-NL" sz="1400" dirty="0">
                <a:solidFill>
                  <a:srgbClr val="CC7832"/>
                </a:solidFill>
              </a:rPr>
              <a:t>in </a:t>
            </a:r>
            <a:r>
              <a:rPr lang="nl-NL" sz="1400" dirty="0">
                <a:solidFill>
                  <a:srgbClr val="8888C6"/>
                </a:solidFill>
              </a:rPr>
              <a:t>range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897BB"/>
                </a:solidFill>
              </a:rPr>
              <a:t>10</a:t>
            </a:r>
            <a:r>
              <a:rPr lang="nl-NL" sz="1400" dirty="0"/>
              <a:t>)]</a:t>
            </a:r>
            <a:br>
              <a:rPr lang="nl-NL" sz="1400" dirty="0"/>
            </a:br>
            <a:r>
              <a:rPr lang="nl-NL" sz="1400" dirty="0">
                <a:solidFill>
                  <a:srgbClr val="8888C6"/>
                </a:solidFill>
              </a:rPr>
              <a:t>print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A8759"/>
                </a:solidFill>
              </a:rPr>
              <a:t>'Een laatste lijst:'</a:t>
            </a:r>
            <a:r>
              <a:rPr lang="nl-NL" sz="1400" dirty="0">
                <a:solidFill>
                  <a:srgbClr val="CC7832"/>
                </a:solidFill>
              </a:rPr>
              <a:t>, </a:t>
            </a:r>
            <a:r>
              <a:rPr lang="nl-NL" sz="1400" dirty="0" err="1"/>
              <a:t>een_laatste_lijst</a:t>
            </a:r>
            <a:r>
              <a:rPr lang="nl-NL" sz="1400" dirty="0"/>
              <a:t>)</a:t>
            </a: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r>
              <a:rPr lang="nl-NL" sz="1400" dirty="0">
                <a:solidFill>
                  <a:srgbClr val="808080"/>
                </a:solidFill>
              </a:rPr>
              <a:t># werkt met functies en strings</a:t>
            </a:r>
            <a:br>
              <a:rPr lang="nl-NL" sz="1400" dirty="0">
                <a:solidFill>
                  <a:srgbClr val="808080"/>
                </a:solidFill>
              </a:rPr>
            </a:br>
            <a:r>
              <a:rPr lang="nl-NL" sz="1400" dirty="0" err="1">
                <a:solidFill>
                  <a:srgbClr val="CC7832"/>
                </a:solidFill>
              </a:rPr>
              <a:t>def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 err="1">
                <a:solidFill>
                  <a:srgbClr val="FFC66D"/>
                </a:solidFill>
              </a:rPr>
              <a:t>doe_iets_met_een_element</a:t>
            </a:r>
            <a:r>
              <a:rPr lang="nl-NL" sz="1400" dirty="0"/>
              <a:t>(element):</a:t>
            </a:r>
            <a:br>
              <a:rPr lang="nl-NL" sz="1400" dirty="0"/>
            </a:br>
            <a:r>
              <a:rPr lang="nl-NL" sz="1400" dirty="0"/>
              <a:t>    </a:t>
            </a:r>
            <a:r>
              <a:rPr lang="nl-NL" sz="1400" dirty="0">
                <a:solidFill>
                  <a:srgbClr val="CC7832"/>
                </a:solidFill>
              </a:rPr>
              <a:t>return </a:t>
            </a:r>
            <a:r>
              <a:rPr lang="nl-NL" sz="1400" dirty="0">
                <a:solidFill>
                  <a:srgbClr val="6A8759"/>
                </a:solidFill>
              </a:rPr>
              <a:t>'__' </a:t>
            </a:r>
            <a:r>
              <a:rPr lang="nl-NL" sz="1400" dirty="0"/>
              <a:t>+ </a:t>
            </a:r>
            <a:r>
              <a:rPr lang="nl-NL" sz="1400" dirty="0" err="1"/>
              <a:t>element.lower</a:t>
            </a:r>
            <a:r>
              <a:rPr lang="nl-NL" sz="1400" dirty="0"/>
              <a:t>() + </a:t>
            </a:r>
            <a:r>
              <a:rPr lang="nl-NL" sz="1400" dirty="0">
                <a:solidFill>
                  <a:srgbClr val="6A8759"/>
                </a:solidFill>
              </a:rPr>
              <a:t>'__'</a:t>
            </a:r>
            <a:br>
              <a:rPr lang="nl-NL" sz="1400" dirty="0">
                <a:solidFill>
                  <a:srgbClr val="6A8759"/>
                </a:solidFill>
              </a:rPr>
            </a:br>
            <a:br>
              <a:rPr lang="nl-NL" sz="1400" dirty="0">
                <a:solidFill>
                  <a:srgbClr val="6A8759"/>
                </a:solidFill>
              </a:rPr>
            </a:br>
            <a:r>
              <a:rPr lang="nl-NL" sz="1400" dirty="0"/>
              <a:t>string = </a:t>
            </a:r>
            <a:r>
              <a:rPr lang="nl-NL" sz="1400" dirty="0">
                <a:solidFill>
                  <a:srgbClr val="6A8759"/>
                </a:solidFill>
              </a:rPr>
              <a:t>'</a:t>
            </a:r>
            <a:r>
              <a:rPr lang="nl-NL" sz="1400" dirty="0" err="1">
                <a:solidFill>
                  <a:srgbClr val="6A8759"/>
                </a:solidFill>
              </a:rPr>
              <a:t>legendary</a:t>
            </a:r>
            <a:r>
              <a:rPr lang="nl-NL" sz="1400" dirty="0">
                <a:solidFill>
                  <a:srgbClr val="6A8759"/>
                </a:solidFill>
              </a:rPr>
              <a:t>'</a:t>
            </a:r>
            <a:br>
              <a:rPr lang="nl-NL" sz="1400" dirty="0">
                <a:solidFill>
                  <a:srgbClr val="6A8759"/>
                </a:solidFill>
              </a:rPr>
            </a:br>
            <a:r>
              <a:rPr lang="nl-NL" sz="1400" dirty="0" err="1"/>
              <a:t>een_nieuwe_string</a:t>
            </a:r>
            <a:r>
              <a:rPr lang="nl-NL" sz="1400" dirty="0"/>
              <a:t> = [</a:t>
            </a:r>
            <a:r>
              <a:rPr lang="nl-NL" sz="1400" dirty="0" err="1"/>
              <a:t>doe_iets_met_een_element</a:t>
            </a:r>
            <a:r>
              <a:rPr lang="nl-NL" sz="1400" dirty="0"/>
              <a:t>(i) </a:t>
            </a:r>
            <a:r>
              <a:rPr lang="nl-NL" sz="1400" dirty="0" err="1">
                <a:solidFill>
                  <a:srgbClr val="CC7832"/>
                </a:solidFill>
              </a:rPr>
              <a:t>for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i </a:t>
            </a:r>
            <a:r>
              <a:rPr lang="nl-NL" sz="1400" dirty="0">
                <a:solidFill>
                  <a:srgbClr val="CC7832"/>
                </a:solidFill>
              </a:rPr>
              <a:t>in </a:t>
            </a:r>
            <a:r>
              <a:rPr lang="nl-NL" sz="1400" dirty="0"/>
              <a:t>string]</a:t>
            </a:r>
            <a:br>
              <a:rPr lang="nl-NL" sz="1400" dirty="0"/>
            </a:br>
            <a:r>
              <a:rPr lang="nl-NL" sz="1400" dirty="0">
                <a:solidFill>
                  <a:srgbClr val="8888C6"/>
                </a:solidFill>
              </a:rPr>
              <a:t>print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A8759"/>
                </a:solidFill>
              </a:rPr>
              <a:t>'Een nieuwe string:'</a:t>
            </a:r>
            <a:r>
              <a:rPr lang="nl-NL" sz="1400" dirty="0">
                <a:solidFill>
                  <a:srgbClr val="CC7832"/>
                </a:solidFill>
              </a:rPr>
              <a:t>, </a:t>
            </a:r>
            <a:r>
              <a:rPr lang="nl-NL" sz="1400" dirty="0" err="1"/>
              <a:t>een_nieuwe_string</a:t>
            </a:r>
            <a:r>
              <a:rPr lang="nl-NL" sz="14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2041C-F42B-9543-8AEA-E86B463B242F}"/>
              </a:ext>
            </a:extLst>
          </p:cNvPr>
          <p:cNvSpPr/>
          <p:nvPr/>
        </p:nvSpPr>
        <p:spPr>
          <a:xfrm>
            <a:off x="7149737" y="3062990"/>
            <a:ext cx="4605488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Een laatste lijst: [0, 0, 4, 0, 16, 0, 36, 0, 64, 0]</a:t>
            </a:r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Een nieuwe string: ['__l__', '__e__', '__g__', '__e__', '__n__', '__d__', '__a__', '__r__', '__y__']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1D1AC-94D2-CA45-9A10-E64F0FB5025F}"/>
              </a:ext>
            </a:extLst>
          </p:cNvPr>
          <p:cNvSpPr txBox="1"/>
          <p:nvPr/>
        </p:nvSpPr>
        <p:spPr>
          <a:xfrm>
            <a:off x="838200" y="2743387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8A0DF-4D58-E14C-BD30-6C6CCD88305A}"/>
              </a:ext>
            </a:extLst>
          </p:cNvPr>
          <p:cNvSpPr txBox="1"/>
          <p:nvPr/>
        </p:nvSpPr>
        <p:spPr>
          <a:xfrm>
            <a:off x="7149737" y="271252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71FF26-E086-AACC-07EC-5D3825573C9E}"/>
              </a:ext>
            </a:extLst>
          </p:cNvPr>
          <p:cNvCxnSpPr>
            <a:cxnSpLocks/>
          </p:cNvCxnSpPr>
          <p:nvPr/>
        </p:nvCxnSpPr>
        <p:spPr>
          <a:xfrm flipV="1">
            <a:off x="3355942" y="2850664"/>
            <a:ext cx="795675" cy="4816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E278D5-1BAB-A762-9756-66DA9E589E43}"/>
              </a:ext>
            </a:extLst>
          </p:cNvPr>
          <p:cNvSpPr txBox="1"/>
          <p:nvPr/>
        </p:nvSpPr>
        <p:spPr>
          <a:xfrm>
            <a:off x="4151617" y="2604443"/>
            <a:ext cx="2749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sz="1100" dirty="0"/>
              <a:t> staat hier </a:t>
            </a:r>
            <a:r>
              <a:rPr lang="nl-NL" sz="1100" dirty="0" err="1"/>
              <a:t>vanvoor</a:t>
            </a:r>
            <a:r>
              <a:rPr lang="nl-NL" sz="1100" dirty="0"/>
              <a:t> om verschillende uitkomst weg te schrijven</a:t>
            </a:r>
          </a:p>
        </p:txBody>
      </p:sp>
    </p:spTree>
    <p:extLst>
      <p:ext uri="{BB962C8B-B14F-4D97-AF65-F5344CB8AC3E}">
        <p14:creationId xmlns:p14="http://schemas.microsoft.com/office/powerpoint/2010/main" val="15533518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4F5F8-88E6-0545-8EFC-CBA34D3D1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Werkt even zeer bij sets en </a:t>
            </a:r>
            <a:r>
              <a:rPr lang="nl-NL" dirty="0" err="1"/>
              <a:t>dictionaries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17BDE-B426-D04C-96F3-E2E5DC42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83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3D900-C798-224D-B3CB-DEAD0D8B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Sets en </a:t>
            </a:r>
            <a:r>
              <a:rPr lang="nl-NL" dirty="0" err="1"/>
              <a:t>dictionaries</a:t>
            </a:r>
            <a:endParaRPr lang="nl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D132AA-55DD-2A46-82A0-1979369CE937}"/>
              </a:ext>
            </a:extLst>
          </p:cNvPr>
          <p:cNvSpPr/>
          <p:nvPr/>
        </p:nvSpPr>
        <p:spPr>
          <a:xfrm>
            <a:off x="838200" y="2953445"/>
            <a:ext cx="6096000" cy="24622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nl-NL" sz="1400" dirty="0">
                <a:solidFill>
                  <a:srgbClr val="808080"/>
                </a:solidFill>
              </a:rPr>
              <a:t># duplicaten vallen meteen weg in sets</a:t>
            </a:r>
            <a:br>
              <a:rPr lang="nl-NL" sz="1400" dirty="0">
                <a:solidFill>
                  <a:srgbClr val="808080"/>
                </a:solidFill>
              </a:rPr>
            </a:br>
            <a:r>
              <a:rPr lang="nl-NL" sz="1400" dirty="0" err="1"/>
              <a:t>woord_met_rare_tekens</a:t>
            </a:r>
            <a:r>
              <a:rPr lang="nl-NL" sz="1400" dirty="0"/>
              <a:t> = </a:t>
            </a:r>
            <a:r>
              <a:rPr lang="nl-NL" sz="1400" dirty="0">
                <a:solidFill>
                  <a:srgbClr val="6A8759"/>
                </a:solidFill>
              </a:rPr>
              <a:t>'joh@ann3s'</a:t>
            </a:r>
            <a:br>
              <a:rPr lang="nl-NL" sz="1400" dirty="0">
                <a:solidFill>
                  <a:srgbClr val="6A8759"/>
                </a:solidFill>
              </a:rPr>
            </a:br>
            <a:r>
              <a:rPr lang="nl-NL" sz="1400" dirty="0" err="1"/>
              <a:t>letters_uit_alfabet</a:t>
            </a:r>
            <a:r>
              <a:rPr lang="nl-NL" sz="1400" dirty="0"/>
              <a:t> = {i </a:t>
            </a:r>
            <a:r>
              <a:rPr lang="nl-NL" sz="1400" dirty="0" err="1">
                <a:solidFill>
                  <a:srgbClr val="CC7832"/>
                </a:solidFill>
              </a:rPr>
              <a:t>for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i </a:t>
            </a:r>
            <a:r>
              <a:rPr lang="nl-NL" sz="1400" dirty="0">
                <a:solidFill>
                  <a:srgbClr val="CC7832"/>
                </a:solidFill>
              </a:rPr>
              <a:t>in </a:t>
            </a:r>
            <a:r>
              <a:rPr lang="nl-NL" sz="1400" dirty="0" err="1"/>
              <a:t>woord_met_rare_tekens</a:t>
            </a:r>
            <a:r>
              <a:rPr lang="nl-NL" sz="1400" dirty="0"/>
              <a:t> </a:t>
            </a:r>
            <a:r>
              <a:rPr lang="nl-NL" sz="1400" dirty="0" err="1">
                <a:solidFill>
                  <a:srgbClr val="CC7832"/>
                </a:solidFill>
              </a:rPr>
              <a:t>if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 err="1"/>
              <a:t>i.isalpha</a:t>
            </a:r>
            <a:r>
              <a:rPr lang="nl-NL" sz="1400" dirty="0"/>
              <a:t>()}</a:t>
            </a:r>
            <a:br>
              <a:rPr lang="nl-NL" sz="1400" dirty="0"/>
            </a:br>
            <a:r>
              <a:rPr lang="nl-NL" sz="1400" dirty="0">
                <a:solidFill>
                  <a:srgbClr val="8888C6"/>
                </a:solidFill>
              </a:rPr>
              <a:t>print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A8759"/>
                </a:solidFill>
              </a:rPr>
              <a:t>'Letters van het woord:'</a:t>
            </a:r>
            <a:r>
              <a:rPr lang="nl-NL" sz="1400" dirty="0">
                <a:solidFill>
                  <a:srgbClr val="CC7832"/>
                </a:solidFill>
              </a:rPr>
              <a:t>, </a:t>
            </a:r>
            <a:r>
              <a:rPr lang="nl-NL" sz="1400" dirty="0" err="1"/>
              <a:t>letters_uit_alfabet</a:t>
            </a:r>
            <a:r>
              <a:rPr lang="nl-NL" sz="1400" dirty="0"/>
              <a:t>)</a:t>
            </a: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r>
              <a:rPr lang="nl-NL" sz="1400" dirty="0">
                <a:solidFill>
                  <a:srgbClr val="808080"/>
                </a:solidFill>
              </a:rPr>
              <a:t># net hetzelfde voor </a:t>
            </a:r>
            <a:r>
              <a:rPr lang="nl-NL" sz="1400" dirty="0" err="1">
                <a:solidFill>
                  <a:srgbClr val="808080"/>
                </a:solidFill>
              </a:rPr>
              <a:t>dictionaries</a:t>
            </a:r>
            <a:r>
              <a:rPr lang="nl-NL" sz="1400" dirty="0">
                <a:solidFill>
                  <a:srgbClr val="808080"/>
                </a:solidFill>
              </a:rPr>
              <a:t> maar met een dubbelpunt ertussen</a:t>
            </a:r>
            <a:br>
              <a:rPr lang="nl-NL" sz="1400" dirty="0">
                <a:solidFill>
                  <a:srgbClr val="808080"/>
                </a:solidFill>
              </a:rPr>
            </a:br>
            <a:r>
              <a:rPr lang="nl-NL" sz="1400" dirty="0" err="1"/>
              <a:t>woord_met_rare_tekens</a:t>
            </a:r>
            <a:r>
              <a:rPr lang="nl-NL" sz="1400" dirty="0"/>
              <a:t> = </a:t>
            </a:r>
            <a:r>
              <a:rPr lang="nl-NL" sz="1400" dirty="0">
                <a:solidFill>
                  <a:srgbClr val="6A8759"/>
                </a:solidFill>
              </a:rPr>
              <a:t>'joh@ann3s'</a:t>
            </a:r>
            <a:br>
              <a:rPr lang="nl-NL" sz="1400" dirty="0">
                <a:solidFill>
                  <a:srgbClr val="6A8759"/>
                </a:solidFill>
              </a:rPr>
            </a:br>
            <a:r>
              <a:rPr lang="nl-NL" sz="1400" dirty="0" err="1"/>
              <a:t>letter_count</a:t>
            </a:r>
            <a:r>
              <a:rPr lang="nl-NL" sz="1400" dirty="0"/>
              <a:t> = {letter: </a:t>
            </a:r>
            <a:r>
              <a:rPr lang="nl-NL" sz="1400" dirty="0" err="1"/>
              <a:t>woord_met_rare_tekens.count</a:t>
            </a:r>
            <a:r>
              <a:rPr lang="nl-NL" sz="1400" dirty="0"/>
              <a:t>(letter) </a:t>
            </a:r>
            <a:r>
              <a:rPr lang="nl-NL" sz="1400" dirty="0" err="1">
                <a:solidFill>
                  <a:srgbClr val="CC7832"/>
                </a:solidFill>
              </a:rPr>
              <a:t>for</a:t>
            </a:r>
            <a:r>
              <a:rPr lang="nl-NL" sz="1400" dirty="0">
                <a:solidFill>
                  <a:srgbClr val="CC7832"/>
                </a:solidFill>
              </a:rPr>
              <a:t> </a:t>
            </a:r>
            <a:r>
              <a:rPr lang="nl-NL" sz="1400" dirty="0"/>
              <a:t>letter </a:t>
            </a:r>
            <a:r>
              <a:rPr lang="nl-NL" sz="1400" dirty="0">
                <a:solidFill>
                  <a:srgbClr val="CC7832"/>
                </a:solidFill>
              </a:rPr>
              <a:t>in </a:t>
            </a:r>
            <a:r>
              <a:rPr lang="nl-NL" sz="1400" dirty="0" err="1"/>
              <a:t>woord_met_rare_tekens</a:t>
            </a:r>
            <a:r>
              <a:rPr lang="nl-NL" sz="1400" dirty="0"/>
              <a:t>}</a:t>
            </a:r>
            <a:br>
              <a:rPr lang="nl-NL" sz="1400" dirty="0"/>
            </a:br>
            <a:r>
              <a:rPr lang="nl-NL" sz="1400" dirty="0">
                <a:solidFill>
                  <a:srgbClr val="8888C6"/>
                </a:solidFill>
              </a:rPr>
              <a:t>print</a:t>
            </a:r>
            <a:r>
              <a:rPr lang="nl-NL" sz="1400" dirty="0"/>
              <a:t>(</a:t>
            </a:r>
            <a:r>
              <a:rPr lang="nl-NL" sz="1400" dirty="0">
                <a:solidFill>
                  <a:srgbClr val="6A8759"/>
                </a:solidFill>
              </a:rPr>
              <a:t>'Aantal voorkomens van de letters:'</a:t>
            </a:r>
            <a:r>
              <a:rPr lang="nl-NL" sz="1400" dirty="0">
                <a:solidFill>
                  <a:srgbClr val="CC7832"/>
                </a:solidFill>
              </a:rPr>
              <a:t>, </a:t>
            </a:r>
            <a:r>
              <a:rPr lang="nl-NL" sz="1400" dirty="0" err="1"/>
              <a:t>letter_count</a:t>
            </a:r>
            <a:r>
              <a:rPr lang="nl-NL" sz="14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0BA4A-3DFC-9B42-A88C-83F4C85B4A43}"/>
              </a:ext>
            </a:extLst>
          </p:cNvPr>
          <p:cNvSpPr/>
          <p:nvPr/>
        </p:nvSpPr>
        <p:spPr>
          <a:xfrm>
            <a:off x="7225936" y="2953444"/>
            <a:ext cx="4591595" cy="24622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Letters van het woord: {'j', 'o', 'h', 'a', 'n', 's’}</a:t>
            </a:r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endParaRPr lang="nl-NL" sz="1400" dirty="0"/>
          </a:p>
          <a:p>
            <a:r>
              <a:rPr lang="nl-NL" sz="1400" dirty="0"/>
              <a:t>Letter: {'j': 1, 'o': 1, 'h': 1, '@': 1, 'a': 1, 'n': 2, '3': 1, 's': 1}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76619-3650-4048-A1F2-3F5B46D143E0}"/>
              </a:ext>
            </a:extLst>
          </p:cNvPr>
          <p:cNvSpPr txBox="1"/>
          <p:nvPr/>
        </p:nvSpPr>
        <p:spPr>
          <a:xfrm>
            <a:off x="838200" y="258411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ED303-50A7-0742-96EC-D6E28EA879B6}"/>
              </a:ext>
            </a:extLst>
          </p:cNvPr>
          <p:cNvSpPr txBox="1"/>
          <p:nvPr/>
        </p:nvSpPr>
        <p:spPr>
          <a:xfrm>
            <a:off x="7225936" y="258411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8796321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2069EC-DB51-01E3-8592-9938A9E88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print([x * x for x in range(5)])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print([x for x in range(10) if x % 3 == 0])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woorden = ['kat', 'hond', 'kat']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print({w for w in woorden})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4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9B6E22-0FA4-C1F3-6351-AC7FC466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7723BF-F2AB-A06D-6BC5-B630D894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1.6: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16577975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37EB99-98A8-9D41-95F2-4A25CD900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7. Strings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CA95F3-EC0F-E548-BE77-029F90ABB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.10-strings.ipynb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3EAA4-5804-7B40-B138-1663F99E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350308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1 van de basistypes van Python</a:t>
            </a:r>
          </a:p>
          <a:p>
            <a:r>
              <a:rPr lang="en-BE" dirty="0"/>
              <a:t>Worden overal gebruikt, ook om te debuggen (code na te kijken)</a:t>
            </a:r>
          </a:p>
          <a:p>
            <a:r>
              <a:rPr lang="en-BE" dirty="0"/>
              <a:t>Belangrijk de volle flexibiliteit te gebruiken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4688" y="4181009"/>
            <a:ext cx="2896947" cy="18466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/>
              <a:t>JohannesDe</a:t>
            </a:r>
            <a:r>
              <a:rPr lang="en-GB" sz="1600" dirty="0"/>
              <a:t> </a:t>
            </a:r>
            <a:r>
              <a:rPr lang="en-GB" sz="1600" dirty="0" err="1"/>
              <a:t>SmedtDe</a:t>
            </a:r>
            <a:r>
              <a:rPr lang="en-GB" sz="1600" dirty="0"/>
              <a:t> </a:t>
            </a:r>
            <a:r>
              <a:rPr lang="en-GB" sz="1600" dirty="0" err="1"/>
              <a:t>Smedt</a:t>
            </a:r>
            <a:endParaRPr lang="en-GB" sz="1600" dirty="0"/>
          </a:p>
          <a:p>
            <a:r>
              <a:rPr lang="en-GB" sz="1600" dirty="0" err="1"/>
              <a:t>JohannesDe</a:t>
            </a:r>
            <a:r>
              <a:rPr lang="en-GB" sz="1600" dirty="0"/>
              <a:t> Smedt_5</a:t>
            </a:r>
          </a:p>
          <a:p>
            <a:r>
              <a:rPr lang="en-GB" sz="1600" dirty="0" err="1"/>
              <a:t>hne</a:t>
            </a:r>
            <a:endParaRPr lang="en-GB" sz="1600" dirty="0"/>
          </a:p>
          <a:p>
            <a:r>
              <a:rPr lang="en-GB" sz="1600" dirty="0" err="1"/>
              <a:t>sennahoJ</a:t>
            </a:r>
            <a:endParaRPr lang="en-GB" sz="1600" dirty="0"/>
          </a:p>
          <a:p>
            <a:r>
              <a:rPr lang="en-GB" sz="1600" dirty="0"/>
              <a:t>8</a:t>
            </a:r>
          </a:p>
          <a:p>
            <a:r>
              <a:rPr lang="en-GB" sz="1600" dirty="0"/>
              <a:t>True</a:t>
            </a:r>
          </a:p>
          <a:p>
            <a:r>
              <a:rPr lang="en-GB" sz="1600" dirty="0"/>
              <a:t>False</a:t>
            </a:r>
            <a:endParaRPr lang="en-B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350012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4688" y="3811677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719344"/>
            <a:ext cx="5100577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 + b + b)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concatenatie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 + b + </a:t>
            </a:r>
            <a:r>
              <a:rPr lang="en-GB" sz="1600" dirty="0">
                <a:solidFill>
                  <a:srgbClr val="6A8759"/>
                </a:solidFill>
              </a:rPr>
              <a:t>'_'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8888C6"/>
                </a:solidFill>
              </a:rPr>
              <a:t>str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conversie</a:t>
            </a:r>
            <a:r>
              <a:rPr lang="en-GB" sz="1600" dirty="0">
                <a:solidFill>
                  <a:srgbClr val="808080"/>
                </a:solidFill>
              </a:rPr>
              <a:t> van </a:t>
            </a:r>
            <a:r>
              <a:rPr lang="en-GB" sz="1600" dirty="0" err="1">
                <a:solidFill>
                  <a:srgbClr val="808080"/>
                </a:solidFill>
              </a:rPr>
              <a:t>een</a:t>
            </a:r>
            <a:r>
              <a:rPr lang="en-GB" sz="1600" dirty="0">
                <a:solidFill>
                  <a:srgbClr val="808080"/>
                </a:solidFill>
              </a:rPr>
              <a:t> integer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(a[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7</a:t>
            </a:r>
            <a:r>
              <a:rPr lang="en-GB" sz="1600" dirty="0"/>
              <a:t>: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/>
              <a:t>])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indexering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(a[::-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])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omgekeerd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(a)) </a:t>
            </a: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lengte</a:t>
            </a:r>
            <a:r>
              <a:rPr lang="en-GB" sz="1600" dirty="0">
                <a:solidFill>
                  <a:srgbClr val="808080"/>
                </a:solidFill>
              </a:rPr>
              <a:t> van de string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nnes</a:t>
            </a:r>
            <a:r>
              <a:rPr lang="en-GB" sz="1600" dirty="0">
                <a:solidFill>
                  <a:srgbClr val="6A8759"/>
                </a:solidFill>
              </a:rPr>
              <a:t>'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nnes</a:t>
            </a:r>
            <a:r>
              <a:rPr lang="en-GB" sz="1600" dirty="0">
                <a:solidFill>
                  <a:srgbClr val="6A8759"/>
                </a:solidFill>
              </a:rPr>
              <a:t>'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b)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41977267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700D-3715-9E43-B96D-D0A882EEC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dirty="0"/>
              <a:t>Strings hebben een hele reeks aan methodes:	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apitalize()</a:t>
            </a:r>
            <a:r>
              <a:rPr lang="en-BE" sz="2000" dirty="0"/>
              <a:t>: maakt 1ste letter van de string een hoofdletter, de rest kleine letters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ower()</a:t>
            </a:r>
            <a:r>
              <a:rPr lang="en-BE" sz="2000" dirty="0"/>
              <a:t>: maakt de hele string tot kleine letters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upper()</a:t>
            </a:r>
            <a:r>
              <a:rPr lang="en-BE" sz="2000" dirty="0"/>
              <a:t>: maakt de hele string tot hoofdletters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itle()</a:t>
            </a:r>
            <a:r>
              <a:rPr lang="en-BE" sz="2000" dirty="0"/>
              <a:t>: maakt de 1ste letter van elk woord een hoofdletter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ount(</a:t>
            </a:r>
            <a:r>
              <a:rPr lang="en-BE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sz="2000" dirty="0"/>
              <a:t>: telt hoeveel keer de meegegeven </a:t>
            </a:r>
            <a:r>
              <a:rPr lang="en-BE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sz="2000" dirty="0"/>
              <a:t> voorkomt</a:t>
            </a:r>
          </a:p>
          <a:p>
            <a:pPr lvl="1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trip()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lstrip()</a:t>
            </a:r>
            <a:r>
              <a:rPr lang="en-BE" sz="2000" dirty="0"/>
              <a:t>/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rstrip()</a:t>
            </a:r>
            <a:r>
              <a:rPr lang="en-BE" sz="2000" dirty="0"/>
              <a:t>: verwijdert alle whitespaces (spaties, \t, \n) aan beide kanten/enkel links/enkel rechts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F62B5-E020-7B4C-BAA7-D9ABB8DF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6F80A-E13F-5D4C-B5FC-D198326E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Ingebouwde methodes</a:t>
            </a:r>
          </a:p>
        </p:txBody>
      </p:sp>
    </p:spTree>
    <p:extLst>
      <p:ext uri="{BB962C8B-B14F-4D97-AF65-F5344CB8AC3E}">
        <p14:creationId xmlns:p14="http://schemas.microsoft.com/office/powerpoint/2010/main" val="1439510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Een string kan niet gewijzigd worden na het aanmaken (immutable)</a:t>
            </a:r>
          </a:p>
          <a:p>
            <a:r>
              <a:rPr lang="nl-BE" dirty="0"/>
              <a:t>Methodes wijzigen de string niet, ze geven een nieuwe string terug</a:t>
            </a:r>
          </a:p>
          <a:p>
            <a:r>
              <a:rPr lang="nl-BE" dirty="0"/>
              <a:t>Wil je het resultaat bewaren? Sla het opnieuw op in een variabele: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Strings zijn onveranderbaar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530600"/>
            <a:ext cx="3907806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dirty="0" err="1"/>
              <a:t>Economie</a:t>
            </a:r>
            <a:endParaRPr lang="en-GB" sz="1600" dirty="0"/>
          </a:p>
          <a:p>
            <a:r>
              <a:rPr lang="en-GB" sz="1600" dirty="0" err="1"/>
              <a:t>economie</a:t>
            </a:r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 err="1"/>
              <a:t>Economie</a:t>
            </a:r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100577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naam = </a:t>
            </a:r>
            <a:r>
              <a:rPr lang="en-GB" sz="1600" dirty="0">
                <a:solidFill>
                  <a:srgbClr val="6A8759"/>
                </a:solidFill>
              </a:rPr>
              <a:t>‘</a:t>
            </a:r>
            <a:r>
              <a:rPr lang="en-GB" sz="1600" dirty="0" err="1">
                <a:solidFill>
                  <a:srgbClr val="6A8759"/>
                </a:solidFill>
              </a:rPr>
              <a:t>economie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(naam.capitalize())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(naam) </a:t>
            </a:r>
            <a:r>
              <a:rPr lang="en-GB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 </a:t>
            </a:r>
            <a:r>
              <a:rPr lang="en-GB" sz="16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variabele</a:t>
            </a:r>
            <a:r>
              <a:rPr lang="en-GB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blijft</a:t>
            </a:r>
            <a:r>
              <a:rPr lang="en-GB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GB" sz="16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ongewijzigd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naam = naam.capitalize()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(naam)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naam[0] = 'J' geeft een TypeError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239284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D6CD3-9683-0441-8C86-6BB048DA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Merk op: 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BE" dirty="0"/>
              <a:t> functie laat ook toe strings met een komma aan elkaar te zetten met een spatie ertussen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936A5-E56E-474E-B231-01D33881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89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2AAC6-243A-0F41-B2D1-D38A7631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Voorbeelden ingebouwde methodes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9251B-803F-D842-884A-988DB7C34DD3}"/>
              </a:ext>
            </a:extLst>
          </p:cNvPr>
          <p:cNvSpPr txBox="1"/>
          <p:nvPr/>
        </p:nvSpPr>
        <p:spPr>
          <a:xfrm>
            <a:off x="493857" y="2852294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D47BB-1B8D-F14B-A66C-F4FEFF0270AC}"/>
              </a:ext>
            </a:extLst>
          </p:cNvPr>
          <p:cNvSpPr txBox="1"/>
          <p:nvPr/>
        </p:nvSpPr>
        <p:spPr>
          <a:xfrm>
            <a:off x="6390195" y="336124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3E0C92-EED3-D042-AD18-7A594C87E8B0}"/>
              </a:ext>
            </a:extLst>
          </p:cNvPr>
          <p:cNvSpPr/>
          <p:nvPr/>
        </p:nvSpPr>
        <p:spPr>
          <a:xfrm>
            <a:off x="493857" y="3226203"/>
            <a:ext cx="5562599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programmeren</a:t>
            </a:r>
            <a:r>
              <a:rPr lang="en-GB" sz="1600" dirty="0">
                <a:solidFill>
                  <a:srgbClr val="6A8759"/>
                </a:solidFill>
              </a:rPr>
              <a:t> Is </a:t>
            </a:r>
            <a:r>
              <a:rPr lang="en-GB" sz="1600" dirty="0" err="1">
                <a:solidFill>
                  <a:srgbClr val="6A8759"/>
                </a:solidFill>
              </a:rPr>
              <a:t>Leuk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  </a:t>
            </a:r>
            <a:r>
              <a:rPr lang="en-GB" sz="1600" dirty="0" err="1">
                <a:solidFill>
                  <a:srgbClr val="6A8759"/>
                </a:solidFill>
              </a:rPr>
              <a:t>programmeren</a:t>
            </a:r>
            <a:r>
              <a:rPr lang="en-GB" sz="1600" dirty="0">
                <a:solidFill>
                  <a:srgbClr val="6A8759"/>
                </a:solidFill>
              </a:rPr>
              <a:t> is </a:t>
            </a:r>
            <a:r>
              <a:rPr lang="en-GB" sz="1600" dirty="0" err="1">
                <a:solidFill>
                  <a:srgbClr val="6A8759"/>
                </a:solidFill>
              </a:rPr>
              <a:t>leuk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als</a:t>
            </a:r>
            <a:r>
              <a:rPr lang="en-GB" sz="1600" dirty="0">
                <a:solidFill>
                  <a:srgbClr val="6A8759"/>
                </a:solidFill>
              </a:rPr>
              <a:t> je het </a:t>
            </a:r>
            <a:r>
              <a:rPr lang="en-GB" sz="1600" dirty="0" err="1">
                <a:solidFill>
                  <a:srgbClr val="6A8759"/>
                </a:solidFill>
              </a:rPr>
              <a:t>veel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probeert</a:t>
            </a:r>
            <a:r>
              <a:rPr lang="en-GB" sz="1600" dirty="0">
                <a:solidFill>
                  <a:srgbClr val="6A8759"/>
                </a:solidFill>
              </a:rPr>
              <a:t>     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a.capitalize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a.lower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a.upper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a.title</a:t>
            </a:r>
            <a:r>
              <a:rPr lang="en-GB" sz="1600" dirty="0"/>
              <a:t>())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b.count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ee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b.strip</a:t>
            </a:r>
            <a:r>
              <a:rPr lang="en-GB" sz="1600" dirty="0"/>
              <a:t>()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b.lstrip</a:t>
            </a:r>
            <a:r>
              <a:rPr lang="en-GB" sz="1600" dirty="0"/>
              <a:t>()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b.rstrip</a:t>
            </a:r>
            <a:r>
              <a:rPr lang="en-GB" sz="1600" dirty="0"/>
              <a:t>()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EDF392-ED10-444B-B065-985C7859192D}"/>
              </a:ext>
            </a:extLst>
          </p:cNvPr>
          <p:cNvSpPr/>
          <p:nvPr/>
        </p:nvSpPr>
        <p:spPr>
          <a:xfrm>
            <a:off x="6390195" y="3775625"/>
            <a:ext cx="5288664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Programmeren Is Leuk</a:t>
            </a:r>
          </a:p>
          <a:p>
            <a:r>
              <a:rPr lang="en-BE" sz="1600" dirty="0"/>
              <a:t>2</a:t>
            </a:r>
          </a:p>
          <a:p>
            <a:r>
              <a:rPr lang="en-BE" sz="1600" dirty="0"/>
              <a:t>-- programmeren is leuk als je het veel probeert --</a:t>
            </a:r>
          </a:p>
          <a:p>
            <a:r>
              <a:rPr lang="en-BE" sz="1600" dirty="0"/>
              <a:t>-- programmeren is leuk als je het veel probeert      --</a:t>
            </a:r>
          </a:p>
          <a:p>
            <a:r>
              <a:rPr lang="en-BE" sz="1600" dirty="0"/>
              <a:t>--   programmeren is leuk als je het veel probeert --</a:t>
            </a:r>
          </a:p>
        </p:txBody>
      </p:sp>
    </p:spTree>
    <p:extLst>
      <p:ext uri="{BB962C8B-B14F-4D97-AF65-F5344CB8AC3E}">
        <p14:creationId xmlns:p14="http://schemas.microsoft.com/office/powerpoint/2010/main" val="42930006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95DC-5EAC-3946-8C93-135F2C859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56000"/>
            <a:ext cx="11198078" cy="4464000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ind(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geeft de index van het eerste voorkomen van een </a:t>
            </a:r>
            <a:r>
              <a:rPr lang="en-BE" i="1" dirty="0"/>
              <a:t>substring</a:t>
            </a:r>
            <a:r>
              <a:rPr lang="en-BE" dirty="0"/>
              <a:t> (of -1 indien niet gevonden)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eplace(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te_vervangen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nieuwe_waarde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vervangt een substring 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te_vervangen</a:t>
            </a:r>
            <a:r>
              <a:rPr lang="en-BE" dirty="0"/>
              <a:t>) met een nieuw stuk tekst 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nieuwe_waarde</a:t>
            </a:r>
            <a:r>
              <a:rPr lang="en-BE" dirty="0"/>
              <a:t>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find(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geeft de index van het laatste voorkomen van een </a:t>
            </a:r>
            <a:r>
              <a:rPr lang="en-BE" i="1" dirty="0"/>
              <a:t>substring</a:t>
            </a:r>
            <a:r>
              <a:rPr lang="en-BE" dirty="0"/>
              <a:t> (of -1 indien niet gevonden)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plit(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splitter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splitst een string op basis van een 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splitter</a:t>
            </a:r>
            <a:r>
              <a:rPr lang="en-BE" dirty="0"/>
              <a:t> string (optioneel) of whitespaces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split(</a:t>
            </a:r>
            <a:r>
              <a:rPr lang="en-BE" i="1" dirty="0">
                <a:latin typeface="Courier New" panose="02070309020205020404" pitchFamily="49" charset="0"/>
                <a:cs typeface="Courier New" panose="02070309020205020404" pitchFamily="49" charset="0"/>
              </a:rPr>
              <a:t>splitter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BE" dirty="0"/>
              <a:t>: zoals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split()</a:t>
            </a:r>
            <a:r>
              <a:rPr lang="en-BE" dirty="0"/>
              <a:t> maar begint aan de rechterkant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salnum()</a:t>
            </a:r>
            <a:r>
              <a:rPr lang="en-BE" dirty="0"/>
              <a:t>: controleert of alle tekens in de string alfanumeriek zijn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salpha()</a:t>
            </a:r>
            <a:r>
              <a:rPr lang="en-BE" dirty="0"/>
              <a:t>: controleert of alle tekens in de string letters zijn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E1863-9713-F546-BF98-E06F7831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12230-A0D0-FB4A-AE5E-08969C66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Andere i</a:t>
            </a:r>
            <a:r>
              <a:rPr lang="en-BE" dirty="0"/>
              <a:t>ngebouwde methodes</a:t>
            </a:r>
          </a:p>
        </p:txBody>
      </p:sp>
    </p:spTree>
    <p:extLst>
      <p:ext uri="{BB962C8B-B14F-4D97-AF65-F5344CB8AC3E}">
        <p14:creationId xmlns:p14="http://schemas.microsoft.com/office/powerpoint/2010/main" val="41922567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3424B-42BB-6640-94AD-EBF1D6076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645AD-6927-6642-A37F-0B735451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Voorbeelden ingebouwde methodes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D112E9-C210-1F46-B4F9-D4EE9591BBA0}"/>
              </a:ext>
            </a:extLst>
          </p:cNvPr>
          <p:cNvSpPr/>
          <p:nvPr/>
        </p:nvSpPr>
        <p:spPr>
          <a:xfrm>
            <a:off x="2928795" y="1604427"/>
            <a:ext cx="3017134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a = </a:t>
            </a:r>
            <a:r>
              <a:rPr lang="en-GB" dirty="0">
                <a:solidFill>
                  <a:srgbClr val="6A8759"/>
                </a:solidFill>
              </a:rPr>
              <a:t>'123 </a:t>
            </a:r>
            <a:r>
              <a:rPr lang="en-GB" dirty="0" err="1">
                <a:solidFill>
                  <a:srgbClr val="6A8759"/>
                </a:solidFill>
              </a:rPr>
              <a:t>abc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defgggg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a.find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'gg'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a.replace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ggg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ffff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a.rfind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'gg'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a.split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abc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a.rsplit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/>
              <a:t>b = </a:t>
            </a:r>
            <a:r>
              <a:rPr lang="en-GB" dirty="0">
                <a:solidFill>
                  <a:srgbClr val="6A8759"/>
                </a:solidFill>
              </a:rPr>
              <a:t>'123abc'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c = 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abc</a:t>
            </a:r>
            <a:r>
              <a:rPr lang="en-GB" dirty="0">
                <a:solidFill>
                  <a:srgbClr val="6A8759"/>
                </a:solidFill>
              </a:rPr>
              <a:t>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/>
              <a:t>d = </a:t>
            </a:r>
            <a:r>
              <a:rPr lang="en-GB" dirty="0">
                <a:solidFill>
                  <a:srgbClr val="6A8759"/>
                </a:solidFill>
              </a:rPr>
              <a:t>'@bc12'</a:t>
            </a:r>
            <a:br>
              <a:rPr lang="en-GB" dirty="0">
                <a:solidFill>
                  <a:srgbClr val="6A8759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b.isalnum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b.isalpha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c.isalnum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c.isalpha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d.isalnum</a:t>
            </a:r>
            <a:r>
              <a:rPr lang="en-GB" dirty="0"/>
              <a:t>())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 err="1"/>
              <a:t>d.isalpha</a:t>
            </a:r>
            <a:r>
              <a:rPr lang="en-GB" dirty="0"/>
              <a:t>())</a:t>
            </a:r>
            <a:endParaRPr lang="en-B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4D3C0-663B-F848-BC20-D6904C03BB61}"/>
              </a:ext>
            </a:extLst>
          </p:cNvPr>
          <p:cNvSpPr txBox="1"/>
          <p:nvPr/>
        </p:nvSpPr>
        <p:spPr>
          <a:xfrm>
            <a:off x="2928795" y="123509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8BDEF-C76A-6A45-8564-FB0CDC16F2B4}"/>
              </a:ext>
            </a:extLst>
          </p:cNvPr>
          <p:cNvSpPr txBox="1"/>
          <p:nvPr/>
        </p:nvSpPr>
        <p:spPr>
          <a:xfrm>
            <a:off x="6250729" y="1235094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1F723-03D1-A34B-A75B-9ECA86E27358}"/>
              </a:ext>
            </a:extLst>
          </p:cNvPr>
          <p:cNvSpPr/>
          <p:nvPr/>
        </p:nvSpPr>
        <p:spPr>
          <a:xfrm>
            <a:off x="6308007" y="1604426"/>
            <a:ext cx="2438400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dirty="0"/>
          </a:p>
          <a:p>
            <a:r>
              <a:rPr lang="en-BE" dirty="0"/>
              <a:t>11</a:t>
            </a:r>
          </a:p>
          <a:p>
            <a:r>
              <a:rPr lang="en-BE" dirty="0"/>
              <a:t>123 abc defffffg</a:t>
            </a:r>
          </a:p>
          <a:p>
            <a:r>
              <a:rPr lang="en-BE" dirty="0"/>
              <a:t>13</a:t>
            </a:r>
          </a:p>
          <a:p>
            <a:r>
              <a:rPr lang="en-BE" dirty="0"/>
              <a:t>['123 ', ' defgggg']</a:t>
            </a:r>
          </a:p>
          <a:p>
            <a:r>
              <a:rPr lang="en-BE" dirty="0"/>
              <a:t>['123', 'abc', 'defgggg’]</a:t>
            </a: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True</a:t>
            </a:r>
          </a:p>
          <a:p>
            <a:r>
              <a:rPr lang="en-BE" dirty="0"/>
              <a:t>True</a:t>
            </a:r>
          </a:p>
          <a:p>
            <a:r>
              <a:rPr lang="en-BE" dirty="0"/>
              <a:t>False</a:t>
            </a:r>
          </a:p>
          <a:p>
            <a:r>
              <a:rPr lang="en-BE" dirty="0"/>
              <a:t>False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153FCBA0-8455-54E3-C39C-0916B75E9A08}"/>
              </a:ext>
            </a:extLst>
          </p:cNvPr>
          <p:cNvSpPr/>
          <p:nvPr/>
        </p:nvSpPr>
        <p:spPr>
          <a:xfrm>
            <a:off x="9054548" y="2773017"/>
            <a:ext cx="59635" cy="56653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F9855528-474E-9618-C702-C54F841327CA}"/>
              </a:ext>
            </a:extLst>
          </p:cNvPr>
          <p:cNvSpPr/>
          <p:nvPr/>
        </p:nvSpPr>
        <p:spPr>
          <a:xfrm>
            <a:off x="9048849" y="4055164"/>
            <a:ext cx="59636" cy="17369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ECDAE-1DB6-4384-60BD-E6F38C7D66B8}"/>
              </a:ext>
            </a:extLst>
          </p:cNvPr>
          <p:cNvSpPr txBox="1"/>
          <p:nvPr/>
        </p:nvSpPr>
        <p:spPr>
          <a:xfrm>
            <a:off x="9108485" y="2871616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Geven een lijst terug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BBA6A9-FB6C-97B6-2CC1-2CC27E7DBC6C}"/>
              </a:ext>
            </a:extLst>
          </p:cNvPr>
          <p:cNvSpPr txBox="1"/>
          <p:nvPr/>
        </p:nvSpPr>
        <p:spPr>
          <a:xfrm>
            <a:off x="9108485" y="4738970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Geven een </a:t>
            </a:r>
            <a:r>
              <a:rPr lang="nl-NL" dirty="0" err="1"/>
              <a:t>boolean</a:t>
            </a:r>
            <a:r>
              <a:rPr lang="nl-NL" dirty="0"/>
              <a:t> terug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9E3BF-5764-9058-F96E-E5B1472EB2B3}"/>
              </a:ext>
            </a:extLst>
          </p:cNvPr>
          <p:cNvSpPr txBox="1"/>
          <p:nvPr/>
        </p:nvSpPr>
        <p:spPr>
          <a:xfrm>
            <a:off x="9108485" y="1872734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Geeft een integer terug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97023A-BBFD-9197-469B-3399A9F36B99}"/>
              </a:ext>
            </a:extLst>
          </p:cNvPr>
          <p:cNvSpPr txBox="1"/>
          <p:nvPr/>
        </p:nvSpPr>
        <p:spPr>
          <a:xfrm>
            <a:off x="9108485" y="214402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Geeft een string terug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9DDE8-96C2-A39B-0F53-CDE31C7BE099}"/>
              </a:ext>
            </a:extLst>
          </p:cNvPr>
          <p:cNvSpPr txBox="1"/>
          <p:nvPr/>
        </p:nvSpPr>
        <p:spPr>
          <a:xfrm>
            <a:off x="9108485" y="239930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Geeft een integer terug</a:t>
            </a:r>
          </a:p>
        </p:txBody>
      </p:sp>
    </p:spTree>
    <p:extLst>
      <p:ext uri="{BB962C8B-B14F-4D97-AF65-F5344CB8AC3E}">
        <p14:creationId xmlns:p14="http://schemas.microsoft.com/office/powerpoint/2010/main" val="261222914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join()</a:t>
            </a:r>
            <a:r>
              <a:rPr lang="nl-BE" dirty="0"/>
              <a:t>: plakt een lijst van strings samen met een scheidingsteken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split()</a:t>
            </a:r>
            <a:r>
              <a:rPr lang="nl-BE" dirty="0"/>
              <a:t> en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join()</a:t>
            </a:r>
            <a:r>
              <a:rPr lang="nl-BE" dirty="0"/>
              <a:t> zijn elkaars tegengestelde</a:t>
            </a: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startswith()</a:t>
            </a:r>
            <a:r>
              <a:rPr lang="nl-BE" dirty="0"/>
              <a:t> en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endswith()</a:t>
            </a:r>
            <a:r>
              <a:rPr lang="nl-BE" dirty="0"/>
              <a:t>: controleren begin of einde van een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Samenvoegen en controleren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530600"/>
            <a:ext cx="3931557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r>
              <a:rPr lang="en-GB" sz="1600" dirty="0"/>
              <a:t>Python is leuk</a:t>
            </a:r>
          </a:p>
          <a:p>
            <a:r>
              <a:rPr lang="en-GB" sz="1600" dirty="0"/>
              <a:t>Python-is-</a:t>
            </a:r>
            <a:r>
              <a:rPr lang="en-GB" sz="1600" dirty="0" err="1"/>
              <a:t>leuk</a:t>
            </a:r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['Python', 'is', 'leuk']</a:t>
            </a:r>
          </a:p>
          <a:p>
            <a:r>
              <a:rPr lang="en-GB" sz="1600" dirty="0"/>
              <a:t>True</a:t>
            </a:r>
          </a:p>
          <a:p>
            <a:r>
              <a:rPr lang="en-GB" sz="1600" dirty="0"/>
              <a:t>False</a:t>
            </a:r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100577" cy="2286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woorden = [</a:t>
            </a:r>
            <a:r>
              <a:rPr lang="en-GB" sz="1600" dirty="0">
                <a:solidFill>
                  <a:srgbClr val="6A8759"/>
                </a:solidFill>
              </a:rPr>
              <a:t>'Python'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A8759"/>
                </a:solidFill>
              </a:rPr>
              <a:t>'is'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A8759"/>
                </a:solidFill>
              </a:rPr>
              <a:t>'leuk'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 '</a:t>
            </a:r>
            <a:r>
              <a:rPr lang="en-GB" sz="1600" dirty="0"/>
              <a:t>.join(woorden))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'-'</a:t>
            </a:r>
            <a:r>
              <a:rPr lang="en-GB" sz="1600" dirty="0"/>
              <a:t>.join(woorden))</a:t>
            </a:r>
            <a:br>
              <a:rPr lang="en-GB" sz="1600" dirty="0"/>
            </a:br>
            <a:r>
              <a:rPr lang="en-GB" sz="1600" dirty="0"/>
              <a:t>zin = </a:t>
            </a:r>
            <a:r>
              <a:rPr lang="en-GB" sz="1600" dirty="0">
                <a:solidFill>
                  <a:srgbClr val="6A8759"/>
                </a:solidFill>
              </a:rPr>
              <a:t>' '</a:t>
            </a:r>
            <a:r>
              <a:rPr lang="en-GB" sz="1600" dirty="0"/>
              <a:t>.join(woorden)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(zin.split(</a:t>
            </a:r>
            <a:r>
              <a:rPr lang="en-GB" sz="1600" dirty="0">
                <a:solidFill>
                  <a:srgbClr val="6A8759"/>
                </a:solidFill>
              </a:rPr>
              <a:t>' 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(zin.startswith(</a:t>
            </a:r>
            <a:r>
              <a:rPr lang="en-GB" sz="1600" dirty="0">
                <a:solidFill>
                  <a:srgbClr val="6A8759"/>
                </a:solidFill>
              </a:rPr>
              <a:t>'Python'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(zin.endswith(</a:t>
            </a:r>
            <a:r>
              <a:rPr lang="en-GB" sz="1600" dirty="0">
                <a:solidFill>
                  <a:srgbClr val="6A8759"/>
                </a:solidFill>
              </a:rPr>
              <a:t>'?'</a:t>
            </a:r>
            <a:r>
              <a:rPr lang="en-GB" sz="1600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9493360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FA0EB-F047-9C46-A74D-F09E54D11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Kan met de ingebouwde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BE" dirty="0"/>
              <a:t> functie</a:t>
            </a:r>
          </a:p>
          <a:p>
            <a:r>
              <a:rPr lang="en-BE" dirty="0"/>
              <a:t>Aaneenkoppelen van strings kan met een komma die ook een enkele spatie tussenvoegt (of een andere separator die je zelf kiest)</a:t>
            </a:r>
          </a:p>
          <a:p>
            <a:r>
              <a:rPr lang="en-BE" dirty="0"/>
              <a:t>Variabelen kunnen ook ingevoegd worden mbv een voorzetsel f’ en {} in de string</a:t>
            </a:r>
          </a:p>
          <a:p>
            <a:pPr lvl="1"/>
            <a:r>
              <a:rPr lang="en-BE" sz="2000" dirty="0"/>
              <a:t>Dit kan ook buiten de </a:t>
            </a:r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BE" sz="2000" dirty="0"/>
              <a:t>-functie</a:t>
            </a:r>
          </a:p>
          <a:p>
            <a:r>
              <a:rPr lang="en-BE" dirty="0"/>
              <a:t>Verder kunnen strings placeholders hebben voor variabelen/waardes en voorgemaakte formattering (bv. het aantal cijfers na de komma)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5541B-553E-A944-9945-67C23E9A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903D7-D463-8A4B-AF07-735333CD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Strings printen</a:t>
            </a:r>
          </a:p>
        </p:txBody>
      </p:sp>
    </p:spTree>
    <p:extLst>
      <p:ext uri="{BB962C8B-B14F-4D97-AF65-F5344CB8AC3E}">
        <p14:creationId xmlns:p14="http://schemas.microsoft.com/office/powerpoint/2010/main" val="5134037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B118C-42BA-864E-BD09-645AFD24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8C62B-12ED-9B4F-8E71-EC445490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Voorbeelden strings printen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0A344-EBEA-C143-80DD-420D3591691B}"/>
              </a:ext>
            </a:extLst>
          </p:cNvPr>
          <p:cNvSpPr/>
          <p:nvPr/>
        </p:nvSpPr>
        <p:spPr>
          <a:xfrm>
            <a:off x="838199" y="2163477"/>
            <a:ext cx="6430701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Zoals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voorheen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gezien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'Met </a:t>
            </a:r>
            <a:r>
              <a:rPr lang="en-GB" sz="1600" dirty="0" err="1">
                <a:solidFill>
                  <a:srgbClr val="6A8759"/>
                </a:solidFill>
              </a:rPr>
              <a:t>een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andere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'separator </a:t>
            </a:r>
            <a:r>
              <a:rPr lang="en-GB" sz="1600" dirty="0" err="1">
                <a:solidFill>
                  <a:srgbClr val="6A8759"/>
                </a:solidFill>
              </a:rPr>
              <a:t>ertussen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AA4926"/>
                </a:solidFill>
              </a:rPr>
              <a:t>sep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A8759"/>
                </a:solidFill>
              </a:rPr>
              <a:t>'---___---'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Concatenatie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vereist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juiste</a:t>
            </a:r>
            <a:r>
              <a:rPr lang="en-GB" sz="1600" dirty="0">
                <a:solidFill>
                  <a:srgbClr val="6A8759"/>
                </a:solidFill>
              </a:rPr>
              <a:t> types ' </a:t>
            </a:r>
            <a:r>
              <a:rPr lang="en-GB" sz="1600" dirty="0"/>
              <a:t>+ </a:t>
            </a:r>
            <a:r>
              <a:rPr lang="en-GB" sz="1600" dirty="0">
                <a:solidFill>
                  <a:srgbClr val="8888C6"/>
                </a:solidFill>
              </a:rPr>
              <a:t>str</a:t>
            </a:r>
            <a:r>
              <a:rPr lang="en-GB" sz="1600" dirty="0"/>
              <a:t>(a))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f'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b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geeft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vakken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%d </a:t>
            </a:r>
            <a:r>
              <a:rPr lang="en-GB" sz="1600" dirty="0" err="1">
                <a:solidFill>
                  <a:srgbClr val="6A8759"/>
                </a:solidFill>
              </a:rPr>
              <a:t>bananen</a:t>
            </a:r>
            <a:r>
              <a:rPr lang="en-GB" sz="1600" dirty="0">
                <a:solidFill>
                  <a:srgbClr val="6A8759"/>
                </a:solidFill>
              </a:rPr>
              <a:t> in de </a:t>
            </a:r>
            <a:r>
              <a:rPr lang="en-GB" sz="1600" dirty="0" err="1">
                <a:solidFill>
                  <a:srgbClr val="6A8759"/>
                </a:solidFill>
              </a:rPr>
              <a:t>winkel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%.1f euro' </a:t>
            </a:r>
            <a:r>
              <a:rPr lang="en-GB" sz="1600" dirty="0"/>
              <a:t>% (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0.35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A0E011-6DFB-834B-8D95-F6E2607BDE14}"/>
              </a:ext>
            </a:extLst>
          </p:cNvPr>
          <p:cNvSpPr/>
          <p:nvPr/>
        </p:nvSpPr>
        <p:spPr>
          <a:xfrm>
            <a:off x="7482602" y="2163477"/>
            <a:ext cx="4546332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BE" sz="1600" dirty="0"/>
          </a:p>
          <a:p>
            <a:endParaRPr lang="en-BE" sz="1600" dirty="0"/>
          </a:p>
          <a:p>
            <a:r>
              <a:rPr lang="en-BE" sz="1600" dirty="0"/>
              <a:t>Zoals voorheen gezien 2 Johannes</a:t>
            </a:r>
          </a:p>
          <a:p>
            <a:r>
              <a:rPr lang="en-BE" sz="1600" dirty="0"/>
              <a:t>Met een andere---___---separator ertussen</a:t>
            </a:r>
          </a:p>
          <a:p>
            <a:r>
              <a:rPr lang="en-BE" sz="1600" dirty="0"/>
              <a:t>Concatenatie vereist juiste types 2</a:t>
            </a:r>
          </a:p>
          <a:p>
            <a:r>
              <a:rPr lang="en-BE" sz="1600" dirty="0"/>
              <a:t>Johannes geeft 2 vakken</a:t>
            </a:r>
          </a:p>
          <a:p>
            <a:r>
              <a:rPr lang="en-BE" sz="1600" dirty="0"/>
              <a:t>Ik kocht 2 bananen in de winkel aan 0.3 euro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C8F9A-3B50-6146-BBC3-7B85B263C0C1}"/>
              </a:ext>
            </a:extLst>
          </p:cNvPr>
          <p:cNvSpPr txBox="1"/>
          <p:nvPr/>
        </p:nvSpPr>
        <p:spPr>
          <a:xfrm>
            <a:off x="838199" y="1771064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1D63C-476B-8345-87F8-B6C3CC7E3B0B}"/>
              </a:ext>
            </a:extLst>
          </p:cNvPr>
          <p:cNvSpPr txBox="1"/>
          <p:nvPr/>
        </p:nvSpPr>
        <p:spPr>
          <a:xfrm>
            <a:off x="7482602" y="176483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9B6AE0-A70F-7346-938F-7DB3C7863436}"/>
              </a:ext>
            </a:extLst>
          </p:cNvPr>
          <p:cNvCxnSpPr>
            <a:cxnSpLocks/>
          </p:cNvCxnSpPr>
          <p:nvPr/>
        </p:nvCxnSpPr>
        <p:spPr>
          <a:xfrm flipH="1">
            <a:off x="919557" y="3638986"/>
            <a:ext cx="451413" cy="5234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0900B4-C251-C94E-AC51-B03C946B17EC}"/>
              </a:ext>
            </a:extLst>
          </p:cNvPr>
          <p:cNvCxnSpPr>
            <a:cxnSpLocks/>
          </p:cNvCxnSpPr>
          <p:nvPr/>
        </p:nvCxnSpPr>
        <p:spPr>
          <a:xfrm flipH="1" flipV="1">
            <a:off x="5186034" y="1980442"/>
            <a:ext cx="412199" cy="10094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445EC17-E30D-0740-B6F2-6770AAB6A0F4}"/>
              </a:ext>
            </a:extLst>
          </p:cNvPr>
          <p:cNvSpPr txBox="1"/>
          <p:nvPr/>
        </p:nvSpPr>
        <p:spPr>
          <a:xfrm>
            <a:off x="2953192" y="1241778"/>
            <a:ext cx="4597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'sep’ is een argument van de print functie, het geeft hier mee welke separator moet gebruikt worden (moet op laatste plaats komen en expliciet aangeduid met </a:t>
            </a:r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sep=</a:t>
            </a:r>
            <a:r>
              <a:rPr lang="en-BE" sz="14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9F7C4-B624-E449-9248-301A2814C930}"/>
              </a:ext>
            </a:extLst>
          </p:cNvPr>
          <p:cNvSpPr txBox="1"/>
          <p:nvPr/>
        </p:nvSpPr>
        <p:spPr>
          <a:xfrm>
            <a:off x="2810239" y="4885577"/>
            <a:ext cx="54806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BE" sz="1400" dirty="0"/>
              <a:t> wordt gebruikt om waardes in de string te pluggen: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BE" sz="1400" dirty="0"/>
              <a:t> voor floating point waarde die ook een precisie kan krijgen (hier 1 getal na de komma)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BE" sz="1400" dirty="0"/>
              <a:t> voor string</a:t>
            </a:r>
          </a:p>
          <a:p>
            <a:pPr marL="285750" indent="-285750">
              <a:buFontTx/>
              <a:buChar char="-"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BE" sz="1400" dirty="0"/>
              <a:t> voor integer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C3E075-056B-864E-A469-27EFCB55B6D8}"/>
              </a:ext>
            </a:extLst>
          </p:cNvPr>
          <p:cNvSpPr txBox="1"/>
          <p:nvPr/>
        </p:nvSpPr>
        <p:spPr>
          <a:xfrm>
            <a:off x="-2863" y="4185387"/>
            <a:ext cx="29560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</a:t>
            </a:r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f’</a:t>
            </a:r>
            <a:r>
              <a:rPr lang="en-BE" sz="1400" dirty="0"/>
              <a:t> als voorzetsel van een string duidt aan dat er variabelen gebruikt worden in de string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0C9CAD-0DBC-3846-92AE-6E14E2AD7A6D}"/>
              </a:ext>
            </a:extLst>
          </p:cNvPr>
          <p:cNvCxnSpPr>
            <a:cxnSpLocks/>
          </p:cNvCxnSpPr>
          <p:nvPr/>
        </p:nvCxnSpPr>
        <p:spPr>
          <a:xfrm>
            <a:off x="2438482" y="3909898"/>
            <a:ext cx="1267520" cy="9691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FC41D4-E1BF-EC4F-997B-D85D9CE04C01}"/>
              </a:ext>
            </a:extLst>
          </p:cNvPr>
          <p:cNvCxnSpPr>
            <a:cxnSpLocks/>
          </p:cNvCxnSpPr>
          <p:nvPr/>
        </p:nvCxnSpPr>
        <p:spPr>
          <a:xfrm>
            <a:off x="6434584" y="3929277"/>
            <a:ext cx="627445" cy="2831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9AE54CE-7F36-6744-8AC8-E455DB1686E6}"/>
              </a:ext>
            </a:extLst>
          </p:cNvPr>
          <p:cNvSpPr txBox="1"/>
          <p:nvPr/>
        </p:nvSpPr>
        <p:spPr>
          <a:xfrm>
            <a:off x="6709312" y="4229661"/>
            <a:ext cx="4766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waarden komen er achteraan bij</a:t>
            </a:r>
            <a:r>
              <a:rPr lang="en-US" sz="1400" dirty="0"/>
              <a:t> </a:t>
            </a:r>
            <a:r>
              <a:rPr lang="en-US" sz="1400" dirty="0" err="1"/>
              <a:t>als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tupel</a:t>
            </a:r>
            <a:r>
              <a:rPr lang="en-BE" sz="1400" dirty="0"/>
              <a:t> (merk op hoe 0.35 wordt afgerond tot 1 cijfer na de komma)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84DE5F-2D24-EE40-A888-760916C19102}"/>
              </a:ext>
            </a:extLst>
          </p:cNvPr>
          <p:cNvCxnSpPr>
            <a:cxnSpLocks/>
          </p:cNvCxnSpPr>
          <p:nvPr/>
        </p:nvCxnSpPr>
        <p:spPr>
          <a:xfrm flipH="1">
            <a:off x="4597661" y="3952256"/>
            <a:ext cx="344512" cy="971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543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0310-3E32-6F4C-872D-B71CDE33B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Is beter gestructureerd dan het gebruik van %</a:t>
            </a:r>
          </a:p>
          <a:p>
            <a:r>
              <a:rPr lang="en-BE" dirty="0"/>
              <a:t>Wordt toegepast op een string met vervangingsvelden tussen {}</a:t>
            </a:r>
          </a:p>
          <a:p>
            <a:r>
              <a:rPr lang="en-BE" dirty="0"/>
              <a:t>Argumenten zijn genummerd en kunnen zo op de juiste plaats gezet worden (of herhaald)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C3C18-E13F-F140-A576-9B2085C9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010F4-30F3-2049-9198-9EA2CE34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dirty="0"/>
              <a:t>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format(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-m</a:t>
            </a:r>
            <a:r>
              <a:rPr lang="en-BE" dirty="0"/>
              <a:t>ethode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56CCDA-609F-1748-812B-A0AC08D81A69}"/>
              </a:ext>
            </a:extLst>
          </p:cNvPr>
          <p:cNvSpPr/>
          <p:nvPr/>
        </p:nvSpPr>
        <p:spPr>
          <a:xfrm>
            <a:off x="838200" y="4145837"/>
            <a:ext cx="6407552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a = </a:t>
            </a:r>
            <a:r>
              <a:rPr lang="en-GB" sz="1600" dirty="0">
                <a:solidFill>
                  <a:srgbClr val="6897BB"/>
                </a:solidFill>
              </a:rPr>
              <a:t>100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897BB"/>
                </a:solidFill>
              </a:rPr>
              <a:t>0.222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/>
              <a:t>c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aandelen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{0} {1}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{2}'</a:t>
            </a:r>
            <a:r>
              <a:rPr lang="en-GB" sz="1600" dirty="0"/>
              <a:t>.format(a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</a:t>
            </a:r>
          </a:p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{2} {1}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{0}'</a:t>
            </a:r>
            <a:r>
              <a:rPr lang="en-GB" sz="1600" dirty="0"/>
              <a:t>.format(a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{0[0]} {0[1]}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{1}'</a:t>
            </a:r>
            <a:r>
              <a:rPr lang="en-GB" sz="1600" dirty="0"/>
              <a:t>.format([</a:t>
            </a:r>
            <a:r>
              <a:rPr lang="en-GB" sz="1600" dirty="0">
                <a:solidFill>
                  <a:srgbClr val="6897BB"/>
                </a:solidFill>
              </a:rPr>
              <a:t>100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aandelen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]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0.12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Ik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kocht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een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aandeel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aan</a:t>
            </a:r>
            <a:r>
              <a:rPr lang="en-GB" sz="1600" dirty="0">
                <a:solidFill>
                  <a:srgbClr val="6A8759"/>
                </a:solidFill>
              </a:rPr>
              <a:t> {0:.2f}'</a:t>
            </a:r>
            <a:r>
              <a:rPr lang="en-GB" sz="1600" dirty="0"/>
              <a:t>.format(</a:t>
            </a:r>
            <a:r>
              <a:rPr lang="en-GB" sz="1600" dirty="0">
                <a:solidFill>
                  <a:srgbClr val="6897BB"/>
                </a:solidFill>
              </a:rPr>
              <a:t>10200.2211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F80D9-77A7-DA42-B26B-B4E634C73E1A}"/>
              </a:ext>
            </a:extLst>
          </p:cNvPr>
          <p:cNvSpPr/>
          <p:nvPr/>
        </p:nvSpPr>
        <p:spPr>
          <a:xfrm>
            <a:off x="7507952" y="4884500"/>
            <a:ext cx="3572719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Ik kocht 100 aandelen aan 0.222</a:t>
            </a:r>
          </a:p>
          <a:p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kocht</a:t>
            </a:r>
            <a:r>
              <a:rPr lang="en-GB" sz="1600" dirty="0"/>
              <a:t> 0.222 </a:t>
            </a:r>
            <a:r>
              <a:rPr lang="en-GB" sz="1600" dirty="0" err="1"/>
              <a:t>aandelen</a:t>
            </a:r>
            <a:r>
              <a:rPr lang="en-GB" sz="1600" dirty="0"/>
              <a:t> </a:t>
            </a:r>
            <a:r>
              <a:rPr lang="en-GB" sz="1600" dirty="0" err="1"/>
              <a:t>aan</a:t>
            </a:r>
            <a:r>
              <a:rPr lang="en-GB" sz="1600" dirty="0"/>
              <a:t> 100</a:t>
            </a:r>
            <a:endParaRPr lang="en-BE" sz="1600" dirty="0"/>
          </a:p>
          <a:p>
            <a:r>
              <a:rPr lang="en-BE" sz="1600" dirty="0"/>
              <a:t>Ik kocht 100 aandelen aan 0.12</a:t>
            </a:r>
          </a:p>
          <a:p>
            <a:r>
              <a:rPr lang="en-BE" sz="1600" dirty="0"/>
              <a:t>Ik kocht een aandeel aan 10200.22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AB958-E306-FC4F-B985-1326B21E0331}"/>
              </a:ext>
            </a:extLst>
          </p:cNvPr>
          <p:cNvSpPr txBox="1"/>
          <p:nvPr/>
        </p:nvSpPr>
        <p:spPr>
          <a:xfrm>
            <a:off x="838200" y="3776505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F861D-7ECF-A14D-9F45-19E4D1F1BA3F}"/>
              </a:ext>
            </a:extLst>
          </p:cNvPr>
          <p:cNvSpPr txBox="1"/>
          <p:nvPr/>
        </p:nvSpPr>
        <p:spPr>
          <a:xfrm>
            <a:off x="7507952" y="4515168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B4BB38-B722-EB42-BFE2-A0C41144602E}"/>
              </a:ext>
            </a:extLst>
          </p:cNvPr>
          <p:cNvCxnSpPr>
            <a:cxnSpLocks/>
          </p:cNvCxnSpPr>
          <p:nvPr/>
        </p:nvCxnSpPr>
        <p:spPr>
          <a:xfrm flipH="1" flipV="1">
            <a:off x="4455662" y="3964734"/>
            <a:ext cx="669398" cy="14483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30CF92-C5ED-8042-AECD-2C3A3D7C5C0A}"/>
              </a:ext>
            </a:extLst>
          </p:cNvPr>
          <p:cNvCxnSpPr>
            <a:cxnSpLocks/>
          </p:cNvCxnSpPr>
          <p:nvPr/>
        </p:nvCxnSpPr>
        <p:spPr>
          <a:xfrm flipV="1">
            <a:off x="2444776" y="3964734"/>
            <a:ext cx="676339" cy="14483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4589E1-E0DC-AE42-B795-6FD512503054}"/>
              </a:ext>
            </a:extLst>
          </p:cNvPr>
          <p:cNvCxnSpPr>
            <a:cxnSpLocks/>
          </p:cNvCxnSpPr>
          <p:nvPr/>
        </p:nvCxnSpPr>
        <p:spPr>
          <a:xfrm flipV="1">
            <a:off x="3121115" y="3888000"/>
            <a:ext cx="262200" cy="15558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D01D7B-912A-D140-AE3A-8DA4E9F11178}"/>
              </a:ext>
            </a:extLst>
          </p:cNvPr>
          <p:cNvSpPr txBox="1"/>
          <p:nvPr/>
        </p:nvSpPr>
        <p:spPr>
          <a:xfrm>
            <a:off x="2641837" y="3656957"/>
            <a:ext cx="3327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Zelfs lijsten kunnen gebruikt worden</a:t>
            </a:r>
          </a:p>
        </p:txBody>
      </p:sp>
    </p:spTree>
    <p:extLst>
      <p:ext uri="{BB962C8B-B14F-4D97-AF65-F5344CB8AC3E}">
        <p14:creationId xmlns:p14="http://schemas.microsoft.com/office/powerpoint/2010/main" val="200568103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21596-0B87-4345-B417-F3CA46471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Door een getal mee te geven voor de komma (of gewoon een getal) in de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nl-NL" dirty="0"/>
              <a:t>-functie kunnen we een vast aantal tekenplaatsen/</a:t>
            </a:r>
            <a:r>
              <a:rPr lang="nl-NL" dirty="0" err="1"/>
              <a:t>whitespaces</a:t>
            </a:r>
            <a:r>
              <a:rPr lang="nl-NL" dirty="0"/>
              <a:t> innemen om getallen af te drukken</a:t>
            </a:r>
          </a:p>
          <a:p>
            <a:r>
              <a:rPr lang="nl-NL" dirty="0"/>
              <a:t>Handig om uit te lijnen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8F8E2-7836-7442-801A-DACECB90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C2E96-AB3F-A64C-920E-FA803BF1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Aantal spaties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6478C-C517-D54A-976F-9371D61FA9D8}"/>
              </a:ext>
            </a:extLst>
          </p:cNvPr>
          <p:cNvSpPr/>
          <p:nvPr/>
        </p:nvSpPr>
        <p:spPr>
          <a:xfrm>
            <a:off x="1489842" y="3918655"/>
            <a:ext cx="5312508" cy="7386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</a:rPr>
              <a:t>'</a:t>
            </a:r>
            <a:r>
              <a:rPr lang="en-GB" sz="1400" dirty="0" err="1">
                <a:solidFill>
                  <a:srgbClr val="6A8759"/>
                </a:solidFill>
              </a:rPr>
              <a:t>Ik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kocht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een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aandeel</a:t>
            </a:r>
            <a:r>
              <a:rPr lang="en-GB" sz="1400" dirty="0">
                <a:solidFill>
                  <a:srgbClr val="6A8759"/>
                </a:solidFill>
              </a:rPr>
              <a:t> </a:t>
            </a:r>
            <a:r>
              <a:rPr lang="en-GB" sz="1400" dirty="0" err="1">
                <a:solidFill>
                  <a:srgbClr val="6A8759"/>
                </a:solidFill>
              </a:rPr>
              <a:t>aan</a:t>
            </a:r>
            <a:r>
              <a:rPr lang="en-GB" sz="1400" dirty="0">
                <a:solidFill>
                  <a:srgbClr val="6A8759"/>
                </a:solidFill>
              </a:rPr>
              <a:t> {0:20.2f}'</a:t>
            </a:r>
            <a:r>
              <a:rPr lang="en-GB" sz="1400" dirty="0"/>
              <a:t>.format(</a:t>
            </a:r>
            <a:r>
              <a:rPr lang="en-GB" sz="1400" dirty="0">
                <a:solidFill>
                  <a:srgbClr val="6897BB"/>
                </a:solidFill>
              </a:rPr>
              <a:t>10200.2211</a:t>
            </a:r>
            <a:r>
              <a:rPr lang="en-GB" sz="1400" dirty="0"/>
              <a:t>))</a:t>
            </a:r>
            <a:br>
              <a:rPr lang="en-GB" sz="1400" dirty="0"/>
            </a:br>
            <a:r>
              <a:rPr lang="en-GB" sz="1400" dirty="0">
                <a:solidFill>
                  <a:srgbClr val="CC7832"/>
                </a:solidFill>
              </a:rPr>
              <a:t>for </a:t>
            </a:r>
            <a:r>
              <a:rPr lang="en-GB" sz="1400" dirty="0" err="1"/>
              <a:t>i</a:t>
            </a:r>
            <a:r>
              <a:rPr lang="en-GB" sz="1400" dirty="0"/>
              <a:t> </a:t>
            </a:r>
            <a:r>
              <a:rPr lang="en-GB" sz="1400" dirty="0">
                <a:solidFill>
                  <a:srgbClr val="CC7832"/>
                </a:solidFill>
              </a:rPr>
              <a:t>in </a:t>
            </a:r>
            <a:r>
              <a:rPr lang="en-GB" sz="1400" dirty="0">
                <a:solidFill>
                  <a:srgbClr val="8888C6"/>
                </a:solidFill>
              </a:rPr>
              <a:t>range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897BB"/>
                </a:solidFill>
              </a:rPr>
              <a:t>0</a:t>
            </a:r>
            <a:r>
              <a:rPr lang="en-GB" sz="1400" dirty="0">
                <a:solidFill>
                  <a:srgbClr val="CC7832"/>
                </a:solidFill>
              </a:rPr>
              <a:t>, </a:t>
            </a:r>
            <a:r>
              <a:rPr lang="en-GB" sz="1400" dirty="0">
                <a:solidFill>
                  <a:srgbClr val="6897BB"/>
                </a:solidFill>
              </a:rPr>
              <a:t>11</a:t>
            </a:r>
            <a:r>
              <a:rPr lang="en-GB" sz="1400" dirty="0"/>
              <a:t>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8888C6"/>
                </a:solidFill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</a:rPr>
              <a:t>'</a:t>
            </a:r>
            <a:r>
              <a:rPr lang="en-GB" sz="1400" dirty="0" err="1">
                <a:solidFill>
                  <a:srgbClr val="6A8759"/>
                </a:solidFill>
              </a:rPr>
              <a:t>i</a:t>
            </a:r>
            <a:r>
              <a:rPr lang="en-GB" sz="1400" dirty="0">
                <a:solidFill>
                  <a:srgbClr val="6A8759"/>
                </a:solidFill>
              </a:rPr>
              <a:t> is {0:2}'</a:t>
            </a:r>
            <a:r>
              <a:rPr lang="en-GB" sz="1400" dirty="0"/>
              <a:t>.format(</a:t>
            </a:r>
            <a:r>
              <a:rPr lang="en-GB" sz="1400" dirty="0" err="1"/>
              <a:t>i</a:t>
            </a:r>
            <a:r>
              <a:rPr lang="en-GB" sz="1400" dirty="0"/>
              <a:t>))</a:t>
            </a:r>
            <a:endParaRPr lang="nl-NL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D9BFFA-64D9-A743-862C-721C539E8771}"/>
              </a:ext>
            </a:extLst>
          </p:cNvPr>
          <p:cNvSpPr/>
          <p:nvPr/>
        </p:nvSpPr>
        <p:spPr>
          <a:xfrm>
            <a:off x="7255642" y="2873320"/>
            <a:ext cx="3892062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400" dirty="0"/>
              <a:t>Ik kocht een aandeel aan             10200.22</a:t>
            </a:r>
          </a:p>
          <a:p>
            <a:r>
              <a:rPr lang="nl-NL" sz="1400" dirty="0"/>
              <a:t>i is  0</a:t>
            </a:r>
          </a:p>
          <a:p>
            <a:r>
              <a:rPr lang="nl-NL" sz="1400" dirty="0"/>
              <a:t>i is  1</a:t>
            </a:r>
          </a:p>
          <a:p>
            <a:r>
              <a:rPr lang="nl-NL" sz="1400" dirty="0"/>
              <a:t>i is  2</a:t>
            </a:r>
          </a:p>
          <a:p>
            <a:r>
              <a:rPr lang="nl-NL" sz="1400" dirty="0"/>
              <a:t>i is  3</a:t>
            </a:r>
          </a:p>
          <a:p>
            <a:r>
              <a:rPr lang="nl-NL" sz="1400" dirty="0"/>
              <a:t>i is  4</a:t>
            </a:r>
          </a:p>
          <a:p>
            <a:r>
              <a:rPr lang="nl-NL" sz="1400" dirty="0"/>
              <a:t>i is  5</a:t>
            </a:r>
          </a:p>
          <a:p>
            <a:r>
              <a:rPr lang="nl-NL" sz="1400" dirty="0"/>
              <a:t>i is  6</a:t>
            </a:r>
          </a:p>
          <a:p>
            <a:r>
              <a:rPr lang="nl-NL" sz="1400" dirty="0"/>
              <a:t>i is  7</a:t>
            </a:r>
          </a:p>
          <a:p>
            <a:r>
              <a:rPr lang="nl-NL" sz="1400" dirty="0"/>
              <a:t>i is  8</a:t>
            </a:r>
          </a:p>
          <a:p>
            <a:r>
              <a:rPr lang="nl-NL" sz="1400" dirty="0"/>
              <a:t>i is  9</a:t>
            </a:r>
          </a:p>
          <a:p>
            <a:r>
              <a:rPr lang="nl-NL" sz="1400" dirty="0"/>
              <a:t>i is 10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BE01FF-2AF5-5C46-B4C7-A1B9860D130C}"/>
              </a:ext>
            </a:extLst>
          </p:cNvPr>
          <p:cNvCxnSpPr>
            <a:cxnSpLocks/>
          </p:cNvCxnSpPr>
          <p:nvPr/>
        </p:nvCxnSpPr>
        <p:spPr>
          <a:xfrm flipH="1">
            <a:off x="5885615" y="5550976"/>
            <a:ext cx="1821471" cy="4349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4728FD7-5243-7144-8A47-5F27E1D38A1B}"/>
              </a:ext>
            </a:extLst>
          </p:cNvPr>
          <p:cNvSpPr txBox="1"/>
          <p:nvPr/>
        </p:nvSpPr>
        <p:spPr>
          <a:xfrm>
            <a:off x="2978850" y="5749469"/>
            <a:ext cx="3327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BE" sz="1400" dirty="0"/>
              <a:t>lle getallen gebruiken 2 plaatsen, zodat ze mooi onder elkaar komen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58C8F8-3146-CF46-8054-83AD83D7CDD9}"/>
              </a:ext>
            </a:extLst>
          </p:cNvPr>
          <p:cNvCxnSpPr>
            <a:cxnSpLocks/>
          </p:cNvCxnSpPr>
          <p:nvPr/>
        </p:nvCxnSpPr>
        <p:spPr>
          <a:xfrm>
            <a:off x="4371703" y="4188823"/>
            <a:ext cx="414277" cy="6903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2D354A-B7FB-8846-9C4E-A3EE4A7434EA}"/>
              </a:ext>
            </a:extLst>
          </p:cNvPr>
          <p:cNvCxnSpPr>
            <a:cxnSpLocks/>
          </p:cNvCxnSpPr>
          <p:nvPr/>
        </p:nvCxnSpPr>
        <p:spPr>
          <a:xfrm>
            <a:off x="2647406" y="4657319"/>
            <a:ext cx="1030744" cy="11419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C2113F-C828-0040-A886-3D711AB2DCC6}"/>
              </a:ext>
            </a:extLst>
          </p:cNvPr>
          <p:cNvSpPr txBox="1"/>
          <p:nvPr/>
        </p:nvSpPr>
        <p:spPr>
          <a:xfrm>
            <a:off x="3701105" y="4816372"/>
            <a:ext cx="3327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gebruiken</a:t>
            </a:r>
            <a:r>
              <a:rPr lang="en-US" sz="1400" dirty="0"/>
              <a:t> 20 </a:t>
            </a:r>
            <a:r>
              <a:rPr lang="en-US" sz="1400" dirty="0" err="1"/>
              <a:t>plaatsen</a:t>
            </a:r>
            <a:r>
              <a:rPr lang="en-US" sz="1400" dirty="0"/>
              <a:t> om </a:t>
            </a:r>
            <a:r>
              <a:rPr lang="en-US" sz="1400" dirty="0" err="1"/>
              <a:t>dit</a:t>
            </a:r>
            <a:r>
              <a:rPr lang="en-US" sz="1400" dirty="0"/>
              <a:t> </a:t>
            </a:r>
            <a:r>
              <a:rPr lang="en-US" sz="1400" dirty="0" err="1"/>
              <a:t>getal</a:t>
            </a:r>
            <a:r>
              <a:rPr lang="en-US" sz="1400" dirty="0"/>
              <a:t> </a:t>
            </a:r>
            <a:r>
              <a:rPr lang="en-US" sz="1400" dirty="0" err="1"/>
              <a:t>te</a:t>
            </a:r>
            <a:r>
              <a:rPr lang="en-US" sz="1400" dirty="0"/>
              <a:t> </a:t>
            </a:r>
            <a:r>
              <a:rPr lang="en-US" sz="1400" dirty="0" err="1"/>
              <a:t>printen</a:t>
            </a: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142124748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Zelfde formattering als bij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.format()</a:t>
            </a:r>
            <a:r>
              <a:rPr lang="nl-BE" dirty="0"/>
              <a:t>: breedte (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nl-BE" dirty="0"/>
              <a:t>), precisie (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.2f</a:t>
            </a:r>
            <a:r>
              <a:rPr lang="nl-BE" dirty="0"/>
              <a:t>)</a:t>
            </a:r>
          </a:p>
          <a:p>
            <a:r>
              <a:rPr lang="nl-BE" dirty="0"/>
              <a:t>Uitlijning binnen die breedte: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nl-BE" dirty="0"/>
              <a:t> links,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nl-BE" dirty="0"/>
              <a:t> rechts,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nl-BE" dirty="0"/>
              <a:t> gecentreerd</a:t>
            </a:r>
          </a:p>
          <a:p>
            <a:r>
              <a:rPr lang="nl-BE" dirty="0"/>
              <a:t>Optioneel opvulteken voor het uitlijnteken, bv.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*^10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f-strings met formattering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493000" y="3429000"/>
            <a:ext cx="3810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>
              <a:latin typeface="Consolas"/>
            </a:endParaRPr>
          </a:p>
          <a:p>
            <a:endParaRPr lang="en-GB" sz="1600" dirty="0">
              <a:latin typeface="Consolas"/>
            </a:endParaRPr>
          </a:p>
          <a:p>
            <a:r>
              <a:rPr lang="en-GB" sz="1600" dirty="0">
                <a:latin typeface="Consolas"/>
              </a:rPr>
              <a:t>|appel     |</a:t>
            </a:r>
          </a:p>
          <a:p>
            <a:r>
              <a:rPr lang="en-GB" sz="1600" dirty="0">
                <a:latin typeface="Consolas"/>
              </a:rPr>
              <a:t>|     appel|</a:t>
            </a:r>
          </a:p>
          <a:p>
            <a:r>
              <a:rPr lang="en-GB" sz="1600" dirty="0">
                <a:latin typeface="Consolas"/>
              </a:rPr>
              <a:t>|  appel   |</a:t>
            </a:r>
          </a:p>
          <a:p>
            <a:r>
              <a:rPr lang="en-GB" sz="1600" dirty="0">
                <a:latin typeface="Consolas"/>
              </a:rPr>
              <a:t>|**appel***|</a:t>
            </a:r>
          </a:p>
          <a:p>
            <a:r>
              <a:rPr lang="en-GB" sz="1600" dirty="0">
                <a:latin typeface="Consolas"/>
              </a:rPr>
              <a:t>|     12.35|</a:t>
            </a:r>
          </a:p>
          <a:p>
            <a:endParaRPr lang="en-GB" sz="1600" dirty="0"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0861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493000" y="30861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429000"/>
            <a:ext cx="5207000" cy="21844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naam = </a:t>
            </a:r>
            <a:r>
              <a:rPr lang="en-GB" sz="1600" dirty="0">
                <a:solidFill>
                  <a:srgbClr val="6A8759"/>
                </a:solidFill>
              </a:rPr>
              <a:t>'appel'</a:t>
            </a:r>
            <a:br>
              <a:rPr lang="en-GB" sz="1600" dirty="0"/>
            </a:br>
            <a:r>
              <a:rPr lang="en-GB" sz="1600" dirty="0"/>
              <a:t>prijs = </a:t>
            </a:r>
            <a:r>
              <a:rPr lang="en-GB" sz="1600" dirty="0">
                <a:solidFill>
                  <a:srgbClr val="6897BB"/>
                </a:solidFill>
              </a:rPr>
              <a:t>12.3456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'|{naam:&lt;10}|'</a:t>
            </a:r>
            <a:r>
              <a:rPr lang="en-GB" sz="1600" dirty="0"/>
              <a:t>)   </a:t>
            </a:r>
            <a:r>
              <a:rPr lang="en-GB" sz="1600" dirty="0">
                <a:solidFill>
                  <a:srgbClr val="808080"/>
                </a:solidFill>
              </a:rPr>
              <a:t># links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'|{naam:&gt;10}|'</a:t>
            </a:r>
            <a:r>
              <a:rPr lang="en-GB" sz="1600" dirty="0"/>
              <a:t>)   </a:t>
            </a:r>
            <a:r>
              <a:rPr lang="en-GB" sz="1600" dirty="0">
                <a:solidFill>
                  <a:srgbClr val="808080"/>
                </a:solidFill>
              </a:rPr>
              <a:t># rechts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'|{naam:^10}|'</a:t>
            </a:r>
            <a:r>
              <a:rPr lang="en-GB" sz="1600" dirty="0"/>
              <a:t>)   </a:t>
            </a:r>
            <a:r>
              <a:rPr lang="en-GB" sz="1600" dirty="0">
                <a:solidFill>
                  <a:srgbClr val="808080"/>
                </a:solidFill>
              </a:rPr>
              <a:t># midden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'|{naam:*^10}|'</a:t>
            </a:r>
            <a:r>
              <a:rPr lang="en-GB" sz="1600" dirty="0"/>
              <a:t>)  </a:t>
            </a:r>
            <a:r>
              <a:rPr lang="en-GB" sz="1600" dirty="0">
                <a:solidFill>
                  <a:srgbClr val="808080"/>
                </a:solidFill>
              </a:rPr>
              <a:t># opvulteken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(f</a:t>
            </a:r>
            <a:r>
              <a:rPr lang="en-GB" sz="1600" dirty="0">
                <a:solidFill>
                  <a:srgbClr val="6A8759"/>
                </a:solidFill>
              </a:rPr>
              <a:t>'|{prijs:&gt;10.2f}|'</a:t>
            </a:r>
            <a:r>
              <a:rPr lang="en-GB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58756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B1DAF-2B72-C140-B24E-4BA07631D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De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input()</a:t>
            </a:r>
            <a:r>
              <a:rPr lang="en-BE" dirty="0"/>
              <a:t>-functie laat toe om strings in te lezen</a:t>
            </a:r>
          </a:p>
          <a:p>
            <a:r>
              <a:rPr lang="en-BE" dirty="0"/>
              <a:t>Makkelijk om een interactief programma te maken</a:t>
            </a:r>
          </a:p>
          <a:p>
            <a:r>
              <a:rPr lang="en-BE" dirty="0"/>
              <a:t>De ingelezen string zal wel moeten herwerkt worden om binnen het programma bruikbaar te zijn (bv. omzetten naar integers)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A7E67-7A1B-DF43-9A30-79212F4D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9B74D-A957-BB44-A02D-59D54BB5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Input via de console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60178-6C84-3B48-A8AC-0CF489AE7F7E}"/>
              </a:ext>
            </a:extLst>
          </p:cNvPr>
          <p:cNvSpPr txBox="1"/>
          <p:nvPr/>
        </p:nvSpPr>
        <p:spPr>
          <a:xfrm>
            <a:off x="1968192" y="3622925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41F16-C530-9E4F-8C10-7F93A69FDF96}"/>
              </a:ext>
            </a:extLst>
          </p:cNvPr>
          <p:cNvSpPr txBox="1"/>
          <p:nvPr/>
        </p:nvSpPr>
        <p:spPr>
          <a:xfrm>
            <a:off x="5752326" y="461834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D7B0F-5555-374A-8DA3-5D0A4B655CFF}"/>
              </a:ext>
            </a:extLst>
          </p:cNvPr>
          <p:cNvSpPr txBox="1"/>
          <p:nvPr/>
        </p:nvSpPr>
        <p:spPr>
          <a:xfrm>
            <a:off x="5752325" y="3992257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Input: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59CEE-37D1-7144-85B1-041D636540AD}"/>
              </a:ext>
            </a:extLst>
          </p:cNvPr>
          <p:cNvSpPr/>
          <p:nvPr/>
        </p:nvSpPr>
        <p:spPr>
          <a:xfrm>
            <a:off x="6671167" y="4006355"/>
            <a:ext cx="350576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ik</a:t>
            </a:r>
            <a:r>
              <a:rPr lang="en-GB" sz="1600" dirty="0"/>
              <a:t> </a:t>
            </a:r>
            <a:r>
              <a:rPr lang="en-GB" sz="1600" dirty="0" err="1"/>
              <a:t>schrijf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zin in de console</a:t>
            </a:r>
            <a:endParaRPr lang="en-BE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031FC-340E-A34C-9B16-3353795C9ED0}"/>
              </a:ext>
            </a:extLst>
          </p:cNvPr>
          <p:cNvSpPr/>
          <p:nvPr/>
        </p:nvSpPr>
        <p:spPr>
          <a:xfrm>
            <a:off x="1968192" y="3992257"/>
            <a:ext cx="3172384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ingelezen_string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</a:rPr>
              <a:t>input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'---'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ingelezen_string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'---'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47BF2-59F0-FE49-82A9-19918F8D7022}"/>
              </a:ext>
            </a:extLst>
          </p:cNvPr>
          <p:cNvSpPr/>
          <p:nvPr/>
        </p:nvSpPr>
        <p:spPr>
          <a:xfrm>
            <a:off x="6671167" y="4594664"/>
            <a:ext cx="3437159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--- ik schrijf een zin in de console ---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E03F33-B2D7-5943-9DDB-0C7FA3FF1B25}"/>
              </a:ext>
            </a:extLst>
          </p:cNvPr>
          <p:cNvSpPr/>
          <p:nvPr/>
        </p:nvSpPr>
        <p:spPr>
          <a:xfrm>
            <a:off x="794751" y="5171155"/>
            <a:ext cx="4738824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ingelezen_string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8888C6"/>
                </a:solidFill>
              </a:rPr>
              <a:t>input</a:t>
            </a:r>
            <a:r>
              <a:rPr lang="en-GB" sz="1600" dirty="0"/>
              <a:t>(‘</a:t>
            </a:r>
            <a:r>
              <a:rPr lang="en-GB" sz="1600" dirty="0" err="1"/>
              <a:t>Geef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nummer</a:t>
            </a:r>
            <a:r>
              <a:rPr lang="en-GB" sz="1600" dirty="0"/>
              <a:t>’)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Omgezet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8888C6"/>
                </a:solidFill>
              </a:rPr>
              <a:t>int</a:t>
            </a:r>
            <a:r>
              <a:rPr lang="en-GB" sz="1600" dirty="0"/>
              <a:t>(</a:t>
            </a:r>
            <a:r>
              <a:rPr lang="en-GB" sz="1600" dirty="0" err="1"/>
              <a:t>ingelezen_string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D196E0-72F8-234C-92DA-A168817E7726}"/>
              </a:ext>
            </a:extLst>
          </p:cNvPr>
          <p:cNvSpPr txBox="1"/>
          <p:nvPr/>
        </p:nvSpPr>
        <p:spPr>
          <a:xfrm>
            <a:off x="5752326" y="578144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CE6D7-138B-854A-BCF2-A7A589E5DF2A}"/>
              </a:ext>
            </a:extLst>
          </p:cNvPr>
          <p:cNvSpPr txBox="1"/>
          <p:nvPr/>
        </p:nvSpPr>
        <p:spPr>
          <a:xfrm>
            <a:off x="5752325" y="5155357"/>
            <a:ext cx="699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Input: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42197-5E4A-F341-82D1-8AF943B2FDEA}"/>
              </a:ext>
            </a:extLst>
          </p:cNvPr>
          <p:cNvSpPr/>
          <p:nvPr/>
        </p:nvSpPr>
        <p:spPr>
          <a:xfrm>
            <a:off x="6671167" y="5192102"/>
            <a:ext cx="412292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39E0D6-036D-DD4F-B94F-AD86AE8569EA}"/>
              </a:ext>
            </a:extLst>
          </p:cNvPr>
          <p:cNvSpPr txBox="1"/>
          <p:nvPr/>
        </p:nvSpPr>
        <p:spPr>
          <a:xfrm>
            <a:off x="6671167" y="5780411"/>
            <a:ext cx="136127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600" dirty="0" err="1"/>
              <a:t>Omgezet</a:t>
            </a:r>
            <a:r>
              <a:rPr lang="en-GB" sz="1600" dirty="0"/>
              <a:t>: 55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87237273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DA0EF-5182-7B43-AB10-2A669D85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99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BF177-A2F9-F445-8895-3455D05C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Groter voorbeeld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AA703-33B5-8443-89AD-FA4684AF6465}"/>
              </a:ext>
            </a:extLst>
          </p:cNvPr>
          <p:cNvSpPr txBox="1"/>
          <p:nvPr/>
        </p:nvSpPr>
        <p:spPr>
          <a:xfrm>
            <a:off x="1641676" y="1690688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EC66C-9F4D-384E-8B50-E309A056CD0A}"/>
              </a:ext>
            </a:extLst>
          </p:cNvPr>
          <p:cNvSpPr txBox="1"/>
          <p:nvPr/>
        </p:nvSpPr>
        <p:spPr>
          <a:xfrm>
            <a:off x="1452521" y="499975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029E3B-6F3E-D646-9A1D-05C59EEBE134}"/>
              </a:ext>
            </a:extLst>
          </p:cNvPr>
          <p:cNvSpPr/>
          <p:nvPr/>
        </p:nvSpPr>
        <p:spPr>
          <a:xfrm>
            <a:off x="2371363" y="4640340"/>
            <a:ext cx="8578288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 err="1"/>
              <a:t>Vanavond</a:t>
            </a:r>
            <a:r>
              <a:rPr lang="en-GB" sz="1600" dirty="0"/>
              <a:t> eten we spaghetti</a:t>
            </a:r>
          </a:p>
          <a:p>
            <a:r>
              <a:rPr lang="en-GB" sz="1600" dirty="0"/>
              <a:t>v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  <a:r>
              <a:rPr lang="en-GB" sz="1600" dirty="0" err="1"/>
              <a:t>i</a:t>
            </a:r>
            <a:r>
              <a:rPr lang="en-GB" sz="1600" dirty="0"/>
              <a:t>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g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o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    </a:t>
            </a:r>
            <a:r>
              <a:rPr lang="en-GB" sz="1600" dirty="0" err="1"/>
              <a:t>komt</a:t>
            </a:r>
            <a:r>
              <a:rPr lang="en-GB" sz="1600" dirty="0"/>
              <a:t> 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s   </a:t>
            </a:r>
            <a:r>
              <a:rPr lang="en-GB" sz="1600" dirty="0" err="1"/>
              <a:t>komt</a:t>
            </a:r>
            <a:r>
              <a:rPr lang="en-GB" sz="1600" dirty="0"/>
              <a:t> 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t   </a:t>
            </a:r>
            <a:r>
              <a:rPr lang="en-GB" sz="1600" dirty="0" err="1"/>
              <a:t>komt</a:t>
            </a:r>
            <a:r>
              <a:rPr lang="en-GB" sz="1600" dirty="0"/>
              <a:t>  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e  </a:t>
            </a:r>
            <a:r>
              <a:rPr lang="en-GB" sz="1600" dirty="0" err="1"/>
              <a:t>komt</a:t>
            </a:r>
            <a:r>
              <a:rPr lang="en-GB" sz="1600" dirty="0"/>
              <a:t>   4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p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a   </a:t>
            </a:r>
            <a:r>
              <a:rPr lang="en-GB" sz="1600" dirty="0" err="1"/>
              <a:t>komt</a:t>
            </a:r>
            <a:r>
              <a:rPr lang="en-GB" sz="1600" dirty="0"/>
              <a:t> 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h   </a:t>
            </a:r>
            <a:r>
              <a:rPr lang="en-GB" sz="1600" dirty="0" err="1"/>
              <a:t>komt</a:t>
            </a:r>
            <a:r>
              <a:rPr lang="en-GB" sz="1600" dirty="0"/>
              <a:t>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V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</a:p>
          <a:p>
            <a:r>
              <a:rPr lang="en-GB" sz="1600" dirty="0"/>
              <a:t>w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n   </a:t>
            </a:r>
            <a:r>
              <a:rPr lang="en-GB" sz="1600" dirty="0" err="1"/>
              <a:t>komt</a:t>
            </a:r>
            <a:r>
              <a:rPr lang="en-GB" sz="1600" dirty="0"/>
              <a:t>  3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d   </a:t>
            </a:r>
            <a:r>
              <a:rPr lang="en-GB" sz="1600" dirty="0" err="1"/>
              <a:t>komt</a:t>
            </a:r>
            <a:r>
              <a:rPr lang="en-GB" sz="1600" dirty="0"/>
              <a:t>   1 </a:t>
            </a:r>
            <a:r>
              <a:rPr lang="en-GB" sz="1600" dirty="0" err="1"/>
              <a:t>keer</a:t>
            </a:r>
            <a:r>
              <a:rPr lang="en-GB" sz="1600" dirty="0"/>
              <a:t> </a:t>
            </a:r>
            <a:r>
              <a:rPr lang="en-GB" sz="1600" dirty="0" err="1"/>
              <a:t>voor</a:t>
            </a:r>
            <a:r>
              <a:rPr lang="en-GB" sz="1600" dirty="0"/>
              <a:t> 	</a:t>
            </a:r>
            <a:endParaRPr lang="en-BE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55772C-446F-2742-99E5-B2B336719473}"/>
              </a:ext>
            </a:extLst>
          </p:cNvPr>
          <p:cNvSpPr/>
          <p:nvPr/>
        </p:nvSpPr>
        <p:spPr>
          <a:xfrm>
            <a:off x="2371363" y="1687550"/>
            <a:ext cx="8578288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zin = </a:t>
            </a:r>
            <a:r>
              <a:rPr lang="en-GB" sz="1600" dirty="0">
                <a:solidFill>
                  <a:srgbClr val="6A8759"/>
                </a:solidFill>
              </a:rPr>
              <a:t>"</a:t>
            </a:r>
            <a:r>
              <a:rPr lang="en-GB" sz="1600" dirty="0" err="1">
                <a:solidFill>
                  <a:srgbClr val="6A8759"/>
                </a:solidFill>
              </a:rPr>
              <a:t>Vanavond</a:t>
            </a:r>
            <a:r>
              <a:rPr lang="en-GB" sz="1600" dirty="0">
                <a:solidFill>
                  <a:srgbClr val="6A8759"/>
                </a:solidFill>
              </a:rPr>
              <a:t> eten we spaghetti"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(zin)</a:t>
            </a:r>
            <a:br>
              <a:rPr lang="en-GB" sz="1600" dirty="0"/>
            </a:br>
            <a:r>
              <a:rPr lang="en-GB" sz="1600" dirty="0"/>
              <a:t>letters = </a:t>
            </a:r>
            <a:r>
              <a:rPr lang="en-GB" sz="1600" dirty="0">
                <a:solidFill>
                  <a:srgbClr val="8888C6"/>
                </a:solidFill>
              </a:rPr>
              <a:t>set</a:t>
            </a:r>
            <a:r>
              <a:rPr lang="en-GB" sz="1600" dirty="0"/>
              <a:t>(zin)</a:t>
            </a:r>
            <a:br>
              <a:rPr lang="en-GB" sz="1600" dirty="0"/>
            </a:br>
            <a:r>
              <a:rPr lang="en-GB" sz="1600" dirty="0"/>
              <a:t>teller = 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 err="1"/>
              <a:t>output_string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6A8759"/>
                </a:solidFill>
              </a:rPr>
              <a:t>''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 err="1"/>
              <a:t>teken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/>
              <a:t>letters: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 err="1"/>
              <a:t>output_string</a:t>
            </a:r>
            <a:r>
              <a:rPr lang="en-GB" sz="1600" dirty="0"/>
              <a:t> += </a:t>
            </a:r>
            <a:r>
              <a:rPr lang="en-GB" sz="1600" dirty="0">
                <a:solidFill>
                  <a:srgbClr val="6A8759"/>
                </a:solidFill>
              </a:rPr>
              <a:t>"{0:3s} </a:t>
            </a:r>
            <a:r>
              <a:rPr lang="en-GB" sz="1600" dirty="0" err="1">
                <a:solidFill>
                  <a:srgbClr val="6A8759"/>
                </a:solidFill>
              </a:rPr>
              <a:t>komt</a:t>
            </a:r>
            <a:r>
              <a:rPr lang="en-GB" sz="1600" dirty="0">
                <a:solidFill>
                  <a:srgbClr val="6A8759"/>
                </a:solidFill>
              </a:rPr>
              <a:t> {1:3d} </a:t>
            </a:r>
            <a:r>
              <a:rPr lang="en-GB" sz="1600" dirty="0" err="1">
                <a:solidFill>
                  <a:srgbClr val="6A8759"/>
                </a:solidFill>
              </a:rPr>
              <a:t>keer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voor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\</a:t>
            </a:r>
            <a:r>
              <a:rPr lang="en-GB" sz="1600" dirty="0" err="1">
                <a:solidFill>
                  <a:srgbClr val="CC7832"/>
                </a:solidFill>
              </a:rPr>
              <a:t>t</a:t>
            </a:r>
            <a:r>
              <a:rPr lang="en-GB" sz="1600" dirty="0" err="1">
                <a:solidFill>
                  <a:srgbClr val="6A8759"/>
                </a:solidFill>
              </a:rPr>
              <a:t>"</a:t>
            </a:r>
            <a:r>
              <a:rPr lang="en-GB" sz="1600" dirty="0" err="1"/>
              <a:t>.format</a:t>
            </a:r>
            <a:r>
              <a:rPr lang="en-GB" sz="1600" dirty="0"/>
              <a:t>(</a:t>
            </a:r>
            <a:r>
              <a:rPr lang="en-GB" sz="1600" dirty="0" err="1"/>
              <a:t>teken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zin.count</a:t>
            </a:r>
            <a:r>
              <a:rPr lang="en-GB" sz="1600" dirty="0"/>
              <a:t>(</a:t>
            </a:r>
            <a:r>
              <a:rPr lang="en-GB" sz="1600" dirty="0" err="1"/>
              <a:t>teken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/>
              <a:t>    teller +=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br>
              <a:rPr lang="en-GB" sz="1600" dirty="0">
                <a:solidFill>
                  <a:srgbClr val="6897BB"/>
                </a:solidFill>
              </a:rPr>
            </a:br>
            <a:r>
              <a:rPr lang="en-GB" sz="1600" dirty="0">
                <a:solidFill>
                  <a:srgbClr val="6897BB"/>
                </a:solidFill>
              </a:rPr>
              <a:t>    </a:t>
            </a:r>
            <a:r>
              <a:rPr lang="en-GB" sz="1600" dirty="0">
                <a:solidFill>
                  <a:srgbClr val="CC7832"/>
                </a:solidFill>
              </a:rPr>
              <a:t>if </a:t>
            </a:r>
            <a:r>
              <a:rPr lang="en-GB" sz="1600" dirty="0"/>
              <a:t>teller % </a:t>
            </a:r>
            <a:r>
              <a:rPr lang="en-GB" sz="1600" dirty="0">
                <a:solidFill>
                  <a:srgbClr val="6897BB"/>
                </a:solidFill>
              </a:rPr>
              <a:t>3 </a:t>
            </a:r>
            <a:r>
              <a:rPr lang="en-GB" sz="1600" dirty="0"/>
              <a:t>== 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output_string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    </a:t>
            </a:r>
            <a:r>
              <a:rPr lang="en-GB" sz="1600" dirty="0" err="1"/>
              <a:t>output_string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6A8759"/>
                </a:solidFill>
              </a:rPr>
              <a:t>''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60351848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D81212-24B5-A814-3ABA-0B513932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s = "python"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s.upper()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print(s)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print("a,b,c".split(","))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print("-".join(["a", "b"]))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pi = 3.14159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print(f"{pi:.2f}")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2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A5133C-DD82-D083-A201-4D879F16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564BDC-32E5-B37D-1CD4-CD22C4A1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1.7: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1769564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2CD8A-6E0C-F745-9F8B-D33FFE88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8. Functies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940340-484C-924E-B731-FD397CC1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.11-functies.ipynb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E48-0FD4-1344-BBBB-614F254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47324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B680-AC2B-2945-939A-2D68A8535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dirty="0"/>
              <a:t>Functies kunnen zelf gedefinieerd en gebruikt worden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/>
              <a:t>Om code overzichtelijk te houden</a:t>
            </a:r>
          </a:p>
          <a:p>
            <a:pPr lvl="1"/>
            <a:r>
              <a:rPr lang="en-BE" sz="2000" dirty="0"/>
              <a:t>Om te herbruiken op verschillende plaatsen</a:t>
            </a:r>
          </a:p>
          <a:p>
            <a:pPr lvl="1"/>
            <a:r>
              <a:rPr lang="en-BE" sz="2000" dirty="0"/>
              <a:t>Om logica af te schermen</a:t>
            </a:r>
          </a:p>
          <a:p>
            <a:r>
              <a:rPr lang="en-BE" dirty="0"/>
              <a:t>Functies hebben inputs (argumenten) en mogelijk outputs</a:t>
            </a:r>
          </a:p>
          <a:p>
            <a:r>
              <a:rPr lang="en-BE" dirty="0"/>
              <a:t>Functie gekoppeld aan bepaald object: methode</a:t>
            </a:r>
          </a:p>
          <a:p>
            <a:r>
              <a:rPr lang="en-BE" dirty="0"/>
              <a:t>Veel ingebouwde functies zijn al aan bod gekomen: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</a:p>
          <a:p>
            <a:pPr lvl="1"/>
            <a:r>
              <a:rPr lang="en-BE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str()/int()/bool()/float()</a:t>
            </a:r>
          </a:p>
          <a:p>
            <a:pPr lvl="1"/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B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215F8-C819-5C43-B454-E1253748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10CED-0132-5042-BF77-917D850D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Introductie</a:t>
            </a:r>
          </a:p>
        </p:txBody>
      </p:sp>
    </p:spTree>
    <p:extLst>
      <p:ext uri="{BB962C8B-B14F-4D97-AF65-F5344CB8AC3E}">
        <p14:creationId xmlns:p14="http://schemas.microsoft.com/office/powerpoint/2010/main" val="179598576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1D19B-C377-C940-8936-2AC5EC4D6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E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BE" dirty="0"/>
              <a:t> duidt een zelfgemaakte functie aan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</a:t>
            </a:r>
            <a:r>
              <a:rPr lang="en-BE" dirty="0"/>
              <a:t>ordt gevolgd door de naam van de functie</a:t>
            </a:r>
          </a:p>
          <a:p>
            <a:pPr marL="514350" indent="-514350">
              <a:buFont typeface="+mj-lt"/>
              <a:buAutoNum type="arabicPeriod"/>
            </a:pPr>
            <a:r>
              <a:rPr lang="en-BE" dirty="0"/>
              <a:t>De argumenten volgen tussen haakjes</a:t>
            </a:r>
          </a:p>
          <a:p>
            <a:pPr marL="514350" indent="-514350">
              <a:buFont typeface="+mj-lt"/>
              <a:buAutoNum type="arabicPeriod"/>
            </a:pPr>
            <a:r>
              <a:rPr lang="en-BE" dirty="0"/>
              <a:t>Als de functie iets teruggeeft gebeurt dit via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24BB3-654D-7D4F-98C3-B95CE381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E322E-7309-1B41-94C5-933CD465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Voorbeeldfunctie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F50E7-8691-C949-B306-1723A63361B1}"/>
              </a:ext>
            </a:extLst>
          </p:cNvPr>
          <p:cNvSpPr/>
          <p:nvPr/>
        </p:nvSpPr>
        <p:spPr>
          <a:xfrm>
            <a:off x="1324303" y="4325025"/>
            <a:ext cx="5349765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geef_lengte_van_strings</a:t>
            </a:r>
            <a:r>
              <a:rPr lang="en-GB" sz="1600" dirty="0"/>
              <a:t>(string_1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(string_1) +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(string_2)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 err="1"/>
              <a:t>totale_lengte</a:t>
            </a:r>
            <a:r>
              <a:rPr lang="en-GB" sz="1600" dirty="0"/>
              <a:t> = </a:t>
            </a:r>
            <a:r>
              <a:rPr lang="en-GB" sz="1600" dirty="0" err="1"/>
              <a:t>geef_lengte_van_strings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>
                <a:solidFill>
                  <a:srgbClr val="6A8759"/>
                </a:solidFill>
              </a:rPr>
              <a:t>f'Lengte</a:t>
            </a:r>
            <a:r>
              <a:rPr lang="en-GB" sz="1600" dirty="0">
                <a:solidFill>
                  <a:srgbClr val="6A8759"/>
                </a:solidFill>
              </a:rPr>
              <a:t> van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b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opgeteld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totale_lengte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2BB050-E4B5-3D46-BCEB-7DFBD83D9048}"/>
              </a:ext>
            </a:extLst>
          </p:cNvPr>
          <p:cNvSpPr/>
          <p:nvPr/>
        </p:nvSpPr>
        <p:spPr>
          <a:xfrm>
            <a:off x="6973818" y="5781446"/>
            <a:ext cx="4586512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Lengte van Johannes en De Smedt opgeteld: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4CE48-2EA7-4C43-AC0F-2F45A8F9A82C}"/>
              </a:ext>
            </a:extLst>
          </p:cNvPr>
          <p:cNvSpPr txBox="1"/>
          <p:nvPr/>
        </p:nvSpPr>
        <p:spPr>
          <a:xfrm>
            <a:off x="1324303" y="400129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280B4-568F-F641-B207-06068855A526}"/>
              </a:ext>
            </a:extLst>
          </p:cNvPr>
          <p:cNvSpPr txBox="1"/>
          <p:nvPr/>
        </p:nvSpPr>
        <p:spPr>
          <a:xfrm>
            <a:off x="6973818" y="541211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40A89C-2920-FF47-A39D-8CB9E2D0579B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516539" y="4271325"/>
            <a:ext cx="2753710" cy="12878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EFA293F-2C56-7E4B-9DF2-A663FED8939E}"/>
              </a:ext>
            </a:extLst>
          </p:cNvPr>
          <p:cNvSpPr txBox="1"/>
          <p:nvPr/>
        </p:nvSpPr>
        <p:spPr>
          <a:xfrm>
            <a:off x="7270249" y="3901993"/>
            <a:ext cx="40835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functie moet uiteraard gedefinieerd zijn voor gebruik (dus boven dit statement</a:t>
            </a:r>
            <a:r>
              <a:rPr lang="en-US" sz="1400" dirty="0"/>
              <a:t> – in JN: in </a:t>
            </a:r>
            <a:r>
              <a:rPr lang="en-US" sz="1400" dirty="0" err="1"/>
              <a:t>een</a:t>
            </a:r>
            <a:r>
              <a:rPr lang="en-US" sz="1400" dirty="0"/>
              <a:t> cell die al is </a:t>
            </a:r>
            <a:r>
              <a:rPr lang="en-US" sz="1400" dirty="0" err="1"/>
              <a:t>uitgevoerd</a:t>
            </a:r>
            <a:r>
              <a:rPr lang="en-BE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ACC3E-A847-0C41-B1F0-8060292CB859}"/>
              </a:ext>
            </a:extLst>
          </p:cNvPr>
          <p:cNvSpPr txBox="1"/>
          <p:nvPr/>
        </p:nvSpPr>
        <p:spPr>
          <a:xfrm>
            <a:off x="1253067" y="4505562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06597-7F81-1C45-B462-8F2611A4731E}"/>
              </a:ext>
            </a:extLst>
          </p:cNvPr>
          <p:cNvSpPr txBox="1"/>
          <p:nvPr/>
        </p:nvSpPr>
        <p:spPr>
          <a:xfrm>
            <a:off x="2740670" y="417531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98ED3B-27D7-8A4D-BA94-634BF1645429}"/>
              </a:ext>
            </a:extLst>
          </p:cNvPr>
          <p:cNvSpPr txBox="1"/>
          <p:nvPr/>
        </p:nvSpPr>
        <p:spPr>
          <a:xfrm>
            <a:off x="4970927" y="4505562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0CBDEC-4CB8-8643-8446-258E184C0349}"/>
              </a:ext>
            </a:extLst>
          </p:cNvPr>
          <p:cNvSpPr txBox="1"/>
          <p:nvPr/>
        </p:nvSpPr>
        <p:spPr>
          <a:xfrm>
            <a:off x="1903147" y="4821217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928424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ECC75-2871-594E-97CF-0A1FC51EE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</a:t>
            </a:r>
            <a:r>
              <a:rPr lang="en-BE" dirty="0"/>
              <a:t>ariabelen hebben een ‘scope’ waarbinnen ze gelden:</a:t>
            </a:r>
          </a:p>
          <a:p>
            <a:pPr lvl="1"/>
            <a:r>
              <a:rPr lang="en-BE" sz="2000" dirty="0"/>
              <a:t>Variabelen aangemaakt binnen een functie bestaan niet daarbuiten</a:t>
            </a:r>
            <a:r>
              <a:rPr lang="en-US" sz="2000" dirty="0"/>
              <a:t>:</a:t>
            </a:r>
            <a:endParaRPr lang="en-BE" sz="2000" dirty="0"/>
          </a:p>
          <a:p>
            <a:pPr lvl="2"/>
            <a:r>
              <a:rPr lang="en-BE" sz="1800" dirty="0"/>
              <a:t>Tenzij het keyword </a:t>
            </a:r>
            <a:r>
              <a:rPr lang="en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BE" sz="1800" dirty="0"/>
              <a:t> wordt gebruikt bij het aanpassen van de variabelen binnen de functie</a:t>
            </a:r>
          </a:p>
          <a:p>
            <a:pPr lvl="1"/>
            <a:r>
              <a:rPr lang="en-BE" sz="2000" dirty="0"/>
              <a:t>Variabelen van het hoofdprogramma bestaan overa</a:t>
            </a:r>
            <a:r>
              <a:rPr lang="nl-BE" sz="2000" dirty="0"/>
              <a:t>l</a:t>
            </a:r>
            <a:r>
              <a:rPr lang="en-US" sz="2000" dirty="0"/>
              <a:t>:</a:t>
            </a:r>
            <a:endParaRPr lang="en-BE" sz="2000" dirty="0"/>
          </a:p>
          <a:p>
            <a:pPr lvl="2"/>
            <a:r>
              <a:rPr lang="en-BE" sz="1800" dirty="0">
                <a:solidFill>
                  <a:srgbClr val="FF0000"/>
                </a:solidFill>
              </a:rPr>
              <a:t>Vermijd om deze variabelen binnen functies te gebruiken tenzij ze worden meegegeven als argumenten (en worden dan best gekopieerd indien geen basis type):</a:t>
            </a:r>
            <a:endParaRPr lang="en-GB" sz="1800" dirty="0">
              <a:effectLst/>
            </a:endParaRPr>
          </a:p>
          <a:p>
            <a:pPr marL="1600200" lvl="3" indent="-228600">
              <a:buFont typeface="Arial" panose="020B0604020202020204" pitchFamily="34" charset="0"/>
              <a:buChar char="•"/>
            </a:pPr>
            <a:r>
              <a:rPr lang="en-GB" sz="1600" dirty="0" err="1"/>
              <a:t>Kunnen</a:t>
            </a:r>
            <a:r>
              <a:rPr lang="en-GB" sz="1600" dirty="0"/>
              <a:t> </a:t>
            </a:r>
            <a:r>
              <a:rPr lang="en-GB" sz="1600" dirty="0" err="1"/>
              <a:t>overschreven</a:t>
            </a:r>
            <a:r>
              <a:rPr lang="en-GB" sz="1600" dirty="0"/>
              <a:t> </a:t>
            </a:r>
            <a:r>
              <a:rPr lang="en-GB" sz="1600" dirty="0" err="1"/>
              <a:t>worden</a:t>
            </a:r>
            <a:r>
              <a:rPr lang="en-GB" sz="1600" dirty="0"/>
              <a:t> </a:t>
            </a:r>
            <a:r>
              <a:rPr lang="en-GB" sz="1600" dirty="0" err="1"/>
              <a:t>binnen</a:t>
            </a:r>
            <a:r>
              <a:rPr lang="en-GB" sz="1600" dirty="0"/>
              <a:t> </a:t>
            </a:r>
            <a:r>
              <a:rPr lang="en-GB" sz="1600" dirty="0" err="1"/>
              <a:t>functie</a:t>
            </a:r>
            <a:r>
              <a:rPr lang="en-GB" sz="1600" dirty="0"/>
              <a:t> </a:t>
            </a:r>
            <a:r>
              <a:rPr lang="en-GB" sz="1600" dirty="0" err="1"/>
              <a:t>zonder</a:t>
            </a:r>
            <a:r>
              <a:rPr lang="en-GB" sz="1600" dirty="0"/>
              <a:t> </a:t>
            </a:r>
            <a:r>
              <a:rPr lang="en-GB" sz="1600" dirty="0" err="1"/>
              <a:t>dat</a:t>
            </a:r>
            <a:r>
              <a:rPr lang="en-GB" sz="1600" dirty="0"/>
              <a:t> </a:t>
            </a:r>
            <a:r>
              <a:rPr lang="en-GB" sz="1600" dirty="0" err="1"/>
              <a:t>implicaties</a:t>
            </a:r>
            <a:r>
              <a:rPr lang="en-GB" sz="1600" dirty="0"/>
              <a:t> </a:t>
            </a:r>
            <a:r>
              <a:rPr lang="en-GB" sz="1600" dirty="0" err="1"/>
              <a:t>daarbuiten</a:t>
            </a:r>
            <a:r>
              <a:rPr lang="en-GB" sz="1600" dirty="0"/>
              <a:t> </a:t>
            </a:r>
            <a:r>
              <a:rPr lang="en-GB" sz="1600" dirty="0" err="1"/>
              <a:t>gekend</a:t>
            </a:r>
            <a:r>
              <a:rPr lang="en-GB" sz="1600" dirty="0"/>
              <a:t> </a:t>
            </a:r>
            <a:r>
              <a:rPr lang="en-GB" sz="1600" dirty="0" err="1"/>
              <a:t>zijn</a:t>
            </a:r>
            <a:r>
              <a:rPr lang="en-GB" sz="1600" dirty="0"/>
              <a:t> (</a:t>
            </a:r>
            <a:r>
              <a:rPr lang="en-GB" sz="1600" dirty="0" err="1"/>
              <a:t>voor</a:t>
            </a:r>
            <a:r>
              <a:rPr lang="en-GB" sz="1600" dirty="0"/>
              <a:t> </a:t>
            </a:r>
            <a:r>
              <a:rPr lang="en-GB" sz="1600" dirty="0" err="1"/>
              <a:t>bv</a:t>
            </a:r>
            <a:r>
              <a:rPr lang="en-GB" sz="1600" dirty="0"/>
              <a:t>. </a:t>
            </a:r>
            <a:r>
              <a:rPr lang="en-GB" sz="1600" dirty="0" err="1"/>
              <a:t>een</a:t>
            </a:r>
            <a:r>
              <a:rPr lang="en-GB" sz="1600" dirty="0"/>
              <a:t> </a:t>
            </a:r>
            <a:r>
              <a:rPr lang="en-GB" sz="1600" dirty="0" err="1"/>
              <a:t>andere</a:t>
            </a:r>
            <a:r>
              <a:rPr lang="en-GB" sz="1600" dirty="0"/>
              <a:t> </a:t>
            </a:r>
            <a:r>
              <a:rPr lang="en-GB" sz="1600" dirty="0" err="1"/>
              <a:t>functie</a:t>
            </a:r>
            <a:r>
              <a:rPr lang="en-GB" sz="1600" dirty="0"/>
              <a:t> die de </a:t>
            </a:r>
            <a:r>
              <a:rPr lang="en-GB" sz="1600" dirty="0" err="1"/>
              <a:t>variabele</a:t>
            </a:r>
            <a:r>
              <a:rPr lang="en-GB" sz="1600" dirty="0"/>
              <a:t> </a:t>
            </a:r>
            <a:r>
              <a:rPr lang="en-GB" sz="1600" dirty="0" err="1"/>
              <a:t>gebruikt</a:t>
            </a:r>
            <a:r>
              <a:rPr lang="en-GB" sz="1600" dirty="0"/>
              <a:t>)</a:t>
            </a:r>
            <a:endParaRPr lang="en-BE" sz="1600" dirty="0"/>
          </a:p>
          <a:p>
            <a:pPr lvl="2"/>
            <a:r>
              <a:rPr lang="en-BE" sz="1800" dirty="0"/>
              <a:t>Kunnen eventueel expliciet aangeduid worden met het keyword </a:t>
            </a:r>
            <a:r>
              <a:rPr lang="en-B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</a:p>
          <a:p>
            <a:pPr lvl="3"/>
            <a:r>
              <a:rPr lang="en-BE" sz="1600" dirty="0"/>
              <a:t>Zie later recursie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215BC-5B8C-814D-8385-A13E52B7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27251-4C55-1F4C-BD94-5F34107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Variabelen binnen functies</a:t>
            </a:r>
          </a:p>
        </p:txBody>
      </p:sp>
    </p:spTree>
    <p:extLst>
      <p:ext uri="{BB962C8B-B14F-4D97-AF65-F5344CB8AC3E}">
        <p14:creationId xmlns:p14="http://schemas.microsoft.com/office/powerpoint/2010/main" val="41465992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4ECC3D-F401-9745-8AAD-0BC9E086725B}"/>
              </a:ext>
            </a:extLst>
          </p:cNvPr>
          <p:cNvSpPr/>
          <p:nvPr/>
        </p:nvSpPr>
        <p:spPr>
          <a:xfrm>
            <a:off x="838199" y="2778693"/>
            <a:ext cx="5649241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geef_lengte_van_strings</a:t>
            </a:r>
            <a:r>
              <a:rPr lang="en-GB" sz="1600" dirty="0"/>
              <a:t>(string_1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'a is </a:t>
            </a:r>
            <a:r>
              <a:rPr lang="en-GB" sz="1600" dirty="0" err="1">
                <a:solidFill>
                  <a:srgbClr val="6A8759"/>
                </a:solidFill>
              </a:rPr>
              <a:t>hier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ook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beschikbaar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a)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 err="1"/>
              <a:t>variabele_binnen_functie</a:t>
            </a:r>
            <a:r>
              <a:rPr lang="en-GB" sz="1600" dirty="0"/>
              <a:t> = 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functiestring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>
                <a:solidFill>
                  <a:srgbClr val="6A8759"/>
                </a:solidFill>
              </a:rPr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variabele_binnen_functie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(string_1) +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(string_2)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a 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/>
              <a:t>b 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br>
              <a:rPr lang="en-GB" sz="1600" dirty="0">
                <a:solidFill>
                  <a:srgbClr val="6A8759"/>
                </a:solidFill>
              </a:rPr>
            </a:br>
            <a:r>
              <a:rPr lang="en-GB" sz="1600" dirty="0" err="1"/>
              <a:t>totale_lengte</a:t>
            </a:r>
            <a:r>
              <a:rPr lang="en-GB" sz="1600" dirty="0"/>
              <a:t> = </a:t>
            </a:r>
            <a:r>
              <a:rPr lang="en-GB" sz="1600" dirty="0" err="1"/>
              <a:t>geef_lengte_van_strings</a:t>
            </a:r>
            <a:r>
              <a:rPr lang="en-GB" sz="1600" dirty="0"/>
              <a:t>(a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b)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>
                <a:solidFill>
                  <a:srgbClr val="6A8759"/>
                </a:solidFill>
              </a:rPr>
              <a:t>f'Lengte</a:t>
            </a:r>
            <a:r>
              <a:rPr lang="en-GB" sz="1600" dirty="0">
                <a:solidFill>
                  <a:srgbClr val="6A8759"/>
                </a:solidFill>
              </a:rPr>
              <a:t> van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a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>
                <a:solidFill>
                  <a:srgbClr val="CC7832"/>
                </a:solidFill>
              </a:rPr>
              <a:t>{</a:t>
            </a:r>
            <a:r>
              <a:rPr lang="en-GB" sz="1600" dirty="0"/>
              <a:t>b</a:t>
            </a:r>
            <a:r>
              <a:rPr lang="en-GB" sz="1600" dirty="0">
                <a:solidFill>
                  <a:srgbClr val="CC7832"/>
                </a:solidFill>
              </a:rPr>
              <a:t>}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opgeteld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totale_lengte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variabele_binnen_functie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ECC75-2871-594E-97CF-0A1FC51EE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BE" sz="2000" dirty="0"/>
              <a:t>Om fouten te vermijden moet de structuur van het programma doorgrond worden: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215BC-5B8C-814D-8385-A13E52B7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27251-4C55-1F4C-BD94-5F34107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Variabelen binnen functies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CA588-BAEA-BC4F-8C52-E17198AD2120}"/>
              </a:ext>
            </a:extLst>
          </p:cNvPr>
          <p:cNvSpPr/>
          <p:nvPr/>
        </p:nvSpPr>
        <p:spPr>
          <a:xfrm>
            <a:off x="838198" y="4234738"/>
            <a:ext cx="5257802" cy="1323016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706C9-A46C-E642-AE34-A229FDAB8529}"/>
              </a:ext>
            </a:extLst>
          </p:cNvPr>
          <p:cNvSpPr/>
          <p:nvPr/>
        </p:nvSpPr>
        <p:spPr>
          <a:xfrm>
            <a:off x="866650" y="2821721"/>
            <a:ext cx="5229350" cy="132301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C189D-0211-5942-9618-B007EED528C3}"/>
              </a:ext>
            </a:extLst>
          </p:cNvPr>
          <p:cNvSpPr txBox="1"/>
          <p:nvPr/>
        </p:nvSpPr>
        <p:spPr>
          <a:xfrm>
            <a:off x="4925711" y="5571951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Hoofdblok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21631-CF20-3848-BAF5-F0CA78969DCD}"/>
              </a:ext>
            </a:extLst>
          </p:cNvPr>
          <p:cNvSpPr txBox="1"/>
          <p:nvPr/>
        </p:nvSpPr>
        <p:spPr>
          <a:xfrm>
            <a:off x="4975032" y="2511851"/>
            <a:ext cx="1231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chemeClr val="accent6">
                    <a:lumMod val="50000"/>
                  </a:schemeClr>
                </a:solidFill>
              </a:rPr>
              <a:t>Functieblok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BBBB27-DFBD-8D43-87D5-C3BBE8E7E211}"/>
              </a:ext>
            </a:extLst>
          </p:cNvPr>
          <p:cNvSpPr/>
          <p:nvPr/>
        </p:nvSpPr>
        <p:spPr>
          <a:xfrm>
            <a:off x="6656014" y="3763578"/>
            <a:ext cx="5188854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400" dirty="0"/>
              <a:t>a is hier ook beschikbaar: Johannes</a:t>
            </a:r>
          </a:p>
          <a:p>
            <a:r>
              <a:rPr lang="en-BE" sz="1400" dirty="0"/>
              <a:t>functiestring</a:t>
            </a:r>
          </a:p>
          <a:p>
            <a:r>
              <a:rPr lang="en-BE" sz="1400" dirty="0"/>
              <a:t>Lengte van Johannes en De Smedt opgeteld: 16</a:t>
            </a:r>
          </a:p>
          <a:p>
            <a:endParaRPr lang="en-BE" sz="1400" dirty="0"/>
          </a:p>
          <a:p>
            <a:r>
              <a:rPr lang="en-GB" sz="1400" dirty="0">
                <a:solidFill>
                  <a:srgbClr val="FF0000"/>
                </a:solidFill>
              </a:rPr>
              <a:t>Traceback (most recent call last):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File “~/SOEP1/1-functies.py", line 26, in &lt;module&gt;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   print(</a:t>
            </a:r>
            <a:r>
              <a:rPr lang="en-GB" sz="1400" dirty="0" err="1">
                <a:solidFill>
                  <a:srgbClr val="FF0000"/>
                </a:solidFill>
              </a:rPr>
              <a:t>variabele_binnen_functie</a:t>
            </a:r>
            <a:r>
              <a:rPr lang="en-GB" sz="1400" dirty="0">
                <a:solidFill>
                  <a:srgbClr val="FF0000"/>
                </a:solidFill>
              </a:rPr>
              <a:t>)</a:t>
            </a:r>
          </a:p>
          <a:p>
            <a:r>
              <a:rPr lang="en-GB" sz="1400" dirty="0" err="1">
                <a:solidFill>
                  <a:srgbClr val="FF0000"/>
                </a:solidFill>
              </a:rPr>
              <a:t>NameError</a:t>
            </a:r>
            <a:r>
              <a:rPr lang="en-GB" sz="1400" dirty="0">
                <a:solidFill>
                  <a:srgbClr val="FF0000"/>
                </a:solidFill>
              </a:rPr>
              <a:t>: name '</a:t>
            </a:r>
            <a:r>
              <a:rPr lang="en-GB" sz="1400" dirty="0" err="1">
                <a:solidFill>
                  <a:srgbClr val="FF0000"/>
                </a:solidFill>
              </a:rPr>
              <a:t>variabele_binnen_functie</a:t>
            </a:r>
            <a:r>
              <a:rPr lang="en-GB" sz="1400" dirty="0">
                <a:solidFill>
                  <a:srgbClr val="FF0000"/>
                </a:solidFill>
              </a:rPr>
              <a:t>' is not defined</a:t>
            </a:r>
            <a:endParaRPr lang="en-BE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FA966-8D07-534A-81DD-F9228368E8BE}"/>
              </a:ext>
            </a:extLst>
          </p:cNvPr>
          <p:cNvSpPr txBox="1"/>
          <p:nvPr/>
        </p:nvSpPr>
        <p:spPr>
          <a:xfrm>
            <a:off x="838198" y="247592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00A29-C73C-274D-9E77-77BDE5948FE2}"/>
              </a:ext>
            </a:extLst>
          </p:cNvPr>
          <p:cNvSpPr txBox="1"/>
          <p:nvPr/>
        </p:nvSpPr>
        <p:spPr>
          <a:xfrm>
            <a:off x="6656014" y="3451554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43" name="Bent Arrow 42">
            <a:extLst>
              <a:ext uri="{FF2B5EF4-FFF2-40B4-BE49-F238E27FC236}">
                <a16:creationId xmlns:a16="http://schemas.microsoft.com/office/drawing/2014/main" id="{6A83000C-23B6-767A-B33E-DA6D1D4D4385}"/>
              </a:ext>
            </a:extLst>
          </p:cNvPr>
          <p:cNvSpPr/>
          <p:nvPr/>
        </p:nvSpPr>
        <p:spPr>
          <a:xfrm>
            <a:off x="446758" y="2821720"/>
            <a:ext cx="356356" cy="208661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7499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6A538-F6F0-7F66-24EE-0EEFBBCF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2151C1-A5EC-560F-2731-BBBDBF1A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Voorbeeld</a:t>
            </a:r>
            <a:r>
              <a:rPr lang="en-GB" dirty="0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 van </a:t>
            </a:r>
            <a:r>
              <a:rPr lang="en-GB" dirty="0" err="1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slecht</a:t>
            </a:r>
            <a:r>
              <a:rPr lang="en-GB" dirty="0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dirty="0" err="1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gebruik</a:t>
            </a:r>
            <a:r>
              <a:rPr lang="en-GB" dirty="0">
                <a:solidFill>
                  <a:srgbClr val="1C7AA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dirty="0">
                <a:solidFill>
                  <a:srgbClr val="1C7AA0"/>
                </a:solidFill>
                <a:effectLst/>
                <a:latin typeface="Courier New" panose="02070309020205020404" pitchFamily="49" charset="0"/>
              </a:rPr>
              <a:t>global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6D730-4D4B-CD87-3624-4D078766C78E}"/>
              </a:ext>
            </a:extLst>
          </p:cNvPr>
          <p:cNvSpPr txBox="1"/>
          <p:nvPr/>
        </p:nvSpPr>
        <p:spPr>
          <a:xfrm>
            <a:off x="574800" y="1279387"/>
            <a:ext cx="5677920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Slecht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voorbeeld</a:t>
            </a:r>
            <a:r>
              <a:rPr lang="en-GB" sz="1400" dirty="0">
                <a:solidFill>
                  <a:srgbClr val="808080"/>
                </a:solidFill>
                <a:effectLst/>
              </a:rPr>
              <a:t>: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Gebruik</a:t>
            </a:r>
            <a:r>
              <a:rPr lang="en-GB" sz="1400" dirty="0">
                <a:solidFill>
                  <a:srgbClr val="808080"/>
                </a:solidFill>
                <a:effectLst/>
              </a:rPr>
              <a:t> van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code complex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maakt</a:t>
            </a:r>
            <a:r>
              <a:rPr lang="en-GB" sz="1400" dirty="0">
                <a:solidFill>
                  <a:srgbClr val="808080"/>
                </a:solidFill>
                <a:effectLst/>
              </a:rPr>
              <a:t> (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onbetrouwbaar</a:t>
            </a:r>
            <a:r>
              <a:rPr lang="en-GB" sz="1400" dirty="0">
                <a:solidFill>
                  <a:srgbClr val="808080"/>
                </a:solidFill>
                <a:effectLst/>
              </a:rPr>
              <a:t>)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/>
              <a:t>teller 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verhoogt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verhoog_teller</a:t>
            </a:r>
            <a:r>
              <a:rPr lang="en-GB" sz="1400" dirty="0"/>
              <a:t>():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global </a:t>
            </a:r>
            <a:r>
              <a:rPr lang="en-GB" sz="1400" dirty="0"/>
              <a:t>teller</a:t>
            </a:r>
            <a:br>
              <a:rPr lang="en-GB" sz="1400" dirty="0"/>
            </a:br>
            <a:r>
              <a:rPr lang="en-GB" sz="1400" dirty="0"/>
              <a:t>    teller += </a:t>
            </a:r>
            <a:r>
              <a:rPr lang="en-GB" sz="1400" dirty="0">
                <a:solidFill>
                  <a:srgbClr val="6897BB"/>
                </a:solidFill>
                <a:effectLst/>
              </a:rPr>
              <a:t>1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globale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variabele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gebruikt</a:t>
            </a:r>
            <a:r>
              <a:rPr lang="en-GB" sz="1400" dirty="0">
                <a:solidFill>
                  <a:srgbClr val="808080"/>
                </a:solidFill>
                <a:effectLst/>
              </a:rPr>
              <a:t> om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iets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te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doen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doe_iets</a:t>
            </a:r>
            <a:r>
              <a:rPr lang="en-GB" sz="1400" dirty="0"/>
              <a:t>():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if </a:t>
            </a:r>
            <a:r>
              <a:rPr lang="en-GB" sz="1400" dirty="0"/>
              <a:t>teller % </a:t>
            </a:r>
            <a:r>
              <a:rPr lang="en-GB" sz="1400" dirty="0">
                <a:solidFill>
                  <a:srgbClr val="6897BB"/>
                </a:solidFill>
                <a:effectLst/>
              </a:rPr>
              <a:t>2 </a:t>
            </a:r>
            <a:r>
              <a:rPr lang="en-GB" sz="1400" dirty="0"/>
              <a:t>==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r>
              <a:rPr lang="en-GB" sz="1400" dirty="0"/>
              <a:t>:</a:t>
            </a:r>
            <a:br>
              <a:rPr lang="en-GB" sz="1400" dirty="0"/>
            </a:br>
            <a:r>
              <a:rPr lang="en-GB" sz="1400" dirty="0"/>
              <a:t>    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even"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else</a:t>
            </a:r>
            <a:r>
              <a:rPr lang="en-GB" sz="1400" dirty="0"/>
              <a:t>:</a:t>
            </a:r>
            <a:br>
              <a:rPr lang="en-GB" sz="1400" dirty="0"/>
            </a:br>
            <a:r>
              <a:rPr lang="en-GB" sz="1400" dirty="0"/>
              <a:t>    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</a:t>
            </a:r>
            <a:r>
              <a:rPr lang="en-GB" sz="1400" dirty="0" err="1">
                <a:solidFill>
                  <a:srgbClr val="6A8759"/>
                </a:solidFill>
                <a:effectLst/>
              </a:rPr>
              <a:t>oneven</a:t>
            </a:r>
            <a:r>
              <a:rPr lang="en-GB" sz="1400" dirty="0">
                <a:solidFill>
                  <a:srgbClr val="6A8759"/>
                </a:solidFill>
                <a:effectLst/>
              </a:rPr>
              <a:t>"</a:t>
            </a:r>
            <a:r>
              <a:rPr lang="en-GB" sz="1400" dirty="0"/>
              <a:t>)</a:t>
            </a:r>
            <a:br>
              <a:rPr lang="en-GB" sz="1400" dirty="0"/>
            </a:br>
            <a:br>
              <a:rPr lang="en-GB" sz="1400" dirty="0"/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Hoofdprogramma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 err="1"/>
              <a:t>verhoog_teller</a:t>
            </a:r>
            <a:r>
              <a:rPr lang="en-GB" sz="1400" dirty="0"/>
              <a:t>()</a:t>
            </a:r>
            <a:br>
              <a:rPr lang="en-GB" sz="1400" dirty="0"/>
            </a:br>
            <a:r>
              <a:rPr lang="en-GB" sz="1400" dirty="0" err="1"/>
              <a:t>doe_iets</a:t>
            </a:r>
            <a:r>
              <a:rPr lang="en-GB" sz="1400" dirty="0"/>
              <a:t>()</a:t>
            </a:r>
            <a:endParaRPr lang="nl-NL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B0188-8E08-1CA5-86F6-D8A527B165DC}"/>
              </a:ext>
            </a:extLst>
          </p:cNvPr>
          <p:cNvSpPr txBox="1"/>
          <p:nvPr/>
        </p:nvSpPr>
        <p:spPr>
          <a:xfrm>
            <a:off x="6479178" y="1279387"/>
            <a:ext cx="536448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Goed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voorbeeld</a:t>
            </a:r>
            <a:r>
              <a:rPr lang="en-GB" sz="1400" dirty="0">
                <a:solidFill>
                  <a:srgbClr val="808080"/>
                </a:solidFill>
                <a:effectLst/>
              </a:rPr>
              <a:t>: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Gebruik</a:t>
            </a:r>
            <a:r>
              <a:rPr lang="en-GB" sz="1400" dirty="0">
                <a:solidFill>
                  <a:srgbClr val="808080"/>
                </a:solidFill>
                <a:effectLst/>
              </a:rPr>
              <a:t> van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argumenten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om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afhankelijkheden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duidelijker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te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maken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de teller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verhoogt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de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nieuwe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waarde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retourneert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verhoog_teller</a:t>
            </a:r>
            <a:r>
              <a:rPr lang="en-GB" sz="1400" dirty="0"/>
              <a:t>(teller):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-GB" sz="1400" dirty="0"/>
              <a:t>teller + </a:t>
            </a:r>
            <a:r>
              <a:rPr lang="en-GB" sz="1400" dirty="0">
                <a:solidFill>
                  <a:srgbClr val="6897BB"/>
                </a:solidFill>
                <a:effectLst/>
              </a:rPr>
              <a:t>1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Functie</a:t>
            </a:r>
            <a:r>
              <a:rPr lang="en-GB" sz="1400" dirty="0">
                <a:solidFill>
                  <a:srgbClr val="808080"/>
                </a:solidFill>
                <a:effectLst/>
              </a:rPr>
              <a:t> die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controleert</a:t>
            </a:r>
            <a:r>
              <a:rPr lang="en-GB" sz="1400" dirty="0">
                <a:solidFill>
                  <a:srgbClr val="808080"/>
                </a:solidFill>
                <a:effectLst/>
              </a:rPr>
              <a:t> of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een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getal</a:t>
            </a:r>
            <a:r>
              <a:rPr lang="en-GB" sz="1400" dirty="0">
                <a:solidFill>
                  <a:srgbClr val="808080"/>
                </a:solidFill>
                <a:effectLst/>
              </a:rPr>
              <a:t> even of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oneven</a:t>
            </a:r>
            <a:r>
              <a:rPr lang="en-GB" sz="1400" dirty="0">
                <a:solidFill>
                  <a:srgbClr val="808080"/>
                </a:solidFill>
                <a:effectLst/>
              </a:rPr>
              <a:t> is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>
                <a:solidFill>
                  <a:srgbClr val="CC7832"/>
                </a:solidFill>
                <a:effectLst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</a:rPr>
              <a:t>is_even</a:t>
            </a:r>
            <a:r>
              <a:rPr lang="en-GB" sz="1400" dirty="0"/>
              <a:t>(</a:t>
            </a:r>
            <a:r>
              <a:rPr lang="en-GB" sz="1400" dirty="0" err="1"/>
              <a:t>getal</a:t>
            </a:r>
            <a:r>
              <a:rPr lang="en-GB" sz="1400" dirty="0"/>
              <a:t>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CC7832"/>
                </a:solidFill>
                <a:effectLst/>
              </a:rPr>
              <a:t>return </a:t>
            </a:r>
            <a:r>
              <a:rPr lang="en-GB" sz="1400" dirty="0" err="1"/>
              <a:t>getal</a:t>
            </a:r>
            <a:r>
              <a:rPr lang="en-GB" sz="1400" dirty="0"/>
              <a:t> % </a:t>
            </a:r>
            <a:r>
              <a:rPr lang="en-GB" sz="1400" dirty="0">
                <a:solidFill>
                  <a:srgbClr val="6897BB"/>
                </a:solidFill>
                <a:effectLst/>
              </a:rPr>
              <a:t>2 </a:t>
            </a:r>
            <a:r>
              <a:rPr lang="en-GB" sz="1400" dirty="0"/>
              <a:t>==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>
                <a:solidFill>
                  <a:srgbClr val="808080"/>
                </a:solidFill>
                <a:effectLst/>
              </a:rPr>
              <a:t># </a:t>
            </a:r>
            <a:r>
              <a:rPr lang="en-GB" sz="1400" dirty="0" err="1">
                <a:solidFill>
                  <a:srgbClr val="808080"/>
                </a:solidFill>
                <a:effectLst/>
              </a:rPr>
              <a:t>Hoofdprogramma</a:t>
            </a:r>
            <a:br>
              <a:rPr lang="en-GB" sz="1400" dirty="0">
                <a:solidFill>
                  <a:srgbClr val="808080"/>
                </a:solidFill>
                <a:effectLst/>
              </a:rPr>
            </a:br>
            <a:r>
              <a:rPr lang="en-GB" sz="1400" dirty="0"/>
              <a:t>teller = </a:t>
            </a:r>
            <a:r>
              <a:rPr lang="en-GB" sz="1400" dirty="0">
                <a:solidFill>
                  <a:srgbClr val="6897BB"/>
                </a:solidFill>
                <a:effectLst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</a:rPr>
            </a:br>
            <a:r>
              <a:rPr lang="en-GB" sz="1400" dirty="0"/>
              <a:t>teller = </a:t>
            </a:r>
            <a:r>
              <a:rPr lang="en-GB" sz="1400" dirty="0" err="1"/>
              <a:t>verhoog_teller</a:t>
            </a:r>
            <a:r>
              <a:rPr lang="en-GB" sz="1400" dirty="0"/>
              <a:t>(teller)</a:t>
            </a:r>
            <a:br>
              <a:rPr lang="en-GB" sz="1400" dirty="0"/>
            </a:br>
            <a:r>
              <a:rPr lang="en-GB" sz="1400" dirty="0">
                <a:solidFill>
                  <a:srgbClr val="CC7832"/>
                </a:solidFill>
                <a:effectLst/>
              </a:rPr>
              <a:t>if </a:t>
            </a:r>
            <a:r>
              <a:rPr lang="en-GB" sz="1400" dirty="0" err="1"/>
              <a:t>is_even</a:t>
            </a:r>
            <a:r>
              <a:rPr lang="en-GB" sz="1400" dirty="0"/>
              <a:t>(teller):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even"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CC7832"/>
                </a:solidFill>
                <a:effectLst/>
              </a:rPr>
              <a:t>else</a:t>
            </a:r>
            <a:r>
              <a:rPr lang="en-GB" sz="1400" dirty="0"/>
              <a:t>:</a:t>
            </a:r>
            <a:br>
              <a:rPr lang="en-GB" sz="1400" dirty="0"/>
            </a:br>
            <a:r>
              <a:rPr lang="en-GB" sz="1400" dirty="0"/>
              <a:t>    </a:t>
            </a:r>
            <a:r>
              <a:rPr lang="en-GB" sz="1400" dirty="0">
                <a:solidFill>
                  <a:srgbClr val="8888C6"/>
                </a:solidFill>
                <a:effectLst/>
              </a:rPr>
              <a:t>print</a:t>
            </a:r>
            <a:r>
              <a:rPr lang="en-GB" sz="1400" dirty="0"/>
              <a:t>(</a:t>
            </a:r>
            <a:r>
              <a:rPr lang="en-GB" sz="1400" dirty="0">
                <a:solidFill>
                  <a:srgbClr val="6A8759"/>
                </a:solidFill>
                <a:effectLst/>
              </a:rPr>
              <a:t>"Teller is </a:t>
            </a:r>
            <a:r>
              <a:rPr lang="en-GB" sz="1400" dirty="0" err="1">
                <a:solidFill>
                  <a:srgbClr val="6A8759"/>
                </a:solidFill>
                <a:effectLst/>
              </a:rPr>
              <a:t>oneven</a:t>
            </a:r>
            <a:r>
              <a:rPr lang="en-GB" sz="1400" dirty="0">
                <a:solidFill>
                  <a:srgbClr val="6A8759"/>
                </a:solidFill>
                <a:effectLst/>
              </a:rPr>
              <a:t>"</a:t>
            </a:r>
            <a:r>
              <a:rPr lang="en-GB" sz="1400" dirty="0"/>
              <a:t>)</a:t>
            </a:r>
            <a:endParaRPr lang="nl-NL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51765-E615-7F9E-7AAD-5F27DDB653D1}"/>
              </a:ext>
            </a:extLst>
          </p:cNvPr>
          <p:cNvSpPr txBox="1"/>
          <p:nvPr/>
        </p:nvSpPr>
        <p:spPr>
          <a:xfrm>
            <a:off x="6479178" y="5249705"/>
            <a:ext cx="4432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/>
              <a:t>In dit voorbeeld gebruiken beide functies enkel de meegegeven argumenten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C57A7-634E-E9B7-1F3B-3E4B1A7084BF}"/>
              </a:ext>
            </a:extLst>
          </p:cNvPr>
          <p:cNvSpPr txBox="1"/>
          <p:nvPr/>
        </p:nvSpPr>
        <p:spPr>
          <a:xfrm>
            <a:off x="574800" y="5869269"/>
            <a:ext cx="5590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400" dirty="0"/>
              <a:t>In dit voorbeeld is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doe_iets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400" dirty="0"/>
              <a:t> afhankelijk van de andere functie</a:t>
            </a:r>
          </a:p>
        </p:txBody>
      </p:sp>
    </p:spTree>
    <p:extLst>
      <p:ext uri="{BB962C8B-B14F-4D97-AF65-F5344CB8AC3E}">
        <p14:creationId xmlns:p14="http://schemas.microsoft.com/office/powerpoint/2010/main" val="192980218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25F7B-7A35-6543-9C08-65650D492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Moeten altijd ingevuld worden</a:t>
            </a:r>
          </a:p>
          <a:p>
            <a:r>
              <a:rPr lang="en-BE" dirty="0"/>
              <a:t>Er kunnen niet meer argumenten meegegeven worden dan aangegeven in de functie</a:t>
            </a:r>
            <a:r>
              <a:rPr lang="en-US" dirty="0" err="1"/>
              <a:t>definitie</a:t>
            </a:r>
            <a:endParaRPr lang="en-BE" dirty="0"/>
          </a:p>
          <a:p>
            <a:r>
              <a:rPr lang="en-BE" dirty="0"/>
              <a:t>Bij oproep van een functie kan de naam van het argument meegeven worden waardoor de volgorde van de argumenten (deels) vervalt:</a:t>
            </a:r>
          </a:p>
          <a:p>
            <a:pPr lvl="1"/>
            <a:r>
              <a:rPr lang="en-BE" sz="2000" dirty="0"/>
              <a:t>De namen worden ook getoond in code editors zoals PyCharm of VSC</a:t>
            </a:r>
          </a:p>
          <a:p>
            <a:r>
              <a:rPr lang="en-BE" dirty="0"/>
              <a:t>Default waarden zijn mogelijk (en maken het argument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wel</a:t>
            </a:r>
            <a:r>
              <a:rPr lang="en-US" dirty="0"/>
              <a:t> </a:t>
            </a:r>
            <a:r>
              <a:rPr lang="en-BE" dirty="0"/>
              <a:t>optioneel)</a:t>
            </a:r>
            <a:r>
              <a:rPr lang="en-US" dirty="0"/>
              <a:t>:</a:t>
            </a:r>
            <a:endParaRPr lang="en-BE" dirty="0"/>
          </a:p>
          <a:p>
            <a:pPr lvl="1"/>
            <a:r>
              <a:rPr lang="en-BE" sz="2000" dirty="0"/>
              <a:t>Moeten altijd na de argumenten zonder default waarde komen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D2D1A-FD73-4F4C-847C-DEA23995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4CC62-D6E1-EE4F-936F-01206097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Argumenten</a:t>
            </a:r>
          </a:p>
        </p:txBody>
      </p:sp>
    </p:spTree>
    <p:extLst>
      <p:ext uri="{BB962C8B-B14F-4D97-AF65-F5344CB8AC3E}">
        <p14:creationId xmlns:p14="http://schemas.microsoft.com/office/powerpoint/2010/main" val="370736711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15764-363B-7942-9C18-F19C1DAE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2C8C5-736E-B646-AED1-39C36A6E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 argumenten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5568E-6264-FE45-8EF4-ACE97C157040}"/>
              </a:ext>
            </a:extLst>
          </p:cNvPr>
          <p:cNvSpPr/>
          <p:nvPr/>
        </p:nvSpPr>
        <p:spPr>
          <a:xfrm>
            <a:off x="838200" y="3173812"/>
            <a:ext cx="7118132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print_strings</a:t>
            </a:r>
            <a:r>
              <a:rPr lang="en-GB" sz="1600" dirty="0"/>
              <a:t>(string_1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string_3=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string_1 + string_2 + string_3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Dit</a:t>
            </a:r>
            <a:r>
              <a:rPr lang="en-GB" sz="1600" dirty="0">
                <a:solidFill>
                  <a:srgbClr val="6A8759"/>
                </a:solidFill>
              </a:rPr>
              <a:t> mag:'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print_strings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AA4926"/>
                </a:solidFill>
              </a:rPr>
              <a:t>string_2 </a:t>
            </a:r>
            <a:r>
              <a:rPr lang="en-GB" sz="1600" dirty="0"/>
              <a:t>= </a:t>
            </a:r>
            <a:r>
              <a:rPr lang="en-GB" sz="1600" dirty="0">
                <a:solidFill>
                  <a:srgbClr val="6A8759"/>
                </a:solidFill>
              </a:rPr>
              <a:t>'Johannes'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AA4926"/>
                </a:solidFill>
              </a:rPr>
              <a:t>string_1 </a:t>
            </a:r>
            <a:r>
              <a:rPr lang="en-GB" sz="1600" dirty="0"/>
              <a:t>= </a:t>
            </a:r>
            <a:r>
              <a:rPr lang="en-GB" sz="1600" dirty="0">
                <a:solidFill>
                  <a:srgbClr val="6A8759"/>
                </a:solidFill>
              </a:rPr>
              <a:t>'De </a:t>
            </a:r>
            <a:r>
              <a:rPr lang="en-GB" sz="1600" dirty="0" err="1">
                <a:solidFill>
                  <a:srgbClr val="6A8759"/>
                </a:solidFill>
              </a:rPr>
              <a:t>Smedt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/>
              <a:t>))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49541-4823-AD4F-B916-B96A93E6FD08}"/>
              </a:ext>
            </a:extLst>
          </p:cNvPr>
          <p:cNvSpPr/>
          <p:nvPr/>
        </p:nvSpPr>
        <p:spPr>
          <a:xfrm>
            <a:off x="8147190" y="3912476"/>
            <a:ext cx="3637534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BE" sz="1600" dirty="0"/>
              <a:t>Dit mag: De SmedtJohannesjohannes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ECB58-1C65-5F4E-8E42-222EFB8A0066}"/>
              </a:ext>
            </a:extLst>
          </p:cNvPr>
          <p:cNvSpPr/>
          <p:nvPr/>
        </p:nvSpPr>
        <p:spPr>
          <a:xfrm>
            <a:off x="838198" y="5100935"/>
            <a:ext cx="5657195" cy="5847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print_strings</a:t>
            </a:r>
            <a:r>
              <a:rPr lang="en-GB" sz="1600" dirty="0"/>
              <a:t>(string_1=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johannes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string_3):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string_1 + string_2 + string_3</a:t>
            </a:r>
            <a:endParaRPr lang="en-B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8C5CC-CC81-C249-8A85-E8B9B9857680}"/>
              </a:ext>
            </a:extLst>
          </p:cNvPr>
          <p:cNvSpPr txBox="1"/>
          <p:nvPr/>
        </p:nvSpPr>
        <p:spPr>
          <a:xfrm>
            <a:off x="764625" y="2841814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818732-84F8-0E48-9A30-CAB1E5B0E92A}"/>
              </a:ext>
            </a:extLst>
          </p:cNvPr>
          <p:cNvSpPr txBox="1"/>
          <p:nvPr/>
        </p:nvSpPr>
        <p:spPr>
          <a:xfrm>
            <a:off x="8147190" y="354842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18195-8E85-7B43-8423-5F99984785EF}"/>
              </a:ext>
            </a:extLst>
          </p:cNvPr>
          <p:cNvSpPr txBox="1"/>
          <p:nvPr/>
        </p:nvSpPr>
        <p:spPr>
          <a:xfrm>
            <a:off x="808509" y="473160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20A6CE-FC8B-5149-921F-539F3A4EA15A}"/>
              </a:ext>
            </a:extLst>
          </p:cNvPr>
          <p:cNvCxnSpPr>
            <a:cxnSpLocks/>
          </p:cNvCxnSpPr>
          <p:nvPr/>
        </p:nvCxnSpPr>
        <p:spPr>
          <a:xfrm flipV="1">
            <a:off x="3857297" y="4939862"/>
            <a:ext cx="2732689" cy="161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739A60-1517-A24A-9945-BD1296F876BB}"/>
              </a:ext>
            </a:extLst>
          </p:cNvPr>
          <p:cNvSpPr txBox="1"/>
          <p:nvPr/>
        </p:nvSpPr>
        <p:spPr>
          <a:xfrm>
            <a:off x="6705600" y="4824248"/>
            <a:ext cx="489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</a:rPr>
              <a:t>Mag </a:t>
            </a:r>
            <a:r>
              <a:rPr lang="en-GB" sz="1600" dirty="0" err="1">
                <a:solidFill>
                  <a:srgbClr val="FF0000"/>
                </a:solidFill>
              </a:rPr>
              <a:t>niet</a:t>
            </a:r>
            <a:r>
              <a:rPr lang="en-GB" sz="1600" dirty="0"/>
              <a:t>: </a:t>
            </a:r>
            <a:r>
              <a:rPr lang="en-GB" sz="1600" dirty="0" err="1"/>
              <a:t>argumenten</a:t>
            </a:r>
            <a:r>
              <a:rPr lang="en-GB" sz="1600" dirty="0"/>
              <a:t> </a:t>
            </a:r>
            <a:r>
              <a:rPr lang="en-GB" sz="1600" dirty="0" err="1"/>
              <a:t>zonder</a:t>
            </a:r>
            <a:r>
              <a:rPr lang="en-GB" sz="1600" dirty="0"/>
              <a:t> default </a:t>
            </a:r>
            <a:r>
              <a:rPr lang="en-GB" sz="1600" dirty="0" err="1"/>
              <a:t>waarden</a:t>
            </a:r>
            <a:r>
              <a:rPr lang="en-GB" sz="1600" dirty="0"/>
              <a:t> </a:t>
            </a:r>
            <a:r>
              <a:rPr lang="en-GB" sz="1600" dirty="0" err="1"/>
              <a:t>eerst</a:t>
            </a:r>
            <a:endParaRPr lang="en-BE" sz="16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409F84-8BCA-0B4A-972A-BAB888A75896}"/>
              </a:ext>
            </a:extLst>
          </p:cNvPr>
          <p:cNvCxnSpPr>
            <a:cxnSpLocks/>
          </p:cNvCxnSpPr>
          <p:nvPr/>
        </p:nvCxnSpPr>
        <p:spPr>
          <a:xfrm flipV="1">
            <a:off x="5223641" y="2683113"/>
            <a:ext cx="2175642" cy="12972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4E9A16-1683-D547-8033-DCB165802B5A}"/>
              </a:ext>
            </a:extLst>
          </p:cNvPr>
          <p:cNvSpPr txBox="1"/>
          <p:nvPr/>
        </p:nvSpPr>
        <p:spPr>
          <a:xfrm>
            <a:off x="6499892" y="2120025"/>
            <a:ext cx="5308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Volgorde</a:t>
            </a:r>
            <a:r>
              <a:rPr lang="en-GB" sz="1600" dirty="0"/>
              <a:t> </a:t>
            </a:r>
            <a:r>
              <a:rPr lang="en-GB" sz="1600" dirty="0" err="1"/>
              <a:t>volgt</a:t>
            </a:r>
            <a:r>
              <a:rPr lang="en-GB" sz="1600" dirty="0"/>
              <a:t> </a:t>
            </a:r>
            <a:r>
              <a:rPr lang="en-GB" sz="1600" dirty="0" err="1"/>
              <a:t>niet</a:t>
            </a:r>
            <a:r>
              <a:rPr lang="en-GB" sz="1600" dirty="0"/>
              <a:t> die van </a:t>
            </a:r>
            <a:r>
              <a:rPr lang="en-GB" sz="1600" dirty="0" err="1"/>
              <a:t>functiedefinitie</a:t>
            </a:r>
            <a:r>
              <a:rPr lang="en-GB" sz="1600" dirty="0"/>
              <a:t> </a:t>
            </a:r>
            <a:r>
              <a:rPr lang="en-GB" sz="1600" dirty="0" err="1"/>
              <a:t>omdat</a:t>
            </a:r>
            <a:r>
              <a:rPr lang="en-GB" sz="1600" dirty="0"/>
              <a:t> de </a:t>
            </a:r>
            <a:r>
              <a:rPr lang="en-GB" sz="1600" dirty="0" err="1"/>
              <a:t>argumentennamen</a:t>
            </a:r>
            <a:r>
              <a:rPr lang="en-GB" sz="1600" dirty="0"/>
              <a:t> </a:t>
            </a:r>
            <a:r>
              <a:rPr lang="en-GB" sz="1600" dirty="0" err="1"/>
              <a:t>worden</a:t>
            </a:r>
            <a:r>
              <a:rPr lang="en-GB" sz="1600" dirty="0"/>
              <a:t> </a:t>
            </a:r>
            <a:r>
              <a:rPr lang="en-GB" sz="1600" dirty="0" err="1"/>
              <a:t>meegegeven</a:t>
            </a:r>
            <a:endParaRPr lang="en-BE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D415E2-8E8E-8EF6-7F0A-12E79F4024DD}"/>
              </a:ext>
            </a:extLst>
          </p:cNvPr>
          <p:cNvCxnSpPr>
            <a:cxnSpLocks/>
          </p:cNvCxnSpPr>
          <p:nvPr/>
        </p:nvCxnSpPr>
        <p:spPr>
          <a:xfrm flipH="1" flipV="1">
            <a:off x="4487159" y="2375555"/>
            <a:ext cx="131975" cy="6881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AA89A2A-465A-4E82-7E41-1F3D1CB6E1DC}"/>
              </a:ext>
            </a:extLst>
          </p:cNvPr>
          <p:cNvSpPr txBox="1"/>
          <p:nvPr/>
        </p:nvSpPr>
        <p:spPr>
          <a:xfrm>
            <a:off x="859151" y="2024227"/>
            <a:ext cx="53089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Argument string_3 </a:t>
            </a:r>
            <a:r>
              <a:rPr lang="en-GB" sz="1600" dirty="0" err="1"/>
              <a:t>heeft</a:t>
            </a:r>
            <a:r>
              <a:rPr lang="en-GB" sz="1600" dirty="0"/>
              <a:t> </a:t>
            </a:r>
            <a:r>
              <a:rPr lang="en-GB" sz="1600" dirty="0" err="1"/>
              <a:t>een</a:t>
            </a:r>
            <a:r>
              <a:rPr lang="en-GB" sz="1600" dirty="0"/>
              <a:t> default </a:t>
            </a:r>
            <a:r>
              <a:rPr lang="en-GB" sz="1600" dirty="0" err="1"/>
              <a:t>waarde</a:t>
            </a:r>
            <a:r>
              <a:rPr lang="en-GB" sz="1600" dirty="0"/>
              <a:t> ‘</a:t>
            </a:r>
            <a:r>
              <a:rPr lang="en-GB" sz="1600" dirty="0" err="1"/>
              <a:t>johannes’</a:t>
            </a:r>
            <a:endParaRPr lang="en-BE" sz="1600" dirty="0"/>
          </a:p>
        </p:txBody>
      </p:sp>
    </p:spTree>
    <p:extLst>
      <p:ext uri="{BB962C8B-B14F-4D97-AF65-F5344CB8AC3E}">
        <p14:creationId xmlns:p14="http://schemas.microsoft.com/office/powerpoint/2010/main" val="27564839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AA1F7-C851-E849-BBE6-88D50C76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109</a:t>
            </a:fld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E5B14-84B3-7442-A19F-1C6D44E1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Opgelet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95AEE-C373-6F44-AFDA-5ED878D6D2E2}"/>
              </a:ext>
            </a:extLst>
          </p:cNvPr>
          <p:cNvSpPr/>
          <p:nvPr/>
        </p:nvSpPr>
        <p:spPr>
          <a:xfrm>
            <a:off x="348007" y="2100591"/>
            <a:ext cx="4700752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verwijder_eerste_element_uit_lijst</a:t>
            </a:r>
            <a:r>
              <a:rPr lang="en-GB" sz="1600" dirty="0"/>
              <a:t>(</a:t>
            </a:r>
            <a:r>
              <a:rPr lang="en-GB" sz="1600" dirty="0" err="1"/>
              <a:t>lijst_in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 err="1"/>
              <a:t>lijst_in</a:t>
            </a:r>
            <a:r>
              <a:rPr lang="en-GB" sz="1600" dirty="0"/>
              <a:t>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een_lijst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in het begin:'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verwijder_eerste_element_uit_lijst</a:t>
            </a:r>
            <a:r>
              <a:rPr lang="en-GB" sz="1600" dirty="0"/>
              <a:t>(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na</a:t>
            </a:r>
            <a:r>
              <a:rPr lang="en-GB" sz="1600" dirty="0">
                <a:solidFill>
                  <a:srgbClr val="6A8759"/>
                </a:solidFill>
              </a:rPr>
              <a:t> de </a:t>
            </a:r>
            <a:r>
              <a:rPr lang="en-GB" sz="1600" dirty="0" err="1">
                <a:solidFill>
                  <a:srgbClr val="6A8759"/>
                </a:solidFill>
              </a:rPr>
              <a:t>functie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5A782-B8FB-0647-A848-67FF920CE9BB}"/>
              </a:ext>
            </a:extLst>
          </p:cNvPr>
          <p:cNvSpPr/>
          <p:nvPr/>
        </p:nvSpPr>
        <p:spPr>
          <a:xfrm>
            <a:off x="348006" y="4174735"/>
            <a:ext cx="4700752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Lijst in het begin: [0, 1, 2, 3]</a:t>
            </a:r>
          </a:p>
          <a:p>
            <a:r>
              <a:rPr lang="en-BE" sz="1600" dirty="0"/>
              <a:t>Lijst na de functie: [1, 2, 3]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4DDD6-9E8E-B74F-BF12-BDB45DAB750E}"/>
              </a:ext>
            </a:extLst>
          </p:cNvPr>
          <p:cNvSpPr/>
          <p:nvPr/>
        </p:nvSpPr>
        <p:spPr>
          <a:xfrm>
            <a:off x="5505254" y="2100591"/>
            <a:ext cx="6297863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geef_lijst_zonder_eerste_element_uit_lijst</a:t>
            </a:r>
            <a:r>
              <a:rPr lang="en-GB" sz="1600" dirty="0"/>
              <a:t>(</a:t>
            </a:r>
            <a:r>
              <a:rPr lang="en-GB" sz="1600" dirty="0" err="1"/>
              <a:t>lijst_in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/>
              <a:t>    lijst_2 = </a:t>
            </a:r>
            <a:r>
              <a:rPr lang="en-GB" sz="1600" dirty="0" err="1"/>
              <a:t>lijst_in.copy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del </a:t>
            </a:r>
            <a:r>
              <a:rPr lang="en-GB" sz="1600" dirty="0"/>
              <a:t>lijst_2[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lijst_2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een_lijst</a:t>
            </a:r>
            <a:r>
              <a:rPr lang="en-GB" sz="1600" dirty="0"/>
              <a:t> = [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/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in het begin:'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 err="1"/>
              <a:t>nieuwe_lijst</a:t>
            </a:r>
            <a:r>
              <a:rPr lang="en-GB" sz="1600" dirty="0"/>
              <a:t> = </a:t>
            </a:r>
            <a:r>
              <a:rPr lang="en-GB" sz="1600" dirty="0" err="1"/>
              <a:t>geef_lijst_zonder_eerste_element_uit_lijst</a:t>
            </a:r>
            <a:r>
              <a:rPr lang="en-GB" sz="1600" dirty="0"/>
              <a:t>(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Lijst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na</a:t>
            </a:r>
            <a:r>
              <a:rPr lang="en-GB" sz="1600" dirty="0">
                <a:solidFill>
                  <a:srgbClr val="6A8759"/>
                </a:solidFill>
              </a:rPr>
              <a:t> de </a:t>
            </a:r>
            <a:r>
              <a:rPr lang="en-GB" sz="1600" dirty="0" err="1">
                <a:solidFill>
                  <a:srgbClr val="6A8759"/>
                </a:solidFill>
              </a:rPr>
              <a:t>functie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een_lijst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Resultaat</a:t>
            </a:r>
            <a:r>
              <a:rPr lang="en-GB" sz="1600" dirty="0">
                <a:solidFill>
                  <a:srgbClr val="6A8759"/>
                </a:solidFill>
              </a:rPr>
              <a:t> van de </a:t>
            </a:r>
            <a:r>
              <a:rPr lang="en-GB" sz="1600" dirty="0" err="1">
                <a:solidFill>
                  <a:srgbClr val="6A8759"/>
                </a:solidFill>
              </a:rPr>
              <a:t>functie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nieuwe_lijst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F6D92-6A28-7E4C-8920-41B8BC6B6DD6}"/>
              </a:ext>
            </a:extLst>
          </p:cNvPr>
          <p:cNvSpPr txBox="1"/>
          <p:nvPr/>
        </p:nvSpPr>
        <p:spPr>
          <a:xfrm>
            <a:off x="348006" y="175993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8EAD5-E4D3-164A-8111-01574E4CC6C1}"/>
              </a:ext>
            </a:extLst>
          </p:cNvPr>
          <p:cNvSpPr txBox="1"/>
          <p:nvPr/>
        </p:nvSpPr>
        <p:spPr>
          <a:xfrm>
            <a:off x="253428" y="386270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153EC-6F45-D642-8057-367400AB6AB6}"/>
              </a:ext>
            </a:extLst>
          </p:cNvPr>
          <p:cNvSpPr txBox="1"/>
          <p:nvPr/>
        </p:nvSpPr>
        <p:spPr>
          <a:xfrm>
            <a:off x="5505254" y="1790751"/>
            <a:ext cx="731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A3A796-D2D0-5C4A-8789-1B775502D150}"/>
              </a:ext>
            </a:extLst>
          </p:cNvPr>
          <p:cNvSpPr txBox="1"/>
          <p:nvPr/>
        </p:nvSpPr>
        <p:spPr>
          <a:xfrm>
            <a:off x="5505254" y="4655136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3EBD2A-9D60-A545-AFE9-344611F781E6}"/>
              </a:ext>
            </a:extLst>
          </p:cNvPr>
          <p:cNvSpPr/>
          <p:nvPr/>
        </p:nvSpPr>
        <p:spPr>
          <a:xfrm>
            <a:off x="5513919" y="4988132"/>
            <a:ext cx="3380139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Lijst in het begin: [0, 1, 2, 3]</a:t>
            </a:r>
          </a:p>
          <a:p>
            <a:r>
              <a:rPr lang="en-BE" sz="1600" dirty="0"/>
              <a:t>Lijst na de functie: [0, 1, 2, 3]</a:t>
            </a:r>
          </a:p>
          <a:p>
            <a:r>
              <a:rPr lang="en-BE" sz="1600" dirty="0"/>
              <a:t>Resultaat van de functie: [1, 2, 3]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2DD086-E5F5-7948-9459-4B23AF34BC3D}"/>
              </a:ext>
            </a:extLst>
          </p:cNvPr>
          <p:cNvSpPr txBox="1"/>
          <p:nvPr/>
        </p:nvSpPr>
        <p:spPr>
          <a:xfrm>
            <a:off x="3778582" y="1042257"/>
            <a:ext cx="5576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Links zijn er </a:t>
            </a:r>
            <a:r>
              <a:rPr lang="en-BE" sz="1600" dirty="0">
                <a:solidFill>
                  <a:schemeClr val="accent3">
                    <a:lumMod val="75000"/>
                  </a:schemeClr>
                </a:solidFill>
              </a:rPr>
              <a:t>bijwerkingen</a:t>
            </a:r>
            <a:r>
              <a:rPr lang="en-BE" sz="1600" dirty="0"/>
              <a:t> voor het hoofdprogramma</a:t>
            </a:r>
          </a:p>
          <a:p>
            <a:r>
              <a:rPr lang="en-BE" sz="1600" dirty="0"/>
              <a:t>Rechts wordt alles gescheiden</a:t>
            </a:r>
          </a:p>
        </p:txBody>
      </p:sp>
    </p:spTree>
    <p:extLst>
      <p:ext uri="{BB962C8B-B14F-4D97-AF65-F5344CB8AC3E}">
        <p14:creationId xmlns:p14="http://schemas.microsoft.com/office/powerpoint/2010/main" val="115448107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B235C-7CBF-0547-B1EE-98D3A577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Voor eenvoudige types wordt wel de waarde en niet de verwijzing meegegeven zoals bij de lijst hiervoor: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CD48-D67C-D140-9F1D-8923DF87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110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464AE-5FB7-634D-9463-A4F7FAD0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Opgelet</a:t>
            </a:r>
            <a:r>
              <a:rPr lang="en-US" dirty="0"/>
              <a:t> (2)</a:t>
            </a:r>
            <a:endParaRPr lang="en-B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409763-1FB7-254B-A42C-D2CFE47EF455}"/>
              </a:ext>
            </a:extLst>
          </p:cNvPr>
          <p:cNvSpPr/>
          <p:nvPr/>
        </p:nvSpPr>
        <p:spPr>
          <a:xfrm>
            <a:off x="838200" y="3429000"/>
            <a:ext cx="6096000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def </a:t>
            </a:r>
            <a:r>
              <a:rPr lang="en-GB" dirty="0" err="1">
                <a:solidFill>
                  <a:srgbClr val="FFC66D"/>
                </a:solidFill>
              </a:rPr>
              <a:t>verdubbel_integer</a:t>
            </a:r>
            <a:r>
              <a:rPr lang="en-GB" dirty="0"/>
              <a:t>(x):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'x </a:t>
            </a:r>
            <a:r>
              <a:rPr lang="en-GB" dirty="0" err="1">
                <a:solidFill>
                  <a:srgbClr val="6A8759"/>
                </a:solidFill>
              </a:rPr>
              <a:t>voor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x)</a:t>
            </a:r>
            <a:br>
              <a:rPr lang="en-GB" dirty="0"/>
            </a:br>
            <a:r>
              <a:rPr lang="en-GB" dirty="0"/>
              <a:t>    x = x * </a:t>
            </a:r>
            <a:r>
              <a:rPr lang="en-GB" dirty="0">
                <a:solidFill>
                  <a:srgbClr val="6897BB"/>
                </a:solidFill>
              </a:rPr>
              <a:t>2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6897BB"/>
                </a:solidFill>
              </a:rPr>
              <a:t>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'x </a:t>
            </a:r>
            <a:r>
              <a:rPr lang="en-GB" dirty="0" err="1">
                <a:solidFill>
                  <a:srgbClr val="6A8759"/>
                </a:solidFill>
              </a:rPr>
              <a:t>na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x)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y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'y </a:t>
            </a:r>
            <a:r>
              <a:rPr lang="en-GB" dirty="0" err="1">
                <a:solidFill>
                  <a:srgbClr val="6A8759"/>
                </a:solidFill>
              </a:rPr>
              <a:t>eerst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y)</a:t>
            </a:r>
            <a:br>
              <a:rPr lang="en-GB" dirty="0"/>
            </a:br>
            <a:r>
              <a:rPr lang="en-GB" dirty="0" err="1"/>
              <a:t>verdubbel_integer</a:t>
            </a:r>
            <a:r>
              <a:rPr lang="en-GB" dirty="0"/>
              <a:t>(y)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'y </a:t>
            </a:r>
            <a:r>
              <a:rPr lang="en-GB" dirty="0" err="1">
                <a:solidFill>
                  <a:srgbClr val="6A8759"/>
                </a:solidFill>
              </a:rPr>
              <a:t>na</a:t>
            </a:r>
            <a:r>
              <a:rPr lang="en-GB" dirty="0">
                <a:solidFill>
                  <a:srgbClr val="6A8759"/>
                </a:solidFill>
              </a:rPr>
              <a:t> </a:t>
            </a:r>
            <a:r>
              <a:rPr lang="en-GB" dirty="0" err="1">
                <a:solidFill>
                  <a:srgbClr val="6A8759"/>
                </a:solidFill>
              </a:rPr>
              <a:t>functie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/>
              <a:t>y)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8B4838-EDCE-6843-A504-D51F7A8406D6}"/>
              </a:ext>
            </a:extLst>
          </p:cNvPr>
          <p:cNvSpPr/>
          <p:nvPr/>
        </p:nvSpPr>
        <p:spPr>
          <a:xfrm>
            <a:off x="7433441" y="4813994"/>
            <a:ext cx="2354317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dirty="0"/>
              <a:t>y eerst: 10</a:t>
            </a:r>
          </a:p>
          <a:p>
            <a:r>
              <a:rPr lang="en-BE" dirty="0"/>
              <a:t>x voor: 10</a:t>
            </a:r>
          </a:p>
          <a:p>
            <a:r>
              <a:rPr lang="en-BE" dirty="0"/>
              <a:t>x na: 20</a:t>
            </a:r>
          </a:p>
          <a:p>
            <a:r>
              <a:rPr lang="en-BE" dirty="0"/>
              <a:t>y na functie: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48051-8C32-5146-B3BD-9BD00FF55C62}"/>
              </a:ext>
            </a:extLst>
          </p:cNvPr>
          <p:cNvSpPr txBox="1"/>
          <p:nvPr/>
        </p:nvSpPr>
        <p:spPr>
          <a:xfrm>
            <a:off x="838200" y="3059668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01A91-7A20-C94F-879A-D0878279A830}"/>
              </a:ext>
            </a:extLst>
          </p:cNvPr>
          <p:cNvSpPr txBox="1"/>
          <p:nvPr/>
        </p:nvSpPr>
        <p:spPr>
          <a:xfrm>
            <a:off x="7433441" y="443548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12703247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6778-510B-9842-A7C4-CC3BB389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111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E6030-D07E-414F-B264-9C1529C4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eturn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D8F39-88DC-D04A-9467-8A66C871B72B}"/>
              </a:ext>
            </a:extLst>
          </p:cNvPr>
          <p:cNvSpPr/>
          <p:nvPr/>
        </p:nvSpPr>
        <p:spPr>
          <a:xfrm>
            <a:off x="838200" y="1877635"/>
            <a:ext cx="5636172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def </a:t>
            </a:r>
            <a:r>
              <a:rPr lang="en-GB" dirty="0">
                <a:solidFill>
                  <a:srgbClr val="FFC66D"/>
                </a:solidFill>
              </a:rPr>
              <a:t>vind_lager_getal_in_lijst_1</a:t>
            </a:r>
            <a:r>
              <a:rPr lang="en-GB" dirty="0"/>
              <a:t>(</a:t>
            </a:r>
            <a:r>
              <a:rPr lang="en-GB" dirty="0" err="1"/>
              <a:t>lijst_in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 -&gt; int: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CC7832"/>
                </a:solidFill>
              </a:rPr>
              <a:t>for </a:t>
            </a:r>
            <a:r>
              <a:rPr lang="en-GB" dirty="0"/>
              <a:t>element </a:t>
            </a:r>
            <a:r>
              <a:rPr lang="en-GB" dirty="0">
                <a:solidFill>
                  <a:srgbClr val="CC7832"/>
                </a:solidFill>
              </a:rPr>
              <a:t>in </a:t>
            </a:r>
            <a:r>
              <a:rPr lang="en-GB" dirty="0" err="1"/>
              <a:t>lijst_in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CC7832"/>
                </a:solidFill>
              </a:rPr>
              <a:t>if </a:t>
            </a:r>
            <a:r>
              <a:rPr lang="en-GB" dirty="0"/>
              <a:t>element &lt; </a:t>
            </a:r>
            <a:r>
              <a:rPr lang="en-GB" dirty="0" err="1"/>
              <a:t>getal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CC7832"/>
                </a:solidFill>
              </a:rPr>
              <a:t>return </a:t>
            </a:r>
            <a:r>
              <a:rPr lang="en-GB" dirty="0"/>
              <a:t>element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def </a:t>
            </a:r>
            <a:r>
              <a:rPr lang="en-GB" dirty="0">
                <a:solidFill>
                  <a:srgbClr val="FFC66D"/>
                </a:solidFill>
              </a:rPr>
              <a:t>vind_lager_getal_in_lijst_2</a:t>
            </a:r>
            <a:r>
              <a:rPr lang="en-GB" dirty="0"/>
              <a:t>(</a:t>
            </a:r>
            <a:r>
              <a:rPr lang="en-GB" dirty="0" err="1"/>
              <a:t>lijst_in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 -&gt; None: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CC7832"/>
                </a:solidFill>
              </a:rPr>
              <a:t>for </a:t>
            </a:r>
            <a:r>
              <a:rPr lang="en-GB" dirty="0"/>
              <a:t>element </a:t>
            </a:r>
            <a:r>
              <a:rPr lang="en-GB" dirty="0">
                <a:solidFill>
                  <a:srgbClr val="CC7832"/>
                </a:solidFill>
              </a:rPr>
              <a:t>in </a:t>
            </a:r>
            <a:r>
              <a:rPr lang="en-GB" dirty="0" err="1"/>
              <a:t>lijst_in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CC7832"/>
                </a:solidFill>
              </a:rPr>
              <a:t>if </a:t>
            </a:r>
            <a:r>
              <a:rPr lang="en-GB" dirty="0"/>
              <a:t>element &lt; </a:t>
            </a:r>
            <a:r>
              <a:rPr lang="en-GB" dirty="0" err="1"/>
              <a:t>getal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Gevonden</a:t>
            </a:r>
            <a:r>
              <a:rPr lang="en-GB" dirty="0">
                <a:solidFill>
                  <a:srgbClr val="6A8759"/>
                </a:solidFill>
              </a:rPr>
              <a:t>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CC7832"/>
                </a:solidFill>
              </a:rPr>
              <a:t>return</a:t>
            </a:r>
            <a:br>
              <a:rPr lang="en-GB" dirty="0">
                <a:solidFill>
                  <a:srgbClr val="CC7832"/>
                </a:solidFill>
              </a:rPr>
            </a:br>
            <a:br>
              <a:rPr lang="en-GB" dirty="0">
                <a:solidFill>
                  <a:srgbClr val="CC7832"/>
                </a:solidFill>
              </a:rPr>
            </a:br>
            <a:r>
              <a:rPr lang="en-GB" dirty="0"/>
              <a:t>lijst_1 = [</a:t>
            </a:r>
            <a:r>
              <a:rPr lang="en-GB" dirty="0">
                <a:solidFill>
                  <a:srgbClr val="6897BB"/>
                </a:solidFill>
              </a:rPr>
              <a:t>0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5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100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/>
              <a:t>]</a:t>
            </a:r>
            <a:br>
              <a:rPr lang="en-GB" dirty="0"/>
            </a:br>
            <a:r>
              <a:rPr lang="en-GB" dirty="0" err="1"/>
              <a:t>getal</a:t>
            </a:r>
            <a:r>
              <a:rPr lang="en-GB" dirty="0"/>
              <a:t> = </a:t>
            </a:r>
            <a:r>
              <a:rPr lang="en-GB" dirty="0">
                <a:solidFill>
                  <a:srgbClr val="6897BB"/>
                </a:solidFill>
              </a:rPr>
              <a:t>10</a:t>
            </a:r>
            <a:br>
              <a:rPr lang="en-GB" dirty="0">
                <a:solidFill>
                  <a:srgbClr val="6897BB"/>
                </a:solidFill>
              </a:rPr>
            </a:br>
            <a:r>
              <a:rPr lang="en-GB" dirty="0"/>
              <a:t>output = vind_lager_getal_in_lijst_1(lijst_1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vind_lager_getal_in_lijst_2(lijst_1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getal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3C7D1-D632-0E45-9429-1B1B6CFE2101}"/>
              </a:ext>
            </a:extLst>
          </p:cNvPr>
          <p:cNvSpPr txBox="1"/>
          <p:nvPr/>
        </p:nvSpPr>
        <p:spPr>
          <a:xfrm>
            <a:off x="6612094" y="5478621"/>
            <a:ext cx="4741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BE" sz="1600" dirty="0"/>
              <a:t> wordt </a:t>
            </a:r>
            <a:r>
              <a:rPr lang="en-US" sz="1600" dirty="0"/>
              <a:t>in </a:t>
            </a:r>
            <a:r>
              <a:rPr lang="en-US" sz="1600" dirty="0" err="1"/>
              <a:t>beide</a:t>
            </a:r>
            <a:r>
              <a:rPr lang="en-US" sz="1600" dirty="0"/>
              <a:t> </a:t>
            </a:r>
            <a:r>
              <a:rPr lang="en-US" sz="1600" dirty="0" err="1"/>
              <a:t>gevallen</a:t>
            </a:r>
            <a:r>
              <a:rPr lang="en-BE" sz="1600" dirty="0"/>
              <a:t> gebruikt om voortijdig een for-loop af te sluiten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BE7B7-A181-2748-A4FF-103509A8208D}"/>
              </a:ext>
            </a:extLst>
          </p:cNvPr>
          <p:cNvSpPr txBox="1"/>
          <p:nvPr/>
        </p:nvSpPr>
        <p:spPr>
          <a:xfrm>
            <a:off x="6659429" y="2388585"/>
            <a:ext cx="5026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Hier stopt functie door een resultaat te geven (de rest van de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BE" sz="1600" dirty="0"/>
              <a:t> wordt dan niet verder uitgevoerd)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B6C28-38A4-B741-BD25-9768BDE5EF2D}"/>
              </a:ext>
            </a:extLst>
          </p:cNvPr>
          <p:cNvSpPr txBox="1"/>
          <p:nvPr/>
        </p:nvSpPr>
        <p:spPr>
          <a:xfrm>
            <a:off x="6612094" y="4146034"/>
            <a:ext cx="5255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Hier stopt functie door een leeg resultaat te geven (ook hier wordt de </a:t>
            </a:r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BE" sz="1600" dirty="0"/>
              <a:t> mogelijks niet volledig uitgevoerd)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7D7BBA-4C4C-48ED-CB52-2EFF714E8164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656286" y="2680973"/>
            <a:ext cx="3003143" cy="215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780F5E-B850-3357-F317-A30420109D38}"/>
              </a:ext>
            </a:extLst>
          </p:cNvPr>
          <p:cNvCxnSpPr>
            <a:cxnSpLocks/>
          </p:cNvCxnSpPr>
          <p:nvPr/>
        </p:nvCxnSpPr>
        <p:spPr>
          <a:xfrm>
            <a:off x="3656286" y="4469200"/>
            <a:ext cx="2818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CEB3089-355B-118D-1E55-561EBAC504A6}"/>
              </a:ext>
            </a:extLst>
          </p:cNvPr>
          <p:cNvCxnSpPr>
            <a:cxnSpLocks/>
          </p:cNvCxnSpPr>
          <p:nvPr/>
        </p:nvCxnSpPr>
        <p:spPr>
          <a:xfrm flipV="1">
            <a:off x="5910943" y="733048"/>
            <a:ext cx="563429" cy="1201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37254C-27F7-44E3-AC8A-B28DCF9BB928}"/>
              </a:ext>
            </a:extLst>
          </p:cNvPr>
          <p:cNvSpPr txBox="1"/>
          <p:nvPr/>
        </p:nvSpPr>
        <p:spPr>
          <a:xfrm>
            <a:off x="6690436" y="248429"/>
            <a:ext cx="4710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cs typeface="Courier New" panose="02070309020205020404" pitchFamily="49" charset="0"/>
              </a:rPr>
              <a:t>We </a:t>
            </a:r>
            <a:r>
              <a:rPr lang="en-US" sz="1600" dirty="0" err="1">
                <a:cs typeface="Courier New" panose="02070309020205020404" pitchFamily="49" charset="0"/>
              </a:rPr>
              <a:t>gebruiken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cs typeface="Courier New" panose="02070309020205020404" pitchFamily="49" charset="0"/>
              </a:rPr>
              <a:t>type hinting </a:t>
            </a:r>
            <a:r>
              <a:rPr lang="en-US" sz="1600" dirty="0">
                <a:cs typeface="Courier New" panose="02070309020205020404" pitchFamily="49" charset="0"/>
              </a:rPr>
              <a:t>om </a:t>
            </a:r>
            <a:r>
              <a:rPr lang="en-US" sz="1600" dirty="0" err="1">
                <a:cs typeface="Courier New" panose="02070309020205020404" pitchFamily="49" charset="0"/>
              </a:rPr>
              <a:t>aan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te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geven</a:t>
            </a:r>
            <a:r>
              <a:rPr lang="en-US" sz="1600" dirty="0">
                <a:cs typeface="Courier New" panose="02070309020205020404" pitchFamily="49" charset="0"/>
              </a:rPr>
              <a:t> welk </a:t>
            </a:r>
            <a:r>
              <a:rPr lang="en-US" sz="1600" dirty="0" err="1">
                <a:cs typeface="Courier New" panose="02070309020205020404" pitchFamily="49" charset="0"/>
              </a:rPr>
              <a:t>outputtype</a:t>
            </a:r>
            <a:r>
              <a:rPr lang="en-US" sz="1600" dirty="0">
                <a:cs typeface="Courier New" panose="02070309020205020404" pitchFamily="49" charset="0"/>
              </a:rPr>
              <a:t> we </a:t>
            </a:r>
            <a:r>
              <a:rPr lang="en-US" sz="1600" dirty="0" err="1">
                <a:cs typeface="Courier New" panose="02070309020205020404" pitchFamily="49" charset="0"/>
              </a:rPr>
              <a:t>verwachten</a:t>
            </a:r>
            <a:r>
              <a:rPr lang="en-US" sz="1600" dirty="0">
                <a:cs typeface="Courier New" panose="02070309020205020404" pitchFamily="49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voor</a:t>
            </a:r>
            <a:r>
              <a:rPr lang="en-US" sz="1600" dirty="0">
                <a:cs typeface="Courier New" panose="02070309020205020404" pitchFamily="49" charset="0"/>
              </a:rPr>
              <a:t> de </a:t>
            </a:r>
            <a:r>
              <a:rPr lang="en-US" sz="1600" dirty="0" err="1">
                <a:cs typeface="Courier New" panose="02070309020205020404" pitchFamily="49" charset="0"/>
              </a:rPr>
              <a:t>eerste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functie</a:t>
            </a:r>
            <a:endParaRPr lang="en-US" sz="1600" dirty="0">
              <a:cs typeface="Courier New" panose="02070309020205020404" pitchFamily="49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1600" dirty="0">
                <a:cs typeface="Courier New" panose="02070309020205020404" pitchFamily="49" charset="0"/>
              </a:rPr>
              <a:t>: </a:t>
            </a:r>
            <a:r>
              <a:rPr lang="en-US" sz="1600" dirty="0" err="1">
                <a:cs typeface="Courier New" panose="02070309020205020404" pitchFamily="49" charset="0"/>
              </a:rPr>
              <a:t>geen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resultaat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verwacht</a:t>
            </a:r>
            <a:r>
              <a:rPr lang="en-US" sz="1600" dirty="0">
                <a:cs typeface="Courier New" panose="02070309020205020404" pitchFamily="49" charset="0"/>
              </a:rPr>
              <a:t> </a:t>
            </a:r>
            <a:r>
              <a:rPr lang="en-US" sz="1600" dirty="0" err="1">
                <a:cs typeface="Courier New" panose="02070309020205020404" pitchFamily="49" charset="0"/>
              </a:rPr>
              <a:t>voor</a:t>
            </a:r>
            <a:r>
              <a:rPr lang="en-US" sz="1600" dirty="0">
                <a:cs typeface="Courier New" panose="02070309020205020404" pitchFamily="49" charset="0"/>
              </a:rPr>
              <a:t> de </a:t>
            </a:r>
            <a:r>
              <a:rPr lang="en-US" sz="1600" dirty="0" err="1">
                <a:cs typeface="Courier New" panose="02070309020205020404" pitchFamily="49" charset="0"/>
              </a:rPr>
              <a:t>tweede</a:t>
            </a:r>
            <a:endParaRPr lang="en-BE" sz="1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479C7A-F435-69EE-5F36-D46FD9B8B64A}"/>
              </a:ext>
            </a:extLst>
          </p:cNvPr>
          <p:cNvCxnSpPr>
            <a:cxnSpLocks/>
          </p:cNvCxnSpPr>
          <p:nvPr/>
        </p:nvCxnSpPr>
        <p:spPr>
          <a:xfrm flipV="1">
            <a:off x="6096000" y="1532869"/>
            <a:ext cx="411029" cy="174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44455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8017-0760-BA4C-819E-8DCC5FB7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Meerdere waarden teruggeven: scheid ze met een komma</a:t>
            </a:r>
          </a:p>
          <a:p>
            <a:r>
              <a:rPr lang="nl-BE" dirty="0"/>
              <a:t>Python bundelt ze in een tuple</a:t>
            </a:r>
          </a:p>
          <a:p>
            <a:r>
              <a:rPr lang="nl-BE" dirty="0"/>
              <a:t>Je kan die tuple meteen uitpakken in aparte variabelen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B5D1-68D6-C846-91E4-13BCEAC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112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9F64F-307E-E248-9D67-8283017A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Meerdere waarden teruggeven in functie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72FC3-A26C-4841-9211-1C8F39E4C1D2}"/>
              </a:ext>
            </a:extLst>
          </p:cNvPr>
          <p:cNvSpPr txBox="1"/>
          <p:nvPr/>
        </p:nvSpPr>
        <p:spPr>
          <a:xfrm>
            <a:off x="7302500" y="3530599"/>
            <a:ext cx="406218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(3, 2)</a:t>
            </a:r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3</a:t>
            </a:r>
          </a:p>
          <a:p>
            <a:r>
              <a:rPr lang="en-GB" sz="16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32CDF-AAFE-794E-95B1-97E4E2EFCB7F}"/>
              </a:ext>
            </a:extLst>
          </p:cNvPr>
          <p:cNvSpPr txBox="1"/>
          <p:nvPr/>
        </p:nvSpPr>
        <p:spPr>
          <a:xfrm>
            <a:off x="1743120" y="3162300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599B-6A58-344D-AC65-5E1E9EEAE03A}"/>
              </a:ext>
            </a:extLst>
          </p:cNvPr>
          <p:cNvSpPr txBox="1"/>
          <p:nvPr/>
        </p:nvSpPr>
        <p:spPr>
          <a:xfrm>
            <a:off x="7302500" y="3162300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682FF-4460-5E47-A776-DAF377292240}"/>
              </a:ext>
            </a:extLst>
          </p:cNvPr>
          <p:cNvSpPr/>
          <p:nvPr/>
        </p:nvSpPr>
        <p:spPr>
          <a:xfrm>
            <a:off x="1743120" y="3530600"/>
            <a:ext cx="5100577" cy="2413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/>
              <a:t>deel_met_rest(teller: </a:t>
            </a:r>
            <a:r>
              <a:rPr lang="en-GB" sz="1600" dirty="0">
                <a:solidFill>
                  <a:srgbClr val="8888C6"/>
                </a:solidFill>
              </a:rPr>
              <a:t>int</a:t>
            </a:r>
            <a:r>
              <a:rPr lang="en-GB" sz="1600" dirty="0"/>
              <a:t>, noemer: </a:t>
            </a:r>
            <a:r>
              <a:rPr lang="en-GB" sz="1600" dirty="0">
                <a:solidFill>
                  <a:srgbClr val="8888C6"/>
                </a:solidFill>
              </a:rPr>
              <a:t>int</a:t>
            </a:r>
            <a:r>
              <a:rPr lang="en-GB" sz="1600" dirty="0"/>
              <a:t>):</a:t>
            </a: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    return </a:t>
            </a:r>
            <a:r>
              <a:rPr lang="en-GB" sz="1600" dirty="0"/>
              <a:t>teller // noemer, teller % noemer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resultaat = deel_met_rest(</a:t>
            </a:r>
            <a:r>
              <a:rPr lang="en-GB" sz="1600" dirty="0">
                <a:solidFill>
                  <a:srgbClr val="6897BB"/>
                </a:solidFill>
              </a:rPr>
              <a:t>17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(resultaat)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geheel, rest = deel_met_rest(</a:t>
            </a:r>
            <a:r>
              <a:rPr lang="en-GB" sz="1600" dirty="0">
                <a:solidFill>
                  <a:srgbClr val="6897BB"/>
                </a:solidFill>
              </a:rPr>
              <a:t>17</a:t>
            </a:r>
            <a:r>
              <a:rPr lang="en-GB" sz="1600" dirty="0"/>
              <a:t>, </a:t>
            </a:r>
            <a:r>
              <a:rPr lang="en-GB" sz="1600" dirty="0">
                <a:solidFill>
                  <a:srgbClr val="6897BB"/>
                </a:solidFill>
              </a:rPr>
              <a:t>5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(geheel)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(rest)</a:t>
            </a:r>
          </a:p>
        </p:txBody>
      </p:sp>
    </p:spTree>
    <p:extLst>
      <p:ext uri="{BB962C8B-B14F-4D97-AF65-F5344CB8AC3E}">
        <p14:creationId xmlns:p14="http://schemas.microsoft.com/office/powerpoint/2010/main" val="24900083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F3F79-1CF8-4141-8A5C-60CF145A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 van een asterisk voor een parameter maakt dat deze wordt geïnterpreteerd als een </a:t>
            </a:r>
            <a:r>
              <a:rPr lang="nl-NL" dirty="0" err="1"/>
              <a:t>tupel</a:t>
            </a:r>
            <a:endParaRPr lang="nl-NL" dirty="0"/>
          </a:p>
          <a:p>
            <a:r>
              <a:rPr lang="nl-NL" dirty="0"/>
              <a:t>Zo kan een ongespecificeerd aantal parameters meegegeven worden</a:t>
            </a:r>
          </a:p>
          <a:p>
            <a:pPr lvl="1"/>
            <a:r>
              <a:rPr lang="nl-NL" sz="2000" dirty="0"/>
              <a:t>Dit is bv. hoe de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sz="2000" dirty="0"/>
              <a:t>-functie meerdere strings achter elkaar plakt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486C7-3A75-BC4B-BB47-99B72F2A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113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3471F-7C8D-0940-AF13-FE72824C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Ongespecifieerd aantal parameters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3BA74-30E0-2048-8A7B-3B33E4C2525A}"/>
              </a:ext>
            </a:extLst>
          </p:cNvPr>
          <p:cNvSpPr/>
          <p:nvPr/>
        </p:nvSpPr>
        <p:spPr>
          <a:xfrm>
            <a:off x="6947338" y="4555291"/>
            <a:ext cx="3741683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Aantal getallen meegegeven: 4</a:t>
            </a:r>
          </a:p>
          <a:p>
            <a:r>
              <a:rPr lang="en-BE" sz="1600" dirty="0"/>
              <a:t>Uitkomst 1: 20</a:t>
            </a:r>
          </a:p>
          <a:p>
            <a:r>
              <a:rPr lang="en-BE" sz="1600" dirty="0"/>
              <a:t>Aantal getallen meegegeven: 2</a:t>
            </a:r>
          </a:p>
          <a:p>
            <a:r>
              <a:rPr lang="en-BE" sz="1600" dirty="0"/>
              <a:t>Uitkomst 2: 105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BBBC0-DE8F-A248-8E12-FE2611497A58}"/>
              </a:ext>
            </a:extLst>
          </p:cNvPr>
          <p:cNvSpPr txBox="1"/>
          <p:nvPr/>
        </p:nvSpPr>
        <p:spPr>
          <a:xfrm>
            <a:off x="838200" y="3681691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900EA-E2C1-404D-97D6-3C2AB128A02E}"/>
              </a:ext>
            </a:extLst>
          </p:cNvPr>
          <p:cNvSpPr txBox="1"/>
          <p:nvPr/>
        </p:nvSpPr>
        <p:spPr>
          <a:xfrm>
            <a:off x="6947338" y="4235688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B530B2-A44C-B340-9255-9EFBE1881F94}"/>
              </a:ext>
            </a:extLst>
          </p:cNvPr>
          <p:cNvSpPr/>
          <p:nvPr/>
        </p:nvSpPr>
        <p:spPr>
          <a:xfrm>
            <a:off x="838200" y="4051023"/>
            <a:ext cx="5646683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som_getallen</a:t>
            </a:r>
            <a:r>
              <a:rPr lang="en-GB" sz="1600" dirty="0"/>
              <a:t>(*</a:t>
            </a:r>
            <a:r>
              <a:rPr lang="en-GB" sz="1600" dirty="0" err="1"/>
              <a:t>args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minimum):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Aantal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getallen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meegegeven</a:t>
            </a:r>
            <a:r>
              <a:rPr lang="en-GB" sz="1600" dirty="0">
                <a:solidFill>
                  <a:srgbClr val="6A8759"/>
                </a:solidFill>
              </a:rPr>
              <a:t>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>
                <a:solidFill>
                  <a:srgbClr val="8888C6"/>
                </a:solidFill>
              </a:rPr>
              <a:t>len</a:t>
            </a:r>
            <a:r>
              <a:rPr lang="en-GB" sz="1600" dirty="0"/>
              <a:t>(</a:t>
            </a:r>
            <a:r>
              <a:rPr lang="en-GB" sz="1600" dirty="0" err="1"/>
              <a:t>args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>
                <a:solidFill>
                  <a:srgbClr val="8888C6"/>
                </a:solidFill>
              </a:rPr>
              <a:t>sum</a:t>
            </a:r>
            <a:r>
              <a:rPr lang="en-GB" sz="1600" dirty="0"/>
              <a:t>(</a:t>
            </a:r>
            <a:r>
              <a:rPr lang="en-GB" sz="1600" dirty="0" err="1"/>
              <a:t>args</a:t>
            </a:r>
            <a:r>
              <a:rPr lang="en-GB" sz="1600" dirty="0"/>
              <a:t>) + minimum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Uitkomst</a:t>
            </a:r>
            <a:r>
              <a:rPr lang="en-GB" sz="1600" dirty="0">
                <a:solidFill>
                  <a:srgbClr val="6A8759"/>
                </a:solidFill>
              </a:rPr>
              <a:t> 1:'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som_getallen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2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3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AA4926"/>
                </a:solidFill>
              </a:rPr>
              <a:t>minimum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Uitkomst</a:t>
            </a:r>
            <a:r>
              <a:rPr lang="en-GB" sz="1600" dirty="0">
                <a:solidFill>
                  <a:srgbClr val="6A8759"/>
                </a:solidFill>
              </a:rPr>
              <a:t> 2:'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som_getallen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AA4926"/>
                </a:solidFill>
              </a:rPr>
              <a:t>minimum</a:t>
            </a:r>
            <a:r>
              <a:rPr lang="en-GB" sz="1600" dirty="0"/>
              <a:t>=</a:t>
            </a:r>
            <a:r>
              <a:rPr lang="en-GB" sz="1600" dirty="0">
                <a:solidFill>
                  <a:srgbClr val="6897BB"/>
                </a:solidFill>
              </a:rPr>
              <a:t>100</a:t>
            </a:r>
            <a:r>
              <a:rPr lang="en-GB" sz="1600" dirty="0"/>
              <a:t>))</a:t>
            </a:r>
            <a:endParaRPr lang="en-BE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4948A9-F2CF-CB46-9B48-CF3AE3182734}"/>
              </a:ext>
            </a:extLst>
          </p:cNvPr>
          <p:cNvCxnSpPr>
            <a:cxnSpLocks/>
          </p:cNvCxnSpPr>
          <p:nvPr/>
        </p:nvCxnSpPr>
        <p:spPr>
          <a:xfrm flipV="1">
            <a:off x="2963917" y="3783724"/>
            <a:ext cx="441435" cy="357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CEE4FB-6359-CF48-BA03-AB4BD7DD6785}"/>
              </a:ext>
            </a:extLst>
          </p:cNvPr>
          <p:cNvCxnSpPr>
            <a:cxnSpLocks/>
          </p:cNvCxnSpPr>
          <p:nvPr/>
        </p:nvCxnSpPr>
        <p:spPr>
          <a:xfrm flipV="1">
            <a:off x="5665076" y="3857297"/>
            <a:ext cx="525517" cy="1271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8061FE-D332-C548-870D-D024CDAC5164}"/>
              </a:ext>
            </a:extLst>
          </p:cNvPr>
          <p:cNvSpPr txBox="1"/>
          <p:nvPr/>
        </p:nvSpPr>
        <p:spPr>
          <a:xfrm>
            <a:off x="3329381" y="3478887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400" dirty="0"/>
              <a:t>args is een tuple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47892-74BA-754F-B083-47FA04A5D41C}"/>
              </a:ext>
            </a:extLst>
          </p:cNvPr>
          <p:cNvSpPr txBox="1"/>
          <p:nvPr/>
        </p:nvSpPr>
        <p:spPr>
          <a:xfrm>
            <a:off x="6147744" y="3429972"/>
            <a:ext cx="5164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  <a:r>
              <a:rPr lang="en-BE" sz="1400" dirty="0"/>
              <a:t>ndere parameters kunnen ook nog meegegeven worden, maar enkel met hun expliciete vermelding (i.e. argumentnaam)</a:t>
            </a:r>
          </a:p>
        </p:txBody>
      </p:sp>
    </p:spTree>
    <p:extLst>
      <p:ext uri="{BB962C8B-B14F-4D97-AF65-F5344CB8AC3E}">
        <p14:creationId xmlns:p14="http://schemas.microsoft.com/office/powerpoint/2010/main" val="43404734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FE0C1-B833-E342-9DF6-02046B94E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Functies kunnen overal worden ingebouwd, bv. ook in externe modules die we later gebruiken</a:t>
            </a:r>
          </a:p>
          <a:p>
            <a:r>
              <a:rPr lang="en-BE" dirty="0"/>
              <a:t>Daarom is het belangrijk dat er informatie voorzien is over wat de functie precies doet en welke argumenten verwacht worden</a:t>
            </a:r>
          </a:p>
          <a:p>
            <a:r>
              <a:rPr lang="en-BE" dirty="0"/>
              <a:t>Type hinting:</a:t>
            </a:r>
          </a:p>
          <a:p>
            <a:pPr lvl="1"/>
            <a:r>
              <a:rPr lang="en-BE" sz="2000" dirty="0"/>
              <a:t>Python heeft geen expliciete typering</a:t>
            </a:r>
          </a:p>
          <a:p>
            <a:pPr lvl="1"/>
            <a:r>
              <a:rPr lang="en-BE" sz="2000" dirty="0"/>
              <a:t>We kunnen wel aanduiden welke types we verwachten als argumenten</a:t>
            </a:r>
          </a:p>
          <a:p>
            <a:pPr lvl="1"/>
            <a:r>
              <a:rPr lang="en-BE" sz="2000" dirty="0"/>
              <a:t>We kunnen ook aanduiden welk type de functie normaal zal teruggeven</a:t>
            </a:r>
          </a:p>
          <a:p>
            <a:pPr lvl="1"/>
            <a:r>
              <a:rPr lang="en-BE" sz="2000" dirty="0">
                <a:solidFill>
                  <a:srgbClr val="FF0000"/>
                </a:solidFill>
              </a:rPr>
              <a:t>Louter informatief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97574-8D13-264A-A7C9-0DE8255B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00501-434E-CB4C-B58B-E1258800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Documenteren</a:t>
            </a:r>
          </a:p>
        </p:txBody>
      </p:sp>
    </p:spTree>
    <p:extLst>
      <p:ext uri="{BB962C8B-B14F-4D97-AF65-F5344CB8AC3E}">
        <p14:creationId xmlns:p14="http://schemas.microsoft.com/office/powerpoint/2010/main" val="291072538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68CE6-2CC6-C84A-AB91-9E832A65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E3B35-84CE-BF4A-9CBA-801C9117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Voorbeeld documentatie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B7A58-61DB-614C-B72F-751B58676F17}"/>
              </a:ext>
            </a:extLst>
          </p:cNvPr>
          <p:cNvSpPr/>
          <p:nvPr/>
        </p:nvSpPr>
        <p:spPr>
          <a:xfrm>
            <a:off x="838200" y="2547050"/>
            <a:ext cx="6981497" cy="206210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def </a:t>
            </a:r>
            <a:r>
              <a:rPr lang="en-GB" sz="1600" dirty="0" err="1">
                <a:solidFill>
                  <a:srgbClr val="FFC66D"/>
                </a:solidFill>
              </a:rPr>
              <a:t>som_van_getallen</a:t>
            </a:r>
            <a:r>
              <a:rPr lang="en-GB" sz="1600" dirty="0"/>
              <a:t>(getal_1: </a:t>
            </a:r>
            <a:r>
              <a:rPr lang="en-GB" sz="1600" dirty="0">
                <a:solidFill>
                  <a:srgbClr val="6A8759"/>
                </a:solidFill>
              </a:rPr>
              <a:t>'integer'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getal_2: </a:t>
            </a:r>
            <a:r>
              <a:rPr lang="en-GB" sz="1600" dirty="0">
                <a:solidFill>
                  <a:srgbClr val="6A8759"/>
                </a:solidFill>
              </a:rPr>
              <a:t>'integer'</a:t>
            </a:r>
            <a:r>
              <a:rPr lang="en-GB" sz="1600" dirty="0"/>
              <a:t>) -&gt; </a:t>
            </a:r>
            <a:r>
              <a:rPr lang="en-GB" sz="1600" dirty="0">
                <a:solidFill>
                  <a:srgbClr val="6A8759"/>
                </a:solidFill>
              </a:rPr>
              <a:t>'integer'</a:t>
            </a:r>
            <a:r>
              <a:rPr lang="en-GB" sz="1600" dirty="0"/>
              <a:t>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i="1" dirty="0">
                <a:solidFill>
                  <a:srgbClr val="629755"/>
                </a:solidFill>
              </a:rPr>
              <a:t>"""</a:t>
            </a:r>
            <a:r>
              <a:rPr lang="en-GB" sz="1600" i="1" dirty="0" err="1">
                <a:solidFill>
                  <a:srgbClr val="629755"/>
                </a:solidFill>
              </a:rPr>
              <a:t>Deze</a:t>
            </a:r>
            <a:r>
              <a:rPr lang="en-GB" sz="1600" i="1" dirty="0">
                <a:solidFill>
                  <a:srgbClr val="629755"/>
                </a:solidFill>
              </a:rPr>
              <a:t> </a:t>
            </a:r>
            <a:r>
              <a:rPr lang="en-GB" sz="1600" i="1" dirty="0" err="1">
                <a:solidFill>
                  <a:srgbClr val="629755"/>
                </a:solidFill>
              </a:rPr>
              <a:t>functie</a:t>
            </a:r>
            <a:r>
              <a:rPr lang="en-GB" sz="1600" i="1" dirty="0">
                <a:solidFill>
                  <a:srgbClr val="629755"/>
                </a:solidFill>
              </a:rPr>
              <a:t> </a:t>
            </a:r>
            <a:r>
              <a:rPr lang="en-GB" sz="1600" i="1" dirty="0" err="1">
                <a:solidFill>
                  <a:srgbClr val="629755"/>
                </a:solidFill>
              </a:rPr>
              <a:t>telt</a:t>
            </a:r>
            <a:r>
              <a:rPr lang="en-GB" sz="1600" i="1" dirty="0">
                <a:solidFill>
                  <a:srgbClr val="629755"/>
                </a:solidFill>
              </a:rPr>
              <a:t> 2 </a:t>
            </a:r>
            <a:r>
              <a:rPr lang="en-GB" sz="1600" i="1" dirty="0" err="1">
                <a:solidFill>
                  <a:srgbClr val="629755"/>
                </a:solidFill>
              </a:rPr>
              <a:t>getallen</a:t>
            </a:r>
            <a:r>
              <a:rPr lang="en-GB" sz="1600" i="1" dirty="0">
                <a:solidFill>
                  <a:srgbClr val="629755"/>
                </a:solidFill>
              </a:rPr>
              <a:t> op"""</a:t>
            </a:r>
            <a:br>
              <a:rPr lang="en-GB" sz="1600" i="1" dirty="0">
                <a:solidFill>
                  <a:srgbClr val="629755"/>
                </a:solidFill>
              </a:rPr>
            </a:br>
            <a:r>
              <a:rPr lang="en-GB" sz="1600" i="1" dirty="0">
                <a:solidFill>
                  <a:srgbClr val="629755"/>
                </a:solidFill>
              </a:rPr>
              <a:t>    </a:t>
            </a:r>
            <a:r>
              <a:rPr lang="en-GB" sz="1600" dirty="0">
                <a:solidFill>
                  <a:srgbClr val="CC7832"/>
                </a:solidFill>
              </a:rPr>
              <a:t>return </a:t>
            </a:r>
            <a:r>
              <a:rPr lang="en-GB" sz="1600" dirty="0"/>
              <a:t>getal_1 + getal_2</a:t>
            </a:r>
            <a:br>
              <a:rPr lang="en-GB" sz="1600" dirty="0"/>
            </a:b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som_van_getallen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897BB"/>
                </a:solidFill>
              </a:rPr>
              <a:t>4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 err="1"/>
              <a:t>som_van_getallen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een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6A8759"/>
                </a:solidFill>
              </a:rPr>
              <a:t>' string!'</a:t>
            </a:r>
            <a:r>
              <a:rPr lang="en-GB" sz="1600" dirty="0"/>
              <a:t>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(som_van_</a:t>
            </a:r>
            <a:r>
              <a:rPr lang="en-GB" sz="1600" dirty="0" err="1"/>
              <a:t>getallen</a:t>
            </a:r>
            <a:r>
              <a:rPr lang="en-GB" sz="1600" dirty="0"/>
              <a:t>.</a:t>
            </a:r>
            <a:r>
              <a:rPr lang="en-GB" sz="1600" dirty="0">
                <a:solidFill>
                  <a:srgbClr val="B200B2"/>
                </a:solidFill>
              </a:rPr>
              <a:t>__annotations__</a:t>
            </a:r>
            <a:r>
              <a:rPr lang="en-GB" sz="1600" dirty="0"/>
              <a:t>)</a:t>
            </a:r>
            <a:endParaRPr lang="en-BE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7FCDF5-9B73-C64B-9311-6F158BC3F145}"/>
              </a:ext>
            </a:extLst>
          </p:cNvPr>
          <p:cNvSpPr/>
          <p:nvPr/>
        </p:nvSpPr>
        <p:spPr>
          <a:xfrm>
            <a:off x="838200" y="5191729"/>
            <a:ext cx="6981497" cy="8617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BE" sz="1600" dirty="0"/>
              <a:t>5</a:t>
            </a:r>
          </a:p>
          <a:p>
            <a:r>
              <a:rPr lang="en-BE" sz="1600" dirty="0"/>
              <a:t>een string!</a:t>
            </a:r>
          </a:p>
          <a:p>
            <a:r>
              <a:rPr lang="en-BE" sz="1600" dirty="0"/>
              <a:t>{'getal_1': 'integer', 'getal_2': 'integer', 'return': 'integer'}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C1497-A0E4-9B46-AE24-BD14D6297620}"/>
              </a:ext>
            </a:extLst>
          </p:cNvPr>
          <p:cNvSpPr txBox="1"/>
          <p:nvPr/>
        </p:nvSpPr>
        <p:spPr>
          <a:xfrm>
            <a:off x="3762703" y="1516132"/>
            <a:ext cx="2808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De string tussen 3 ” wordt in code editors meegegeven als we over de functie hoveren met de muis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CB3AF8-00F4-8648-B7D3-67F9BC3BF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17" y="1235384"/>
            <a:ext cx="5570483" cy="1215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A48247-5611-9145-88C8-7665684432AE}"/>
              </a:ext>
            </a:extLst>
          </p:cNvPr>
          <p:cNvSpPr txBox="1"/>
          <p:nvPr/>
        </p:nvSpPr>
        <p:spPr>
          <a:xfrm>
            <a:off x="838199" y="218299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1208F0-75C4-C345-85FA-A4D1513926B9}"/>
              </a:ext>
            </a:extLst>
          </p:cNvPr>
          <p:cNvSpPr txBox="1"/>
          <p:nvPr/>
        </p:nvSpPr>
        <p:spPr>
          <a:xfrm>
            <a:off x="838199" y="483871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2AF1D0-71AF-344D-9BC1-BE5E27ED6A53}"/>
              </a:ext>
            </a:extLst>
          </p:cNvPr>
          <p:cNvCxnSpPr>
            <a:cxnSpLocks/>
          </p:cNvCxnSpPr>
          <p:nvPr/>
        </p:nvCxnSpPr>
        <p:spPr>
          <a:xfrm>
            <a:off x="4830587" y="4433318"/>
            <a:ext cx="1023675" cy="285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5585DC-0973-DA4F-97AE-1D9DFC47071D}"/>
              </a:ext>
            </a:extLst>
          </p:cNvPr>
          <p:cNvCxnSpPr>
            <a:cxnSpLocks/>
          </p:cNvCxnSpPr>
          <p:nvPr/>
        </p:nvCxnSpPr>
        <p:spPr>
          <a:xfrm flipV="1">
            <a:off x="4371703" y="2250477"/>
            <a:ext cx="2060628" cy="6930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9DC0979-B98B-F54E-855D-38AA8FA943F9}"/>
              </a:ext>
            </a:extLst>
          </p:cNvPr>
          <p:cNvSpPr txBox="1"/>
          <p:nvPr/>
        </p:nvSpPr>
        <p:spPr>
          <a:xfrm>
            <a:off x="5342424" y="4634652"/>
            <a:ext cx="67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De rest van de info kan opgevraagd worden via het .__annotations__ attribuut van de functie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CCA2D9-47E2-E340-9FD7-9DC22AF17AEA}"/>
              </a:ext>
            </a:extLst>
          </p:cNvPr>
          <p:cNvCxnSpPr>
            <a:cxnSpLocks/>
          </p:cNvCxnSpPr>
          <p:nvPr/>
        </p:nvCxnSpPr>
        <p:spPr>
          <a:xfrm>
            <a:off x="2522412" y="6065407"/>
            <a:ext cx="903961" cy="241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545B579-D37C-4046-A474-A7E11440D451}"/>
              </a:ext>
            </a:extLst>
          </p:cNvPr>
          <p:cNvSpPr txBox="1"/>
          <p:nvPr/>
        </p:nvSpPr>
        <p:spPr>
          <a:xfrm>
            <a:off x="3426373" y="6205709"/>
            <a:ext cx="6799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Let op, deze info is louter informatief. Men kan nog altijd bv. 2 strings meegeven hoewel ‘integer’ vermeld wordt voor beide argumenten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59A67A3-9EF9-2F36-8BFA-9C26DF00B4AD}"/>
              </a:ext>
            </a:extLst>
          </p:cNvPr>
          <p:cNvCxnSpPr>
            <a:cxnSpLocks/>
          </p:cNvCxnSpPr>
          <p:nvPr/>
        </p:nvCxnSpPr>
        <p:spPr>
          <a:xfrm>
            <a:off x="6214188" y="2887277"/>
            <a:ext cx="2006081" cy="5924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98A64B-5756-B532-9AC3-2F989184E899}"/>
              </a:ext>
            </a:extLst>
          </p:cNvPr>
          <p:cNvSpPr txBox="1"/>
          <p:nvPr/>
        </p:nvSpPr>
        <p:spPr>
          <a:xfrm>
            <a:off x="8189033" y="3226182"/>
            <a:ext cx="40744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600" dirty="0"/>
              <a:t>Type hinting van argumenten:</a:t>
            </a:r>
          </a:p>
          <a:p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‘integer’</a:t>
            </a:r>
          </a:p>
          <a:p>
            <a:r>
              <a:rPr lang="en-BE" sz="1600" dirty="0"/>
              <a:t>Type hinting van output:</a:t>
            </a:r>
          </a:p>
          <a:p>
            <a:r>
              <a:rPr lang="en-B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 ‘integer’</a:t>
            </a:r>
          </a:p>
        </p:txBody>
      </p:sp>
    </p:spTree>
    <p:extLst>
      <p:ext uri="{BB962C8B-B14F-4D97-AF65-F5344CB8AC3E}">
        <p14:creationId xmlns:p14="http://schemas.microsoft.com/office/powerpoint/2010/main" val="92920400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4A5CA4-6584-CFF6-9AFB-06C44F30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def dubbel(x):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    print(x * 2)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y = dubbel(3)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tx2">
                    <a:lumMod val="75000"/>
                  </a:schemeClr>
                </a:solidFill>
                <a:latin typeface="Consolas"/>
                <a:cs typeface="Consolas"/>
              </a:rPr>
              <a:t>print(y)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000" dirty="0"/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nsolas"/>
                <a:cs typeface="Consolas"/>
              </a:rPr>
              <a:t>teller = 0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nsolas"/>
                <a:cs typeface="Consolas"/>
              </a:rPr>
              <a:t>def verhoog():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nsolas"/>
                <a:cs typeface="Consolas"/>
              </a:rPr>
              <a:t>    teller = 10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nsolas"/>
                <a:cs typeface="Consolas"/>
              </a:rPr>
              <a:t>verhoog()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solidFill>
                  <a:schemeClr val="accent5">
                    <a:lumMod val="75000"/>
                  </a:schemeClr>
                </a:solidFill>
                <a:latin typeface="Consolas"/>
                <a:cs typeface="Consolas"/>
              </a:rPr>
              <a:t>print(teller)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0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F1A2AE-424F-6D9B-37E4-1C4125F3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116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B2713C-CB15-0E87-7900-014ACF7FB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1.8: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219148248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7C18E4-69B3-7745-A57B-10E4766B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9. Filteren en aanpassen met functies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53618F0-C113-3E4E-98C4-0FC2DCCCA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1A.12-filter_map_functies.ipynb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6B954-E82D-3B4F-BAAA-8D8BFBC3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117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299828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A35E8-954B-0640-8340-A94B4FE31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filter()</a:t>
            </a:r>
            <a:r>
              <a:rPr lang="nl-NL" dirty="0"/>
              <a:t> functie laat toe om een functie mee te geven als argument die een </a:t>
            </a:r>
            <a:r>
              <a:rPr lang="nl-NL" dirty="0" err="1"/>
              <a:t>itereerbaar</a:t>
            </a:r>
            <a:r>
              <a:rPr lang="nl-NL" dirty="0"/>
              <a:t> object kan filteren:</a:t>
            </a:r>
          </a:p>
          <a:p>
            <a:pPr lvl="1"/>
            <a:r>
              <a:rPr lang="nl-NL" sz="2000" dirty="0"/>
              <a:t>Argumenten: de filterfunctie en het </a:t>
            </a:r>
            <a:r>
              <a:rPr lang="nl-NL" sz="2000" dirty="0" err="1"/>
              <a:t>itereerbaar</a:t>
            </a:r>
            <a:r>
              <a:rPr lang="nl-NL" sz="2000" dirty="0"/>
              <a:t> object</a:t>
            </a:r>
          </a:p>
          <a:p>
            <a:pPr lvl="1"/>
            <a:r>
              <a:rPr lang="nl-NL" sz="2000" dirty="0"/>
              <a:t>Filtervoorwaarden zijn ofwel een </a:t>
            </a:r>
            <a:r>
              <a:rPr lang="nl-NL" sz="2000" dirty="0" err="1"/>
              <a:t>lambda-functie</a:t>
            </a:r>
            <a:r>
              <a:rPr lang="nl-NL" sz="2000" dirty="0"/>
              <a:t> of een eigen functie</a:t>
            </a:r>
          </a:p>
          <a:p>
            <a:r>
              <a:rPr lang="nl-NL" dirty="0"/>
              <a:t>Het resultaat is een </a:t>
            </a:r>
            <a:r>
              <a:rPr lang="nl-NL" dirty="0" err="1"/>
              <a:t>itereerbaar</a:t>
            </a:r>
            <a:r>
              <a:rPr lang="nl-NL" dirty="0"/>
              <a:t> object dat terug kan omgezet worden:</a:t>
            </a:r>
          </a:p>
          <a:p>
            <a:pPr lvl="1"/>
            <a:r>
              <a:rPr lang="nl-NL" sz="2000" dirty="0"/>
              <a:t>Bv. het resultaat kan omgezet worden via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list()</a:t>
            </a:r>
          </a:p>
          <a:p>
            <a:r>
              <a:rPr lang="nl-NL" dirty="0"/>
              <a:t>In de achtergrond in C uitgevoerd, dus sneller dan standaard Python</a:t>
            </a:r>
          </a:p>
          <a:p>
            <a:pPr lvl="1"/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D928C-0135-A444-BD8B-2DA9EE89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118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CB739-33B0-D142-958B-88EB9B1EC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</p:txBody>
      </p:sp>
    </p:spTree>
    <p:extLst>
      <p:ext uri="{BB962C8B-B14F-4D97-AF65-F5344CB8AC3E}">
        <p14:creationId xmlns:p14="http://schemas.microsoft.com/office/powerpoint/2010/main" val="31450877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9F150-1E8A-AE45-98EF-A41BEDB7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119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31755-47B4-6742-8035-26B22145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Voorbeeld: filter positieve nummers weg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1FEA7-7307-EE45-8C06-C099E033AD3B}"/>
              </a:ext>
            </a:extLst>
          </p:cNvPr>
          <p:cNvSpPr/>
          <p:nvPr/>
        </p:nvSpPr>
        <p:spPr>
          <a:xfrm>
            <a:off x="838200" y="2681011"/>
            <a:ext cx="4572000" cy="280076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/>
              <a:t>lijst = [</a:t>
            </a:r>
            <a:r>
              <a:rPr lang="nl-NL" sz="1600" dirty="0">
                <a:solidFill>
                  <a:srgbClr val="6897BB"/>
                </a:solidFill>
              </a:rPr>
              <a:t>0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2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-</a:t>
            </a:r>
            <a:r>
              <a:rPr lang="nl-NL" sz="1600" dirty="0">
                <a:solidFill>
                  <a:srgbClr val="6897BB"/>
                </a:solidFill>
              </a:rPr>
              <a:t>5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6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-</a:t>
            </a:r>
            <a:r>
              <a:rPr lang="nl-NL" sz="1600" dirty="0">
                <a:solidFill>
                  <a:srgbClr val="6897BB"/>
                </a:solidFill>
              </a:rPr>
              <a:t>3</a:t>
            </a:r>
            <a:r>
              <a:rPr lang="nl-NL" sz="1600" dirty="0"/>
              <a:t>]</a:t>
            </a:r>
          </a:p>
          <a:p>
            <a:br>
              <a:rPr lang="nl-NL" sz="1600" dirty="0"/>
            </a:br>
            <a:r>
              <a:rPr lang="nl-NL" sz="1600" dirty="0" err="1"/>
              <a:t>nieuwe_lijst</a:t>
            </a:r>
            <a:r>
              <a:rPr lang="nl-NL" sz="1600" dirty="0"/>
              <a:t> = []</a:t>
            </a:r>
            <a:br>
              <a:rPr lang="nl-NL" sz="1600" dirty="0"/>
            </a:br>
            <a:r>
              <a:rPr lang="nl-NL" sz="1600" dirty="0" err="1">
                <a:solidFill>
                  <a:srgbClr val="CC7832"/>
                </a:solidFill>
              </a:rPr>
              <a:t>for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/>
              <a:t>i </a:t>
            </a:r>
            <a:r>
              <a:rPr lang="nl-NL" sz="1600" dirty="0">
                <a:solidFill>
                  <a:srgbClr val="CC7832"/>
                </a:solidFill>
              </a:rPr>
              <a:t>in </a:t>
            </a:r>
            <a:r>
              <a:rPr lang="nl-NL" sz="1600" dirty="0"/>
              <a:t>lijst:</a:t>
            </a:r>
            <a:br>
              <a:rPr lang="nl-NL" sz="1600" dirty="0"/>
            </a:br>
            <a:r>
              <a:rPr lang="nl-NL" sz="1600" dirty="0"/>
              <a:t>    </a:t>
            </a:r>
            <a:r>
              <a:rPr lang="nl-NL" sz="1600" dirty="0" err="1">
                <a:solidFill>
                  <a:srgbClr val="CC7832"/>
                </a:solidFill>
              </a:rPr>
              <a:t>if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/>
              <a:t>i &lt; </a:t>
            </a:r>
            <a:r>
              <a:rPr lang="nl-NL" sz="1600" dirty="0">
                <a:solidFill>
                  <a:srgbClr val="6897BB"/>
                </a:solidFill>
              </a:rPr>
              <a:t>0</a:t>
            </a:r>
            <a:r>
              <a:rPr lang="nl-NL" sz="1600" dirty="0"/>
              <a:t>:</a:t>
            </a:r>
            <a:br>
              <a:rPr lang="nl-NL" sz="1600" dirty="0"/>
            </a:br>
            <a:r>
              <a:rPr lang="nl-NL" sz="1600" dirty="0"/>
              <a:t>        </a:t>
            </a:r>
            <a:r>
              <a:rPr lang="nl-NL" sz="1600" dirty="0" err="1"/>
              <a:t>nieuwe_lijst.append</a:t>
            </a:r>
            <a:r>
              <a:rPr lang="nl-NL" sz="1600" dirty="0"/>
              <a:t>(i)</a:t>
            </a:r>
            <a:br>
              <a:rPr lang="nl-NL" sz="1600" dirty="0"/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6A8759"/>
                </a:solidFill>
              </a:rPr>
              <a:t>'Nieuwe lijst:'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 err="1"/>
              <a:t>nieuwe_lijst</a:t>
            </a:r>
            <a:r>
              <a:rPr lang="nl-NL" sz="1600" dirty="0"/>
              <a:t>)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>
                <a:solidFill>
                  <a:srgbClr val="808080"/>
                </a:solidFill>
              </a:rPr>
              <a:t>#  of korter met </a:t>
            </a:r>
            <a:r>
              <a:rPr lang="nl-NL" sz="1600" dirty="0" err="1">
                <a:solidFill>
                  <a:srgbClr val="808080"/>
                </a:solidFill>
              </a:rPr>
              <a:t>lambda</a:t>
            </a:r>
            <a:r>
              <a:rPr lang="nl-NL" sz="1600" dirty="0">
                <a:solidFill>
                  <a:srgbClr val="808080"/>
                </a:solidFill>
              </a:rPr>
              <a:t> functie</a:t>
            </a:r>
            <a:br>
              <a:rPr lang="nl-NL" sz="1600" dirty="0">
                <a:solidFill>
                  <a:srgbClr val="808080"/>
                </a:solidFill>
              </a:rPr>
            </a:br>
            <a:r>
              <a:rPr lang="nl-NL" sz="1600" dirty="0" err="1"/>
              <a:t>nieuwe_lijst</a:t>
            </a:r>
            <a:r>
              <a:rPr lang="nl-NL" sz="1600" dirty="0"/>
              <a:t> = </a:t>
            </a:r>
            <a:r>
              <a:rPr lang="nl-NL" sz="1600" dirty="0">
                <a:solidFill>
                  <a:srgbClr val="8888C6"/>
                </a:solidFill>
              </a:rPr>
              <a:t>filter</a:t>
            </a:r>
            <a:r>
              <a:rPr lang="nl-NL" sz="1600" dirty="0"/>
              <a:t>(</a:t>
            </a:r>
            <a:r>
              <a:rPr lang="nl-NL" sz="1600" dirty="0" err="1">
                <a:solidFill>
                  <a:srgbClr val="CC7832"/>
                </a:solidFill>
              </a:rPr>
              <a:t>lambda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/>
              <a:t>i: i &lt; </a:t>
            </a:r>
            <a:r>
              <a:rPr lang="nl-NL" sz="1600" dirty="0">
                <a:solidFill>
                  <a:srgbClr val="6897BB"/>
                </a:solidFill>
              </a:rPr>
              <a:t>0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lijst)</a:t>
            </a:r>
            <a:br>
              <a:rPr lang="nl-NL" sz="1600" dirty="0"/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6A8759"/>
                </a:solidFill>
              </a:rPr>
              <a:t>'Nieuwe lijst:'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8888C6"/>
                </a:solidFill>
              </a:rPr>
              <a:t>list</a:t>
            </a:r>
            <a:r>
              <a:rPr lang="nl-NL" sz="1600" dirty="0"/>
              <a:t>(</a:t>
            </a:r>
            <a:r>
              <a:rPr lang="nl-NL" sz="1600" dirty="0" err="1"/>
              <a:t>nieuwe_lijst</a:t>
            </a:r>
            <a:r>
              <a:rPr lang="nl-NL" sz="1600" dirty="0"/>
              <a:t>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E3753C-FC4A-D646-83C6-ACD9F1BC53C6}"/>
              </a:ext>
            </a:extLst>
          </p:cNvPr>
          <p:cNvSpPr/>
          <p:nvPr/>
        </p:nvSpPr>
        <p:spPr>
          <a:xfrm>
            <a:off x="6096000" y="2681011"/>
            <a:ext cx="2596055" cy="26161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Nieuwe lijst: [-5, -3]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Nieuwe lijst: [-5, -3]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B2DC7-174F-274D-8037-9BB42786E716}"/>
              </a:ext>
            </a:extLst>
          </p:cNvPr>
          <p:cNvSpPr txBox="1"/>
          <p:nvPr/>
        </p:nvSpPr>
        <p:spPr>
          <a:xfrm>
            <a:off x="838200" y="2311679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920EA-D937-7A4B-A829-E06FC11A9C26}"/>
              </a:ext>
            </a:extLst>
          </p:cNvPr>
          <p:cNvSpPr txBox="1"/>
          <p:nvPr/>
        </p:nvSpPr>
        <p:spPr>
          <a:xfrm>
            <a:off x="6053958" y="231167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852E7F-EBCA-A149-B2B3-47B660F1378E}"/>
              </a:ext>
            </a:extLst>
          </p:cNvPr>
          <p:cNvCxnSpPr>
            <a:cxnSpLocks/>
          </p:cNvCxnSpPr>
          <p:nvPr/>
        </p:nvCxnSpPr>
        <p:spPr>
          <a:xfrm>
            <a:off x="4547937" y="5061284"/>
            <a:ext cx="904305" cy="4956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96DEBD-07DC-D742-A80E-F6C4680D05DA}"/>
              </a:ext>
            </a:extLst>
          </p:cNvPr>
          <p:cNvSpPr txBox="1"/>
          <p:nvPr/>
        </p:nvSpPr>
        <p:spPr>
          <a:xfrm>
            <a:off x="4798243" y="5604888"/>
            <a:ext cx="7022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Definieer aan welke voorwaarden elk element (hier genaamd 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l-NL" sz="1400" dirty="0"/>
              <a:t>, maar is een variabele als een andere) uit het </a:t>
            </a:r>
            <a:r>
              <a:rPr lang="nl-NL" sz="1400" dirty="0" err="1"/>
              <a:t>itereerbaar</a:t>
            </a:r>
            <a:r>
              <a:rPr lang="nl-NL" sz="1400" dirty="0"/>
              <a:t> object 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lijst</a:t>
            </a:r>
            <a:r>
              <a:rPr lang="nl-NL" sz="1400" dirty="0"/>
              <a:t> moet voldoen om behouden te blijven</a:t>
            </a:r>
          </a:p>
        </p:txBody>
      </p:sp>
    </p:spTree>
    <p:extLst>
      <p:ext uri="{BB962C8B-B14F-4D97-AF65-F5344CB8AC3E}">
        <p14:creationId xmlns:p14="http://schemas.microsoft.com/office/powerpoint/2010/main" val="386394100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CFF78-9C82-7D48-B2DB-26E7096E2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Eigen functie om te filteren: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33D81-269C-8E4A-8DCC-47BA4A96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120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CA090-4758-C64F-BEA5-946A8367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Filter functies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FA3C4-E77C-4648-B9A2-B34262336DD3}"/>
              </a:ext>
            </a:extLst>
          </p:cNvPr>
          <p:cNvSpPr/>
          <p:nvPr/>
        </p:nvSpPr>
        <p:spPr>
          <a:xfrm>
            <a:off x="838200" y="3431628"/>
            <a:ext cx="5990897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 err="1">
                <a:solidFill>
                  <a:srgbClr val="CC7832"/>
                </a:solidFill>
              </a:rPr>
              <a:t>def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 err="1">
                <a:solidFill>
                  <a:srgbClr val="FFC66D"/>
                </a:solidFill>
              </a:rPr>
              <a:t>verwijder_a_voor_filter</a:t>
            </a:r>
            <a:r>
              <a:rPr lang="nl-NL" sz="1600" dirty="0"/>
              <a:t>(letter: </a:t>
            </a:r>
            <a:r>
              <a:rPr lang="nl-NL" sz="1600" dirty="0" err="1"/>
              <a:t>str</a:t>
            </a:r>
            <a:r>
              <a:rPr lang="nl-NL" sz="1600" dirty="0"/>
              <a:t>) -&gt; </a:t>
            </a:r>
            <a:r>
              <a:rPr lang="nl-NL" sz="1600" dirty="0" err="1"/>
              <a:t>bool</a:t>
            </a:r>
            <a:r>
              <a:rPr lang="nl-NL" sz="1600" dirty="0"/>
              <a:t>:</a:t>
            </a:r>
            <a:br>
              <a:rPr lang="nl-NL" sz="1600" dirty="0"/>
            </a:br>
            <a:r>
              <a:rPr lang="nl-NL" sz="1600" dirty="0"/>
              <a:t>    </a:t>
            </a:r>
            <a:r>
              <a:rPr lang="nl-NL" sz="1600" dirty="0">
                <a:solidFill>
                  <a:srgbClr val="CC7832"/>
                </a:solidFill>
              </a:rPr>
              <a:t>return </a:t>
            </a:r>
            <a:r>
              <a:rPr lang="nl-NL" sz="1600" dirty="0"/>
              <a:t>letter != </a:t>
            </a:r>
            <a:r>
              <a:rPr lang="nl-NL" sz="1600" dirty="0">
                <a:solidFill>
                  <a:srgbClr val="6A8759"/>
                </a:solidFill>
              </a:rPr>
              <a:t>'a'</a:t>
            </a:r>
            <a:br>
              <a:rPr lang="nl-NL" sz="1600" dirty="0">
                <a:solidFill>
                  <a:srgbClr val="6A8759"/>
                </a:solidFill>
              </a:rPr>
            </a:br>
            <a:br>
              <a:rPr lang="nl-NL" sz="1600" dirty="0">
                <a:solidFill>
                  <a:srgbClr val="6A8759"/>
                </a:solidFill>
              </a:rPr>
            </a:br>
            <a:r>
              <a:rPr lang="nl-NL" sz="1600" dirty="0"/>
              <a:t>filteren_2 = </a:t>
            </a:r>
            <a:r>
              <a:rPr lang="nl-NL" sz="1600" dirty="0">
                <a:solidFill>
                  <a:srgbClr val="8888C6"/>
                </a:solidFill>
              </a:rPr>
              <a:t>filter</a:t>
            </a:r>
            <a:r>
              <a:rPr lang="nl-NL" sz="1600" dirty="0"/>
              <a:t>(</a:t>
            </a:r>
            <a:r>
              <a:rPr lang="nl-NL" sz="1600" dirty="0" err="1">
                <a:solidFill>
                  <a:srgbClr val="FF0000"/>
                </a:solidFill>
              </a:rPr>
              <a:t>verwijder_a_voor_filter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A8759"/>
                </a:solidFill>
              </a:rPr>
              <a:t>'programmeren'</a:t>
            </a:r>
            <a:r>
              <a:rPr lang="nl-NL" sz="1600" dirty="0"/>
              <a:t>)</a:t>
            </a:r>
            <a:br>
              <a:rPr lang="nl-NL" sz="1600" dirty="0"/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(filteren_2)</a:t>
            </a:r>
            <a:br>
              <a:rPr lang="nl-NL" sz="1600" dirty="0"/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8888C6"/>
                </a:solidFill>
              </a:rPr>
              <a:t>list</a:t>
            </a:r>
            <a:r>
              <a:rPr lang="nl-NL" sz="1600" dirty="0"/>
              <a:t>(filteren_2))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012CB3-C22A-0140-B17C-BE52C01B16D6}"/>
              </a:ext>
            </a:extLst>
          </p:cNvPr>
          <p:cNvSpPr/>
          <p:nvPr/>
        </p:nvSpPr>
        <p:spPr>
          <a:xfrm>
            <a:off x="7099738" y="3429000"/>
            <a:ext cx="3983421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&lt;filter object at 0x7f9a18b44160&gt;</a:t>
            </a:r>
          </a:p>
          <a:p>
            <a:r>
              <a:rPr lang="nl-NL" sz="1600" dirty="0"/>
              <a:t>['p', 'r', 'o', 'g', 'r', 'm', 'm', 'e', 'r', 'e', 'n']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0CD6A-47C4-B84E-9DE6-6E1750DD6839}"/>
              </a:ext>
            </a:extLst>
          </p:cNvPr>
          <p:cNvSpPr txBox="1"/>
          <p:nvPr/>
        </p:nvSpPr>
        <p:spPr>
          <a:xfrm>
            <a:off x="838200" y="305704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Code: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D7491-3ABE-9946-8718-004AA464FE2E}"/>
              </a:ext>
            </a:extLst>
          </p:cNvPr>
          <p:cNvSpPr txBox="1"/>
          <p:nvPr/>
        </p:nvSpPr>
        <p:spPr>
          <a:xfrm>
            <a:off x="7099738" y="305704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Output: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ECAF5B-275A-C64F-948E-AAD8967D5345}"/>
              </a:ext>
            </a:extLst>
          </p:cNvPr>
          <p:cNvCxnSpPr>
            <a:cxnSpLocks/>
          </p:cNvCxnSpPr>
          <p:nvPr/>
        </p:nvCxnSpPr>
        <p:spPr>
          <a:xfrm>
            <a:off x="2921876" y="3849302"/>
            <a:ext cx="771359" cy="12200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9EE13C-0AC9-C040-A88C-48757320E109}"/>
              </a:ext>
            </a:extLst>
          </p:cNvPr>
          <p:cNvSpPr txBox="1"/>
          <p:nvPr/>
        </p:nvSpPr>
        <p:spPr>
          <a:xfrm>
            <a:off x="1090864" y="5289003"/>
            <a:ext cx="10796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Deze functie is kort en overzichtelijk en neemt als argument de elementen van het </a:t>
            </a:r>
            <a:r>
              <a:rPr lang="nl-NL" sz="1600" dirty="0" err="1"/>
              <a:t>itereerbaar</a:t>
            </a:r>
            <a:r>
              <a:rPr lang="nl-NL" sz="1600" dirty="0"/>
              <a:t> object</a:t>
            </a:r>
          </a:p>
          <a:p>
            <a:r>
              <a:rPr lang="nl-NL" sz="1600" dirty="0"/>
              <a:t>De output is een </a:t>
            </a:r>
            <a:r>
              <a:rPr lang="nl-NL" sz="1600" dirty="0" err="1"/>
              <a:t>boolean</a:t>
            </a:r>
            <a:r>
              <a:rPr lang="nl-NL" sz="1600" dirty="0"/>
              <a:t> die zegt of het element zal behouden blijven (een beetje tegen intuïtief, want filter behoudt wat als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nl-NL" sz="1600" dirty="0"/>
              <a:t> terugkomt uit de meegegeven functie)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4B070E-F20B-07AF-DD9A-89D8493F3E1D}"/>
              </a:ext>
            </a:extLst>
          </p:cNvPr>
          <p:cNvCxnSpPr>
            <a:cxnSpLocks/>
          </p:cNvCxnSpPr>
          <p:nvPr/>
        </p:nvCxnSpPr>
        <p:spPr>
          <a:xfrm flipV="1">
            <a:off x="3773214" y="2501462"/>
            <a:ext cx="5318234" cy="17447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B4FB3D-F631-73E9-5819-2457649460CF}"/>
              </a:ext>
            </a:extLst>
          </p:cNvPr>
          <p:cNvSpPr txBox="1"/>
          <p:nvPr/>
        </p:nvSpPr>
        <p:spPr>
          <a:xfrm>
            <a:off x="6021917" y="1646440"/>
            <a:ext cx="6085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1400" dirty="0"/>
              <a:t>We geven de </a:t>
            </a:r>
            <a:r>
              <a:rPr lang="en-BE" sz="1400" dirty="0">
                <a:solidFill>
                  <a:srgbClr val="FF0000"/>
                </a:solidFill>
              </a:rPr>
              <a:t>functie mee als object</a:t>
            </a:r>
            <a:br>
              <a:rPr lang="en-BE" sz="1400" dirty="0"/>
            </a:br>
            <a:r>
              <a:rPr lang="en-BE" sz="1400" dirty="0"/>
              <a:t>Maw, we roepen die niet zelf op (we gebruiken geen haakjes), de </a:t>
            </a:r>
            <a:r>
              <a:rPr lang="en-B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en-BE" sz="1400" dirty="0"/>
              <a:t>-functie doet dit zelf, telkens op elk element van het meegegeven itereerbaar object</a:t>
            </a:r>
          </a:p>
        </p:txBody>
      </p:sp>
    </p:spTree>
    <p:extLst>
      <p:ext uri="{BB962C8B-B14F-4D97-AF65-F5344CB8AC3E}">
        <p14:creationId xmlns:p14="http://schemas.microsoft.com/office/powerpoint/2010/main" val="275151487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EF8E0-779F-1947-A22C-9D1D48609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Gelijkaardig aan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filter()</a:t>
            </a:r>
            <a:r>
              <a:rPr lang="nl-NL" dirty="0"/>
              <a:t> maar is nu bedoeld om een transformatie toe te passen op alle elementen van een </a:t>
            </a:r>
            <a:r>
              <a:rPr lang="nl-NL" dirty="0" err="1"/>
              <a:t>itereerbaar</a:t>
            </a:r>
            <a:r>
              <a:rPr lang="nl-NL" dirty="0"/>
              <a:t> object</a:t>
            </a:r>
          </a:p>
          <a:p>
            <a:r>
              <a:rPr lang="nl-NL" dirty="0"/>
              <a:t>Geeft ook een </a:t>
            </a:r>
            <a:r>
              <a:rPr lang="nl-NL" dirty="0" err="1"/>
              <a:t>itereerbaar</a:t>
            </a:r>
            <a:r>
              <a:rPr lang="nl-NL" dirty="0"/>
              <a:t> object terug met daarin alle getransformeerde elementen</a:t>
            </a:r>
          </a:p>
          <a:p>
            <a:r>
              <a:rPr lang="nl-NL" dirty="0"/>
              <a:t>Makkelijk om snel lijsten aan te passen</a:t>
            </a:r>
          </a:p>
          <a:p>
            <a:r>
              <a:rPr lang="nl-NL" dirty="0" err="1"/>
              <a:t>Lambda-functies</a:t>
            </a:r>
            <a:r>
              <a:rPr lang="nl-NL" dirty="0"/>
              <a:t> ook mogelijk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F857-02CC-2E4F-A774-3A61B4C9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121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F21E1-50E0-7B41-B067-E7558797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Map functies</a:t>
            </a:r>
          </a:p>
        </p:txBody>
      </p:sp>
    </p:spTree>
    <p:extLst>
      <p:ext uri="{BB962C8B-B14F-4D97-AF65-F5344CB8AC3E}">
        <p14:creationId xmlns:p14="http://schemas.microsoft.com/office/powerpoint/2010/main" val="354848447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2668D-8968-6644-9F94-95A4925B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122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8E589-CF18-584E-B63C-A63AB274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Voorbeeld: vierkantswortel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D4BA2C-2B86-6843-A44A-2C12B62C9996}"/>
              </a:ext>
            </a:extLst>
          </p:cNvPr>
          <p:cNvSpPr/>
          <p:nvPr/>
        </p:nvSpPr>
        <p:spPr>
          <a:xfrm>
            <a:off x="838200" y="2525222"/>
            <a:ext cx="60960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nl-NL" sz="1600" dirty="0" err="1">
                <a:solidFill>
                  <a:srgbClr val="CC7832"/>
                </a:solidFill>
              </a:rPr>
              <a:t>def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 err="1">
                <a:solidFill>
                  <a:srgbClr val="FFC66D"/>
                </a:solidFill>
              </a:rPr>
              <a:t>neem_vierkantswortel</a:t>
            </a:r>
            <a:r>
              <a:rPr lang="nl-NL" sz="1600" dirty="0"/>
              <a:t>(getal):</a:t>
            </a:r>
            <a:br>
              <a:rPr lang="nl-NL" sz="1600" dirty="0"/>
            </a:br>
            <a:r>
              <a:rPr lang="nl-NL" sz="1600" dirty="0"/>
              <a:t>    </a:t>
            </a:r>
            <a:r>
              <a:rPr lang="nl-NL" sz="1600" dirty="0">
                <a:solidFill>
                  <a:srgbClr val="CC7832"/>
                </a:solidFill>
              </a:rPr>
              <a:t>return </a:t>
            </a:r>
            <a:r>
              <a:rPr lang="nl-NL" sz="1600" dirty="0"/>
              <a:t>getal ** (</a:t>
            </a:r>
            <a:r>
              <a:rPr lang="nl-NL" sz="1600" dirty="0">
                <a:solidFill>
                  <a:srgbClr val="6897BB"/>
                </a:solidFill>
              </a:rPr>
              <a:t>1</a:t>
            </a:r>
            <a:r>
              <a:rPr lang="nl-NL" sz="1600" dirty="0"/>
              <a:t>/</a:t>
            </a:r>
            <a:r>
              <a:rPr lang="nl-NL" sz="1600" dirty="0">
                <a:solidFill>
                  <a:srgbClr val="6897BB"/>
                </a:solidFill>
              </a:rPr>
              <a:t>2</a:t>
            </a:r>
            <a:r>
              <a:rPr lang="nl-NL" sz="1600" dirty="0"/>
              <a:t>)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/>
              <a:t>getallen = [</a:t>
            </a:r>
            <a:r>
              <a:rPr lang="nl-NL" sz="1600" dirty="0">
                <a:solidFill>
                  <a:srgbClr val="6897BB"/>
                </a:solidFill>
              </a:rPr>
              <a:t>1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4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16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25</a:t>
            </a:r>
            <a:r>
              <a:rPr lang="nl-NL" sz="1600" dirty="0"/>
              <a:t>]</a:t>
            </a:r>
            <a:br>
              <a:rPr lang="nl-NL" sz="1600" dirty="0"/>
            </a:br>
            <a:r>
              <a:rPr lang="nl-NL" sz="1600" dirty="0"/>
              <a:t>uitkomst = </a:t>
            </a:r>
            <a:r>
              <a:rPr lang="nl-NL" sz="1600" dirty="0">
                <a:solidFill>
                  <a:srgbClr val="8888C6"/>
                </a:solidFill>
              </a:rPr>
              <a:t>map</a:t>
            </a:r>
            <a:r>
              <a:rPr lang="nl-NL" sz="1600" dirty="0"/>
              <a:t>(</a:t>
            </a:r>
            <a:r>
              <a:rPr lang="nl-NL" sz="1600" dirty="0" err="1"/>
              <a:t>neem_vierkantswortel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getallen)</a:t>
            </a:r>
            <a:br>
              <a:rPr lang="nl-NL" sz="1600" dirty="0"/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8888C6"/>
                </a:solidFill>
              </a:rPr>
              <a:t>list</a:t>
            </a:r>
            <a:r>
              <a:rPr lang="nl-NL" sz="1600" dirty="0"/>
              <a:t>(uitkomst))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 err="1"/>
              <a:t>met_lambda</a:t>
            </a:r>
            <a:r>
              <a:rPr lang="nl-NL" sz="1600" dirty="0"/>
              <a:t> = </a:t>
            </a:r>
            <a:r>
              <a:rPr lang="nl-NL" sz="1600" dirty="0">
                <a:solidFill>
                  <a:srgbClr val="8888C6"/>
                </a:solidFill>
              </a:rPr>
              <a:t>map</a:t>
            </a:r>
            <a:r>
              <a:rPr lang="nl-NL" sz="1600" dirty="0"/>
              <a:t>(</a:t>
            </a:r>
            <a:r>
              <a:rPr lang="nl-NL" sz="1600" dirty="0" err="1">
                <a:solidFill>
                  <a:srgbClr val="CC7832"/>
                </a:solidFill>
              </a:rPr>
              <a:t>lambda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/>
              <a:t>x: x ** (</a:t>
            </a:r>
            <a:r>
              <a:rPr lang="nl-NL" sz="1600" dirty="0">
                <a:solidFill>
                  <a:srgbClr val="6897BB"/>
                </a:solidFill>
              </a:rPr>
              <a:t>1</a:t>
            </a:r>
            <a:r>
              <a:rPr lang="nl-NL" sz="1600" dirty="0"/>
              <a:t>/</a:t>
            </a:r>
            <a:r>
              <a:rPr lang="nl-NL" sz="1600" dirty="0">
                <a:solidFill>
                  <a:srgbClr val="6897BB"/>
                </a:solidFill>
              </a:rPr>
              <a:t>2</a:t>
            </a:r>
            <a:r>
              <a:rPr lang="nl-NL" sz="1600" dirty="0"/>
              <a:t>)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getallen)</a:t>
            </a:r>
            <a:br>
              <a:rPr lang="nl-NL" sz="1600" dirty="0"/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8888C6"/>
                </a:solidFill>
              </a:rPr>
              <a:t>list</a:t>
            </a:r>
            <a:r>
              <a:rPr lang="nl-NL" sz="1600" dirty="0"/>
              <a:t>(</a:t>
            </a:r>
            <a:r>
              <a:rPr lang="nl-NL" sz="1600" dirty="0" err="1"/>
              <a:t>met_lambda</a:t>
            </a:r>
            <a:r>
              <a:rPr lang="nl-NL" sz="1600" dirty="0"/>
              <a:t>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FFBFF-44E9-3147-B933-DA845570EC1F}"/>
              </a:ext>
            </a:extLst>
          </p:cNvPr>
          <p:cNvSpPr/>
          <p:nvPr/>
        </p:nvSpPr>
        <p:spPr>
          <a:xfrm>
            <a:off x="7485993" y="2525222"/>
            <a:ext cx="2249214" cy="23391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[1.0, 2.0, 4.0, 5.0]</a:t>
            </a:r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[1.0, 2.0, 4.0, 5.0]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F7E67-7A5A-B249-8328-8D9852DA2CED}"/>
              </a:ext>
            </a:extLst>
          </p:cNvPr>
          <p:cNvSpPr txBox="1"/>
          <p:nvPr/>
        </p:nvSpPr>
        <p:spPr>
          <a:xfrm>
            <a:off x="838200" y="2155890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07C2C-E169-B642-8CCA-6EF0488AC70C}"/>
              </a:ext>
            </a:extLst>
          </p:cNvPr>
          <p:cNvSpPr txBox="1"/>
          <p:nvPr/>
        </p:nvSpPr>
        <p:spPr>
          <a:xfrm>
            <a:off x="7485993" y="215589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33870947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F6596-F785-FE4A-82E9-C3EDE203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nl-NL" smtClean="0"/>
              <a:t>123</a:t>
            </a:fld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1E359-3A89-3C47-9735-81A8C068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Voorbeeld: meerdere resultaten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42023E-3295-A143-8FFF-57DC64474C13}"/>
              </a:ext>
            </a:extLst>
          </p:cNvPr>
          <p:cNvSpPr/>
          <p:nvPr/>
        </p:nvSpPr>
        <p:spPr>
          <a:xfrm>
            <a:off x="838200" y="2798491"/>
            <a:ext cx="60960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nl-NL" sz="1600" dirty="0"/>
              <a:t>getallen = [</a:t>
            </a:r>
            <a:r>
              <a:rPr lang="nl-NL" sz="1600" dirty="0">
                <a:solidFill>
                  <a:srgbClr val="6897BB"/>
                </a:solidFill>
              </a:rPr>
              <a:t>1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2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3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4</a:t>
            </a:r>
            <a:r>
              <a:rPr lang="nl-NL" sz="1600" dirty="0"/>
              <a:t>]</a:t>
            </a:r>
            <a:br>
              <a:rPr lang="nl-NL" sz="1600" dirty="0"/>
            </a:br>
            <a:r>
              <a:rPr lang="nl-NL" sz="1600" dirty="0"/>
              <a:t>getallen_2 = [</a:t>
            </a:r>
            <a:r>
              <a:rPr lang="nl-NL" sz="1600" dirty="0">
                <a:solidFill>
                  <a:srgbClr val="6897BB"/>
                </a:solidFill>
              </a:rPr>
              <a:t>2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4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>
                <a:solidFill>
                  <a:srgbClr val="6897BB"/>
                </a:solidFill>
              </a:rPr>
              <a:t>5</a:t>
            </a:r>
            <a:r>
              <a:rPr lang="nl-NL" sz="1600" dirty="0"/>
              <a:t>]</a:t>
            </a:r>
            <a:br>
              <a:rPr lang="nl-NL" sz="1600" dirty="0"/>
            </a:br>
            <a:r>
              <a:rPr lang="nl-NL" sz="1600" dirty="0"/>
              <a:t>uitkomst = </a:t>
            </a:r>
            <a:r>
              <a:rPr lang="nl-NL" sz="1600" dirty="0">
                <a:solidFill>
                  <a:srgbClr val="8888C6"/>
                </a:solidFill>
              </a:rPr>
              <a:t>map</a:t>
            </a:r>
            <a:r>
              <a:rPr lang="nl-NL" sz="1600" dirty="0"/>
              <a:t>(</a:t>
            </a:r>
            <a:r>
              <a:rPr lang="nl-NL" sz="1600" dirty="0" err="1">
                <a:solidFill>
                  <a:srgbClr val="CC7832"/>
                </a:solidFill>
              </a:rPr>
              <a:t>lambda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/>
              <a:t>x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y: x ** y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getallen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getallen_2)</a:t>
            </a:r>
            <a:br>
              <a:rPr lang="nl-NL" sz="1600" dirty="0"/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8888C6"/>
                </a:solidFill>
              </a:rPr>
              <a:t>list</a:t>
            </a:r>
            <a:r>
              <a:rPr lang="nl-NL" sz="1600" dirty="0"/>
              <a:t>(uitkomst))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 err="1">
                <a:solidFill>
                  <a:srgbClr val="CC7832"/>
                </a:solidFill>
              </a:rPr>
              <a:t>def</a:t>
            </a:r>
            <a:r>
              <a:rPr lang="nl-NL" sz="1600" dirty="0">
                <a:solidFill>
                  <a:srgbClr val="CC7832"/>
                </a:solidFill>
              </a:rPr>
              <a:t> </a:t>
            </a:r>
            <a:r>
              <a:rPr lang="nl-NL" sz="1600" dirty="0" err="1">
                <a:solidFill>
                  <a:srgbClr val="FFC66D"/>
                </a:solidFill>
              </a:rPr>
              <a:t>dubbele_uitkomst</a:t>
            </a:r>
            <a:r>
              <a:rPr lang="nl-NL" sz="1600" dirty="0"/>
              <a:t>(nummer):</a:t>
            </a:r>
            <a:br>
              <a:rPr lang="nl-NL" sz="1600" dirty="0"/>
            </a:br>
            <a:r>
              <a:rPr lang="nl-NL" sz="1600" dirty="0"/>
              <a:t>    </a:t>
            </a:r>
            <a:r>
              <a:rPr lang="nl-NL" sz="1600" dirty="0">
                <a:solidFill>
                  <a:srgbClr val="CC7832"/>
                </a:solidFill>
              </a:rPr>
              <a:t>return </a:t>
            </a:r>
            <a:r>
              <a:rPr lang="nl-NL" sz="1600" dirty="0"/>
              <a:t>nummer + </a:t>
            </a:r>
            <a:r>
              <a:rPr lang="nl-NL" sz="1600" dirty="0">
                <a:solidFill>
                  <a:srgbClr val="6897BB"/>
                </a:solidFill>
              </a:rPr>
              <a:t>2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nummer + </a:t>
            </a:r>
            <a:r>
              <a:rPr lang="nl-NL" sz="1600" dirty="0">
                <a:solidFill>
                  <a:srgbClr val="6897BB"/>
                </a:solidFill>
              </a:rPr>
              <a:t>3</a:t>
            </a:r>
            <a:br>
              <a:rPr lang="nl-NL" sz="1600" dirty="0">
                <a:solidFill>
                  <a:srgbClr val="6897BB"/>
                </a:solidFill>
              </a:rPr>
            </a:br>
            <a:br>
              <a:rPr lang="nl-NL" sz="1600" dirty="0">
                <a:solidFill>
                  <a:srgbClr val="6897BB"/>
                </a:solidFill>
              </a:rPr>
            </a:br>
            <a:r>
              <a:rPr lang="nl-NL" sz="1600" dirty="0">
                <a:solidFill>
                  <a:srgbClr val="8888C6"/>
                </a:solidFill>
              </a:rPr>
              <a:t>print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8888C6"/>
                </a:solidFill>
              </a:rPr>
              <a:t>list</a:t>
            </a:r>
            <a:r>
              <a:rPr lang="nl-NL" sz="1600" dirty="0"/>
              <a:t>(</a:t>
            </a:r>
            <a:r>
              <a:rPr lang="nl-NL" sz="1600" dirty="0">
                <a:solidFill>
                  <a:srgbClr val="8888C6"/>
                </a:solidFill>
              </a:rPr>
              <a:t>map</a:t>
            </a:r>
            <a:r>
              <a:rPr lang="nl-NL" sz="1600" dirty="0"/>
              <a:t>(</a:t>
            </a:r>
            <a:r>
              <a:rPr lang="nl-NL" sz="1600" dirty="0" err="1"/>
              <a:t>dubbele_uitkomst</a:t>
            </a:r>
            <a:r>
              <a:rPr lang="nl-NL" sz="1600" dirty="0">
                <a:solidFill>
                  <a:srgbClr val="CC7832"/>
                </a:solidFill>
              </a:rPr>
              <a:t>, </a:t>
            </a:r>
            <a:r>
              <a:rPr lang="nl-NL" sz="1600" dirty="0"/>
              <a:t>getallen)))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026F9E-F577-9143-90AD-6D2ECD1B5B78}"/>
              </a:ext>
            </a:extLst>
          </p:cNvPr>
          <p:cNvSpPr/>
          <p:nvPr/>
        </p:nvSpPr>
        <p:spPr>
          <a:xfrm>
            <a:off x="7210097" y="2782669"/>
            <a:ext cx="3457903" cy="233910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[1, 16, 243]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[(3, 4), (4, 5), (5, 6), (6, 7)]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CC458-10D2-3F4A-BCEB-ED2AAA1BC5FA}"/>
              </a:ext>
            </a:extLst>
          </p:cNvPr>
          <p:cNvSpPr txBox="1"/>
          <p:nvPr/>
        </p:nvSpPr>
        <p:spPr>
          <a:xfrm>
            <a:off x="838200" y="2413337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E1588-FA65-874A-A87B-BE909D8AA95B}"/>
              </a:ext>
            </a:extLst>
          </p:cNvPr>
          <p:cNvSpPr txBox="1"/>
          <p:nvPr/>
        </p:nvSpPr>
        <p:spPr>
          <a:xfrm>
            <a:off x="7210097" y="2409295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CA1D1B-CF04-D942-9789-21209B30BBA7}"/>
              </a:ext>
            </a:extLst>
          </p:cNvPr>
          <p:cNvCxnSpPr>
            <a:cxnSpLocks/>
          </p:cNvCxnSpPr>
          <p:nvPr/>
        </p:nvCxnSpPr>
        <p:spPr>
          <a:xfrm>
            <a:off x="1979629" y="5106815"/>
            <a:ext cx="1376313" cy="6152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F620883-F805-4C48-AF36-A7573DD00748}"/>
              </a:ext>
            </a:extLst>
          </p:cNvPr>
          <p:cNvSpPr txBox="1"/>
          <p:nvPr/>
        </p:nvSpPr>
        <p:spPr>
          <a:xfrm>
            <a:off x="3425806" y="5414442"/>
            <a:ext cx="4703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Hier wordt een </a:t>
            </a:r>
            <a:r>
              <a:rPr lang="nl-NL" sz="1600" dirty="0" err="1"/>
              <a:t>itereerbaar</a:t>
            </a:r>
            <a:r>
              <a:rPr lang="nl-NL" sz="1600" dirty="0"/>
              <a:t> object teruggegeven dat als elementen paren heeft (eigenlijk </a:t>
            </a:r>
            <a:r>
              <a:rPr lang="nl-NL" sz="1600" dirty="0" err="1"/>
              <a:t>tuples</a:t>
            </a:r>
            <a:r>
              <a:rPr lang="nl-NL" sz="1600" dirty="0"/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E91D8F-351E-6F48-91D3-FDD085B0B8F2}"/>
              </a:ext>
            </a:extLst>
          </p:cNvPr>
          <p:cNvCxnSpPr>
            <a:cxnSpLocks/>
          </p:cNvCxnSpPr>
          <p:nvPr/>
        </p:nvCxnSpPr>
        <p:spPr>
          <a:xfrm flipV="1">
            <a:off x="3355942" y="2154621"/>
            <a:ext cx="1842738" cy="11730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F64CD2-11B5-E548-A24A-A1F89A896570}"/>
              </a:ext>
            </a:extLst>
          </p:cNvPr>
          <p:cNvSpPr txBox="1"/>
          <p:nvPr/>
        </p:nvSpPr>
        <p:spPr>
          <a:xfrm>
            <a:off x="5263554" y="1603834"/>
            <a:ext cx="3675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/>
              <a:t>Lambda</a:t>
            </a:r>
            <a:r>
              <a:rPr lang="nl-NL" sz="1600" dirty="0"/>
              <a:t> functies kunnen meerdere argumenten hebben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B7646-7F91-204E-8953-979FA07B732F}"/>
              </a:ext>
            </a:extLst>
          </p:cNvPr>
          <p:cNvSpPr txBox="1"/>
          <p:nvPr/>
        </p:nvSpPr>
        <p:spPr>
          <a:xfrm>
            <a:off x="9140873" y="78377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Dit is puur ter informatie en geen leerstof voor het examen</a:t>
            </a:r>
          </a:p>
        </p:txBody>
      </p:sp>
    </p:spTree>
    <p:extLst>
      <p:ext uri="{BB962C8B-B14F-4D97-AF65-F5344CB8AC3E}">
        <p14:creationId xmlns:p14="http://schemas.microsoft.com/office/powerpoint/2010/main" val="205485470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D86C2-C25D-FDC7-931C-C720DB6AB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r = filter(lambda x: x % 2 == 0, [1, 2, 3, 4])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print(r)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print(list(r))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print(list(r))</a:t>
            </a:r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1800" dirty="0">
                <a:latin typeface="Consolas"/>
                <a:cs typeface="Consolas"/>
              </a:rPr>
              <a:t>print(list(map(str.upper, ['an', 'bo'])))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4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0545D8-F4FD-2C25-D325-4773694D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D7DB3B-BC44-973E-7371-97739DE0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1.9: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146713115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2CD8A-6E0C-F745-9F8B-D33FFE88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10. Objecten en klasses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940340-484C-924E-B731-FD397CC1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.13-objecten.ipynb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E48-0FD4-1344-BBBB-614F254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443714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2D9300-95C1-1543-C279-76E6F00E0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B0F0"/>
                </a:solidFill>
              </a:rPr>
              <a:t>Klasses</a:t>
            </a:r>
            <a:r>
              <a:rPr lang="en-US" dirty="0"/>
              <a:t> </a:t>
            </a:r>
            <a:r>
              <a:rPr lang="en-US" dirty="0" err="1"/>
              <a:t>vormen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>
                <a:solidFill>
                  <a:srgbClr val="00B0F0"/>
                </a:solidFill>
              </a:rPr>
              <a:t>blauwdruk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concepten</a:t>
            </a:r>
            <a:r>
              <a:rPr lang="en-US" dirty="0"/>
              <a:t> in je </a:t>
            </a:r>
            <a:r>
              <a:rPr lang="en-US" dirty="0" err="1"/>
              <a:t>programma</a:t>
            </a:r>
            <a:r>
              <a:rPr lang="en-US" dirty="0"/>
              <a:t>:</a:t>
            </a:r>
          </a:p>
          <a:p>
            <a:pPr lvl="1"/>
            <a:r>
              <a:rPr lang="en-US" sz="2000" dirty="0" err="1"/>
              <a:t>Voorbeeld</a:t>
            </a:r>
            <a:r>
              <a:rPr lang="en-US" sz="2000" dirty="0"/>
              <a:t>: </a:t>
            </a:r>
            <a:r>
              <a:rPr lang="en-US" sz="2000" dirty="0" err="1"/>
              <a:t>blauwdruk</a:t>
            </a:r>
            <a:r>
              <a:rPr lang="en-US" sz="2000" dirty="0"/>
              <a:t> van </a:t>
            </a:r>
            <a:r>
              <a:rPr lang="en-US" sz="2000" dirty="0" err="1"/>
              <a:t>een</a:t>
            </a:r>
            <a:r>
              <a:rPr lang="en-US" sz="2000" dirty="0"/>
              <a:t> student</a:t>
            </a:r>
          </a:p>
          <a:p>
            <a:pPr lvl="2"/>
            <a:r>
              <a:rPr lang="en-US" sz="1800" dirty="0" err="1"/>
              <a:t>Heeft</a:t>
            </a:r>
            <a:r>
              <a:rPr lang="en-US" sz="1800" dirty="0"/>
              <a:t> </a:t>
            </a:r>
            <a:r>
              <a:rPr lang="en-US" sz="1800" b="1" dirty="0" err="1"/>
              <a:t>eigenschappen</a:t>
            </a:r>
            <a:r>
              <a:rPr lang="en-US" sz="1800" b="1" dirty="0"/>
              <a:t>/</a:t>
            </a:r>
            <a:r>
              <a:rPr lang="en-US" sz="1800" b="1" dirty="0" err="1"/>
              <a:t>attributen</a:t>
            </a:r>
            <a:r>
              <a:rPr lang="en-US" sz="1800" dirty="0"/>
              <a:t>: </a:t>
            </a:r>
            <a:r>
              <a:rPr lang="en-US" sz="1800" dirty="0" err="1"/>
              <a:t>klasse-specifieke</a:t>
            </a:r>
            <a:r>
              <a:rPr lang="en-US" sz="1800" dirty="0"/>
              <a:t> </a:t>
            </a:r>
            <a:r>
              <a:rPr lang="en-US" sz="1800" dirty="0" err="1"/>
              <a:t>variabelen</a:t>
            </a:r>
            <a:endParaRPr lang="en-US" sz="1800" dirty="0"/>
          </a:p>
          <a:p>
            <a:pPr lvl="3"/>
            <a:r>
              <a:rPr lang="en-US" sz="1600" dirty="0" err="1"/>
              <a:t>Bv</a:t>
            </a:r>
            <a:r>
              <a:rPr lang="en-US" sz="1600" dirty="0"/>
              <a:t>. </a:t>
            </a:r>
            <a:r>
              <a:rPr lang="en-US" sz="1600" dirty="0" err="1"/>
              <a:t>een</a:t>
            </a:r>
            <a:r>
              <a:rPr lang="en-US" sz="1600" dirty="0"/>
              <a:t> naam, </a:t>
            </a:r>
            <a:r>
              <a:rPr lang="en-US" sz="1600" dirty="0" err="1"/>
              <a:t>een</a:t>
            </a:r>
            <a:r>
              <a:rPr lang="en-US" sz="1600" dirty="0"/>
              <a:t> </a:t>
            </a:r>
            <a:r>
              <a:rPr lang="en-US" sz="1600" dirty="0" err="1"/>
              <a:t>studentennummer</a:t>
            </a:r>
            <a:r>
              <a:rPr lang="en-US" sz="1600" dirty="0"/>
              <a:t>, </a:t>
            </a:r>
            <a:r>
              <a:rPr lang="en-US" sz="1600" dirty="0" err="1"/>
              <a:t>vakkenpakket</a:t>
            </a:r>
            <a:endParaRPr lang="en-US" sz="1600" dirty="0"/>
          </a:p>
          <a:p>
            <a:pPr lvl="2"/>
            <a:r>
              <a:rPr lang="en-US" sz="1800" dirty="0" err="1"/>
              <a:t>Heeft</a:t>
            </a:r>
            <a:r>
              <a:rPr lang="en-US" sz="1800" dirty="0"/>
              <a:t> </a:t>
            </a:r>
            <a:r>
              <a:rPr lang="en-US" sz="1800" b="1" dirty="0" err="1"/>
              <a:t>methodes</a:t>
            </a:r>
            <a:r>
              <a:rPr lang="en-US" sz="1800" dirty="0"/>
              <a:t>: </a:t>
            </a:r>
            <a:r>
              <a:rPr lang="en-US" sz="1800" dirty="0" err="1"/>
              <a:t>klasse-specifieke</a:t>
            </a:r>
            <a:r>
              <a:rPr lang="en-US" sz="1800" dirty="0"/>
              <a:t> </a:t>
            </a:r>
            <a:r>
              <a:rPr lang="en-US" sz="1800" dirty="0" err="1"/>
              <a:t>functies</a:t>
            </a:r>
            <a:r>
              <a:rPr lang="en-US" sz="1800" dirty="0"/>
              <a:t> </a:t>
            </a:r>
          </a:p>
          <a:p>
            <a:pPr lvl="3"/>
            <a:r>
              <a:rPr lang="en-US" sz="1600" dirty="0" err="1"/>
              <a:t>Bv</a:t>
            </a:r>
            <a:r>
              <a:rPr lang="en-US" sz="1600" dirty="0"/>
              <a:t>. </a:t>
            </a:r>
            <a:r>
              <a:rPr lang="en-US" sz="1600" dirty="0" err="1"/>
              <a:t>aanpassen</a:t>
            </a:r>
            <a:r>
              <a:rPr lang="en-US" sz="1600" dirty="0"/>
              <a:t> van het </a:t>
            </a:r>
            <a:r>
              <a:rPr lang="en-US" sz="1600" dirty="0" err="1"/>
              <a:t>vakkenpakket</a:t>
            </a:r>
            <a:r>
              <a:rPr lang="en-US" sz="1600" dirty="0"/>
              <a:t>, </a:t>
            </a:r>
            <a:r>
              <a:rPr lang="en-US" sz="1600" dirty="0" err="1"/>
              <a:t>goedkeuren</a:t>
            </a:r>
            <a:r>
              <a:rPr lang="en-US" sz="1600" dirty="0"/>
              <a:t> ISP, </a:t>
            </a:r>
            <a:r>
              <a:rPr lang="en-US" sz="1600" dirty="0" err="1"/>
              <a:t>delibereren</a:t>
            </a:r>
            <a:endParaRPr lang="en-US" sz="1600" dirty="0"/>
          </a:p>
          <a:p>
            <a:r>
              <a:rPr lang="en-US" dirty="0" err="1">
                <a:solidFill>
                  <a:srgbClr val="00B050"/>
                </a:solidFill>
              </a:rPr>
              <a:t>Een</a:t>
            </a:r>
            <a:r>
              <a:rPr lang="en-US" dirty="0">
                <a:solidFill>
                  <a:srgbClr val="00B050"/>
                </a:solidFill>
              </a:rPr>
              <a:t> object </a:t>
            </a:r>
            <a:r>
              <a:rPr lang="en-US" dirty="0"/>
              <a:t>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>
                <a:solidFill>
                  <a:srgbClr val="00B050"/>
                </a:solidFill>
              </a:rPr>
              <a:t>instantiatie</a:t>
            </a:r>
            <a:r>
              <a:rPr lang="en-US" dirty="0"/>
              <a:t> (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verwezenlijking</a:t>
            </a:r>
            <a:r>
              <a:rPr lang="en-US" dirty="0"/>
              <a:t>)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klasse</a:t>
            </a:r>
            <a:r>
              <a:rPr lang="en-US" dirty="0"/>
              <a:t>:</a:t>
            </a:r>
          </a:p>
          <a:p>
            <a:pPr lvl="1"/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specifiek</a:t>
            </a:r>
            <a:r>
              <a:rPr lang="en-US" sz="2000" dirty="0"/>
              <a:t> </a:t>
            </a:r>
            <a:r>
              <a:rPr lang="en-US" sz="2000" dirty="0" err="1"/>
              <a:t>studentobject</a:t>
            </a:r>
            <a:r>
              <a:rPr lang="en-US" sz="2000" dirty="0"/>
              <a:t>:</a:t>
            </a:r>
          </a:p>
          <a:p>
            <a:pPr lvl="2"/>
            <a:r>
              <a:rPr lang="en-US" sz="1800" dirty="0" err="1"/>
              <a:t>Heeft</a:t>
            </a:r>
            <a:r>
              <a:rPr lang="en-US" sz="1800" dirty="0"/>
              <a:t> </a:t>
            </a:r>
            <a:r>
              <a:rPr lang="en-US" sz="1800" dirty="0" err="1"/>
              <a:t>ingevulde</a:t>
            </a:r>
            <a:r>
              <a:rPr lang="en-US" sz="1800" dirty="0"/>
              <a:t> </a:t>
            </a:r>
            <a:r>
              <a:rPr lang="en-US" sz="1800" dirty="0" err="1"/>
              <a:t>attributen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B050"/>
                </a:solidFill>
              </a:rPr>
              <a:t>specifiek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 err="1">
                <a:solidFill>
                  <a:srgbClr val="00B050"/>
                </a:solidFill>
              </a:rPr>
              <a:t>aan</a:t>
            </a:r>
            <a:r>
              <a:rPr lang="en-US" sz="1800" dirty="0">
                <a:solidFill>
                  <a:srgbClr val="00B050"/>
                </a:solidFill>
              </a:rPr>
              <a:t> de </a:t>
            </a:r>
            <a:r>
              <a:rPr lang="en-US" sz="1800" dirty="0" err="1">
                <a:solidFill>
                  <a:srgbClr val="00B050"/>
                </a:solidFill>
              </a:rPr>
              <a:t>instantiatie</a:t>
            </a: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maar </a:t>
            </a:r>
            <a:r>
              <a:rPr lang="en-US" sz="1800" dirty="0">
                <a:solidFill>
                  <a:srgbClr val="00B0F0"/>
                </a:solidFill>
              </a:rPr>
              <a:t>conform de </a:t>
            </a:r>
            <a:r>
              <a:rPr lang="en-US" sz="1800" dirty="0" err="1">
                <a:solidFill>
                  <a:srgbClr val="00B0F0"/>
                </a:solidFill>
              </a:rPr>
              <a:t>blauwdruk</a:t>
            </a:r>
            <a:r>
              <a:rPr lang="en-US" sz="1800" dirty="0"/>
              <a:t>:</a:t>
            </a:r>
          </a:p>
          <a:p>
            <a:pPr lvl="3"/>
            <a:r>
              <a:rPr lang="en-US" sz="1600" dirty="0"/>
              <a:t>Naam = ‘Wilfried’, </a:t>
            </a:r>
            <a:r>
              <a:rPr lang="en-US" sz="1600" dirty="0" err="1"/>
              <a:t>studentennummer</a:t>
            </a:r>
            <a:r>
              <a:rPr lang="en-US" sz="1600" dirty="0"/>
              <a:t> = ‘10’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vakkenpakket</a:t>
            </a:r>
            <a:r>
              <a:rPr lang="en-US" sz="1600" dirty="0"/>
              <a:t>= </a:t>
            </a:r>
            <a:r>
              <a:rPr lang="en-US" sz="1600" dirty="0" err="1"/>
              <a:t>een</a:t>
            </a:r>
            <a:r>
              <a:rPr lang="en-US" sz="1600" dirty="0"/>
              <a:t> </a:t>
            </a:r>
            <a:r>
              <a:rPr lang="en-US" sz="1600" dirty="0" err="1"/>
              <a:t>lijst</a:t>
            </a:r>
            <a:r>
              <a:rPr lang="en-US" sz="1600" dirty="0"/>
              <a:t> van 3 </a:t>
            </a:r>
            <a:r>
              <a:rPr lang="en-US" sz="1600" dirty="0" err="1"/>
              <a:t>vakken</a:t>
            </a:r>
            <a:endParaRPr lang="en-US" sz="1600" dirty="0"/>
          </a:p>
          <a:p>
            <a:pPr lvl="2"/>
            <a:r>
              <a:rPr lang="en-US" sz="1800" dirty="0"/>
              <a:t>Methodes van de </a:t>
            </a:r>
            <a:r>
              <a:rPr lang="en-US" sz="1800" dirty="0" err="1"/>
              <a:t>klasse</a:t>
            </a:r>
            <a:r>
              <a:rPr lang="en-US" sz="1800" dirty="0"/>
              <a:t> die </a:t>
            </a:r>
            <a:r>
              <a:rPr lang="en-US" sz="1800" dirty="0" err="1"/>
              <a:t>resultaten</a:t>
            </a:r>
            <a:r>
              <a:rPr lang="en-US" sz="1800" dirty="0"/>
              <a:t> </a:t>
            </a:r>
            <a:r>
              <a:rPr lang="en-US" sz="1800" dirty="0" err="1"/>
              <a:t>geven</a:t>
            </a:r>
            <a:r>
              <a:rPr lang="en-US" sz="1800" dirty="0"/>
              <a:t> </a:t>
            </a:r>
            <a:r>
              <a:rPr lang="en-US" sz="1800" dirty="0" err="1"/>
              <a:t>voor</a:t>
            </a:r>
            <a:r>
              <a:rPr lang="en-US" sz="1800" dirty="0"/>
              <a:t> het </a:t>
            </a:r>
            <a:r>
              <a:rPr lang="en-US" sz="1800" dirty="0" err="1"/>
              <a:t>specifieke</a:t>
            </a:r>
            <a:r>
              <a:rPr lang="en-US" sz="1800" dirty="0"/>
              <a:t> object:</a:t>
            </a:r>
          </a:p>
          <a:p>
            <a:pPr lvl="3"/>
            <a:r>
              <a:rPr lang="en-US" sz="1600" dirty="0" err="1"/>
              <a:t>geef_punt_voor_vak</a:t>
            </a:r>
            <a:r>
              <a:rPr lang="en-US" sz="1600" dirty="0"/>
              <a:t>(), </a:t>
            </a:r>
            <a:r>
              <a:rPr lang="en-US" sz="1600" dirty="0" err="1"/>
              <a:t>geef_gemiddelde_punt</a:t>
            </a:r>
            <a:r>
              <a:rPr lang="en-US" sz="1600" dirty="0"/>
              <a:t>(), </a:t>
            </a:r>
            <a:r>
              <a:rPr lang="en-US" sz="1600" dirty="0" err="1"/>
              <a:t>delibereer</a:t>
            </a:r>
            <a:r>
              <a:rPr lang="en-US" sz="1600" dirty="0"/>
              <a:t>()</a:t>
            </a:r>
          </a:p>
          <a:p>
            <a:pPr lvl="1"/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927FC-D96A-E1A8-B8E0-8CF6F4F3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EC0BFC-F82A-D7D4-F109-C25E5297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Opzet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918426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E9AFDA-05FA-1E4E-7FF8-7751B96984EA}"/>
              </a:ext>
            </a:extLst>
          </p:cNvPr>
          <p:cNvSpPr txBox="1"/>
          <p:nvPr/>
        </p:nvSpPr>
        <p:spPr>
          <a:xfrm>
            <a:off x="1371968" y="1714290"/>
            <a:ext cx="9374003" cy="385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naam_in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nummer_in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richting_in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naam_in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nummer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nummer_in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richting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richting_in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resultaten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geef_naam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naam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geef_punt_voor_vak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vak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punt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resultaten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vak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punt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geef_gemiddelde_punt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punten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resultaten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we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krijgen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alle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punten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terug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als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itereerbaar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object           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punten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moeten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we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nog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lijst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omzetten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om de sum()-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erover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kunnen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gebruiken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resultaten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de dictionary is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niet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leeg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punten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/ </a:t>
            </a:r>
            <a:r>
              <a:rPr lang="en-US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punten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28B2A4-272F-0A60-B437-5639E862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35073C-E068-D4FF-F3A9-F080BE84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Voorbeeldklasse</a:t>
            </a:r>
            <a:endParaRPr lang="nl-BE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C19E6C-F8E1-BC00-57B5-0959ECC92A43}"/>
              </a:ext>
            </a:extLst>
          </p:cNvPr>
          <p:cNvCxnSpPr>
            <a:cxnSpLocks/>
          </p:cNvCxnSpPr>
          <p:nvPr/>
        </p:nvCxnSpPr>
        <p:spPr>
          <a:xfrm flipV="1">
            <a:off x="3514911" y="1876254"/>
            <a:ext cx="3467096" cy="214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6880147-DE01-E49C-32C3-5126EABC72C8}"/>
              </a:ext>
            </a:extLst>
          </p:cNvPr>
          <p:cNvSpPr txBox="1"/>
          <p:nvPr/>
        </p:nvSpPr>
        <p:spPr>
          <a:xfrm>
            <a:off x="2957853" y="1213223"/>
            <a:ext cx="454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maken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b="1" dirty="0" err="1"/>
              <a:t>klasse</a:t>
            </a:r>
            <a:r>
              <a:rPr lang="en-US" sz="1400" dirty="0"/>
              <a:t> met naam `Student` </a:t>
            </a:r>
            <a:r>
              <a:rPr lang="en-US" sz="1400" dirty="0" err="1"/>
              <a:t>aan</a:t>
            </a:r>
            <a:endParaRPr lang="en-BE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914D2E-D423-E6AD-C21E-11362B267E9E}"/>
              </a:ext>
            </a:extLst>
          </p:cNvPr>
          <p:cNvCxnSpPr>
            <a:cxnSpLocks/>
          </p:cNvCxnSpPr>
          <p:nvPr/>
        </p:nvCxnSpPr>
        <p:spPr>
          <a:xfrm flipV="1">
            <a:off x="2698909" y="1563677"/>
            <a:ext cx="1223109" cy="1846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C0470A-BF26-B03A-956A-D7191721B0D8}"/>
              </a:ext>
            </a:extLst>
          </p:cNvPr>
          <p:cNvSpPr txBox="1"/>
          <p:nvPr/>
        </p:nvSpPr>
        <p:spPr>
          <a:xfrm>
            <a:off x="7061068" y="1552326"/>
            <a:ext cx="50106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Dit</a:t>
            </a:r>
            <a:r>
              <a:rPr lang="en-US" sz="1400" dirty="0"/>
              <a:t> is de </a:t>
            </a:r>
            <a:r>
              <a:rPr lang="en-US" sz="1400" b="1" dirty="0"/>
              <a:t>constructor</a:t>
            </a:r>
            <a:r>
              <a:rPr lang="en-US" sz="1400" dirty="0"/>
              <a:t> – </a:t>
            </a:r>
            <a:r>
              <a:rPr lang="en-US" sz="1400" dirty="0" err="1"/>
              <a:t>dit</a:t>
            </a:r>
            <a:r>
              <a:rPr lang="en-US" sz="1400" dirty="0"/>
              <a:t> is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specifieke</a:t>
            </a:r>
            <a:r>
              <a:rPr lang="en-US" sz="1400" dirty="0"/>
              <a:t> </a:t>
            </a:r>
            <a:r>
              <a:rPr lang="en-US" sz="1400" dirty="0" err="1"/>
              <a:t>functie</a:t>
            </a:r>
            <a:r>
              <a:rPr lang="en-US" sz="1400" dirty="0"/>
              <a:t> die </a:t>
            </a:r>
            <a:r>
              <a:rPr lang="en-US" sz="1400" dirty="0" err="1"/>
              <a:t>wordt</a:t>
            </a:r>
            <a:r>
              <a:rPr lang="en-US" sz="1400" dirty="0"/>
              <a:t> </a:t>
            </a:r>
            <a:r>
              <a:rPr lang="en-US" sz="1400" dirty="0" err="1"/>
              <a:t>aangeroepen</a:t>
            </a:r>
            <a:r>
              <a:rPr lang="en-US" sz="1400" dirty="0"/>
              <a:t> </a:t>
            </a:r>
            <a:r>
              <a:rPr lang="en-US" sz="1400" dirty="0" err="1"/>
              <a:t>als</a:t>
            </a:r>
            <a:r>
              <a:rPr lang="en-US" sz="1400" dirty="0"/>
              <a:t> we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instantie</a:t>
            </a:r>
            <a:r>
              <a:rPr lang="en-US" sz="1400" dirty="0"/>
              <a:t> </a:t>
            </a:r>
            <a:r>
              <a:rPr lang="en-US" sz="1400" dirty="0" err="1"/>
              <a:t>willen</a:t>
            </a:r>
            <a:r>
              <a:rPr lang="en-US" sz="1400" dirty="0"/>
              <a:t> </a:t>
            </a:r>
            <a:r>
              <a:rPr lang="en-US" sz="1400" dirty="0" err="1"/>
              <a:t>aanmaken</a:t>
            </a:r>
            <a:r>
              <a:rPr lang="en-US" sz="1400" dirty="0"/>
              <a:t> met de </a:t>
            </a:r>
            <a:r>
              <a:rPr lang="en-US" sz="1400" dirty="0" err="1"/>
              <a:t>oproep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Student() </a:t>
            </a:r>
            <a:r>
              <a:rPr lang="en-US" sz="14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+mj-lt"/>
                <a:cs typeface="Courier New" panose="02070309020205020404" pitchFamily="49" charset="0"/>
              </a:rPr>
              <a:t>zie</a:t>
            </a:r>
            <a:r>
              <a:rPr lang="en-US" sz="1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+mj-lt"/>
                <a:cs typeface="Courier New" panose="02070309020205020404" pitchFamily="49" charset="0"/>
              </a:rPr>
              <a:t>volgende</a:t>
            </a:r>
            <a:r>
              <a:rPr lang="en-US" sz="1400" dirty="0">
                <a:latin typeface="+mj-lt"/>
                <a:cs typeface="Courier New" panose="02070309020205020404" pitchFamily="49" charset="0"/>
              </a:rPr>
              <a:t> slide)</a:t>
            </a:r>
            <a:r>
              <a:rPr lang="en-US" sz="1400" dirty="0">
                <a:latin typeface="+mj-lt"/>
              </a:rPr>
              <a:t>. </a:t>
            </a:r>
          </a:p>
          <a:p>
            <a:r>
              <a:rPr lang="en-US" sz="1400" dirty="0"/>
              <a:t>De </a:t>
            </a:r>
            <a:r>
              <a:rPr lang="en-US" sz="1400" dirty="0" err="1"/>
              <a:t>argumenten</a:t>
            </a:r>
            <a:r>
              <a:rPr lang="en-US" sz="1400" dirty="0"/>
              <a:t> van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Student()</a:t>
            </a:r>
            <a:r>
              <a:rPr lang="en-US" sz="1400" dirty="0"/>
              <a:t> </a:t>
            </a:r>
            <a:r>
              <a:rPr lang="en-US" sz="1400" dirty="0" err="1"/>
              <a:t>komen</a:t>
            </a:r>
            <a:r>
              <a:rPr lang="en-US" sz="1400" dirty="0"/>
              <a:t> </a:t>
            </a:r>
            <a:r>
              <a:rPr lang="en-US" sz="1400" dirty="0" err="1"/>
              <a:t>overeen</a:t>
            </a:r>
            <a:endParaRPr lang="en-BE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735841-CADB-3D1D-DD30-27382AA0B247}"/>
              </a:ext>
            </a:extLst>
          </p:cNvPr>
          <p:cNvCxnSpPr>
            <a:cxnSpLocks/>
          </p:cNvCxnSpPr>
          <p:nvPr/>
        </p:nvCxnSpPr>
        <p:spPr>
          <a:xfrm flipH="1">
            <a:off x="1371969" y="2198260"/>
            <a:ext cx="152030" cy="114970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321959-D963-5785-CEB0-F74B2B670CEA}"/>
              </a:ext>
            </a:extLst>
          </p:cNvPr>
          <p:cNvCxnSpPr>
            <a:cxnSpLocks/>
          </p:cNvCxnSpPr>
          <p:nvPr/>
        </p:nvCxnSpPr>
        <p:spPr>
          <a:xfrm flipH="1">
            <a:off x="1373169" y="3275045"/>
            <a:ext cx="241027" cy="243786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47FDEB8-42AE-8D57-272F-6011858A677F}"/>
              </a:ext>
            </a:extLst>
          </p:cNvPr>
          <p:cNvCxnSpPr>
            <a:cxnSpLocks/>
          </p:cNvCxnSpPr>
          <p:nvPr/>
        </p:nvCxnSpPr>
        <p:spPr>
          <a:xfrm flipH="1" flipV="1">
            <a:off x="1373169" y="3720122"/>
            <a:ext cx="241027" cy="627943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CFE1B55-7927-CE9F-F005-BFFF047320F3}"/>
              </a:ext>
            </a:extLst>
          </p:cNvPr>
          <p:cNvCxnSpPr>
            <a:cxnSpLocks/>
          </p:cNvCxnSpPr>
          <p:nvPr/>
        </p:nvCxnSpPr>
        <p:spPr>
          <a:xfrm flipH="1" flipV="1">
            <a:off x="1373169" y="3653831"/>
            <a:ext cx="241027" cy="143728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8B06E64-A261-A6B9-9980-2A5ED17BB326}"/>
              </a:ext>
            </a:extLst>
          </p:cNvPr>
          <p:cNvSpPr txBox="1"/>
          <p:nvPr/>
        </p:nvSpPr>
        <p:spPr>
          <a:xfrm rot="16200000">
            <a:off x="-48009" y="3364942"/>
            <a:ext cx="221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Methodes</a:t>
            </a:r>
            <a:r>
              <a:rPr lang="en-US" sz="1400" dirty="0"/>
              <a:t> van de </a:t>
            </a:r>
            <a:r>
              <a:rPr lang="en-US" sz="1400" dirty="0" err="1"/>
              <a:t>klasse</a:t>
            </a:r>
            <a:endParaRPr lang="en-BE" sz="1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FA3F88-27A2-E26B-E422-70E66C2B056D}"/>
              </a:ext>
            </a:extLst>
          </p:cNvPr>
          <p:cNvCxnSpPr>
            <a:cxnSpLocks/>
          </p:cNvCxnSpPr>
          <p:nvPr/>
        </p:nvCxnSpPr>
        <p:spPr>
          <a:xfrm>
            <a:off x="4099169" y="2633024"/>
            <a:ext cx="1535724" cy="1301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Brace 31">
            <a:extLst>
              <a:ext uri="{FF2B5EF4-FFF2-40B4-BE49-F238E27FC236}">
                <a16:creationId xmlns:a16="http://schemas.microsoft.com/office/drawing/2014/main" id="{AA3A0670-F07B-7B5B-2F0B-83C577C40A45}"/>
              </a:ext>
            </a:extLst>
          </p:cNvPr>
          <p:cNvSpPr/>
          <p:nvPr/>
        </p:nvSpPr>
        <p:spPr>
          <a:xfrm>
            <a:off x="4038113" y="2323661"/>
            <a:ext cx="45719" cy="6613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324041-11B8-E4D2-205A-5B4CFF44765D}"/>
              </a:ext>
            </a:extLst>
          </p:cNvPr>
          <p:cNvSpPr txBox="1"/>
          <p:nvPr/>
        </p:nvSpPr>
        <p:spPr>
          <a:xfrm>
            <a:off x="5634893" y="2610107"/>
            <a:ext cx="6186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 </a:t>
            </a:r>
            <a:r>
              <a:rPr lang="en-US" sz="1200" b="1" dirty="0" err="1"/>
              <a:t>attributen</a:t>
            </a:r>
            <a:r>
              <a:rPr lang="en-US" sz="1200" dirty="0"/>
              <a:t> van de </a:t>
            </a:r>
            <a:r>
              <a:rPr lang="en-US" sz="1200" dirty="0" err="1"/>
              <a:t>klasse</a:t>
            </a:r>
            <a:r>
              <a:rPr lang="en-US" sz="1200" dirty="0"/>
              <a:t> – </a:t>
            </a:r>
            <a:r>
              <a:rPr lang="en-US" sz="1200" dirty="0" err="1"/>
              <a:t>deze</a:t>
            </a:r>
            <a:r>
              <a:rPr lang="en-US" sz="1200" dirty="0"/>
              <a:t> </a:t>
            </a:r>
            <a:r>
              <a:rPr lang="en-US" sz="1200" dirty="0" err="1"/>
              <a:t>worden</a:t>
            </a:r>
            <a:r>
              <a:rPr lang="en-US" sz="1200" dirty="0"/>
              <a:t> best </a:t>
            </a:r>
            <a:r>
              <a:rPr lang="en-US" sz="1200" dirty="0" err="1"/>
              <a:t>altijd</a:t>
            </a:r>
            <a:r>
              <a:rPr lang="en-US" sz="1200" dirty="0"/>
              <a:t> </a:t>
            </a:r>
            <a:r>
              <a:rPr lang="en-US" sz="1200" dirty="0" err="1"/>
              <a:t>aangemaakt</a:t>
            </a:r>
            <a:r>
              <a:rPr lang="en-US" sz="1200" dirty="0"/>
              <a:t> in de constructor</a:t>
            </a:r>
          </a:p>
          <a:p>
            <a:r>
              <a:rPr lang="en-US" sz="1200" dirty="0" err="1"/>
              <a:t>Voorbeeld</a:t>
            </a:r>
            <a:r>
              <a:rPr lang="en-US" sz="1200" dirty="0"/>
              <a:t>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self.naam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naam_in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+mj-lt"/>
                <a:cs typeface="Courier New" panose="02070309020205020404" pitchFamily="49" charset="0"/>
              </a:rPr>
              <a:t>stopt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het </a:t>
            </a:r>
            <a:r>
              <a:rPr lang="en-US" sz="1200" dirty="0" err="1">
                <a:latin typeface="+mj-lt"/>
                <a:cs typeface="Courier New" panose="02070309020205020404" pitchFamily="49" charset="0"/>
              </a:rPr>
              <a:t>inputargument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naam_in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in de </a:t>
            </a:r>
            <a:r>
              <a:rPr lang="en-US" sz="1200" dirty="0" err="1">
                <a:latin typeface="+mj-lt"/>
                <a:cs typeface="Courier New" panose="02070309020205020404" pitchFamily="49" charset="0"/>
              </a:rPr>
              <a:t>variabele</a:t>
            </a:r>
            <a:r>
              <a:rPr lang="en-US" sz="12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self.naam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/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1200" dirty="0"/>
              <a:t> is </a:t>
            </a:r>
            <a:r>
              <a:rPr lang="en-US" sz="1200" dirty="0" err="1"/>
              <a:t>een</a:t>
            </a:r>
            <a:r>
              <a:rPr lang="en-US" sz="1200" dirty="0"/>
              <a:t> </a:t>
            </a:r>
            <a:r>
              <a:rPr lang="en-US" sz="1200" dirty="0" err="1"/>
              <a:t>variabele</a:t>
            </a:r>
            <a:r>
              <a:rPr lang="en-US" sz="1200" dirty="0"/>
              <a:t> die de </a:t>
            </a:r>
            <a:r>
              <a:rPr lang="en-US" sz="1200" dirty="0" err="1"/>
              <a:t>instantie</a:t>
            </a:r>
            <a:r>
              <a:rPr lang="en-US" sz="1200" dirty="0"/>
              <a:t> van </a:t>
            </a:r>
            <a:r>
              <a:rPr lang="en-US" sz="1200" dirty="0" err="1"/>
              <a:t>een</a:t>
            </a:r>
            <a:r>
              <a:rPr lang="en-US" sz="1200" dirty="0"/>
              <a:t> </a:t>
            </a:r>
            <a:r>
              <a:rPr lang="en-US" sz="1200" dirty="0" err="1"/>
              <a:t>klasse</a:t>
            </a:r>
            <a:r>
              <a:rPr lang="en-US" sz="1200" dirty="0"/>
              <a:t> </a:t>
            </a:r>
            <a:r>
              <a:rPr lang="en-US" sz="1200" dirty="0" err="1"/>
              <a:t>vertegenwoordigt</a:t>
            </a:r>
            <a:r>
              <a:rPr lang="en-US" sz="1200" dirty="0"/>
              <a:t>. </a:t>
            </a:r>
            <a:r>
              <a:rPr lang="en-US" sz="1200" dirty="0" err="1"/>
              <a:t>Deze</a:t>
            </a:r>
            <a:r>
              <a:rPr lang="en-US" sz="1200" dirty="0"/>
              <a:t> </a:t>
            </a:r>
            <a:r>
              <a:rPr lang="en-US" sz="1200" dirty="0" err="1"/>
              <a:t>wordt</a:t>
            </a:r>
            <a:r>
              <a:rPr lang="en-US" sz="1200" dirty="0"/>
              <a:t> </a:t>
            </a:r>
            <a:r>
              <a:rPr lang="en-US" sz="1200" dirty="0" err="1"/>
              <a:t>gebruikt</a:t>
            </a:r>
            <a:r>
              <a:rPr lang="en-US" sz="1200" dirty="0"/>
              <a:t> om de </a:t>
            </a:r>
            <a:r>
              <a:rPr lang="en-US" sz="1200" dirty="0" err="1"/>
              <a:t>variabelen</a:t>
            </a:r>
            <a:r>
              <a:rPr lang="en-US" sz="1200" dirty="0"/>
              <a:t> later </a:t>
            </a:r>
            <a:r>
              <a:rPr lang="en-US" sz="1200" dirty="0" err="1"/>
              <a:t>te</a:t>
            </a:r>
            <a:r>
              <a:rPr lang="en-US" sz="1200" dirty="0"/>
              <a:t> </a:t>
            </a:r>
            <a:r>
              <a:rPr lang="en-US" sz="1200" dirty="0" err="1"/>
              <a:t>kunnen</a:t>
            </a:r>
            <a:r>
              <a:rPr lang="en-US" sz="1200" dirty="0"/>
              <a:t> </a:t>
            </a:r>
            <a:r>
              <a:rPr lang="en-US" sz="1200" dirty="0" err="1"/>
              <a:t>ophalen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is </a:t>
            </a:r>
            <a:r>
              <a:rPr lang="en-US" sz="1200" dirty="0" err="1"/>
              <a:t>altijd</a:t>
            </a:r>
            <a:r>
              <a:rPr lang="en-US" sz="1200" dirty="0"/>
              <a:t> het </a:t>
            </a:r>
            <a:r>
              <a:rPr lang="en-US" sz="1200" dirty="0" err="1"/>
              <a:t>eerste</a:t>
            </a:r>
            <a:r>
              <a:rPr lang="en-US" sz="1200" dirty="0"/>
              <a:t> argument van </a:t>
            </a:r>
            <a:r>
              <a:rPr lang="en-US" sz="1200" dirty="0" err="1"/>
              <a:t>elke</a:t>
            </a:r>
            <a:r>
              <a:rPr lang="en-US" sz="1200" dirty="0"/>
              <a:t> </a:t>
            </a:r>
            <a:r>
              <a:rPr lang="en-US" sz="1200" dirty="0" err="1"/>
              <a:t>methode</a:t>
            </a:r>
            <a:r>
              <a:rPr lang="en-US" sz="1200" dirty="0"/>
              <a:t> van </a:t>
            </a:r>
            <a:r>
              <a:rPr lang="en-US" sz="1200" dirty="0" err="1"/>
              <a:t>een</a:t>
            </a:r>
            <a:r>
              <a:rPr lang="en-US" sz="1200" dirty="0"/>
              <a:t> </a:t>
            </a:r>
            <a:r>
              <a:rPr lang="en-US" sz="1200" dirty="0" err="1"/>
              <a:t>klasse</a:t>
            </a:r>
            <a:r>
              <a:rPr lang="en-US" sz="1200" dirty="0"/>
              <a:t>. </a:t>
            </a:r>
            <a:r>
              <a:rPr lang="en-US" sz="1200" dirty="0" err="1"/>
              <a:t>Deze</a:t>
            </a:r>
            <a:r>
              <a:rPr lang="en-US" sz="1200" dirty="0"/>
              <a:t> </a:t>
            </a:r>
            <a:r>
              <a:rPr lang="en-US" sz="1200" dirty="0" err="1"/>
              <a:t>moet</a:t>
            </a:r>
            <a:r>
              <a:rPr lang="en-US" sz="1200" dirty="0"/>
              <a:t> </a:t>
            </a:r>
            <a:r>
              <a:rPr lang="en-US" sz="1200" dirty="0" err="1"/>
              <a:t>echter</a:t>
            </a:r>
            <a:r>
              <a:rPr lang="en-US" sz="1200" dirty="0"/>
              <a:t> </a:t>
            </a:r>
            <a:r>
              <a:rPr lang="en-US" sz="1200" dirty="0" err="1"/>
              <a:t>niet</a:t>
            </a:r>
            <a:r>
              <a:rPr lang="en-US" sz="1200" dirty="0"/>
              <a:t> </a:t>
            </a:r>
            <a:r>
              <a:rPr lang="en-US" sz="1200" dirty="0" err="1"/>
              <a:t>meegegeven</a:t>
            </a:r>
            <a:r>
              <a:rPr lang="en-US" sz="1200" dirty="0"/>
              <a:t> </a:t>
            </a:r>
            <a:r>
              <a:rPr lang="en-US" sz="1200" dirty="0" err="1"/>
              <a:t>worden</a:t>
            </a:r>
            <a:r>
              <a:rPr lang="en-US" sz="1200" dirty="0"/>
              <a:t> </a:t>
            </a:r>
            <a:r>
              <a:rPr lang="en-US" sz="1200" dirty="0" err="1"/>
              <a:t>bij</a:t>
            </a:r>
            <a:r>
              <a:rPr lang="en-US" sz="1200" dirty="0"/>
              <a:t> het </a:t>
            </a:r>
            <a:r>
              <a:rPr lang="en-US" sz="1200" dirty="0" err="1"/>
              <a:t>oproepen</a:t>
            </a:r>
            <a:r>
              <a:rPr lang="en-US" sz="1200" dirty="0"/>
              <a:t> van de </a:t>
            </a:r>
            <a:r>
              <a:rPr lang="en-US" sz="1200" dirty="0" err="1"/>
              <a:t>methode</a:t>
            </a:r>
            <a:r>
              <a:rPr lang="en-US" sz="1200" dirty="0"/>
              <a:t> (</a:t>
            </a:r>
            <a:r>
              <a:rPr lang="en-US" sz="1200" dirty="0" err="1"/>
              <a:t>zie</a:t>
            </a:r>
            <a:r>
              <a:rPr lang="en-US" sz="1200" dirty="0"/>
              <a:t> </a:t>
            </a:r>
            <a:r>
              <a:rPr lang="en-US" sz="1200" dirty="0" err="1"/>
              <a:t>volgende</a:t>
            </a:r>
            <a:r>
              <a:rPr lang="en-US" sz="1200" dirty="0"/>
              <a:t> slide)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248706616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1A1EFA-8F98-34F8-690F-C5D9B455E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instanties</a:t>
            </a:r>
            <a:r>
              <a:rPr lang="en-US" dirty="0"/>
              <a:t> (</a:t>
            </a:r>
            <a:r>
              <a:rPr lang="en-US" dirty="0" err="1"/>
              <a:t>objecten</a:t>
            </a:r>
            <a:r>
              <a:rPr lang="en-US" dirty="0"/>
              <a:t>)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volgens</a:t>
            </a:r>
            <a:r>
              <a:rPr lang="en-US" dirty="0"/>
              <a:t> de </a:t>
            </a:r>
            <a:r>
              <a:rPr lang="en-US" dirty="0" err="1"/>
              <a:t>blauwdruk</a:t>
            </a:r>
            <a:r>
              <a:rPr lang="en-US" dirty="0"/>
              <a:t>:</a:t>
            </a:r>
          </a:p>
          <a:p>
            <a:pPr lvl="1"/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C07DE-7032-EB7A-C711-F781C3BA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CF0795-7C4B-E10E-BACD-2CDED09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Klasses</a:t>
            </a:r>
            <a:r>
              <a:rPr lang="en-US" dirty="0"/>
              <a:t> </a:t>
            </a:r>
            <a:r>
              <a:rPr lang="en-US" dirty="0" err="1"/>
              <a:t>gebruiken</a:t>
            </a:r>
            <a:endParaRPr lang="nl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0E336-E5F9-0CC4-C753-008002C898DB}"/>
              </a:ext>
            </a:extLst>
          </p:cNvPr>
          <p:cNvSpPr txBox="1"/>
          <p:nvPr/>
        </p:nvSpPr>
        <p:spPr>
          <a:xfrm>
            <a:off x="804984" y="3124190"/>
            <a:ext cx="419485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/>
              </a:rPr>
              <a:t>student_1 = Student('Wilfried', 10, 'HIRB’)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/>
              </a:rPr>
              <a:t>student_2 = Student('Monique', 11, 'HIRB’)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D000C-AFF9-ABA1-9C30-45FDE7CC85BF}"/>
              </a:ext>
            </a:extLst>
          </p:cNvPr>
          <p:cNvSpPr txBox="1"/>
          <p:nvPr/>
        </p:nvSpPr>
        <p:spPr>
          <a:xfrm>
            <a:off x="804983" y="5177014"/>
            <a:ext cx="419485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kumimoji="0" lang="nl-BE" altLang="nl-BE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JetBrains Mono"/>
              </a:rPr>
              <a:t>Student.naam</a:t>
            </a:r>
            <a:endParaRPr lang="nl-BE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2EE6E-7D24-0D23-5931-34F888578416}"/>
              </a:ext>
            </a:extLst>
          </p:cNvPr>
          <p:cNvSpPr txBox="1"/>
          <p:nvPr/>
        </p:nvSpPr>
        <p:spPr>
          <a:xfrm>
            <a:off x="804984" y="4000069"/>
            <a:ext cx="419485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/>
              </a:rPr>
              <a:t>student_1.naam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JetBrains Mono"/>
              </a:rPr>
              <a:t>student_1.geef_naam()</a:t>
            </a:r>
            <a:endParaRPr lang="nl-BE" dirty="0">
              <a:solidFill>
                <a:schemeClr val="tx2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17B9D5-8608-9B7A-5B23-E0969DE1BB07}"/>
              </a:ext>
            </a:extLst>
          </p:cNvPr>
          <p:cNvCxnSpPr>
            <a:cxnSpLocks/>
          </p:cNvCxnSpPr>
          <p:nvPr/>
        </p:nvCxnSpPr>
        <p:spPr>
          <a:xfrm>
            <a:off x="5116534" y="3447355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50FC11-C6EA-8C17-D063-32EB4BAEF2A4}"/>
              </a:ext>
            </a:extLst>
          </p:cNvPr>
          <p:cNvSpPr txBox="1"/>
          <p:nvPr/>
        </p:nvSpPr>
        <p:spPr>
          <a:xfrm>
            <a:off x="6001679" y="3070502"/>
            <a:ext cx="59590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maken</a:t>
            </a:r>
            <a:r>
              <a:rPr lang="en-US" sz="1400" dirty="0"/>
              <a:t> 2 </a:t>
            </a:r>
            <a:r>
              <a:rPr lang="en-US" sz="1400" dirty="0" err="1"/>
              <a:t>objecten</a:t>
            </a:r>
            <a:r>
              <a:rPr lang="en-US" sz="1400" dirty="0"/>
              <a:t> </a:t>
            </a:r>
            <a:r>
              <a:rPr lang="en-US" sz="1400" dirty="0" err="1"/>
              <a:t>aan</a:t>
            </a:r>
            <a:r>
              <a:rPr lang="en-US" sz="1400" dirty="0"/>
              <a:t> </a:t>
            </a:r>
            <a:r>
              <a:rPr lang="en-US" sz="1400" dirty="0" err="1"/>
              <a:t>volgens</a:t>
            </a:r>
            <a:r>
              <a:rPr lang="en-US" sz="1400" dirty="0"/>
              <a:t> de </a:t>
            </a:r>
            <a:r>
              <a:rPr lang="en-US" sz="1400" dirty="0" err="1"/>
              <a:t>blauwdruk</a:t>
            </a:r>
            <a:r>
              <a:rPr lang="en-US" sz="1400" dirty="0"/>
              <a:t> van de </a:t>
            </a:r>
            <a:r>
              <a:rPr lang="en-US" sz="1400" dirty="0" err="1"/>
              <a:t>klasse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400" dirty="0"/>
              <a:t> met de </a:t>
            </a:r>
            <a:r>
              <a:rPr lang="en-US" sz="1400" dirty="0" err="1"/>
              <a:t>attributen</a:t>
            </a:r>
            <a:r>
              <a:rPr lang="en-US" sz="1400" dirty="0"/>
              <a:t> die in de constructor (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sz="1400" dirty="0"/>
              <a:t>-</a:t>
            </a:r>
            <a:r>
              <a:rPr lang="en-US" sz="1400" dirty="0" err="1"/>
              <a:t>methode</a:t>
            </a:r>
            <a:r>
              <a:rPr lang="en-US" sz="1400" dirty="0"/>
              <a:t>) </a:t>
            </a:r>
            <a:r>
              <a:rPr lang="en-US" sz="1400" dirty="0" err="1"/>
              <a:t>aanwezig</a:t>
            </a:r>
            <a:r>
              <a:rPr lang="en-US" sz="1400" dirty="0"/>
              <a:t> </a:t>
            </a:r>
            <a:r>
              <a:rPr lang="en-US" sz="1400" dirty="0" err="1"/>
              <a:t>zijn</a:t>
            </a:r>
            <a:r>
              <a:rPr lang="en-US" sz="1400" dirty="0"/>
              <a:t> (merk op </a:t>
            </a:r>
            <a:r>
              <a:rPr lang="en-US" sz="1400" dirty="0" err="1"/>
              <a:t>dat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1400" dirty="0"/>
              <a:t> </a:t>
            </a:r>
            <a:r>
              <a:rPr lang="en-US" sz="1400" dirty="0" err="1"/>
              <a:t>dus</a:t>
            </a:r>
            <a:r>
              <a:rPr lang="en-US" sz="1400" dirty="0"/>
              <a:t> </a:t>
            </a:r>
            <a:r>
              <a:rPr lang="en-US" sz="1400" dirty="0" err="1"/>
              <a:t>niet</a:t>
            </a:r>
            <a:r>
              <a:rPr lang="en-US" sz="1400" dirty="0"/>
              <a:t> </a:t>
            </a:r>
            <a:r>
              <a:rPr lang="en-US" sz="1400" dirty="0" err="1"/>
              <a:t>wordt</a:t>
            </a:r>
            <a:r>
              <a:rPr lang="en-US" sz="1400" dirty="0"/>
              <a:t> </a:t>
            </a:r>
            <a:r>
              <a:rPr lang="en-US" sz="1400" dirty="0" err="1"/>
              <a:t>meegegeven</a:t>
            </a:r>
            <a:r>
              <a:rPr lang="en-US" sz="1400" dirty="0"/>
              <a:t>)</a:t>
            </a:r>
            <a:endParaRPr lang="en-BE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83113F-972F-46CD-93B4-2D9C10631BDD}"/>
              </a:ext>
            </a:extLst>
          </p:cNvPr>
          <p:cNvCxnSpPr>
            <a:cxnSpLocks/>
          </p:cNvCxnSpPr>
          <p:nvPr/>
        </p:nvCxnSpPr>
        <p:spPr>
          <a:xfrm>
            <a:off x="5135069" y="4260092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10A36B0-D6AC-D5FC-C5F1-9BB517E3C7E5}"/>
              </a:ext>
            </a:extLst>
          </p:cNvPr>
          <p:cNvSpPr txBox="1"/>
          <p:nvPr/>
        </p:nvSpPr>
        <p:spPr>
          <a:xfrm>
            <a:off x="6001680" y="4071239"/>
            <a:ext cx="538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 </a:t>
            </a:r>
            <a:r>
              <a:rPr lang="en-US" sz="1400" dirty="0" err="1"/>
              <a:t>kunnen</a:t>
            </a:r>
            <a:r>
              <a:rPr lang="en-US" sz="1400" dirty="0"/>
              <a:t> we de </a:t>
            </a:r>
            <a:r>
              <a:rPr lang="en-US" sz="1400" dirty="0" err="1"/>
              <a:t>attributen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methodes</a:t>
            </a:r>
            <a:r>
              <a:rPr lang="en-US" sz="1400" dirty="0"/>
              <a:t> van de </a:t>
            </a:r>
            <a:r>
              <a:rPr lang="en-US" sz="1400" dirty="0" err="1"/>
              <a:t>klasse</a:t>
            </a:r>
            <a:r>
              <a:rPr lang="en-US" sz="1400" dirty="0"/>
              <a:t> </a:t>
            </a:r>
            <a:r>
              <a:rPr lang="en-US" sz="1400" dirty="0" err="1"/>
              <a:t>oproepen</a:t>
            </a:r>
            <a:r>
              <a:rPr lang="en-US" sz="1400" dirty="0"/>
              <a:t> over het object met het .-</a:t>
            </a:r>
            <a:r>
              <a:rPr lang="en-US" sz="1400" dirty="0" err="1"/>
              <a:t>teken</a:t>
            </a:r>
            <a:r>
              <a:rPr lang="en-US" sz="1400" dirty="0"/>
              <a:t> achter de </a:t>
            </a:r>
            <a:r>
              <a:rPr lang="en-US" sz="1400" dirty="0" err="1"/>
              <a:t>variabele</a:t>
            </a:r>
            <a:r>
              <a:rPr lang="en-US" sz="1400" dirty="0"/>
              <a:t>-naam</a:t>
            </a:r>
            <a:endParaRPr lang="en-BE" sz="1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66F888-F350-DBAE-03EB-ED7AD7F4F2C4}"/>
              </a:ext>
            </a:extLst>
          </p:cNvPr>
          <p:cNvCxnSpPr>
            <a:cxnSpLocks/>
          </p:cNvCxnSpPr>
          <p:nvPr/>
        </p:nvCxnSpPr>
        <p:spPr>
          <a:xfrm>
            <a:off x="5116534" y="5335360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1FB0432-9EB6-92CB-B664-5414F4DA9168}"/>
              </a:ext>
            </a:extLst>
          </p:cNvPr>
          <p:cNvSpPr txBox="1"/>
          <p:nvPr/>
        </p:nvSpPr>
        <p:spPr>
          <a:xfrm>
            <a:off x="6001680" y="5176909"/>
            <a:ext cx="538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Dit</a:t>
            </a:r>
            <a:r>
              <a:rPr lang="en-US" sz="1400" dirty="0"/>
              <a:t> </a:t>
            </a:r>
            <a:r>
              <a:rPr lang="en-US" sz="1400" dirty="0" err="1"/>
              <a:t>kan</a:t>
            </a:r>
            <a:r>
              <a:rPr lang="en-US" sz="1400" dirty="0"/>
              <a:t> </a:t>
            </a:r>
            <a:r>
              <a:rPr lang="en-US" sz="1400" dirty="0" err="1"/>
              <a:t>niet</a:t>
            </a:r>
            <a:r>
              <a:rPr lang="en-US" sz="1400" dirty="0"/>
              <a:t>.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400" dirty="0"/>
              <a:t> is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blauwdruk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blauwdruk</a:t>
            </a:r>
            <a:r>
              <a:rPr lang="en-US" sz="1400" dirty="0"/>
              <a:t> </a:t>
            </a:r>
            <a:r>
              <a:rPr lang="en-US" sz="1400" dirty="0" err="1"/>
              <a:t>heeft</a:t>
            </a:r>
            <a:r>
              <a:rPr lang="en-US" sz="1400" dirty="0"/>
              <a:t> </a:t>
            </a:r>
            <a:r>
              <a:rPr lang="en-US" sz="1400" dirty="0" err="1"/>
              <a:t>geen</a:t>
            </a:r>
            <a:r>
              <a:rPr lang="en-US" sz="1400" dirty="0"/>
              <a:t> </a:t>
            </a:r>
            <a:r>
              <a:rPr lang="en-US" sz="1400" dirty="0" err="1"/>
              <a:t>specifieke</a:t>
            </a:r>
            <a:r>
              <a:rPr lang="en-US" sz="1400" dirty="0"/>
              <a:t> naam, </a:t>
            </a:r>
            <a:r>
              <a:rPr lang="en-US" sz="1400" dirty="0" err="1"/>
              <a:t>enkel</a:t>
            </a:r>
            <a:r>
              <a:rPr lang="en-US" sz="1400" dirty="0"/>
              <a:t> de </a:t>
            </a:r>
            <a:r>
              <a:rPr lang="en-US" sz="1400" dirty="0" err="1"/>
              <a:t>instanties</a:t>
            </a:r>
            <a:r>
              <a:rPr lang="en-US" sz="1400" dirty="0"/>
              <a:t> van die </a:t>
            </a:r>
            <a:r>
              <a:rPr lang="en-US" sz="1400" dirty="0" err="1"/>
              <a:t>blauwdruk</a:t>
            </a:r>
            <a:endParaRPr lang="en-BE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E49709-C019-ABC4-59C2-390A39096DF9}"/>
              </a:ext>
            </a:extLst>
          </p:cNvPr>
          <p:cNvSpPr/>
          <p:nvPr/>
        </p:nvSpPr>
        <p:spPr>
          <a:xfrm>
            <a:off x="6096000" y="888293"/>
            <a:ext cx="2084614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‘Wilfried’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10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1CD59C-DF4A-907B-DC5B-BAAA95D74702}"/>
              </a:ext>
            </a:extLst>
          </p:cNvPr>
          <p:cNvSpPr/>
          <p:nvPr/>
        </p:nvSpPr>
        <p:spPr>
          <a:xfrm>
            <a:off x="6096000" y="339328"/>
            <a:ext cx="2084614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student_1</a:t>
            </a:r>
            <a:endParaRPr lang="nl-BE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11C80C-1BEE-73BF-3F71-8550F40A4FC3}"/>
              </a:ext>
            </a:extLst>
          </p:cNvPr>
          <p:cNvSpPr/>
          <p:nvPr/>
        </p:nvSpPr>
        <p:spPr>
          <a:xfrm>
            <a:off x="8656864" y="912505"/>
            <a:ext cx="2084614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‘Monique’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11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F8AAF4-A9BE-31B6-192A-55CD55D71783}"/>
              </a:ext>
            </a:extLst>
          </p:cNvPr>
          <p:cNvSpPr/>
          <p:nvPr/>
        </p:nvSpPr>
        <p:spPr>
          <a:xfrm>
            <a:off x="8656864" y="363540"/>
            <a:ext cx="2084614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student_2</a:t>
            </a:r>
            <a:endParaRPr lang="nl-B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98806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E5CAC-0A34-DC7D-4BCC-159DCE49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129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D5CDB0-8BF4-E8F2-21A5-3D1793C2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Analogie met eerdere variabelen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2EB0F-7D72-4761-7628-A6A6680A018C}"/>
              </a:ext>
            </a:extLst>
          </p:cNvPr>
          <p:cNvSpPr txBox="1"/>
          <p:nvPr/>
        </p:nvSpPr>
        <p:spPr>
          <a:xfrm>
            <a:off x="4778819" y="2170009"/>
            <a:ext cx="7024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O</a:t>
            </a:r>
            <a:r>
              <a:rPr lang="en-BE" sz="1400" dirty="0"/>
              <a:t>bject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9F1CF-C628-801B-1277-DB000B066DAB}"/>
              </a:ext>
            </a:extLst>
          </p:cNvPr>
          <p:cNvSpPr txBox="1"/>
          <p:nvPr/>
        </p:nvSpPr>
        <p:spPr>
          <a:xfrm>
            <a:off x="4778819" y="2474893"/>
            <a:ext cx="632461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Type: Student</a:t>
            </a:r>
          </a:p>
          <a:p>
            <a:r>
              <a:rPr lang="en-GB" sz="1400" dirty="0" err="1"/>
              <a:t>Waarden</a:t>
            </a:r>
            <a:r>
              <a:rPr lang="en-GB" sz="1400" dirty="0"/>
              <a:t>: naam=‘Wilfried’, </a:t>
            </a:r>
            <a:r>
              <a:rPr lang="en-GB" sz="1400" dirty="0" err="1"/>
              <a:t>nummer</a:t>
            </a:r>
            <a:r>
              <a:rPr lang="en-GB" sz="1400" dirty="0"/>
              <a:t>=10, </a:t>
            </a:r>
            <a:r>
              <a:rPr lang="en-GB" sz="1400" dirty="0" err="1"/>
              <a:t>richting</a:t>
            </a:r>
            <a:r>
              <a:rPr lang="en-GB" sz="1400" dirty="0"/>
              <a:t>=‘HIRB’, </a:t>
            </a:r>
            <a:r>
              <a:rPr lang="en-GB" sz="1400" dirty="0" err="1"/>
              <a:t>resultaten</a:t>
            </a:r>
            <a:r>
              <a:rPr lang="en-GB" sz="1400" dirty="0"/>
              <a:t>={}</a:t>
            </a:r>
          </a:p>
          <a:p>
            <a:r>
              <a:rPr lang="en-GB" sz="1400" dirty="0"/>
              <a:t>Adres: </a:t>
            </a:r>
            <a:r>
              <a:rPr lang="en-GB" sz="1400" dirty="0" err="1"/>
              <a:t>geheugenplaats</a:t>
            </a:r>
            <a:r>
              <a:rPr lang="en-GB" sz="1400" dirty="0"/>
              <a:t> 0x1089939392</a:t>
            </a:r>
            <a:endParaRPr lang="en-B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8C210-3457-DFCF-1D78-EB8E2D21F1C0}"/>
              </a:ext>
            </a:extLst>
          </p:cNvPr>
          <p:cNvSpPr txBox="1"/>
          <p:nvPr/>
        </p:nvSpPr>
        <p:spPr>
          <a:xfrm>
            <a:off x="2175642" y="267268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student_1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5EADC7-5A0F-8A7D-190C-5C79B48034C6}"/>
              </a:ext>
            </a:extLst>
          </p:cNvPr>
          <p:cNvCxnSpPr>
            <a:cxnSpLocks/>
          </p:cNvCxnSpPr>
          <p:nvPr/>
        </p:nvCxnSpPr>
        <p:spPr>
          <a:xfrm>
            <a:off x="3571513" y="2869286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2C389F-D150-CB22-BE7B-4D2D49ED810C}"/>
              </a:ext>
            </a:extLst>
          </p:cNvPr>
          <p:cNvSpPr txBox="1"/>
          <p:nvPr/>
        </p:nvSpPr>
        <p:spPr>
          <a:xfrm>
            <a:off x="4778819" y="3692193"/>
            <a:ext cx="70243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400" dirty="0"/>
              <a:t>O</a:t>
            </a:r>
            <a:r>
              <a:rPr lang="en-BE" sz="1400" dirty="0"/>
              <a:t>bject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63D819-8A63-646A-A1B6-C683F35897DF}"/>
              </a:ext>
            </a:extLst>
          </p:cNvPr>
          <p:cNvSpPr txBox="1"/>
          <p:nvPr/>
        </p:nvSpPr>
        <p:spPr>
          <a:xfrm>
            <a:off x="4778819" y="3997077"/>
            <a:ext cx="632461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Type: Student</a:t>
            </a:r>
          </a:p>
          <a:p>
            <a:r>
              <a:rPr lang="en-GB" sz="1400" dirty="0" err="1"/>
              <a:t>Waarden</a:t>
            </a:r>
            <a:r>
              <a:rPr lang="en-GB" sz="1400" dirty="0"/>
              <a:t>: naam=‘Monique’, </a:t>
            </a:r>
            <a:r>
              <a:rPr lang="en-GB" sz="1400" dirty="0" err="1"/>
              <a:t>nummer</a:t>
            </a:r>
            <a:r>
              <a:rPr lang="en-GB" sz="1400" dirty="0"/>
              <a:t>=11, </a:t>
            </a:r>
            <a:r>
              <a:rPr lang="en-GB" sz="1400" dirty="0" err="1"/>
              <a:t>richting</a:t>
            </a:r>
            <a:r>
              <a:rPr lang="en-GB" sz="1400" dirty="0"/>
              <a:t>=‘HIRB’, </a:t>
            </a:r>
            <a:r>
              <a:rPr lang="en-GB" sz="1400" dirty="0" err="1"/>
              <a:t>resultaten</a:t>
            </a:r>
            <a:r>
              <a:rPr lang="en-GB" sz="1400" dirty="0"/>
              <a:t>={}</a:t>
            </a:r>
          </a:p>
          <a:p>
            <a:r>
              <a:rPr lang="en-GB" sz="1400" dirty="0"/>
              <a:t>Adres: </a:t>
            </a:r>
            <a:r>
              <a:rPr lang="en-GB" sz="1400" dirty="0" err="1"/>
              <a:t>geheugenplaats</a:t>
            </a:r>
            <a:r>
              <a:rPr lang="en-GB" sz="1400" dirty="0"/>
              <a:t> 0x2358987777</a:t>
            </a:r>
            <a:endParaRPr lang="en-BE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1A58D-F469-0A99-E84D-1F1EF193AB26}"/>
              </a:ext>
            </a:extLst>
          </p:cNvPr>
          <p:cNvSpPr txBox="1"/>
          <p:nvPr/>
        </p:nvSpPr>
        <p:spPr>
          <a:xfrm>
            <a:off x="2175642" y="4194871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student_2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C94EB5-7B31-96BD-F2C4-D4A2400AE0D0}"/>
              </a:ext>
            </a:extLst>
          </p:cNvPr>
          <p:cNvCxnSpPr>
            <a:cxnSpLocks/>
          </p:cNvCxnSpPr>
          <p:nvPr/>
        </p:nvCxnSpPr>
        <p:spPr>
          <a:xfrm>
            <a:off x="3571513" y="4391470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18121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C07DE-7032-EB7A-C711-F781C3BA6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CF0795-7C4B-E10E-BACD-2CDED09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Methodes</a:t>
            </a:r>
            <a:r>
              <a:rPr lang="en-US" dirty="0"/>
              <a:t> </a:t>
            </a:r>
            <a:r>
              <a:rPr lang="en-US" dirty="0" err="1"/>
              <a:t>gebruiken</a:t>
            </a:r>
            <a:endParaRPr lang="nl-B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E3709-D2E0-1B15-2194-277C98F87CFC}"/>
              </a:ext>
            </a:extLst>
          </p:cNvPr>
          <p:cNvSpPr txBox="1"/>
          <p:nvPr/>
        </p:nvSpPr>
        <p:spPr>
          <a:xfrm>
            <a:off x="821785" y="2080487"/>
            <a:ext cx="494947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student_1.geef_punt_voor_vak(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'grondslagen'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student_2.geef_punt_voor_vak(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'BIS'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18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student_2.geef_punt_voor_vak(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'grondslagen'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4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'Resultaten student 1:'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student_1.resultaten)</a:t>
            </a:r>
            <a:b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'Resultaten student 2:'</a:t>
            </a:r>
            <a:r>
              <a:rPr kumimoji="0" lang="nl-BE" altLang="nl-BE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student_2.resultaten)</a:t>
            </a:r>
            <a:endParaRPr lang="nl-BE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83113F-972F-46CD-93B4-2D9C10631BDD}"/>
              </a:ext>
            </a:extLst>
          </p:cNvPr>
          <p:cNvCxnSpPr>
            <a:cxnSpLocks/>
          </p:cNvCxnSpPr>
          <p:nvPr/>
        </p:nvCxnSpPr>
        <p:spPr>
          <a:xfrm>
            <a:off x="5884985" y="2501415"/>
            <a:ext cx="8851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10A36B0-D6AC-D5FC-C5F1-9BB517E3C7E5}"/>
              </a:ext>
            </a:extLst>
          </p:cNvPr>
          <p:cNvSpPr txBox="1"/>
          <p:nvPr/>
        </p:nvSpPr>
        <p:spPr>
          <a:xfrm>
            <a:off x="6851170" y="2234787"/>
            <a:ext cx="47660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err="1"/>
              <a:t>gebruiken</a:t>
            </a:r>
            <a:r>
              <a:rPr lang="en-US" sz="1400" dirty="0"/>
              <a:t> de </a:t>
            </a:r>
            <a:r>
              <a:rPr lang="en-US" sz="1400" dirty="0" err="1"/>
              <a:t>methodes</a:t>
            </a:r>
            <a:r>
              <a:rPr lang="en-US" sz="1400" dirty="0"/>
              <a:t> om de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sz="1400" dirty="0"/>
              <a:t>-</a:t>
            </a:r>
            <a:r>
              <a:rPr lang="en-US" sz="1400" dirty="0" err="1"/>
              <a:t>objecten</a:t>
            </a:r>
            <a:r>
              <a:rPr lang="en-US" sz="1400" dirty="0"/>
              <a:t> </a:t>
            </a:r>
            <a:r>
              <a:rPr lang="en-US" sz="1400" dirty="0" err="1"/>
              <a:t>punten</a:t>
            </a:r>
            <a:r>
              <a:rPr lang="en-US" sz="1400" dirty="0"/>
              <a:t> </a:t>
            </a:r>
            <a:r>
              <a:rPr lang="en-US" sz="1400" dirty="0" err="1"/>
              <a:t>te</a:t>
            </a:r>
            <a:r>
              <a:rPr lang="en-US" sz="1400" dirty="0"/>
              <a:t> </a:t>
            </a:r>
            <a:r>
              <a:rPr lang="en-US" sz="1400" dirty="0" err="1"/>
              <a:t>geven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de </a:t>
            </a:r>
            <a:r>
              <a:rPr lang="en-US" sz="1400" dirty="0" err="1"/>
              <a:t>achtergrond</a:t>
            </a:r>
            <a:r>
              <a:rPr lang="en-US" sz="1400" dirty="0"/>
              <a:t> </a:t>
            </a:r>
            <a:r>
              <a:rPr lang="en-US" sz="1400" dirty="0" err="1"/>
              <a:t>worden</a:t>
            </a:r>
            <a:r>
              <a:rPr lang="en-US" sz="1400" dirty="0"/>
              <a:t> </a:t>
            </a:r>
            <a:r>
              <a:rPr lang="en-US" sz="1400" dirty="0" err="1"/>
              <a:t>hun</a:t>
            </a:r>
            <a:r>
              <a:rPr lang="en-US" sz="1400" dirty="0"/>
              <a:t> </a:t>
            </a:r>
            <a:r>
              <a:rPr lang="en-US" sz="1400" dirty="0" err="1"/>
              <a:t>aparte</a:t>
            </a:r>
            <a:r>
              <a:rPr lang="en-US" sz="1400" dirty="0"/>
              <a:t> dictionaries </a:t>
            </a:r>
            <a:r>
              <a:rPr lang="en-US" sz="1400" dirty="0" err="1"/>
              <a:t>ingevuld</a:t>
            </a:r>
            <a:endParaRPr lang="en-B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D3907-B259-3503-8635-81CF72924F88}"/>
              </a:ext>
            </a:extLst>
          </p:cNvPr>
          <p:cNvSpPr txBox="1"/>
          <p:nvPr/>
        </p:nvSpPr>
        <p:spPr>
          <a:xfrm>
            <a:off x="821784" y="4672756"/>
            <a:ext cx="4949477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0" lang="nl-BE" altLang="nl-BE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Resultaten student 1: {'grondslagen': 10} </a:t>
            </a:r>
          </a:p>
          <a:p>
            <a:r>
              <a:rPr kumimoji="0" lang="nl-BE" altLang="nl-BE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Resultaten student 2: {'BIS': 18, 'grondslagen': 4}</a:t>
            </a:r>
            <a:r>
              <a:rPr kumimoji="0" lang="nl-BE" altLang="nl-BE" sz="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nl-BE" altLang="nl-B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EC1EA9-38E2-424C-15E4-53D5CFC8DD73}"/>
              </a:ext>
            </a:extLst>
          </p:cNvPr>
          <p:cNvSpPr txBox="1"/>
          <p:nvPr/>
        </p:nvSpPr>
        <p:spPr>
          <a:xfrm>
            <a:off x="821784" y="4301016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  <a:endParaRPr lang="nl-B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B0E85-1885-1589-197E-2C876E17001C}"/>
              </a:ext>
            </a:extLst>
          </p:cNvPr>
          <p:cNvSpPr/>
          <p:nvPr/>
        </p:nvSpPr>
        <p:spPr>
          <a:xfrm>
            <a:off x="6420739" y="4146159"/>
            <a:ext cx="2478331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‘Wilfried’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10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{‘grondslagen’:10}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B7DC56-937B-F67E-87A1-9057C5533B14}"/>
              </a:ext>
            </a:extLst>
          </p:cNvPr>
          <p:cNvSpPr/>
          <p:nvPr/>
        </p:nvSpPr>
        <p:spPr>
          <a:xfrm>
            <a:off x="6420740" y="3597194"/>
            <a:ext cx="2478330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student_1</a:t>
            </a:r>
            <a:endParaRPr lang="nl-BE" dirty="0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3F6C71-01FC-D221-AE0F-3150441C28A6}"/>
              </a:ext>
            </a:extLst>
          </p:cNvPr>
          <p:cNvSpPr/>
          <p:nvPr/>
        </p:nvSpPr>
        <p:spPr>
          <a:xfrm>
            <a:off x="8981604" y="4145879"/>
            <a:ext cx="2635596" cy="10531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naam = ‘Monique’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nummer</a:t>
            </a:r>
            <a:r>
              <a:rPr lang="en-US" sz="1400" dirty="0">
                <a:solidFill>
                  <a:srgbClr val="0070C0"/>
                </a:solidFill>
              </a:rPr>
              <a:t> = 11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richting</a:t>
            </a:r>
            <a:r>
              <a:rPr lang="en-US" sz="1400" dirty="0">
                <a:solidFill>
                  <a:srgbClr val="0070C0"/>
                </a:solidFill>
              </a:rPr>
              <a:t> = ‘HIRB’</a:t>
            </a:r>
          </a:p>
          <a:p>
            <a:pPr algn="ctr"/>
            <a:r>
              <a:rPr lang="en-US" sz="1400" dirty="0" err="1">
                <a:solidFill>
                  <a:srgbClr val="0070C0"/>
                </a:solidFill>
              </a:rPr>
              <a:t>resultaten</a:t>
            </a:r>
            <a:r>
              <a:rPr lang="en-US" sz="1400" dirty="0">
                <a:solidFill>
                  <a:srgbClr val="0070C0"/>
                </a:solidFill>
              </a:rPr>
              <a:t> = {‘BIS’:18, ‘grondslagen’:4}</a:t>
            </a:r>
            <a:endParaRPr lang="nl-BE" sz="1400" dirty="0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B0A6B9-48A1-158A-5F1D-199FCC0C3AE2}"/>
              </a:ext>
            </a:extLst>
          </p:cNvPr>
          <p:cNvSpPr/>
          <p:nvPr/>
        </p:nvSpPr>
        <p:spPr>
          <a:xfrm>
            <a:off x="8981604" y="3596914"/>
            <a:ext cx="2635596" cy="5489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student_2</a:t>
            </a:r>
            <a:endParaRPr lang="nl-B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3735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2D9300-95C1-1543-C279-76E6F00E0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Doorgronden</a:t>
            </a:r>
            <a:r>
              <a:rPr lang="en-US" dirty="0"/>
              <a:t> </a:t>
            </a:r>
            <a:r>
              <a:rPr lang="en-US" dirty="0" err="1"/>
              <a:t>bepaalde</a:t>
            </a:r>
            <a:r>
              <a:rPr lang="en-US" dirty="0"/>
              <a:t> syntax:</a:t>
            </a:r>
          </a:p>
          <a:p>
            <a:pPr lvl="1"/>
            <a:r>
              <a:rPr lang="en-US" sz="2000" dirty="0" err="1"/>
              <a:t>Bv</a:t>
            </a:r>
            <a:r>
              <a:rPr lang="en-US" sz="2000" dirty="0"/>
              <a:t>. hoe </a:t>
            </a:r>
            <a:r>
              <a:rPr lang="en-US" sz="2000" dirty="0" err="1"/>
              <a:t>werkt</a:t>
            </a:r>
            <a:r>
              <a:rPr lang="en-US" sz="2000" dirty="0"/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mijn_string.lower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/>
              <a:t>Belangrijk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modules:</a:t>
            </a:r>
          </a:p>
          <a:p>
            <a:pPr lvl="1"/>
            <a:r>
              <a:rPr lang="en-US" sz="2000" dirty="0" err="1"/>
              <a:t>Numpy</a:t>
            </a:r>
            <a:r>
              <a:rPr lang="en-US" sz="2000" dirty="0"/>
              <a:t>: </a:t>
            </a:r>
          </a:p>
          <a:p>
            <a:pPr lvl="2"/>
            <a:r>
              <a:rPr lang="en-US" sz="1800" dirty="0"/>
              <a:t>Array-</a:t>
            </a:r>
            <a:r>
              <a:rPr lang="en-US" sz="1800" dirty="0" err="1"/>
              <a:t>objecten</a:t>
            </a:r>
            <a:r>
              <a:rPr lang="en-US" sz="1800" dirty="0"/>
              <a:t> om n-</a:t>
            </a:r>
            <a:r>
              <a:rPr lang="en-US" sz="1800" dirty="0" err="1"/>
              <a:t>dimensionale</a:t>
            </a:r>
            <a:r>
              <a:rPr lang="en-US" sz="1800" dirty="0"/>
              <a:t> matrices </a:t>
            </a:r>
            <a:r>
              <a:rPr lang="en-US" sz="1800" dirty="0" err="1"/>
              <a:t>voor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stellen</a:t>
            </a:r>
            <a:endParaRPr lang="en-US" sz="1800" dirty="0"/>
          </a:p>
          <a:p>
            <a:pPr lvl="1"/>
            <a:r>
              <a:rPr lang="en-US" sz="2000" dirty="0"/>
              <a:t>Pandas: </a:t>
            </a:r>
          </a:p>
          <a:p>
            <a:pPr lvl="2"/>
            <a:r>
              <a:rPr lang="en-US" sz="1800" dirty="0"/>
              <a:t>Series-</a:t>
            </a:r>
            <a:r>
              <a:rPr lang="en-US" sz="1800" dirty="0" err="1"/>
              <a:t>objecten</a:t>
            </a:r>
            <a:r>
              <a:rPr lang="en-US" sz="1800" dirty="0"/>
              <a:t> om </a:t>
            </a:r>
            <a:r>
              <a:rPr lang="en-US" sz="1800" dirty="0" err="1"/>
              <a:t>kolomdata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verwerken</a:t>
            </a:r>
            <a:endParaRPr lang="en-US" sz="1800" dirty="0"/>
          </a:p>
          <a:p>
            <a:pPr lvl="2"/>
            <a:r>
              <a:rPr lang="en-US" sz="1800" dirty="0" err="1"/>
              <a:t>DataFrame-objecten</a:t>
            </a:r>
            <a:r>
              <a:rPr lang="en-US" sz="1800" dirty="0"/>
              <a:t> om </a:t>
            </a:r>
            <a:r>
              <a:rPr lang="en-US" sz="1800" dirty="0" err="1"/>
              <a:t>tabulaire</a:t>
            </a:r>
            <a:r>
              <a:rPr lang="en-US" sz="1800" dirty="0"/>
              <a:t> data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verwerken</a:t>
            </a:r>
            <a:endParaRPr lang="en-US" sz="1800" dirty="0"/>
          </a:p>
          <a:p>
            <a:pPr lvl="1"/>
            <a:endParaRPr lang="nl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927FC-D96A-E1A8-B8E0-8CF6F4F3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EC0BFC-F82A-D7D4-F109-C25E5297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Waarom</a:t>
            </a:r>
            <a:r>
              <a:rPr lang="en-US" dirty="0"/>
              <a:t> </a:t>
            </a:r>
            <a:r>
              <a:rPr lang="en-US" dirty="0" err="1"/>
              <a:t>nuttig</a:t>
            </a:r>
            <a:r>
              <a:rPr lang="en-US" dirty="0"/>
              <a:t>?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3054898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52DDA9-5069-4CE9-1F11-8C846B740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class Teller: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    def __init__(self):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        self.n = 0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a = Teller()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b = a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b.n = 5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print(a.n, b.n, a is b)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400" dirty="0"/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Voorspel eerst (30 s) </a:t>
            </a:r>
          </a:p>
          <a:p>
            <a:pPr marL="342900" indent="-342900">
              <a:spcBef>
                <a:spcPts val="600"/>
              </a:spcBef>
              <a:buAutoNum type="arabicPeriod"/>
            </a:pPr>
            <a:r>
              <a:rPr lang="nl-NL" sz="1800" b="1" dirty="0">
                <a:solidFill>
                  <a:srgbClr val="1D8DB0"/>
                </a:solidFill>
              </a:rPr>
              <a:t>Dan runnen en verbeteren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557B48-0006-0247-8876-C9109DA2F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77FD8D-F5B4-69EF-D38D-C311C683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1.10: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20840818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42CD8A-6E0C-F745-9F8B-D33FFE88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Modules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940340-484C-924E-B731-FD397CC1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</a:t>
            </a:r>
            <a:r>
              <a:rPr lang="en-US" dirty="0"/>
              <a:t>A</a:t>
            </a:r>
            <a:r>
              <a:rPr lang="en-BE" dirty="0"/>
              <a:t>.14-modules.ipynb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E48-0FD4-1344-BBBB-614F254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1603079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37B03-2BBE-0B43-93FB-1F841863E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Python laat het toe om modules te importeren</a:t>
            </a:r>
          </a:p>
          <a:p>
            <a:r>
              <a:rPr lang="nl-NL" dirty="0"/>
              <a:t>Bijvoorbeeld:</a:t>
            </a:r>
          </a:p>
          <a:p>
            <a:pPr lvl="1"/>
            <a:r>
              <a:rPr lang="nl-NL" sz="2000" dirty="0" err="1"/>
              <a:t>math</a:t>
            </a:r>
            <a:r>
              <a:rPr lang="nl-NL" sz="2000" dirty="0"/>
              <a:t>: ingebouwde module voor wiskundige bewerkingen</a:t>
            </a:r>
          </a:p>
          <a:p>
            <a:pPr lvl="1"/>
            <a:r>
              <a:rPr lang="nl-NL" sz="2000" dirty="0"/>
              <a:t>time: ingebouwde module om met tijd te werken</a:t>
            </a:r>
          </a:p>
          <a:p>
            <a:pPr lvl="1"/>
            <a:r>
              <a:rPr lang="nl-NL" sz="2000" dirty="0" err="1"/>
              <a:t>NumPy</a:t>
            </a:r>
            <a:r>
              <a:rPr lang="nl-NL" sz="2000" dirty="0"/>
              <a:t>: externe module voor wiskundige bewerkingen en matrix rekenen</a:t>
            </a:r>
          </a:p>
          <a:p>
            <a:pPr lvl="1"/>
            <a:r>
              <a:rPr lang="nl-NL" sz="2000" dirty="0" err="1"/>
              <a:t>scikit-learn</a:t>
            </a:r>
            <a:r>
              <a:rPr lang="nl-NL" sz="2000" dirty="0"/>
              <a:t>: externe module voor data analyse</a:t>
            </a:r>
          </a:p>
          <a:p>
            <a:pPr lvl="1"/>
            <a:r>
              <a:rPr lang="nl-NL" sz="2000" dirty="0" err="1"/>
              <a:t>Pandas</a:t>
            </a:r>
            <a:r>
              <a:rPr lang="nl-NL" sz="2000" dirty="0"/>
              <a:t>: externe module voor dataverwerking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39442-5DA8-D64C-836B-9B1AFD45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134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5B43A-4129-D749-A229-99BC165C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Modules importeren</a:t>
            </a:r>
          </a:p>
        </p:txBody>
      </p:sp>
    </p:spTree>
    <p:extLst>
      <p:ext uri="{BB962C8B-B14F-4D97-AF65-F5344CB8AC3E}">
        <p14:creationId xmlns:p14="http://schemas.microsoft.com/office/powerpoint/2010/main" val="16204695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FFC5-A880-E84A-9CC6-03374D827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 het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dirty="0"/>
              <a:t> </a:t>
            </a:r>
            <a:r>
              <a:rPr lang="nl-NL" dirty="0" err="1"/>
              <a:t>keyword</a:t>
            </a:r>
            <a:r>
              <a:rPr lang="nl-NL" dirty="0"/>
              <a:t> + de naam</a:t>
            </a:r>
          </a:p>
          <a:p>
            <a:r>
              <a:rPr lang="nl-NL" dirty="0"/>
              <a:t>Altijd opletten wat er in de modules zit</a:t>
            </a:r>
          </a:p>
          <a:p>
            <a:r>
              <a:rPr lang="nl-NL" dirty="0"/>
              <a:t>Kan in </a:t>
            </a:r>
            <a:r>
              <a:rPr lang="nl-NL" dirty="0" err="1"/>
              <a:t>PyCharm</a:t>
            </a:r>
            <a:r>
              <a:rPr lang="nl-NL" dirty="0"/>
              <a:t>/</a:t>
            </a:r>
            <a:r>
              <a:rPr lang="nl-NL" dirty="0" err="1"/>
              <a:t>Spyder</a:t>
            </a:r>
            <a:r>
              <a:rPr lang="nl-NL" dirty="0"/>
              <a:t>/VSC door te </a:t>
            </a:r>
            <a:r>
              <a:rPr lang="nl-NL" dirty="0" err="1"/>
              <a:t>hoveren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E66D2-6A5F-B147-91A1-1B784E3F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135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A4EA6-0193-0346-B7B9-7E681C4F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186C9-2FC4-6D41-8157-3F826472BC91}"/>
              </a:ext>
            </a:extLst>
          </p:cNvPr>
          <p:cNvSpPr/>
          <p:nvPr/>
        </p:nvSpPr>
        <p:spPr>
          <a:xfrm>
            <a:off x="1875962" y="3630546"/>
            <a:ext cx="2055445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import </a:t>
            </a:r>
            <a:r>
              <a:rPr lang="en-GB" sz="1600" dirty="0"/>
              <a:t>math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CC7832"/>
                </a:solidFill>
              </a:rPr>
              <a:t>for </a:t>
            </a:r>
            <a:r>
              <a:rPr lang="en-GB" sz="1600" dirty="0"/>
              <a:t>m </a:t>
            </a:r>
            <a:r>
              <a:rPr lang="en-GB" sz="1600" dirty="0">
                <a:solidFill>
                  <a:srgbClr val="CC7832"/>
                </a:solidFill>
              </a:rPr>
              <a:t>in </a:t>
            </a:r>
            <a:r>
              <a:rPr lang="en-GB" sz="1600" dirty="0" err="1">
                <a:solidFill>
                  <a:srgbClr val="8888C6"/>
                </a:solidFill>
              </a:rPr>
              <a:t>dir</a:t>
            </a:r>
            <a:r>
              <a:rPr lang="en-GB" sz="1600" dirty="0"/>
              <a:t>(math):</a:t>
            </a:r>
            <a:br>
              <a:rPr lang="en-GB" sz="1600" dirty="0"/>
            </a:br>
            <a:r>
              <a:rPr lang="en-GB" sz="1600" dirty="0"/>
              <a:t>    </a:t>
            </a: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(m)</a:t>
            </a:r>
            <a:endParaRPr lang="nl-N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A161F3-BDAF-A241-9D91-F75282B10706}"/>
              </a:ext>
            </a:extLst>
          </p:cNvPr>
          <p:cNvSpPr/>
          <p:nvPr/>
        </p:nvSpPr>
        <p:spPr>
          <a:xfrm>
            <a:off x="7573107" y="365125"/>
            <a:ext cx="2743201" cy="567847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numCol="3">
            <a:spAutoFit/>
          </a:bodyPr>
          <a:lstStyle/>
          <a:p>
            <a:r>
              <a:rPr lang="nl-NL" sz="1100" dirty="0"/>
              <a:t>__</a:t>
            </a:r>
            <a:r>
              <a:rPr lang="nl-NL" sz="1100" dirty="0" err="1"/>
              <a:t>doc</a:t>
            </a:r>
            <a:r>
              <a:rPr lang="nl-NL" sz="1100" dirty="0"/>
              <a:t>__</a:t>
            </a:r>
          </a:p>
          <a:p>
            <a:r>
              <a:rPr lang="nl-NL" sz="1100" dirty="0"/>
              <a:t>__file__</a:t>
            </a:r>
          </a:p>
          <a:p>
            <a:r>
              <a:rPr lang="nl-NL" sz="1100" dirty="0"/>
              <a:t>__</a:t>
            </a:r>
            <a:r>
              <a:rPr lang="nl-NL" sz="1100" dirty="0" err="1"/>
              <a:t>loader</a:t>
            </a:r>
            <a:r>
              <a:rPr lang="nl-NL" sz="1100" dirty="0"/>
              <a:t>__</a:t>
            </a:r>
          </a:p>
          <a:p>
            <a:r>
              <a:rPr lang="nl-NL" sz="1100" dirty="0"/>
              <a:t>__name__</a:t>
            </a:r>
          </a:p>
          <a:p>
            <a:r>
              <a:rPr lang="nl-NL" sz="1100" dirty="0"/>
              <a:t>__package__</a:t>
            </a:r>
          </a:p>
          <a:p>
            <a:r>
              <a:rPr lang="nl-NL" sz="1100" dirty="0"/>
              <a:t>__</a:t>
            </a:r>
            <a:r>
              <a:rPr lang="nl-NL" sz="1100" dirty="0" err="1"/>
              <a:t>spec</a:t>
            </a:r>
            <a:r>
              <a:rPr lang="nl-NL" sz="1100" dirty="0"/>
              <a:t>__</a:t>
            </a:r>
          </a:p>
          <a:p>
            <a:r>
              <a:rPr lang="nl-NL" sz="1100" dirty="0" err="1"/>
              <a:t>acos</a:t>
            </a:r>
            <a:endParaRPr lang="nl-NL" sz="1100" dirty="0"/>
          </a:p>
          <a:p>
            <a:r>
              <a:rPr lang="nl-NL" sz="1100" dirty="0" err="1"/>
              <a:t>acosh</a:t>
            </a:r>
            <a:endParaRPr lang="nl-NL" sz="1100" dirty="0"/>
          </a:p>
          <a:p>
            <a:r>
              <a:rPr lang="nl-NL" sz="1100" dirty="0"/>
              <a:t>asin</a:t>
            </a:r>
          </a:p>
          <a:p>
            <a:r>
              <a:rPr lang="nl-NL" sz="1100" dirty="0"/>
              <a:t>…</a:t>
            </a:r>
          </a:p>
          <a:p>
            <a:r>
              <a:rPr lang="nl-NL" sz="1100" dirty="0" err="1"/>
              <a:t>degrees</a:t>
            </a:r>
            <a:endParaRPr lang="nl-NL" sz="1100" dirty="0"/>
          </a:p>
          <a:p>
            <a:r>
              <a:rPr lang="nl-NL" sz="1100" dirty="0"/>
              <a:t>dist</a:t>
            </a:r>
          </a:p>
          <a:p>
            <a:r>
              <a:rPr lang="nl-NL" sz="1100" dirty="0">
                <a:solidFill>
                  <a:srgbClr val="00B050"/>
                </a:solidFill>
              </a:rPr>
              <a:t>e</a:t>
            </a:r>
          </a:p>
          <a:p>
            <a:r>
              <a:rPr lang="nl-NL" sz="1100" dirty="0"/>
              <a:t>erf</a:t>
            </a:r>
          </a:p>
          <a:p>
            <a:r>
              <a:rPr lang="nl-NL" sz="1100" dirty="0" err="1"/>
              <a:t>erfc</a:t>
            </a:r>
            <a:endParaRPr lang="nl-NL" sz="1100" dirty="0"/>
          </a:p>
          <a:p>
            <a:r>
              <a:rPr lang="nl-NL" sz="1100" dirty="0" err="1"/>
              <a:t>exp</a:t>
            </a:r>
            <a:endParaRPr lang="nl-NL" sz="1100" dirty="0"/>
          </a:p>
          <a:p>
            <a:r>
              <a:rPr lang="nl-NL" sz="1100" dirty="0"/>
              <a:t>expm1</a:t>
            </a:r>
          </a:p>
          <a:p>
            <a:r>
              <a:rPr lang="nl-NL" sz="1100" dirty="0" err="1"/>
              <a:t>fabs</a:t>
            </a:r>
            <a:endParaRPr lang="nl-NL" sz="1100" dirty="0"/>
          </a:p>
          <a:p>
            <a:r>
              <a:rPr lang="nl-NL" sz="1100" dirty="0"/>
              <a:t>factorial</a:t>
            </a:r>
          </a:p>
          <a:p>
            <a:r>
              <a:rPr lang="nl-NL" sz="1100" dirty="0"/>
              <a:t>floor</a:t>
            </a:r>
          </a:p>
          <a:p>
            <a:r>
              <a:rPr lang="nl-NL" sz="1100" dirty="0"/>
              <a:t>…</a:t>
            </a:r>
          </a:p>
          <a:p>
            <a:r>
              <a:rPr lang="nl-NL" sz="1100" dirty="0">
                <a:solidFill>
                  <a:schemeClr val="accent5">
                    <a:lumMod val="75000"/>
                  </a:schemeClr>
                </a:solidFill>
              </a:rPr>
              <a:t>log</a:t>
            </a:r>
          </a:p>
          <a:p>
            <a:r>
              <a:rPr lang="nl-NL" sz="1100" dirty="0"/>
              <a:t>log10</a:t>
            </a:r>
          </a:p>
          <a:p>
            <a:r>
              <a:rPr lang="nl-NL" sz="1100" dirty="0"/>
              <a:t>…</a:t>
            </a:r>
          </a:p>
          <a:p>
            <a:r>
              <a:rPr lang="nl-NL" sz="1100" dirty="0" err="1"/>
              <a:t>nan</a:t>
            </a:r>
            <a:endParaRPr lang="nl-NL" sz="1100" dirty="0"/>
          </a:p>
          <a:p>
            <a:r>
              <a:rPr lang="nl-NL" sz="1100" dirty="0"/>
              <a:t>perm</a:t>
            </a:r>
          </a:p>
          <a:p>
            <a:r>
              <a:rPr lang="nl-NL" sz="1100" dirty="0">
                <a:solidFill>
                  <a:srgbClr val="00B050"/>
                </a:solidFill>
              </a:rPr>
              <a:t>pi</a:t>
            </a:r>
          </a:p>
          <a:p>
            <a:r>
              <a:rPr lang="nl-NL" sz="1100" dirty="0" err="1"/>
              <a:t>pow</a:t>
            </a:r>
            <a:endParaRPr lang="nl-NL" sz="1100" dirty="0"/>
          </a:p>
          <a:p>
            <a:r>
              <a:rPr lang="nl-NL" sz="1100" dirty="0" err="1"/>
              <a:t>prod</a:t>
            </a:r>
            <a:endParaRPr lang="nl-NL" sz="1100" dirty="0"/>
          </a:p>
          <a:p>
            <a:r>
              <a:rPr lang="nl-NL" sz="1100" dirty="0"/>
              <a:t>…</a:t>
            </a:r>
          </a:p>
          <a:p>
            <a:r>
              <a:rPr lang="nl-NL" sz="1100" dirty="0" err="1">
                <a:solidFill>
                  <a:schemeClr val="accent5">
                    <a:lumMod val="75000"/>
                  </a:schemeClr>
                </a:solidFill>
              </a:rPr>
              <a:t>tanh</a:t>
            </a:r>
            <a:endParaRPr lang="nl-NL" sz="11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nl-NL" sz="1100" dirty="0" err="1"/>
              <a:t>tau</a:t>
            </a:r>
            <a:endParaRPr lang="nl-NL" sz="1100" dirty="0"/>
          </a:p>
          <a:p>
            <a:r>
              <a:rPr lang="nl-NL" sz="1100" dirty="0" err="1">
                <a:solidFill>
                  <a:schemeClr val="accent5">
                    <a:lumMod val="75000"/>
                  </a:schemeClr>
                </a:solidFill>
              </a:rPr>
              <a:t>trunc</a:t>
            </a:r>
            <a:endParaRPr lang="nl-NL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1811C2-109E-7F4C-A138-9F094B680FE6}"/>
              </a:ext>
            </a:extLst>
          </p:cNvPr>
          <p:cNvCxnSpPr>
            <a:cxnSpLocks/>
          </p:cNvCxnSpPr>
          <p:nvPr/>
        </p:nvCxnSpPr>
        <p:spPr>
          <a:xfrm flipH="1">
            <a:off x="7049477" y="4049486"/>
            <a:ext cx="523630" cy="335612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67C2C2-8A69-8544-BA51-891B06777DAE}"/>
              </a:ext>
            </a:extLst>
          </p:cNvPr>
          <p:cNvCxnSpPr>
            <a:cxnSpLocks/>
          </p:cNvCxnSpPr>
          <p:nvPr/>
        </p:nvCxnSpPr>
        <p:spPr>
          <a:xfrm flipH="1" flipV="1">
            <a:off x="7049477" y="4542841"/>
            <a:ext cx="587940" cy="94885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7B1164-6AC8-ED48-9483-572114D01814}"/>
              </a:ext>
            </a:extLst>
          </p:cNvPr>
          <p:cNvCxnSpPr>
            <a:cxnSpLocks/>
          </p:cNvCxnSpPr>
          <p:nvPr/>
        </p:nvCxnSpPr>
        <p:spPr>
          <a:xfrm flipH="1" flipV="1">
            <a:off x="7033846" y="4759569"/>
            <a:ext cx="523630" cy="116094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FDE812-FF71-2D43-AC9B-A333DDC25319}"/>
              </a:ext>
            </a:extLst>
          </p:cNvPr>
          <p:cNvCxnSpPr>
            <a:cxnSpLocks/>
          </p:cNvCxnSpPr>
          <p:nvPr/>
        </p:nvCxnSpPr>
        <p:spPr>
          <a:xfrm>
            <a:off x="8004907" y="4910204"/>
            <a:ext cx="1830754" cy="7632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C7D7B4-5EEF-6E45-8ADF-8A4C367C4239}"/>
              </a:ext>
            </a:extLst>
          </p:cNvPr>
          <p:cNvCxnSpPr>
            <a:cxnSpLocks/>
          </p:cNvCxnSpPr>
          <p:nvPr/>
        </p:nvCxnSpPr>
        <p:spPr>
          <a:xfrm>
            <a:off x="7863840" y="2525486"/>
            <a:ext cx="1803791" cy="238471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89FCBB-65B9-3D40-85FD-AB61C6FDE199}"/>
              </a:ext>
            </a:extLst>
          </p:cNvPr>
          <p:cNvSpPr txBox="1"/>
          <p:nvPr/>
        </p:nvSpPr>
        <p:spPr>
          <a:xfrm>
            <a:off x="5987393" y="4385098"/>
            <a:ext cx="1046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5">
                    <a:lumMod val="75000"/>
                  </a:schemeClr>
                </a:solidFill>
              </a:rPr>
              <a:t>functies</a:t>
            </a:r>
            <a:endParaRPr lang="en-BE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B4D80E-7C67-7A44-A991-9B5FD12341AC}"/>
              </a:ext>
            </a:extLst>
          </p:cNvPr>
          <p:cNvSpPr txBox="1"/>
          <p:nvPr/>
        </p:nvSpPr>
        <p:spPr>
          <a:xfrm>
            <a:off x="10013294" y="4752021"/>
            <a:ext cx="1046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rgbClr val="00B050"/>
                </a:solidFill>
              </a:rPr>
              <a:t>getallen</a:t>
            </a:r>
            <a:endParaRPr lang="en-BE" sz="16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AD233-7214-B04A-833E-F0253380A4F7}"/>
              </a:ext>
            </a:extLst>
          </p:cNvPr>
          <p:cNvSpPr txBox="1"/>
          <p:nvPr/>
        </p:nvSpPr>
        <p:spPr>
          <a:xfrm>
            <a:off x="1063073" y="3559837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04F93-6C3E-1D42-8027-1A83FE1C0ED5}"/>
              </a:ext>
            </a:extLst>
          </p:cNvPr>
          <p:cNvSpPr txBox="1"/>
          <p:nvPr/>
        </p:nvSpPr>
        <p:spPr>
          <a:xfrm>
            <a:off x="6609160" y="295711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F4DBF-40AB-7145-B2D9-82DAD67401CF}"/>
              </a:ext>
            </a:extLst>
          </p:cNvPr>
          <p:cNvSpPr/>
          <p:nvPr/>
        </p:nvSpPr>
        <p:spPr>
          <a:xfrm>
            <a:off x="1874903" y="4891681"/>
            <a:ext cx="3384858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'Pi:'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math.pi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cosinus</a:t>
            </a:r>
            <a:r>
              <a:rPr lang="en-GB" sz="1600" dirty="0">
                <a:solidFill>
                  <a:srgbClr val="6A8759"/>
                </a:solidFill>
              </a:rPr>
              <a:t>(10):'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math.cos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10</a:t>
            </a:r>
            <a:r>
              <a:rPr lang="en-GB" sz="1600" dirty="0"/>
              <a:t>))</a:t>
            </a:r>
            <a:endParaRPr lang="nl-NL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071D81-CA00-314C-90B0-BF5A4AAF36C8}"/>
              </a:ext>
            </a:extLst>
          </p:cNvPr>
          <p:cNvSpPr/>
          <p:nvPr/>
        </p:nvSpPr>
        <p:spPr>
          <a:xfrm>
            <a:off x="1874903" y="5609985"/>
            <a:ext cx="356116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nl-NL" sz="1600" dirty="0"/>
              <a:t>Pi: 3.141592653589793</a:t>
            </a:r>
          </a:p>
          <a:p>
            <a:r>
              <a:rPr lang="nl-NL" sz="1600" dirty="0"/>
              <a:t>cosinus(10): -0.8390715290764524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0559E3-6ED7-A74E-B78C-F564238F5495}"/>
              </a:ext>
            </a:extLst>
          </p:cNvPr>
          <p:cNvSpPr txBox="1"/>
          <p:nvPr/>
        </p:nvSpPr>
        <p:spPr>
          <a:xfrm>
            <a:off x="1063073" y="4910365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9A3460-63C3-D146-B1A9-E114064796D2}"/>
              </a:ext>
            </a:extLst>
          </p:cNvPr>
          <p:cNvSpPr txBox="1"/>
          <p:nvPr/>
        </p:nvSpPr>
        <p:spPr>
          <a:xfrm>
            <a:off x="968497" y="562522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BCB8E8-A95A-81C6-FC32-072D4BB8F49A}"/>
              </a:ext>
            </a:extLst>
          </p:cNvPr>
          <p:cNvCxnSpPr>
            <a:cxnSpLocks/>
          </p:cNvCxnSpPr>
          <p:nvPr/>
        </p:nvCxnSpPr>
        <p:spPr>
          <a:xfrm flipV="1">
            <a:off x="4277070" y="3415526"/>
            <a:ext cx="2875927" cy="753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74595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5694-77C0-3147-89D8-8168695D0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Gebruik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dirty="0"/>
              <a:t> gevolgd door de module naam en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dirty="0"/>
              <a:t> om aan te duiden welke onderdelen moeten geïmporteerd worden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E3EFC-9D04-7647-97F9-5477F250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136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D271F-3525-C847-9E17-43A5BDDD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Selectief importeren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CEC04F-9C9C-0643-BD96-38503B4EF299}"/>
              </a:ext>
            </a:extLst>
          </p:cNvPr>
          <p:cNvSpPr/>
          <p:nvPr/>
        </p:nvSpPr>
        <p:spPr>
          <a:xfrm>
            <a:off x="1992923" y="3665083"/>
            <a:ext cx="3391877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from </a:t>
            </a:r>
            <a:r>
              <a:rPr lang="en-GB" sz="1600" dirty="0"/>
              <a:t>math </a:t>
            </a:r>
            <a:r>
              <a:rPr lang="en-GB" sz="1600" dirty="0">
                <a:solidFill>
                  <a:srgbClr val="CC7832"/>
                </a:solidFill>
              </a:rPr>
              <a:t>import </a:t>
            </a:r>
            <a:r>
              <a:rPr lang="en-GB" sz="1600" dirty="0"/>
              <a:t>pi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cos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'Type van pi:'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8888C6"/>
                </a:solidFill>
              </a:rPr>
              <a:t>type</a:t>
            </a:r>
            <a:r>
              <a:rPr lang="en-GB" sz="1600" dirty="0"/>
              <a:t>(pi))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'Type van cos:'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>
                <a:solidFill>
                  <a:srgbClr val="8888C6"/>
                </a:solidFill>
              </a:rPr>
              <a:t>type</a:t>
            </a:r>
            <a:r>
              <a:rPr lang="en-GB" sz="1600" dirty="0"/>
              <a:t>(cos))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Cosinus</a:t>
            </a:r>
            <a:r>
              <a:rPr lang="en-GB" sz="1600" dirty="0">
                <a:solidFill>
                  <a:srgbClr val="6A8759"/>
                </a:solidFill>
              </a:rPr>
              <a:t>(0):'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cos(</a:t>
            </a:r>
            <a:r>
              <a:rPr lang="en-GB" sz="1600" dirty="0">
                <a:solidFill>
                  <a:srgbClr val="6897BB"/>
                </a:solidFill>
              </a:rPr>
              <a:t>0</a:t>
            </a:r>
            <a:r>
              <a:rPr lang="en-GB" sz="1600" dirty="0"/>
              <a:t>))</a:t>
            </a:r>
            <a:endParaRPr lang="nl-N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862C1B-DCEC-3B4E-893C-1CE4FB492C96}"/>
              </a:ext>
            </a:extLst>
          </p:cNvPr>
          <p:cNvSpPr/>
          <p:nvPr/>
        </p:nvSpPr>
        <p:spPr>
          <a:xfrm>
            <a:off x="5815623" y="3665082"/>
            <a:ext cx="5107354" cy="11079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r>
              <a:rPr lang="nl-NL" sz="1600" dirty="0"/>
              <a:t>Type van pi: &lt;class '</a:t>
            </a:r>
            <a:r>
              <a:rPr lang="nl-NL" sz="1600" dirty="0" err="1"/>
              <a:t>float</a:t>
            </a:r>
            <a:r>
              <a:rPr lang="nl-NL" sz="1600" dirty="0"/>
              <a:t>'&gt;</a:t>
            </a:r>
          </a:p>
          <a:p>
            <a:r>
              <a:rPr lang="nl-NL" sz="1600" dirty="0"/>
              <a:t>Type van </a:t>
            </a:r>
            <a:r>
              <a:rPr lang="nl-NL" sz="1600" dirty="0" err="1"/>
              <a:t>cos</a:t>
            </a:r>
            <a:r>
              <a:rPr lang="nl-NL" sz="1600" dirty="0"/>
              <a:t>: &lt;class '</a:t>
            </a:r>
            <a:r>
              <a:rPr lang="nl-NL" sz="1600" dirty="0" err="1"/>
              <a:t>builtin_function_or_method</a:t>
            </a:r>
            <a:r>
              <a:rPr lang="nl-NL" sz="1600" dirty="0"/>
              <a:t>'&gt;</a:t>
            </a:r>
          </a:p>
          <a:p>
            <a:r>
              <a:rPr lang="nl-NL" sz="1600" dirty="0"/>
              <a:t>Cosinus(0):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9F37C-93F4-D74B-9FA4-3E41E82523CA}"/>
              </a:ext>
            </a:extLst>
          </p:cNvPr>
          <p:cNvSpPr txBox="1"/>
          <p:nvPr/>
        </p:nvSpPr>
        <p:spPr>
          <a:xfrm>
            <a:off x="1992923" y="3301029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7E700-B967-314C-B911-4D1259A2048D}"/>
              </a:ext>
            </a:extLst>
          </p:cNvPr>
          <p:cNvSpPr txBox="1"/>
          <p:nvPr/>
        </p:nvSpPr>
        <p:spPr>
          <a:xfrm>
            <a:off x="5815623" y="3301029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17728989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1C5C1-5598-7046-83D8-5E7D68BCA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Handig om berekeningstijd van programma’s te meten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8B087-68CE-6F4C-A117-02E1E282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137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0E53A-BBC7-8645-81A5-E900F6F6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nl-NL" dirty="0"/>
              <a:t> 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49F06-7E67-A245-90EB-8898BA3F9E87}"/>
              </a:ext>
            </a:extLst>
          </p:cNvPr>
          <p:cNvSpPr/>
          <p:nvPr/>
        </p:nvSpPr>
        <p:spPr>
          <a:xfrm>
            <a:off x="838200" y="2920055"/>
            <a:ext cx="5453185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</a:rPr>
              <a:t>import </a:t>
            </a:r>
            <a:r>
              <a:rPr lang="en-GB" sz="1600" dirty="0"/>
              <a:t>time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 err="1"/>
              <a:t>eerder</a:t>
            </a:r>
            <a:r>
              <a:rPr lang="en-GB" sz="1600" dirty="0"/>
              <a:t> = </a:t>
            </a:r>
            <a:r>
              <a:rPr lang="en-GB" sz="1600" dirty="0" err="1"/>
              <a:t>time.time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</a:t>
            </a:r>
            <a:r>
              <a:rPr lang="en-GB" sz="1600" dirty="0" err="1">
                <a:solidFill>
                  <a:srgbClr val="6A8759"/>
                </a:solidFill>
              </a:rPr>
              <a:t>Huidige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tijd</a:t>
            </a:r>
            <a:r>
              <a:rPr lang="en-GB" sz="1600" dirty="0">
                <a:solidFill>
                  <a:srgbClr val="6A8759"/>
                </a:solidFill>
              </a:rPr>
              <a:t> (</a:t>
            </a:r>
            <a:r>
              <a:rPr lang="en-GB" sz="1600" dirty="0" err="1">
                <a:solidFill>
                  <a:srgbClr val="6A8759"/>
                </a:solidFill>
              </a:rPr>
              <a:t>aantal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seconden</a:t>
            </a:r>
            <a:r>
              <a:rPr lang="en-GB" sz="1600" dirty="0">
                <a:solidFill>
                  <a:srgbClr val="6A8759"/>
                </a:solidFill>
              </a:rPr>
              <a:t> </a:t>
            </a:r>
            <a:r>
              <a:rPr lang="en-GB" sz="1600" dirty="0" err="1">
                <a:solidFill>
                  <a:srgbClr val="6A8759"/>
                </a:solidFill>
              </a:rPr>
              <a:t>sinds</a:t>
            </a:r>
            <a:r>
              <a:rPr lang="en-GB" sz="1600" dirty="0">
                <a:solidFill>
                  <a:srgbClr val="6A8759"/>
                </a:solidFill>
              </a:rPr>
              <a:t> 01/01/1970):'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 err="1"/>
              <a:t>eerder</a:t>
            </a:r>
            <a:r>
              <a:rPr lang="en-GB" sz="1600" dirty="0"/>
              <a:t>)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>
                <a:solidFill>
                  <a:srgbClr val="808080"/>
                </a:solidFill>
              </a:rPr>
              <a:t># </a:t>
            </a:r>
            <a:r>
              <a:rPr lang="en-GB" sz="1600" dirty="0" err="1">
                <a:solidFill>
                  <a:srgbClr val="808080"/>
                </a:solidFill>
              </a:rPr>
              <a:t>pauseer</a:t>
            </a:r>
            <a:r>
              <a:rPr lang="en-GB" sz="1600" dirty="0">
                <a:solidFill>
                  <a:srgbClr val="808080"/>
                </a:solidFill>
              </a:rPr>
              <a:t> het </a:t>
            </a:r>
            <a:r>
              <a:rPr lang="en-GB" sz="1600" dirty="0" err="1">
                <a:solidFill>
                  <a:srgbClr val="808080"/>
                </a:solidFill>
              </a:rPr>
              <a:t>programma</a:t>
            </a:r>
            <a:r>
              <a:rPr lang="en-GB" sz="1600" dirty="0">
                <a:solidFill>
                  <a:srgbClr val="808080"/>
                </a:solidFill>
              </a:rPr>
              <a:t> 1 </a:t>
            </a:r>
            <a:r>
              <a:rPr lang="en-GB" sz="1600" dirty="0" err="1">
                <a:solidFill>
                  <a:srgbClr val="808080"/>
                </a:solidFill>
              </a:rPr>
              <a:t>seconde</a:t>
            </a:r>
            <a:br>
              <a:rPr lang="en-GB" sz="1600" dirty="0">
                <a:solidFill>
                  <a:srgbClr val="808080"/>
                </a:solidFill>
              </a:rPr>
            </a:br>
            <a:r>
              <a:rPr lang="en-GB" sz="1600" dirty="0" err="1"/>
              <a:t>time.sleep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897BB"/>
                </a:solidFill>
              </a:rPr>
              <a:t>1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later = </a:t>
            </a:r>
            <a:r>
              <a:rPr lang="en-GB" sz="1600" dirty="0" err="1"/>
              <a:t>time.time</a:t>
            </a:r>
            <a:r>
              <a:rPr lang="en-GB" sz="1600" dirty="0"/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8888C6"/>
                </a:solidFill>
              </a:rPr>
              <a:t>print</a:t>
            </a:r>
            <a:r>
              <a:rPr lang="en-GB" sz="1600" dirty="0"/>
              <a:t>(</a:t>
            </a:r>
            <a:r>
              <a:rPr lang="en-GB" sz="1600" dirty="0">
                <a:solidFill>
                  <a:srgbClr val="6A8759"/>
                </a:solidFill>
              </a:rPr>
              <a:t>'Duur van </a:t>
            </a:r>
            <a:r>
              <a:rPr lang="en-GB" sz="1600" dirty="0" err="1">
                <a:solidFill>
                  <a:srgbClr val="6A8759"/>
                </a:solidFill>
              </a:rPr>
              <a:t>uitvoeren</a:t>
            </a:r>
            <a:r>
              <a:rPr lang="en-GB" sz="1600" dirty="0">
                <a:solidFill>
                  <a:srgbClr val="6A8759"/>
                </a:solidFill>
              </a:rPr>
              <a:t> (s):'</a:t>
            </a:r>
            <a:r>
              <a:rPr lang="en-GB" sz="1600" dirty="0">
                <a:solidFill>
                  <a:srgbClr val="CC7832"/>
                </a:solidFill>
              </a:rPr>
              <a:t>, </a:t>
            </a:r>
            <a:r>
              <a:rPr lang="en-GB" sz="1600" dirty="0"/>
              <a:t>later - </a:t>
            </a:r>
            <a:r>
              <a:rPr lang="en-GB" sz="1600" dirty="0" err="1"/>
              <a:t>eerder</a:t>
            </a:r>
            <a:r>
              <a:rPr lang="en-GB" sz="1600" dirty="0"/>
              <a:t>)</a:t>
            </a:r>
            <a:endParaRPr lang="nl-N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4C7787-EB3D-3743-927B-CC541F8108E9}"/>
              </a:ext>
            </a:extLst>
          </p:cNvPr>
          <p:cNvSpPr/>
          <p:nvPr/>
        </p:nvSpPr>
        <p:spPr>
          <a:xfrm>
            <a:off x="6501912" y="2920055"/>
            <a:ext cx="4641361" cy="25545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Huidige tijd (aantal seconden sinds 01/01/1970): 1630397354.556272</a:t>
            </a:r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Duur van uitvoeren (s): 1.0047059059143066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0B16F-FBD1-A446-9146-EB8E4CDA5426}"/>
              </a:ext>
            </a:extLst>
          </p:cNvPr>
          <p:cNvSpPr txBox="1"/>
          <p:nvPr/>
        </p:nvSpPr>
        <p:spPr>
          <a:xfrm>
            <a:off x="6501912" y="2550723"/>
            <a:ext cx="731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6F282-6577-6648-AE96-A1DDD064587B}"/>
              </a:ext>
            </a:extLst>
          </p:cNvPr>
          <p:cNvSpPr txBox="1"/>
          <p:nvPr/>
        </p:nvSpPr>
        <p:spPr>
          <a:xfrm>
            <a:off x="838200" y="2550723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93983945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5E3A2-2FFC-9E4B-9821-BF887CF51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Onderdelen van modules kunnen een andere naam gegeven worden</a:t>
            </a:r>
          </a:p>
          <a:p>
            <a:r>
              <a:rPr lang="nl-NL" dirty="0"/>
              <a:t>Opletten: functies blijven functies!</a:t>
            </a:r>
          </a:p>
          <a:p>
            <a:r>
              <a:rPr lang="nl-NL" dirty="0"/>
              <a:t>In data </a:t>
            </a:r>
            <a:r>
              <a:rPr lang="nl-NL" dirty="0" err="1"/>
              <a:t>science</a:t>
            </a:r>
            <a:r>
              <a:rPr lang="nl-NL" dirty="0"/>
              <a:t> bv.:</a:t>
            </a:r>
          </a:p>
          <a:p>
            <a:pPr lvl="1"/>
            <a:r>
              <a:rPr lang="nl-NL" sz="2000" dirty="0" err="1"/>
              <a:t>NumPy</a:t>
            </a:r>
            <a:r>
              <a:rPr lang="nl-NL" sz="2000" dirty="0"/>
              <a:t> =&gt; </a:t>
            </a:r>
            <a:r>
              <a:rPr lang="nl-NL" sz="2000" dirty="0" err="1"/>
              <a:t>np</a:t>
            </a:r>
            <a:endParaRPr lang="nl-NL" sz="2000" dirty="0"/>
          </a:p>
          <a:p>
            <a:pPr lvl="1"/>
            <a:r>
              <a:rPr lang="nl-NL" sz="2000" dirty="0" err="1"/>
              <a:t>Pandas</a:t>
            </a:r>
            <a:r>
              <a:rPr lang="nl-NL" sz="2000" dirty="0"/>
              <a:t> =&gt; </a:t>
            </a:r>
            <a:r>
              <a:rPr lang="nl-NL" sz="2000" dirty="0" err="1"/>
              <a:t>pd</a:t>
            </a:r>
            <a:endParaRPr lang="nl-NL" sz="2000" dirty="0"/>
          </a:p>
          <a:p>
            <a:pPr lvl="1"/>
            <a:r>
              <a:rPr lang="nl-NL" sz="2000" dirty="0" err="1"/>
              <a:t>TensorFlow</a:t>
            </a:r>
            <a:r>
              <a:rPr lang="nl-NL" sz="2000" dirty="0"/>
              <a:t> =&gt; </a:t>
            </a:r>
            <a:r>
              <a:rPr lang="nl-NL" sz="2000" dirty="0" err="1"/>
              <a:t>tf</a:t>
            </a:r>
            <a:endParaRPr lang="nl-NL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18FEA-9F5C-2147-A3FD-292D94E3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138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95E5C-4EA6-FC46-96F3-C7BED18F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Alias</a:t>
            </a:r>
          </a:p>
        </p:txBody>
      </p:sp>
      <p:pic>
        <p:nvPicPr>
          <p:cNvPr id="1026" name="Picture 2" descr="r/ProgrammerHumor - ME: import tensorflow as plt import pandas as np import numpy as tf import as pd Satan: Well, I just wanna say that I'm a huge fan">
            <a:extLst>
              <a:ext uri="{FF2B5EF4-FFF2-40B4-BE49-F238E27FC236}">
                <a16:creationId xmlns:a16="http://schemas.microsoft.com/office/drawing/2014/main" id="{9660A1EE-D4A5-EC2D-6FD6-742EB782B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925"/>
          <a:stretch/>
        </p:blipFill>
        <p:spPr bwMode="auto">
          <a:xfrm>
            <a:off x="7764379" y="2245909"/>
            <a:ext cx="3612281" cy="359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08159-11A5-818B-3E8E-0C1E853F09EA}"/>
              </a:ext>
            </a:extLst>
          </p:cNvPr>
          <p:cNvSpPr txBox="1"/>
          <p:nvPr/>
        </p:nvSpPr>
        <p:spPr>
          <a:xfrm>
            <a:off x="1131722" y="6416964"/>
            <a:ext cx="7723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https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://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www.reddit.com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/r/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ProgrammerHumor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comments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/o3zjp4/</a:t>
            </a:r>
            <a:r>
              <a:rPr lang="nl-NL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thats_the_evilest_thing_i_can_imagine</a:t>
            </a:r>
            <a:r>
              <a:rPr lang="nl-NL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9224338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5AB42-0896-5548-8A20-C0E49D93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139</a:t>
            </a:fld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79634-FB21-914A-9BA9-F9BE3C87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Module alias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B4D3CB-C495-6A4B-A78A-60B3E039D155}"/>
              </a:ext>
            </a:extLst>
          </p:cNvPr>
          <p:cNvSpPr/>
          <p:nvPr/>
        </p:nvSpPr>
        <p:spPr>
          <a:xfrm>
            <a:off x="838200" y="2321004"/>
            <a:ext cx="6096000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CC7832"/>
                </a:solidFill>
              </a:rPr>
              <a:t>import </a:t>
            </a:r>
            <a:r>
              <a:rPr lang="en-GB" dirty="0" err="1"/>
              <a:t>numpy</a:t>
            </a:r>
            <a:r>
              <a:rPr lang="en-GB" dirty="0"/>
              <a:t> </a:t>
            </a:r>
            <a:r>
              <a:rPr lang="en-GB" dirty="0">
                <a:solidFill>
                  <a:srgbClr val="CC7832"/>
                </a:solidFill>
              </a:rPr>
              <a:t>as </a:t>
            </a:r>
            <a:r>
              <a:rPr lang="en-GB" dirty="0"/>
              <a:t>np</a:t>
            </a:r>
            <a:br>
              <a:rPr lang="en-GB" dirty="0"/>
            </a:br>
            <a:br>
              <a:rPr lang="en-GB" dirty="0"/>
            </a:br>
            <a:r>
              <a:rPr lang="en-GB" dirty="0"/>
              <a:t>gem = </a:t>
            </a:r>
            <a:r>
              <a:rPr lang="en-GB" dirty="0" err="1"/>
              <a:t>np.mean</a:t>
            </a:r>
            <a:r>
              <a:rPr lang="en-GB" dirty="0"/>
              <a:t>([</a:t>
            </a:r>
            <a:r>
              <a:rPr lang="en-GB" dirty="0">
                <a:solidFill>
                  <a:srgbClr val="6897BB"/>
                </a:solidFill>
              </a:rPr>
              <a:t>1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2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/>
              <a:t>])</a:t>
            </a:r>
            <a:br>
              <a:rPr lang="en-GB" dirty="0"/>
            </a:br>
            <a:r>
              <a:rPr lang="en-GB" dirty="0"/>
              <a:t>pi = </a:t>
            </a:r>
            <a:r>
              <a:rPr lang="en-GB" dirty="0" err="1"/>
              <a:t>np.pi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round</a:t>
            </a:r>
            <a:r>
              <a:rPr lang="en-GB" dirty="0"/>
              <a:t>(gem * pi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3</a:t>
            </a:r>
            <a:r>
              <a:rPr lang="en-GB" dirty="0"/>
              <a:t>))</a:t>
            </a:r>
            <a:br>
              <a:rPr lang="en-GB" dirty="0"/>
            </a:br>
            <a:endParaRPr lang="en-GB" dirty="0"/>
          </a:p>
          <a:p>
            <a:br>
              <a:rPr lang="en-GB" dirty="0"/>
            </a:br>
            <a:r>
              <a:rPr lang="en-GB" dirty="0">
                <a:solidFill>
                  <a:srgbClr val="CC7832"/>
                </a:solidFill>
              </a:rPr>
              <a:t>from </a:t>
            </a:r>
            <a:r>
              <a:rPr lang="en-GB" dirty="0" err="1"/>
              <a:t>numpy</a:t>
            </a:r>
            <a:r>
              <a:rPr lang="en-GB" dirty="0"/>
              <a:t> </a:t>
            </a:r>
            <a:r>
              <a:rPr lang="en-GB" dirty="0">
                <a:solidFill>
                  <a:srgbClr val="CC7832"/>
                </a:solidFill>
              </a:rPr>
              <a:t>import </a:t>
            </a:r>
            <a:r>
              <a:rPr lang="en-GB" dirty="0"/>
              <a:t>mean </a:t>
            </a:r>
            <a:r>
              <a:rPr lang="en-GB" dirty="0">
                <a:solidFill>
                  <a:srgbClr val="CC7832"/>
                </a:solidFill>
              </a:rPr>
              <a:t>as </a:t>
            </a:r>
            <a:r>
              <a:rPr lang="en-GB" dirty="0" err="1"/>
              <a:t>gemiddelde</a:t>
            </a:r>
            <a:br>
              <a:rPr lang="en-GB" dirty="0"/>
            </a:b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8888C6"/>
                </a:solidFill>
              </a:rPr>
              <a:t>type</a:t>
            </a:r>
            <a:r>
              <a:rPr lang="en-GB" dirty="0"/>
              <a:t>(</a:t>
            </a:r>
            <a:r>
              <a:rPr lang="en-GB" dirty="0" err="1"/>
              <a:t>gemiddelde</a:t>
            </a:r>
            <a:r>
              <a:rPr lang="en-GB" dirty="0"/>
              <a:t>))</a:t>
            </a:r>
            <a:br>
              <a:rPr lang="en-GB" dirty="0"/>
            </a:br>
            <a:r>
              <a:rPr lang="en-GB" dirty="0">
                <a:solidFill>
                  <a:srgbClr val="8888C6"/>
                </a:solidFill>
              </a:rPr>
              <a:t>print</a:t>
            </a:r>
            <a:r>
              <a:rPr lang="en-GB" dirty="0"/>
              <a:t>(</a:t>
            </a:r>
            <a:r>
              <a:rPr lang="en-GB" dirty="0">
                <a:solidFill>
                  <a:srgbClr val="6A8759"/>
                </a:solidFill>
              </a:rPr>
              <a:t>'</a:t>
            </a:r>
            <a:r>
              <a:rPr lang="en-GB" dirty="0" err="1">
                <a:solidFill>
                  <a:srgbClr val="6A8759"/>
                </a:solidFill>
              </a:rPr>
              <a:t>Gemiddelde</a:t>
            </a:r>
            <a:r>
              <a:rPr lang="en-GB" dirty="0">
                <a:solidFill>
                  <a:srgbClr val="6A8759"/>
                </a:solidFill>
              </a:rPr>
              <a:t> van:'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 err="1"/>
              <a:t>gemiddelde</a:t>
            </a:r>
            <a:r>
              <a:rPr lang="en-GB" dirty="0"/>
              <a:t>([</a:t>
            </a:r>
            <a:r>
              <a:rPr lang="en-GB" dirty="0">
                <a:solidFill>
                  <a:srgbClr val="6897BB"/>
                </a:solidFill>
              </a:rPr>
              <a:t>10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12</a:t>
            </a:r>
            <a:r>
              <a:rPr lang="en-GB" dirty="0">
                <a:solidFill>
                  <a:srgbClr val="CC7832"/>
                </a:solidFill>
              </a:rPr>
              <a:t>, </a:t>
            </a:r>
            <a:r>
              <a:rPr lang="en-GB" dirty="0">
                <a:solidFill>
                  <a:srgbClr val="6897BB"/>
                </a:solidFill>
              </a:rPr>
              <a:t>14</a:t>
            </a:r>
            <a:r>
              <a:rPr lang="en-GB" dirty="0"/>
              <a:t>]))</a:t>
            </a:r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B6578-F67B-A147-83ED-6C05FFFAF4C1}"/>
              </a:ext>
            </a:extLst>
          </p:cNvPr>
          <p:cNvSpPr/>
          <p:nvPr/>
        </p:nvSpPr>
        <p:spPr>
          <a:xfrm>
            <a:off x="7270262" y="2321004"/>
            <a:ext cx="2422769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6.283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&lt;class '</a:t>
            </a:r>
            <a:r>
              <a:rPr lang="nl-NL" dirty="0" err="1"/>
              <a:t>function</a:t>
            </a:r>
            <a:r>
              <a:rPr lang="nl-NL" dirty="0"/>
              <a:t>'&gt;</a:t>
            </a:r>
          </a:p>
          <a:p>
            <a:r>
              <a:rPr lang="nl-NL" dirty="0"/>
              <a:t>Gemiddelde van: 12.0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BB287-23A2-0E44-8913-3DF8D74A5E67}"/>
              </a:ext>
            </a:extLst>
          </p:cNvPr>
          <p:cNvSpPr txBox="1"/>
          <p:nvPr/>
        </p:nvSpPr>
        <p:spPr>
          <a:xfrm>
            <a:off x="7270262" y="1951672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Code: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D83B5-C06B-1040-B90B-FC98BAE9A940}"/>
              </a:ext>
            </a:extLst>
          </p:cNvPr>
          <p:cNvSpPr txBox="1"/>
          <p:nvPr/>
        </p:nvSpPr>
        <p:spPr>
          <a:xfrm>
            <a:off x="838200" y="195167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50808003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611B75-54F8-0F9D-F014-D09A9D292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import math as m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print(m.sqrt(16))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m = 10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print(m.sqrt(4))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from math import ceil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print(ceil(3.2), floor(3.7))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spcBef>
                <a:spcPts val="600"/>
              </a:spcBef>
              <a:buNone/>
            </a:pPr>
            <a:r>
              <a:rPr lang="nl-NL" sz="1800" b="1" dirty="0">
                <a:solidFill>
                  <a:srgbClr val="1D8DB0"/>
                </a:solidFill>
              </a:rPr>
              <a:t>Welke 2 regels in de notebook crashen — en met welke fout?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B4EFAA-0583-C85D-0602-3B85BBF4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5594F0-6978-BB60-95BB-471DBE75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1.11: voorspel de output</a:t>
            </a:r>
          </a:p>
        </p:txBody>
      </p:sp>
    </p:spTree>
    <p:extLst>
      <p:ext uri="{BB962C8B-B14F-4D97-AF65-F5344CB8AC3E}">
        <p14:creationId xmlns:p14="http://schemas.microsoft.com/office/powerpoint/2010/main" val="118030116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0DDB50-4F7D-C846-B331-5EDF14C9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12. Fouten en debuggen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C0101-4520-174C-BBEF-FB24A7E73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E" dirty="0"/>
              <a:t>1A.15-fouten_debuggen.ipynb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C8D9E-3BB6-6245-BCD5-2197C4D6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3084564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C1B1-D834-16BC-223F-B0311050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142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078EC5-6FF6-7F4A-C575-F4A8080D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</p:txBody>
      </p:sp>
      <p:pic>
        <p:nvPicPr>
          <p:cNvPr id="1026" name="Picture 2" descr="Understanding Errors and Exceptions in Python - Himani | Jovian">
            <a:extLst>
              <a:ext uri="{FF2B5EF4-FFF2-40B4-BE49-F238E27FC236}">
                <a16:creationId xmlns:a16="http://schemas.microsoft.com/office/drawing/2014/main" id="{C467A919-DD3B-3B7B-13B6-6B5F3BB7C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932" y="1656000"/>
            <a:ext cx="3015533" cy="405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9D186F-A26F-D648-297A-F393B739DDB8}"/>
              </a:ext>
            </a:extLst>
          </p:cNvPr>
          <p:cNvSpPr txBox="1"/>
          <p:nvPr/>
        </p:nvSpPr>
        <p:spPr>
          <a:xfrm>
            <a:off x="1224000" y="6423110"/>
            <a:ext cx="6100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bg1"/>
                </a:solidFill>
              </a:rPr>
              <a:t>https</a:t>
            </a:r>
            <a:r>
              <a:rPr lang="nl-NL" sz="1200" dirty="0">
                <a:solidFill>
                  <a:schemeClr val="bg1"/>
                </a:solidFill>
              </a:rPr>
              <a:t>://</a:t>
            </a:r>
            <a:r>
              <a:rPr lang="nl-NL" sz="1200" dirty="0" err="1">
                <a:solidFill>
                  <a:schemeClr val="bg1"/>
                </a:solidFill>
              </a:rPr>
              <a:t>jovian.com</a:t>
            </a:r>
            <a:r>
              <a:rPr lang="nl-NL" sz="1200" dirty="0">
                <a:solidFill>
                  <a:schemeClr val="bg1"/>
                </a:solidFill>
              </a:rPr>
              <a:t>/blog/</a:t>
            </a:r>
            <a:r>
              <a:rPr lang="nl-NL" sz="1200" dirty="0" err="1">
                <a:solidFill>
                  <a:schemeClr val="bg1"/>
                </a:solidFill>
              </a:rPr>
              <a:t>tutorials</a:t>
            </a:r>
            <a:r>
              <a:rPr lang="nl-NL" sz="1200" dirty="0">
                <a:solidFill>
                  <a:schemeClr val="bg1"/>
                </a:solidFill>
              </a:rPr>
              <a:t>/python-common-</a:t>
            </a:r>
            <a:r>
              <a:rPr lang="nl-NL" sz="1200" dirty="0" err="1">
                <a:solidFill>
                  <a:schemeClr val="bg1"/>
                </a:solidFill>
              </a:rPr>
              <a:t>errors</a:t>
            </a:r>
            <a:endParaRPr lang="nl-NL" sz="1200" dirty="0">
              <a:solidFill>
                <a:schemeClr val="bg1"/>
              </a:solidFill>
            </a:endParaRPr>
          </a:p>
        </p:txBody>
      </p:sp>
      <p:pic>
        <p:nvPicPr>
          <p:cNvPr id="1028" name="Picture 4" descr="r/ProgrammerHumor - Python really bites you">
            <a:extLst>
              <a:ext uri="{FF2B5EF4-FFF2-40B4-BE49-F238E27FC236}">
                <a16:creationId xmlns:a16="http://schemas.microsoft.com/office/drawing/2014/main" id="{3EB51B3C-9DDE-489C-A05A-A23710C1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34" y="1656000"/>
            <a:ext cx="4021734" cy="446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201570-0BA4-27B9-20D6-F307BF615C83}"/>
              </a:ext>
            </a:extLst>
          </p:cNvPr>
          <p:cNvSpPr txBox="1"/>
          <p:nvPr/>
        </p:nvSpPr>
        <p:spPr>
          <a:xfrm>
            <a:off x="1224000" y="6210000"/>
            <a:ext cx="6100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 err="1">
                <a:solidFill>
                  <a:schemeClr val="bg1"/>
                </a:solidFill>
              </a:rPr>
              <a:t>https</a:t>
            </a:r>
            <a:r>
              <a:rPr lang="nl-NL" sz="1200" dirty="0">
                <a:solidFill>
                  <a:schemeClr val="bg1"/>
                </a:solidFill>
              </a:rPr>
              <a:t>://</a:t>
            </a:r>
            <a:r>
              <a:rPr lang="nl-NL" sz="1200" dirty="0" err="1">
                <a:solidFill>
                  <a:schemeClr val="bg1"/>
                </a:solidFill>
              </a:rPr>
              <a:t>www.reddit.com</a:t>
            </a:r>
            <a:r>
              <a:rPr lang="nl-NL" sz="1200" dirty="0">
                <a:solidFill>
                  <a:schemeClr val="bg1"/>
                </a:solidFill>
              </a:rPr>
              <a:t>/r/</a:t>
            </a:r>
            <a:r>
              <a:rPr lang="nl-NL" sz="1200" dirty="0" err="1">
                <a:solidFill>
                  <a:schemeClr val="bg1"/>
                </a:solidFill>
              </a:rPr>
              <a:t>ProgrammerHumor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  <a:r>
              <a:rPr lang="nl-NL" sz="1200" dirty="0" err="1">
                <a:solidFill>
                  <a:schemeClr val="bg1"/>
                </a:solidFill>
              </a:rPr>
              <a:t>comments</a:t>
            </a:r>
            <a:r>
              <a:rPr lang="nl-NL" sz="1200" dirty="0">
                <a:solidFill>
                  <a:schemeClr val="bg1"/>
                </a:solidFill>
              </a:rPr>
              <a:t>/j5nlpc/</a:t>
            </a:r>
            <a:r>
              <a:rPr lang="nl-NL" sz="1200" dirty="0" err="1">
                <a:solidFill>
                  <a:schemeClr val="bg1"/>
                </a:solidFill>
              </a:rPr>
              <a:t>python_really_bites_you</a:t>
            </a:r>
            <a:r>
              <a:rPr lang="nl-NL" sz="12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2721589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5160DC-FFD7-3ED0-5D06-CFD23D925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b="1" dirty="0" err="1"/>
              <a:t>Errors</a:t>
            </a:r>
            <a:r>
              <a:rPr lang="nl-NL" dirty="0"/>
              <a:t> - fout in code (tekst):</a:t>
            </a:r>
          </a:p>
          <a:p>
            <a:pPr lvl="1"/>
            <a:r>
              <a:rPr lang="nl-NL" sz="2000" dirty="0"/>
              <a:t>Syntax </a:t>
            </a:r>
            <a:r>
              <a:rPr lang="nl-NL" sz="2000" dirty="0" err="1"/>
              <a:t>errors</a:t>
            </a:r>
            <a:r>
              <a:rPr lang="nl-NL" sz="2000" dirty="0"/>
              <a:t>: code is fout geschreven</a:t>
            </a:r>
          </a:p>
          <a:p>
            <a:pPr lvl="1"/>
            <a:r>
              <a:rPr lang="nl-NL" sz="2000" dirty="0"/>
              <a:t>Bv. spatie vergeten, komma op de verkeerde plaats, etc.</a:t>
            </a:r>
          </a:p>
          <a:p>
            <a:pPr lvl="1"/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SyntaxError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IndentationError</a:t>
            </a:r>
            <a:endParaRPr lang="nl-NL" sz="2000" dirty="0"/>
          </a:p>
          <a:p>
            <a:r>
              <a:rPr lang="nl-NL" b="1" dirty="0" err="1"/>
              <a:t>Exceptions</a:t>
            </a:r>
            <a:r>
              <a:rPr lang="nl-NL" dirty="0"/>
              <a:t> - worden opgeroepen wanneer er iets inhoudelijk misgaat in de code:</a:t>
            </a:r>
          </a:p>
          <a:p>
            <a:pPr lvl="1"/>
            <a:r>
              <a:rPr lang="nl-NL" sz="2000" dirty="0"/>
              <a:t>Voornamelijk voor logische </a:t>
            </a:r>
            <a:r>
              <a:rPr lang="nl-NL" sz="2000" dirty="0" err="1"/>
              <a:t>errors</a:t>
            </a:r>
            <a:r>
              <a:rPr lang="nl-NL" sz="2000" dirty="0"/>
              <a:t>: code is syntactisch juist, maar inhoud klopt niet</a:t>
            </a:r>
            <a:endParaRPr lang="nl-NL" dirty="0"/>
          </a:p>
          <a:p>
            <a:pPr lvl="1"/>
            <a:r>
              <a:rPr lang="nl-NL" sz="2000" dirty="0"/>
              <a:t>Worden meestal expliciet ingewerkt in de code</a:t>
            </a:r>
          </a:p>
          <a:p>
            <a:pPr lvl="1"/>
            <a:r>
              <a:rPr lang="nl-NL" sz="2000" dirty="0"/>
              <a:t>Verschillende </a:t>
            </a:r>
            <a:r>
              <a:rPr lang="nl-NL" sz="2000" dirty="0" err="1"/>
              <a:t>exceptions</a:t>
            </a:r>
            <a:r>
              <a:rPr lang="nl-NL" sz="2000" dirty="0"/>
              <a:t> voor verschillende problemen</a:t>
            </a:r>
          </a:p>
          <a:p>
            <a:pPr lvl="1"/>
            <a:r>
              <a:rPr lang="nl-NL" sz="2000" dirty="0"/>
              <a:t>Bv.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  <a:r>
              <a:rPr lang="nl-NL" sz="2000" dirty="0"/>
              <a:t>,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FileNotFoundError</a:t>
            </a:r>
            <a:r>
              <a:rPr lang="nl-NL" sz="2000" dirty="0"/>
              <a:t>,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3BE5F8-8A69-65C9-9092-6DAC36CD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143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F5B5E7-EC98-0CFD-745E-240E8BBE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Errors</a:t>
            </a:r>
            <a:r>
              <a:rPr lang="nl-NL" dirty="0"/>
              <a:t> en </a:t>
            </a:r>
            <a:r>
              <a:rPr lang="nl-NL" dirty="0" err="1"/>
              <a:t>exceptions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4955011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E5437-E892-B0B6-ABFD-974C4901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286000"/>
          </a:xfrm>
        </p:spPr>
        <p:txBody>
          <a:bodyPr/>
          <a:lstStyle/>
          <a:p>
            <a:r>
              <a:rPr lang="nl-NL" dirty="0"/>
              <a:t>Ook Excel kent beide soorten fouten:</a:t>
            </a:r>
          </a:p>
          <a:p>
            <a:pPr lvl="1"/>
            <a:r>
              <a:rPr lang="nl-NL" sz="2000" dirty="0"/>
              <a:t>Syntaxfout: Excel aanvaardt de formule niet en toont een melding</a:t>
            </a:r>
          </a:p>
          <a:p>
            <a:pPr lvl="1"/>
            <a:r>
              <a:rPr lang="nl-NL" sz="2000" dirty="0"/>
              <a:t>Exception: de formule wordt aanvaard, maar de cel toont een foutwaarde zoals #DEEL/0! of #NAAM?</a:t>
            </a:r>
          </a:p>
          <a:p>
            <a:pPr lvl="1"/>
            <a:r>
              <a:rPr lang="nl-NL" sz="2000" dirty="0"/>
              <a:t>Net als in Python vertelt de foutcode je welk type fout het 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C52F98-710E-5A18-4038-3F794AC4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144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B121EB-D5A5-F627-3DCE-5FD08520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4064000"/>
          <a:ext cx="9144000" cy="12192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=5*/2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(melding)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Syntaxfout: formule wordt niet aanvaard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=5/0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#DEEL/0!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Exception: fout tijdens de berekening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1418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E0057-EA9F-A284-F450-D74E0BF9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A1B956-4573-6074-4A0B-A1854BFB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syntaxfouten 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05A0D-5435-F03D-0527-0C44071AE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437194"/>
            <a:ext cx="4368800" cy="2286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CD4874-ED0C-3DFC-19B8-CADE39458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59036"/>
            <a:ext cx="5499100" cy="2197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47B128-E950-7878-4199-6A1F59285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380" y="3911947"/>
            <a:ext cx="5969000" cy="2019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49272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E0057-EA9F-A284-F450-D74E0BF9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A1B956-4573-6074-4A0B-A1854BFB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syntaxfouten (2)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3C8924-CAA5-EED2-4B82-094DD2F3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800" y="1683560"/>
            <a:ext cx="5613400" cy="17962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E7A662-F2D3-E532-26F8-B58B67BCE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00" y="1683560"/>
            <a:ext cx="4961296" cy="18148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169B17-EA73-EC0A-AA58-BC90EA3D0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600" y="3804372"/>
            <a:ext cx="7772400" cy="20816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359903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75D2F2-FA0D-7594-5B04-5DD95351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IndentationError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Meer specifieke versie van een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SyntaxError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nl-NL" sz="2000" dirty="0"/>
              <a:t>Code is fout gestructureerd</a:t>
            </a:r>
          </a:p>
          <a:p>
            <a:pPr lvl="1"/>
            <a:r>
              <a:rPr lang="nl-NL" sz="2000" dirty="0"/>
              <a:t>Bv. een tab vergeten na een </a:t>
            </a:r>
            <a:r>
              <a:rPr lang="nl-NL" sz="2000" dirty="0" err="1"/>
              <a:t>for</a:t>
            </a:r>
            <a:r>
              <a:rPr lang="nl-NL" sz="2000" dirty="0"/>
              <a:t>-lus of </a:t>
            </a:r>
            <a:r>
              <a:rPr lang="nl-NL" sz="2000" dirty="0" err="1"/>
              <a:t>if</a:t>
            </a:r>
            <a:r>
              <a:rPr lang="nl-NL" sz="2000" dirty="0"/>
              <a:t>-statement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ECF6E4-0A88-3EE7-3313-CB83F87C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82B5EB-24E1-4D53-4284-CF691A59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fouten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F7C23-EAE2-40C0-11B5-F76233732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429000"/>
            <a:ext cx="4724400" cy="2324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0384582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ED1CDE-11F2-1BA4-72D6-A0068DE6A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286000"/>
          </a:xfrm>
        </p:spPr>
        <p:txBody>
          <a:bodyPr/>
          <a:lstStyle/>
          <a:p>
            <a:r>
              <a:rPr lang="nl-NL" dirty="0"/>
              <a:t>Veelvoorkomende syntaxfouten in Excel:</a:t>
            </a:r>
          </a:p>
          <a:p>
            <a:pPr lvl="1"/>
            <a:r>
              <a:rPr lang="nl-NL" sz="2000" dirty="0"/>
              <a:t>Haakje vergeten: Excel stelt meestal zelf een correctie voor</a:t>
            </a:r>
          </a:p>
          <a:p>
            <a:pPr lvl="1"/>
            <a:r>
              <a:rPr lang="nl-NL" sz="2000" dirty="0"/>
              <a:t>Verkeerd scheidingsteken: in een Nederlandstalige Excel scheid je argumenten met ; en niet met ,</a:t>
            </a:r>
          </a:p>
          <a:p>
            <a:pPr lvl="1"/>
            <a:r>
              <a:rPr lang="nl-NL" sz="2000" dirty="0"/>
              <a:t>‘=‘ vergeten: Excel ziet de formule als gewone tekst en rekent niets uit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6148B-8B9A-E789-D08E-BB840901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148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988AC8-3F0D-BCA8-82BA-4A47EF74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4064000"/>
          <a:ext cx="9144000" cy="16256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=SOM(A1:A3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(melding)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Sluitend haakje ontbreekt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=ALS(A1&gt;5,"ja","nee")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(melding)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Komma i.p.v. puntkomma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SOM(A1:A3)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SOM(A1:A3)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Geen =, dus gewone tekst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36081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75D2F2-FA0D-7594-5B04-5DD95351C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IndentationError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Let op: je kan een tab ook qua logica op de verkeerde plaats zetten, Python zal niet ineens jouw code laten draaien zoals jij dat wenst</a:t>
            </a:r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ECF6E4-0A88-3EE7-3313-CB83F87C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149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82B5EB-24E1-4D53-4284-CF691A59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fouten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FB5C9-2D41-F92D-0857-09B1BFB30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53737"/>
            <a:ext cx="7772400" cy="26924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A26759-0181-CFA9-8A60-AC5754E8F4D9}"/>
              </a:ext>
            </a:extLst>
          </p:cNvPr>
          <p:cNvSpPr txBox="1"/>
          <p:nvPr/>
        </p:nvSpPr>
        <p:spPr>
          <a:xfrm>
            <a:off x="2759189" y="5871446"/>
            <a:ext cx="6673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1600" dirty="0">
                <a:solidFill>
                  <a:srgbClr val="FF0000"/>
                </a:solidFill>
              </a:rPr>
              <a:t>Deze code print niet elk element uit de matrix zoals misschien verwacht</a:t>
            </a:r>
          </a:p>
        </p:txBody>
      </p:sp>
    </p:spTree>
    <p:extLst>
      <p:ext uri="{BB962C8B-B14F-4D97-AF65-F5344CB8AC3E}">
        <p14:creationId xmlns:p14="http://schemas.microsoft.com/office/powerpoint/2010/main" val="339665180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28C53D-7252-5A69-7228-49AFA9011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Bij delen door 0</a:t>
            </a:r>
          </a:p>
          <a:p>
            <a:pPr lvl="1"/>
            <a:r>
              <a:rPr lang="nl-NL" sz="2000" dirty="0"/>
              <a:t>Als je bv. een variabele gebruikt als noemer die 0 kan zijn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AB21F6-F60B-6316-D8E9-E2EB79BB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314132-1BCA-EDFA-EEFA-D8806AF58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EC910-5176-6BBE-4849-15E7A7AA2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3626838"/>
            <a:ext cx="7264400" cy="2324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9091112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CDB787-DDC5-5F8E-AF80-C96FF5D9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032000"/>
          </a:xfrm>
        </p:spPr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ZeroDivisionError</a:t>
            </a:r>
            <a:r>
              <a:rPr lang="nl-NL" dirty="0"/>
              <a:t> -&gt;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#DEEL/0!</a:t>
            </a:r>
            <a:r>
              <a:rPr lang="nl-NL" dirty="0"/>
              <a:t> (Engels: #DIV/0!)</a:t>
            </a:r>
          </a:p>
          <a:p>
            <a:pPr lvl="1"/>
            <a:r>
              <a:rPr lang="nl-NL" sz="2000" dirty="0"/>
              <a:t>Bij delen door 0 of door een lege cel</a:t>
            </a:r>
          </a:p>
          <a:p>
            <a:pPr lvl="1"/>
            <a:r>
              <a:rPr lang="nl-NL" sz="2000" dirty="0"/>
              <a:t>Opvangen met ALS.FOUT(), vergelijkbaar met try/except in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10A60-62D4-C7BE-4EDE-565243C6E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151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D8C4DE-86AF-D0E4-B6D3-EC245FA1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3810000"/>
          <a:ext cx="9144000" cy="16256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=5/0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#DEEL/0!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Rechtstreeks delen door 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=A1/B1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#DEEL/0!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B1 is leeg en telt dus als 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=ALS.FOUT(A1/B1;0)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Fout opgevangen, 0 als 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29890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Als een variabele/functie wordt opgeroepen die (nog) niet bestaat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55732-C2ED-3A3D-65ED-9A9B16EA0031}"/>
              </a:ext>
            </a:extLst>
          </p:cNvPr>
          <p:cNvSpPr txBox="1"/>
          <p:nvPr/>
        </p:nvSpPr>
        <p:spPr>
          <a:xfrm>
            <a:off x="7799832" y="3518668"/>
            <a:ext cx="336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dirty="0"/>
              <a:t> verkeerd geschreven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1B0F1C-5E23-B616-7E69-A724531B0986}"/>
              </a:ext>
            </a:extLst>
          </p:cNvPr>
          <p:cNvCxnSpPr/>
          <p:nvPr/>
        </p:nvCxnSpPr>
        <p:spPr>
          <a:xfrm flipV="1">
            <a:off x="6656832" y="3888000"/>
            <a:ext cx="1143000" cy="67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5E4A0B6-27C1-D4DD-9A05-3319B411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93" y="2876835"/>
            <a:ext cx="5945839" cy="26971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244906-22F8-C345-9E4A-56F5166A6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4471163"/>
            <a:ext cx="5812536" cy="16570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9181432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0F3F1E-2233-F61E-4ED4-7377F3BFE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032000"/>
          </a:xfrm>
        </p:spPr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r>
              <a:rPr lang="nl-NL" dirty="0"/>
              <a:t> -&gt;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#NAAM?</a:t>
            </a:r>
            <a:r>
              <a:rPr lang="nl-NL" dirty="0"/>
              <a:t> (Engels: #NAME?)</a:t>
            </a:r>
          </a:p>
          <a:p>
            <a:pPr lvl="1"/>
            <a:r>
              <a:rPr lang="nl-NL" sz="2000" dirty="0"/>
              <a:t>Een functie is verkeerd geschreven of een benoemd bereik bestaat niet</a:t>
            </a:r>
          </a:p>
          <a:p>
            <a:pPr lvl="1"/>
            <a:r>
              <a:rPr lang="nl-NL" sz="2000" dirty="0"/>
              <a:t>Tekst zonder aanhalingstekens leest Excel ook als een naam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E6390E-8C5E-DDA2-C54D-A467A034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153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5652F2-D20D-B8FE-6360-C073502C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3810000"/>
          <a:ext cx="9144000" cy="16256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=SOMM(A1:A3)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#NAAM?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Functie SOMM bestaat niet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=totaal*2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#NAAM?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Naam 'totaal' is niet gedefinieerd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=ALS(A1&gt;5;ja;nee)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#NAAM?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ja en nee zonder aanhalingstekens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60951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De waarde die wordt meegegeven kan verwerkt worden (type is juist), maar past niet binnen de berekening die erover gebeurt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BB55D-8A0F-C54C-533D-2F95AEE56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00" y="3099816"/>
            <a:ext cx="4979501" cy="25900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FF4ADD-30D2-3932-F04A-99E0C5D9A582}"/>
              </a:ext>
            </a:extLst>
          </p:cNvPr>
          <p:cNvSpPr txBox="1"/>
          <p:nvPr/>
        </p:nvSpPr>
        <p:spPr>
          <a:xfrm>
            <a:off x="6336793" y="4071669"/>
            <a:ext cx="567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-10 is een integer/getal en dus een valide argument qua </a:t>
            </a:r>
            <a:r>
              <a:rPr lang="nl-NL" i="1" dirty="0"/>
              <a:t>type</a:t>
            </a:r>
            <a:r>
              <a:rPr lang="nl-NL" dirty="0"/>
              <a:t>, maar vierkantswortel van -10 bestaat niet (reëel) – de </a:t>
            </a:r>
            <a:r>
              <a:rPr lang="nl-NL" i="1" dirty="0"/>
              <a:t>waarde</a:t>
            </a:r>
            <a:r>
              <a:rPr lang="nl-NL" dirty="0"/>
              <a:t> (</a:t>
            </a:r>
            <a:r>
              <a:rPr lang="nl-NL" dirty="0" err="1"/>
              <a:t>value</a:t>
            </a:r>
            <a:r>
              <a:rPr lang="nl-NL" dirty="0"/>
              <a:t>) is fout</a:t>
            </a:r>
          </a:p>
        </p:txBody>
      </p:sp>
    </p:spTree>
    <p:extLst>
      <p:ext uri="{BB962C8B-B14F-4D97-AF65-F5344CB8AC3E}">
        <p14:creationId xmlns:p14="http://schemas.microsoft.com/office/powerpoint/2010/main" val="394954781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F4ADD-30D2-3932-F04A-99E0C5D9A582}"/>
              </a:ext>
            </a:extLst>
          </p:cNvPr>
          <p:cNvSpPr txBox="1"/>
          <p:nvPr/>
        </p:nvSpPr>
        <p:spPr>
          <a:xfrm>
            <a:off x="6260160" y="3323965"/>
            <a:ext cx="5114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max()/min()</a:t>
            </a:r>
            <a:r>
              <a:rPr lang="nl-NL" dirty="0"/>
              <a:t> kunnen gebruikt worden over een lijst, maar geen lege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3F1D3F-53FF-1441-8EFF-F37DFBFDA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00" y="2655332"/>
            <a:ext cx="5442516" cy="22314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5096747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FF95F8-0C91-4B73-9FDF-63B5D3DBC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4986" y="1566000"/>
            <a:ext cx="5302028" cy="20970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671F7-C423-675E-B1EA-312FA1496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156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2C02E6-5ABB-04A8-FFB8-6E8CFD51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DDB7A-4901-99D9-42BF-088D53876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986" y="3753002"/>
            <a:ext cx="5302028" cy="20970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ECC0FCF-EE2A-D045-294B-CF2112E715B8}"/>
              </a:ext>
            </a:extLst>
          </p:cNvPr>
          <p:cNvSpPr txBox="1">
            <a:spLocks/>
          </p:cNvSpPr>
          <p:nvPr/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4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24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42BD6-2B01-531D-C757-680089E9FED5}"/>
              </a:ext>
            </a:extLst>
          </p:cNvPr>
          <p:cNvSpPr txBox="1"/>
          <p:nvPr/>
        </p:nvSpPr>
        <p:spPr>
          <a:xfrm>
            <a:off x="8951208" y="2066544"/>
            <a:ext cx="2899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Er zitten 3 elementen in de elementen van de lijst (een </a:t>
            </a:r>
            <a:r>
              <a:rPr lang="nl-NL" sz="1600" dirty="0" err="1"/>
              <a:t>tuple</a:t>
            </a:r>
            <a:r>
              <a:rPr lang="nl-NL" sz="1600" dirty="0"/>
              <a:t> van 3), maar er staan maar 2 variabelen (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nl-NL" sz="1600" dirty="0"/>
              <a:t> en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nl-NL" sz="1600" dirty="0"/>
              <a:t>) klaar in de </a:t>
            </a:r>
            <a:r>
              <a:rPr lang="nl-NL" sz="1600" dirty="0" err="1"/>
              <a:t>for</a:t>
            </a:r>
            <a:r>
              <a:rPr lang="nl-NL" sz="1600" dirty="0"/>
              <a:t>-lus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34CE6-2F77-2AB6-C43A-B517EE897C05}"/>
              </a:ext>
            </a:extLst>
          </p:cNvPr>
          <p:cNvSpPr txBox="1"/>
          <p:nvPr/>
        </p:nvSpPr>
        <p:spPr>
          <a:xfrm>
            <a:off x="8951208" y="4179842"/>
            <a:ext cx="27340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Er zitten 2 elementen in de elementen van de lijst (een </a:t>
            </a:r>
            <a:r>
              <a:rPr lang="nl-NL" sz="1600" dirty="0" err="1"/>
              <a:t>tuple</a:t>
            </a:r>
            <a:r>
              <a:rPr lang="nl-NL" sz="1600" dirty="0"/>
              <a:t> van 2), maar er staan 3 variabelen (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nl-NL" sz="1600" dirty="0"/>
              <a:t>,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nl-NL" sz="1600" dirty="0"/>
              <a:t> en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nl-NL" sz="1600" dirty="0"/>
              <a:t>) klaar</a:t>
            </a:r>
          </a:p>
        </p:txBody>
      </p:sp>
    </p:spTree>
    <p:extLst>
      <p:ext uri="{BB962C8B-B14F-4D97-AF65-F5344CB8AC3E}">
        <p14:creationId xmlns:p14="http://schemas.microsoft.com/office/powerpoint/2010/main" val="342124365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26F0EA-C1BE-19AF-6553-E725E6F3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286000"/>
          </a:xfrm>
        </p:spPr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dirty="0"/>
              <a:t> -&gt;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#GETAL!</a:t>
            </a:r>
            <a:r>
              <a:rPr lang="nl-NL" dirty="0"/>
              <a:t> (Engels: #NUM!)</a:t>
            </a:r>
          </a:p>
          <a:p>
            <a:pPr lvl="1"/>
            <a:r>
              <a:rPr lang="nl-NL" sz="2000" dirty="0"/>
              <a:t>Het argument heeft het juiste type, maar de waarde past niet in de berekening</a:t>
            </a:r>
          </a:p>
          <a:p>
            <a:pPr lvl="1"/>
            <a:r>
              <a:rPr lang="nl-NL" sz="2000" dirty="0"/>
              <a:t>Let op: #WAARDE! (#VALUE!) lijkt qua naam op ValueError, maar komt overeen met TypeError</a:t>
            </a:r>
          </a:p>
          <a:p>
            <a:pPr lvl="1"/>
            <a:r>
              <a:rPr lang="nl-NL" sz="2000" dirty="0"/>
              <a:t>MAX() over een leeg bereik geeft in Excel 0, zonder foutmelding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3B214-FC89-D9EB-E805-6C1C686C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157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F6B960-0452-CD4B-B7F1-F8FF50C31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4064000"/>
          <a:ext cx="9144000" cy="179832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=WORTEL(-10)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#GETAL!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Geen reële vierkantswortel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=LN(0)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#GETAL!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Logaritme van 0 bestaat niet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=MAX(A1:A3)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A1:A3 leeg; Python geeft hier een ValueError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05660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Wanneer een bepaalde sleutel in een </a:t>
            </a:r>
            <a:r>
              <a:rPr lang="nl-NL" sz="2000" dirty="0" err="1"/>
              <a:t>dictionary</a:t>
            </a:r>
            <a:r>
              <a:rPr lang="nl-NL" sz="2000" dirty="0"/>
              <a:t> wordt opgevraagd die niet bestaat</a:t>
            </a:r>
          </a:p>
          <a:p>
            <a:pPr lvl="1"/>
            <a:r>
              <a:rPr lang="nl-NL" sz="2000" dirty="0"/>
              <a:t>Wanneer een waarde uit een set wordt verwijderd die niet bestaat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158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1A133-7CDA-E2D8-7472-0F864EDEE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406" y="3078582"/>
            <a:ext cx="5441188" cy="28241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0349758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562FD0-E07C-E65D-A972-12825B4E0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032000"/>
          </a:xfrm>
        </p:spPr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KeyError</a:t>
            </a:r>
            <a:r>
              <a:rPr lang="nl-NL" dirty="0"/>
              <a:t> →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#N/B</a:t>
            </a:r>
            <a:r>
              <a:rPr lang="nl-NL" dirty="0"/>
              <a:t> (Engels: #N/A)</a:t>
            </a:r>
          </a:p>
          <a:p>
            <a:pPr lvl="1"/>
            <a:r>
              <a:rPr lang="nl-NL" sz="2000" dirty="0"/>
              <a:t>De opzoekwaarde staat niet in de opzoektabel, zoals een sleutel die niet in een dictionary zit</a:t>
            </a:r>
          </a:p>
          <a:p>
            <a:pPr lvl="1"/>
            <a:r>
              <a:rPr lang="nl-NL" sz="2000" dirty="0"/>
              <a:t>Opvangen met ALS.NB() of met het 'niet gevonden'-argument van X.ZOEKEN()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C9269B-80D5-0641-0A44-F22CCF20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159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BD6DFA-EA94-9BDD-E76A-96134DC78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270000" y="3810000"/>
          <a:ext cx="9652000" cy="1219200"/>
        </p:xfrm>
        <a:graphic>
          <a:graphicData uri="http://schemas.openxmlformats.org/drawingml/2006/table">
            <a:tbl>
              <a:tblPr firstRow="1"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=VERT.ZOEKEN("Jan";A2:B10;2;ONWAAR)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#N/B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'Jan' staat niet in kolom 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4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=X.ZOEKEN("Jan";A2:A10;B2:B10;"onbekend")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onbekend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Eigen tekst als 'Jan' ontbreekt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41104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Een index uit een lijst wordt opgevraagd die niet bestaat (bv. omdat je te ver geteld hebt)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FECC2-D9AC-5643-C990-66D8C8D51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00" y="2989812"/>
            <a:ext cx="4653862" cy="28840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33E70-3AD3-B1F8-D742-39663B1D1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3731827"/>
            <a:ext cx="4497324" cy="15402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202B5C-E9A5-93B4-7DF2-36877AC27B68}"/>
              </a:ext>
            </a:extLst>
          </p:cNvPr>
          <p:cNvSpPr txBox="1"/>
          <p:nvPr/>
        </p:nvSpPr>
        <p:spPr>
          <a:xfrm>
            <a:off x="5705856" y="4178808"/>
            <a:ext cx="197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Slimmer (werkt voor elke lijst):</a:t>
            </a:r>
          </a:p>
        </p:txBody>
      </p:sp>
    </p:spTree>
    <p:extLst>
      <p:ext uri="{BB962C8B-B14F-4D97-AF65-F5344CB8AC3E}">
        <p14:creationId xmlns:p14="http://schemas.microsoft.com/office/powerpoint/2010/main" val="162628592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7E0E6-5440-E391-FFFC-96A3F35FF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032000"/>
          </a:xfrm>
        </p:spPr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IndexError</a:t>
            </a:r>
            <a:r>
              <a:rPr lang="nl-NL" dirty="0"/>
              <a:t> →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#VERW!</a:t>
            </a:r>
            <a:r>
              <a:rPr lang="nl-NL" dirty="0"/>
              <a:t> (Engels: #REF!)</a:t>
            </a:r>
          </a:p>
          <a:p>
            <a:pPr lvl="1"/>
            <a:r>
              <a:rPr lang="nl-NL" sz="2000" dirty="0"/>
              <a:t>Een rij- of kolomnummer valt buiten het bereik, zoals een index buiten de lijst</a:t>
            </a:r>
          </a:p>
          <a:p>
            <a:pPr lvl="1"/>
            <a:r>
              <a:rPr lang="nl-NL" sz="2000" dirty="0"/>
              <a:t>Ook wanneer een cel waarnaar de formule verwijst, verwijderd 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C6D537-0763-7D6E-F9E9-E6B86D26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161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9849DA-5927-C390-B314-EA3C82F5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3810000"/>
          <a:ext cx="9144000" cy="12192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=INDEX(A1:A3;4)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#VERW!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Bereik heeft maar 3 rijen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=A1+B1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#VERW!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Kolom B werd daarna verwijderd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522732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56000"/>
            <a:ext cx="4855536" cy="4464000"/>
          </a:xfrm>
        </p:spPr>
        <p:txBody>
          <a:bodyPr>
            <a:normAutofit/>
          </a:bodyPr>
          <a:lstStyle/>
          <a:p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  <a:r>
              <a:rPr lang="nl-NL" sz="2000" dirty="0"/>
              <a:t>:</a:t>
            </a:r>
          </a:p>
          <a:p>
            <a:pPr lvl="1"/>
            <a:r>
              <a:rPr lang="nl-NL" sz="1800" dirty="0"/>
              <a:t>Attributen van een object (bv. een een lijst of een student) bestaan uit enkele attributen (bv. leeftijd) en de bijbehorende methodes (bv.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nl-NL" sz="1800" dirty="0"/>
              <a:t> of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geef_naam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dirty="0"/>
              <a:t>)</a:t>
            </a:r>
          </a:p>
          <a:p>
            <a:pPr lvl="1"/>
            <a:r>
              <a:rPr lang="nl-NL" sz="1800" dirty="0"/>
              <a:t>Opvragen van attributen die niet bestaan voor het object type (bv.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1800" dirty="0"/>
              <a:t> bij een lijst of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append()</a:t>
            </a:r>
            <a:r>
              <a:rPr lang="nl-NL" sz="1800" dirty="0"/>
              <a:t> bij een set) resulteert in een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nl-NL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47811-DAFB-1EF5-5029-1BA27A85A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105" y="1962580"/>
            <a:ext cx="6213387" cy="34506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326670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1656000"/>
            <a:ext cx="4855536" cy="4464000"/>
          </a:xfrm>
        </p:spPr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AttributeError</a:t>
            </a:r>
            <a:r>
              <a:rPr lang="nl-NL" dirty="0"/>
              <a:t>:</a:t>
            </a:r>
          </a:p>
          <a:p>
            <a:pPr lvl="1"/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163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3FADB7-2E74-5B48-736B-E28DAA5D3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40" y="2409165"/>
            <a:ext cx="7056120" cy="34913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2605572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Een functie of operatie wordt opgeroepen over een verkeerd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A8733-0C26-AA90-A153-4441CD961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884" y="3213507"/>
            <a:ext cx="6582232" cy="19884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9610891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nl-NL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6B92A-56E5-3167-A661-9AAFD41E4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380" y="2618304"/>
            <a:ext cx="5397240" cy="17990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4334208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6AC031-1441-5091-CC98-A8A940793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032000"/>
          </a:xfrm>
        </p:spPr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nl-NL" dirty="0"/>
              <a:t> →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#WAARDE!</a:t>
            </a:r>
            <a:r>
              <a:rPr lang="nl-NL" dirty="0"/>
              <a:t> (Engels: #VALUE!)</a:t>
            </a:r>
          </a:p>
          <a:p>
            <a:pPr lvl="1"/>
            <a:r>
              <a:rPr lang="nl-NL" sz="2000" dirty="0"/>
              <a:t>Een bewerking krijgt een type dat ze niet aankan, bv. tekst optellen bij een getal</a:t>
            </a:r>
          </a:p>
          <a:p>
            <a:pPr lvl="1"/>
            <a:r>
              <a:rPr lang="nl-NL" sz="2000" dirty="0"/>
              <a:t>Verschil met Python: tekst die op een getal lijkt, zet Excel automatisch 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66C14-DF2D-909E-646B-5F579AF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166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1A8BF7-F758-8226-AEB7-FD5D51C9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3810000"/>
          <a:ext cx="9144000" cy="12192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="abc"+1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#WAARDE!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Tekst kan niet opgeteld worden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="20"+1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Python: '20' + 1 geeft een TypeError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38692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B8DB3D-4641-D36D-4CAA-A95E9DCC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OverflowError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nl-NL" dirty="0"/>
          </a:p>
          <a:p>
            <a:pPr lvl="1"/>
            <a:r>
              <a:rPr lang="nl-NL" sz="2000" dirty="0"/>
              <a:t>De </a:t>
            </a:r>
            <a:r>
              <a:rPr lang="nl-NL" sz="2000" dirty="0" err="1"/>
              <a:t>numerische</a:t>
            </a:r>
            <a:r>
              <a:rPr lang="nl-NL" sz="2000" dirty="0"/>
              <a:t> operatie gaat buiten wat het data type ondersteunt (vooral bij kommagetallen)</a:t>
            </a:r>
          </a:p>
          <a:p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C1918-BE67-36A8-C772-7DDC8CDB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167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0CEC7-84BD-6247-0A25-860FC915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B4DCF-ECC3-952A-5454-F19A903F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360" y="2626954"/>
            <a:ext cx="4907280" cy="341514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8627841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5FA41-ACF6-54C2-B517-E1195302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51000"/>
            <a:ext cx="11036300" cy="2286000"/>
          </a:xfrm>
        </p:spPr>
        <p:txBody>
          <a:bodyPr/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OverflowError</a:t>
            </a:r>
            <a:r>
              <a:rPr lang="nl-NL" dirty="0"/>
              <a:t> → 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#GETAL!</a:t>
            </a:r>
            <a:r>
              <a:rPr lang="nl-NL" dirty="0"/>
              <a:t> (Engels: #NUM!)</a:t>
            </a:r>
          </a:p>
          <a:p>
            <a:pPr lvl="1"/>
            <a:r>
              <a:rPr lang="nl-NL" sz="2000" dirty="0"/>
              <a:t>Het resultaat is groter dan wat Excel kan opslaan (ongeveer 10^308)</a:t>
            </a:r>
          </a:p>
          <a:p>
            <a:pPr lvl="1"/>
            <a:r>
              <a:rPr lang="nl-NL" sz="2000" dirty="0"/>
              <a:t>Excel gebruikt dezelfde foutcode als bij een ongeldige waarde (ValueError)</a:t>
            </a:r>
          </a:p>
          <a:p>
            <a:pPr lvl="1"/>
            <a:r>
              <a:rPr lang="nl-NL" sz="2000" dirty="0"/>
              <a:t>######## in een cel is geen fout: de kolom is gewoon te smal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EDB1C-FFA5-9C1F-0FE1-3A4B12B5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nl-NL"/>
              <a:t>168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1F6978-B877-B3B8-4502-0EF81E76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Vergelijking met Excel</a:t>
            </a:r>
          </a:p>
        </p:txBody>
      </p:sp>
      <p:graphicFrame>
        <p:nvGraphicFramePr>
          <p:cNvPr id="10" name="Excel voorbeeld"/>
          <p:cNvGraphicFramePr>
            <a:graphicFrameLocks noGrp="1"/>
          </p:cNvGraphicFramePr>
          <p:nvPr/>
        </p:nvGraphicFramePr>
        <p:xfrm>
          <a:off x="1524000" y="4064000"/>
          <a:ext cx="9144000" cy="1625600"/>
        </p:xfrm>
        <a:graphic>
          <a:graphicData uri="http://schemas.openxmlformats.org/drawingml/2006/table">
            <a:tbl>
              <a:tblPr firstRow="1"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Formule in Excel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Resultaat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b="1" dirty="0">
                          <a:solidFill>
                            <a:schemeClr val="tx1"/>
                          </a:solidFill>
                        </a:rPr>
                        <a:t>Toelichting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7F7F7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=10^309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#GETAL!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Groter dan het maximum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=FACULTEIT(171)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#GETAL!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171! is te groot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=FACULTEIT(170)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7,3E+306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sz="1600" dirty="0">
                          <a:solidFill>
                            <a:schemeClr val="tx1"/>
                          </a:solidFill>
                        </a:rPr>
                        <a:t>Past nog net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10651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72C7A0-F994-B8A1-50FD-E6245546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MemoryError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Je gebruikt te veel geheugen</a:t>
            </a:r>
          </a:p>
          <a:p>
            <a:pPr lvl="1"/>
            <a:r>
              <a:rPr lang="nl-NL" sz="2000" dirty="0">
                <a:solidFill>
                  <a:schemeClr val="accent5">
                    <a:lumMod val="75000"/>
                  </a:schemeClr>
                </a:solidFill>
              </a:rPr>
              <a:t>Dit gebeurt veel op het examen bij eindeloze loops:</a:t>
            </a:r>
          </a:p>
          <a:p>
            <a:pPr lvl="2"/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Je herkent dit door de [*] naast je </a:t>
            </a:r>
            <a:r>
              <a:rPr lang="nl-NL" sz="1600" dirty="0" err="1">
                <a:solidFill>
                  <a:schemeClr val="accent5">
                    <a:lumMod val="75000"/>
                  </a:schemeClr>
                </a:solidFill>
              </a:rPr>
              <a:t>cell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 -&gt; </a:t>
            </a:r>
            <a:r>
              <a:rPr lang="nl-NL" sz="1600" dirty="0" err="1">
                <a:solidFill>
                  <a:schemeClr val="accent5">
                    <a:lumMod val="75000"/>
                  </a:schemeClr>
                </a:solidFill>
              </a:rPr>
              <a:t>cell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 blijft uitvoeren, meestal blijf je dan ook extra geheugen opvragen</a:t>
            </a:r>
          </a:p>
          <a:p>
            <a:pPr lvl="2"/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Herstart dan de </a:t>
            </a:r>
            <a:r>
              <a:rPr lang="nl-NL" sz="1600" dirty="0" err="1">
                <a:solidFill>
                  <a:schemeClr val="accent5">
                    <a:lumMod val="75000"/>
                  </a:schemeClr>
                </a:solidFill>
              </a:rPr>
              <a:t>kernel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  <a:p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28C65B-DA49-452D-7FB1-1CCF6D6A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169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A42681-E26B-19A2-A0C1-05E2F0B5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Veelvoorkomende </a:t>
            </a:r>
            <a:r>
              <a:rPr lang="nl-NL" dirty="0" err="1"/>
              <a:t>exceptions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B210F-43CE-3803-371A-1289F4A3F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512" y="3754668"/>
            <a:ext cx="7322976" cy="23653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498657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2AB20F-43E6-8376-1718-1AEE12843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 </a:t>
            </a:r>
            <a:r>
              <a:rPr lang="en-US" dirty="0" err="1"/>
              <a:t>kan</a:t>
            </a:r>
            <a:r>
              <a:rPr lang="en-US" dirty="0"/>
              <a:t> je </a:t>
            </a:r>
            <a:r>
              <a:rPr lang="en-US" dirty="0" err="1"/>
              <a:t>gericht</a:t>
            </a:r>
            <a:r>
              <a:rPr lang="en-US" dirty="0"/>
              <a:t> </a:t>
            </a:r>
            <a:r>
              <a:rPr lang="en-US" dirty="0" err="1"/>
              <a:t>fouten</a:t>
            </a:r>
            <a:r>
              <a:rPr lang="en-US" dirty="0"/>
              <a:t> </a:t>
            </a:r>
            <a:r>
              <a:rPr lang="en-US" dirty="0" err="1"/>
              <a:t>opvangen</a:t>
            </a:r>
            <a:r>
              <a:rPr lang="en-US" dirty="0"/>
              <a:t>:</a:t>
            </a:r>
          </a:p>
          <a:p>
            <a:pPr lvl="1"/>
            <a:r>
              <a:rPr lang="en-US" sz="2000" dirty="0" err="1"/>
              <a:t>Wanneer</a:t>
            </a:r>
            <a:r>
              <a:rPr lang="en-US" sz="2000" dirty="0"/>
              <a:t> je </a:t>
            </a:r>
            <a:r>
              <a:rPr lang="en-US" sz="2000" dirty="0" err="1"/>
              <a:t>weet</a:t>
            </a:r>
            <a:r>
              <a:rPr lang="en-US" sz="2000" dirty="0"/>
              <a:t> </a:t>
            </a:r>
            <a:r>
              <a:rPr lang="en-US" sz="2000" dirty="0" err="1"/>
              <a:t>dat</a:t>
            </a:r>
            <a:r>
              <a:rPr lang="en-US" sz="2000" dirty="0"/>
              <a:t>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fout</a:t>
            </a:r>
            <a:r>
              <a:rPr lang="en-US" sz="2000" dirty="0"/>
              <a:t> </a:t>
            </a:r>
            <a:r>
              <a:rPr lang="en-US" sz="2000" dirty="0" err="1"/>
              <a:t>kan</a:t>
            </a:r>
            <a:r>
              <a:rPr lang="en-US" sz="2000" dirty="0"/>
              <a:t> </a:t>
            </a:r>
            <a:r>
              <a:rPr lang="en-US" sz="2000" dirty="0" err="1"/>
              <a:t>optreden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je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omweg</a:t>
            </a:r>
            <a:r>
              <a:rPr lang="en-US" sz="2000" dirty="0"/>
              <a:t> </a:t>
            </a:r>
            <a:r>
              <a:rPr lang="en-US" sz="2000" dirty="0" err="1"/>
              <a:t>wil</a:t>
            </a:r>
            <a:r>
              <a:rPr lang="en-US" sz="2000" dirty="0"/>
              <a:t> </a:t>
            </a:r>
            <a:r>
              <a:rPr lang="en-US" sz="2000" dirty="0" err="1"/>
              <a:t>voorzien</a:t>
            </a:r>
            <a:r>
              <a:rPr lang="en-US" sz="2000" dirty="0"/>
              <a:t> </a:t>
            </a:r>
          </a:p>
          <a:p>
            <a:pPr lvl="1"/>
            <a:r>
              <a:rPr lang="en-US" sz="2000" dirty="0" err="1"/>
              <a:t>Zoals</a:t>
            </a:r>
            <a:r>
              <a:rPr lang="en-US" sz="2000" dirty="0"/>
              <a:t> de </a:t>
            </a:r>
            <a:r>
              <a:rPr lang="en-US" sz="2000" dirty="0" err="1"/>
              <a:t>voorbeelden</a:t>
            </a:r>
            <a:r>
              <a:rPr lang="en-US" sz="2000" dirty="0"/>
              <a:t> in </a:t>
            </a:r>
            <a:r>
              <a:rPr lang="en-US" sz="2000" dirty="0" err="1"/>
              <a:t>dit</a:t>
            </a:r>
            <a:r>
              <a:rPr lang="en-US" sz="2000" dirty="0"/>
              <a:t> slide deck </a:t>
            </a:r>
            <a:r>
              <a:rPr lang="en-US" sz="2000" dirty="0" err="1"/>
              <a:t>waarbij</a:t>
            </a:r>
            <a:r>
              <a:rPr lang="en-US" sz="2000" dirty="0"/>
              <a:t> we </a:t>
            </a:r>
            <a:r>
              <a:rPr lang="en-US" sz="2000" dirty="0" err="1"/>
              <a:t>foute</a:t>
            </a:r>
            <a:r>
              <a:rPr lang="en-US" sz="2000" dirty="0"/>
              <a:t> code </a:t>
            </a:r>
            <a:r>
              <a:rPr lang="en-US" sz="2000" dirty="0" err="1"/>
              <a:t>illustreren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E7F9F-1747-5B22-7C99-13338172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170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56EAD-1EE1-DF07-7198-BFAF67DE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Opvangen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exception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E60CA-2F82-17AF-4003-91356F730397}"/>
              </a:ext>
            </a:extLst>
          </p:cNvPr>
          <p:cNvSpPr txBox="1"/>
          <p:nvPr/>
        </p:nvSpPr>
        <p:spPr>
          <a:xfrm>
            <a:off x="576000" y="3429000"/>
            <a:ext cx="5442028" cy="9797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ZeroDivisionError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 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syntax error, er mist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een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dubbele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punt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"Je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kan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niet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delen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door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nul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AC8F2B-CD0E-BB3A-C21A-E1724A6E6710}"/>
              </a:ext>
            </a:extLst>
          </p:cNvPr>
          <p:cNvSpPr txBox="1"/>
          <p:nvPr/>
        </p:nvSpPr>
        <p:spPr>
          <a:xfrm>
            <a:off x="6096000" y="3429414"/>
            <a:ext cx="4641273" cy="13388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 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IndexError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list index out of range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IndexError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Indexfout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de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opgegeven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index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bestaat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niet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ZeroDivisionError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Nuldelingfout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je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kan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niet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delen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door </a:t>
            </a:r>
            <a:r>
              <a:rPr lang="en-US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nul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D3F51-A858-D7C6-E5CE-20D4C1E0C884}"/>
              </a:ext>
            </a:extLst>
          </p:cNvPr>
          <p:cNvSpPr txBox="1"/>
          <p:nvPr/>
        </p:nvSpPr>
        <p:spPr>
          <a:xfrm>
            <a:off x="574800" y="4716815"/>
            <a:ext cx="4267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vangen</a:t>
            </a:r>
            <a:r>
              <a:rPr lang="en-US" sz="1400" dirty="0"/>
              <a:t> </a:t>
            </a:r>
            <a:r>
              <a:rPr lang="en-US" sz="1400" dirty="0" err="1"/>
              <a:t>hier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specifieke</a:t>
            </a:r>
            <a:r>
              <a:rPr lang="en-US" sz="1400" dirty="0"/>
              <a:t> </a:t>
            </a:r>
            <a:r>
              <a:rPr lang="en-US" sz="1400" dirty="0" err="1"/>
              <a:t>fout</a:t>
            </a:r>
            <a:r>
              <a:rPr lang="en-US" sz="1400" dirty="0"/>
              <a:t> op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printen</a:t>
            </a:r>
            <a:r>
              <a:rPr lang="en-US" sz="1400" dirty="0"/>
              <a:t> ze </a:t>
            </a:r>
            <a:r>
              <a:rPr lang="en-US" sz="1400" dirty="0" err="1"/>
              <a:t>als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nieuwe</a:t>
            </a:r>
            <a:r>
              <a:rPr lang="en-US" sz="1400" dirty="0"/>
              <a:t> </a:t>
            </a:r>
            <a:r>
              <a:rPr lang="en-US" sz="1400" dirty="0" err="1"/>
              <a:t>variabele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F79BA-0136-2A8B-BBF0-CA95692120F3}"/>
              </a:ext>
            </a:extLst>
          </p:cNvPr>
          <p:cNvSpPr txBox="1"/>
          <p:nvPr/>
        </p:nvSpPr>
        <p:spPr>
          <a:xfrm>
            <a:off x="6096000" y="4765688"/>
            <a:ext cx="3858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</a:t>
            </a:r>
            <a:r>
              <a:rPr lang="en-US" sz="1400" dirty="0" err="1"/>
              <a:t>kunnen</a:t>
            </a:r>
            <a:r>
              <a:rPr lang="en-US" sz="1400" dirty="0"/>
              <a:t> zo </a:t>
            </a:r>
            <a:r>
              <a:rPr lang="en-US" sz="1400" dirty="0" err="1"/>
              <a:t>meerdere</a:t>
            </a:r>
            <a:r>
              <a:rPr lang="en-US" sz="1400" dirty="0"/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excepts</a:t>
            </a:r>
            <a:r>
              <a:rPr lang="en-US" sz="1400" dirty="0"/>
              <a:t> </a:t>
            </a:r>
            <a:r>
              <a:rPr lang="en-US" sz="1400" dirty="0" err="1"/>
              <a:t>toevoegen</a:t>
            </a:r>
            <a:r>
              <a:rPr lang="en-US" sz="1400" dirty="0"/>
              <a:t> om </a:t>
            </a:r>
            <a:r>
              <a:rPr lang="en-US" sz="1400" dirty="0" err="1"/>
              <a:t>gericht</a:t>
            </a:r>
            <a:r>
              <a:rPr lang="en-US" sz="1400" dirty="0"/>
              <a:t> feedback </a:t>
            </a:r>
            <a:r>
              <a:rPr lang="en-US" sz="1400" dirty="0" err="1"/>
              <a:t>te</a:t>
            </a:r>
            <a:r>
              <a:rPr lang="en-US" sz="1400" dirty="0"/>
              <a:t> </a:t>
            </a:r>
            <a:r>
              <a:rPr lang="en-US" sz="1400" dirty="0" err="1"/>
              <a:t>verschaffen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082226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83AB80-DEB3-92DC-A5F0-4951D2D0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Jupyter</a:t>
            </a:r>
            <a:r>
              <a:rPr lang="nl-NL" dirty="0"/>
              <a:t> notebook: </a:t>
            </a:r>
          </a:p>
          <a:p>
            <a:pPr lvl="1"/>
            <a:r>
              <a:rPr lang="nl-NL" sz="2000" dirty="0"/>
              <a:t>Geen debugger</a:t>
            </a:r>
          </a:p>
          <a:p>
            <a:pPr lvl="1"/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sz="2000" dirty="0"/>
              <a:t>-statements helpen je op weg</a:t>
            </a:r>
          </a:p>
          <a:p>
            <a:r>
              <a:rPr lang="nl-NL" dirty="0"/>
              <a:t>In Visual Studio Code:</a:t>
            </a:r>
          </a:p>
          <a:p>
            <a:pPr lvl="1"/>
            <a:r>
              <a:rPr lang="nl-NL" sz="2000" dirty="0"/>
              <a:t>Ingebouwde debugger</a:t>
            </a:r>
          </a:p>
          <a:p>
            <a:pPr lvl="1"/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F437B-AB84-BF17-027F-9E18704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171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E8A368-DC1D-3FE5-FEB6-FD4876C1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Debuggen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8AF64-AE62-089D-62DC-310660754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43" y="3953272"/>
            <a:ext cx="1651000" cy="170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8C6A29-8228-5659-3A87-248E7C443629}"/>
              </a:ext>
            </a:extLst>
          </p:cNvPr>
          <p:cNvSpPr txBox="1"/>
          <p:nvPr/>
        </p:nvSpPr>
        <p:spPr>
          <a:xfrm>
            <a:off x="3157486" y="4230546"/>
            <a:ext cx="2955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Gebruik het pijltje en kies ‘Debug </a:t>
            </a:r>
            <a:r>
              <a:rPr lang="nl-NL" dirty="0" err="1"/>
              <a:t>cell</a:t>
            </a:r>
            <a:r>
              <a:rPr lang="nl-NL" dirty="0"/>
              <a:t>’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D6CCAD-AF46-E6B3-A426-CE33E67C8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617" y="3241112"/>
            <a:ext cx="3947374" cy="19788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7DF932-AC94-0F1E-4D13-C2A930F83953}"/>
              </a:ext>
            </a:extLst>
          </p:cNvPr>
          <p:cNvSpPr txBox="1"/>
          <p:nvPr/>
        </p:nvSpPr>
        <p:spPr>
          <a:xfrm>
            <a:off x="7329460" y="5332277"/>
            <a:ext cx="2651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Klik op ‘Run </a:t>
            </a:r>
            <a:r>
              <a:rPr lang="nl-NL" dirty="0" err="1"/>
              <a:t>and</a:t>
            </a:r>
            <a:r>
              <a:rPr lang="nl-NL" dirty="0"/>
              <a:t> Debug’</a:t>
            </a:r>
          </a:p>
        </p:txBody>
      </p:sp>
    </p:spTree>
    <p:extLst>
      <p:ext uri="{BB962C8B-B14F-4D97-AF65-F5344CB8AC3E}">
        <p14:creationId xmlns:p14="http://schemas.microsoft.com/office/powerpoint/2010/main" val="49102257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B49E20-C938-0C85-7ED1-13A58E06B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96" y="2807589"/>
            <a:ext cx="4051300" cy="1358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70D222-7B8C-3052-10F9-1BA2099EA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Tijdens het debuggen kunnen we 1 of meerdere ‘breakpoints’ gebruiken</a:t>
            </a:r>
          </a:p>
          <a:p>
            <a:r>
              <a:rPr lang="nl-NL" sz="2000" dirty="0"/>
              <a:t>VSC: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C09BA-5478-4617-24A4-C920E78B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64705"/>
            <a:ext cx="648000" cy="648000"/>
          </a:xfrm>
        </p:spPr>
        <p:txBody>
          <a:bodyPr/>
          <a:lstStyle/>
          <a:p>
            <a:fld id="{D270EDC2-4F5E-5547-954F-5222C286AC2A}" type="slidenum">
              <a:rPr lang="en-BE" smtClean="0"/>
              <a:t>172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9662F7-9005-87F8-290E-FEBF1CD7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Debuggen (VSC)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23EDAE-674F-10F8-BBB0-6CE64712E857}"/>
              </a:ext>
            </a:extLst>
          </p:cNvPr>
          <p:cNvSpPr/>
          <p:nvPr/>
        </p:nvSpPr>
        <p:spPr>
          <a:xfrm>
            <a:off x="1344168" y="3406543"/>
            <a:ext cx="548640" cy="48145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CFEFD-0312-1435-8332-902CCCD80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996" y="4591548"/>
            <a:ext cx="2298700" cy="457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68DC2A-7D2F-5E3A-DA12-7C2BA6482154}"/>
              </a:ext>
            </a:extLst>
          </p:cNvPr>
          <p:cNvSpPr txBox="1"/>
          <p:nvPr/>
        </p:nvSpPr>
        <p:spPr>
          <a:xfrm>
            <a:off x="479376" y="5256705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Begint de </a:t>
            </a:r>
            <a:r>
              <a:rPr lang="nl-NL" sz="1400" dirty="0" err="1"/>
              <a:t>cell</a:t>
            </a:r>
            <a:r>
              <a:rPr lang="nl-NL" sz="1400" dirty="0"/>
              <a:t> te runnen tot het breakpoint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1732DA-101D-2505-617F-3CDC4C2C1A37}"/>
              </a:ext>
            </a:extLst>
          </p:cNvPr>
          <p:cNvCxnSpPr>
            <a:cxnSpLocks/>
          </p:cNvCxnSpPr>
          <p:nvPr/>
        </p:nvCxnSpPr>
        <p:spPr>
          <a:xfrm flipH="1">
            <a:off x="1956816" y="4938712"/>
            <a:ext cx="381400" cy="34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FD37BC5-A253-AECC-3DD6-E1F11789A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147" y="2160249"/>
            <a:ext cx="3001619" cy="400475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AFDB1D-9413-8D8B-6F92-3EF30ECB009D}"/>
              </a:ext>
            </a:extLst>
          </p:cNvPr>
          <p:cNvCxnSpPr>
            <a:cxnSpLocks/>
          </p:cNvCxnSpPr>
          <p:nvPr/>
        </p:nvCxnSpPr>
        <p:spPr>
          <a:xfrm flipH="1">
            <a:off x="2693520" y="5048748"/>
            <a:ext cx="49680" cy="619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EE06109-73E2-7349-2C0F-B2F05F23CCC0}"/>
              </a:ext>
            </a:extLst>
          </p:cNvPr>
          <p:cNvSpPr txBox="1"/>
          <p:nvPr/>
        </p:nvSpPr>
        <p:spPr>
          <a:xfrm>
            <a:off x="1892808" y="5713451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Gaat 1 lijn in de code verder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55BC638-5B34-2BF5-E741-A0F1D7DE301D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719032" y="4938712"/>
            <a:ext cx="575238" cy="17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23A043-C139-F5FB-2C2A-379684C5EE33}"/>
              </a:ext>
            </a:extLst>
          </p:cNvPr>
          <p:cNvSpPr txBox="1"/>
          <p:nvPr/>
        </p:nvSpPr>
        <p:spPr>
          <a:xfrm>
            <a:off x="4294270" y="4958663"/>
            <a:ext cx="2117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Runt </a:t>
            </a:r>
            <a:r>
              <a:rPr lang="nl-NL" sz="1400" dirty="0" err="1"/>
              <a:t>cell</a:t>
            </a:r>
            <a:r>
              <a:rPr lang="nl-NL" sz="1400" dirty="0"/>
              <a:t> terug opnieuw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272EB4-79A1-745E-B8D0-657D674BC4ED}"/>
              </a:ext>
            </a:extLst>
          </p:cNvPr>
          <p:cNvSpPr txBox="1"/>
          <p:nvPr/>
        </p:nvSpPr>
        <p:spPr>
          <a:xfrm>
            <a:off x="6300729" y="3591580"/>
            <a:ext cx="2533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In het debug-menu kan je alle variabelen opvolgen: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5D5E148-CAA5-3B38-F18E-660D2CF41D2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103346" y="5048748"/>
            <a:ext cx="1149350" cy="861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E6D1C3-9E3C-33D8-23B7-79AF9A022ECB}"/>
              </a:ext>
            </a:extLst>
          </p:cNvPr>
          <p:cNvCxnSpPr>
            <a:cxnSpLocks/>
          </p:cNvCxnSpPr>
          <p:nvPr/>
        </p:nvCxnSpPr>
        <p:spPr>
          <a:xfrm>
            <a:off x="3430550" y="5048748"/>
            <a:ext cx="822146" cy="85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6E1886B-13D6-8992-E047-7A93B11A49F7}"/>
              </a:ext>
            </a:extLst>
          </p:cNvPr>
          <p:cNvSpPr txBox="1"/>
          <p:nvPr/>
        </p:nvSpPr>
        <p:spPr>
          <a:xfrm>
            <a:off x="4215363" y="5518616"/>
            <a:ext cx="42434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Zijn bedoeld om ‘in’ en ‘uit’ een functie te springen als je die tegenkomt in de code (maar dus bv. ook de low-level code van 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nl-NL" sz="1400" dirty="0"/>
              <a:t>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1C65B4-527D-3C40-67B1-4A10D5B5C31B}"/>
              </a:ext>
            </a:extLst>
          </p:cNvPr>
          <p:cNvCxnSpPr>
            <a:cxnSpLocks/>
          </p:cNvCxnSpPr>
          <p:nvPr/>
        </p:nvCxnSpPr>
        <p:spPr>
          <a:xfrm>
            <a:off x="1820985" y="3888000"/>
            <a:ext cx="1157890" cy="370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C38446-24B3-51E2-962A-C1B9CEE4E141}"/>
              </a:ext>
            </a:extLst>
          </p:cNvPr>
          <p:cNvSpPr txBox="1"/>
          <p:nvPr/>
        </p:nvSpPr>
        <p:spPr>
          <a:xfrm>
            <a:off x="3133644" y="4095936"/>
            <a:ext cx="3290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Breakpoint kan je zetten door naast de code te klikken</a:t>
            </a:r>
          </a:p>
        </p:txBody>
      </p:sp>
    </p:spTree>
    <p:extLst>
      <p:ext uri="{BB962C8B-B14F-4D97-AF65-F5344CB8AC3E}">
        <p14:creationId xmlns:p14="http://schemas.microsoft.com/office/powerpoint/2010/main" val="153028640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83AB80-DEB3-92DC-A5F0-4951D2D0D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Spyder</a:t>
            </a:r>
            <a:r>
              <a:rPr lang="nl-NL" dirty="0"/>
              <a:t>:</a:t>
            </a:r>
          </a:p>
          <a:p>
            <a:pPr lvl="1"/>
            <a:r>
              <a:rPr lang="nl-NL" sz="2000" dirty="0"/>
              <a:t>Ingebouwde debugger</a:t>
            </a:r>
          </a:p>
          <a:p>
            <a:pPr lvl="1"/>
            <a:r>
              <a:rPr lang="nl-NL" sz="2000" dirty="0"/>
              <a:t>Exporteer notebook als .</a:t>
            </a:r>
            <a:r>
              <a:rPr lang="nl-NL" sz="2000" dirty="0" err="1"/>
              <a:t>py</a:t>
            </a:r>
            <a:r>
              <a:rPr lang="nl-NL" sz="2000" dirty="0"/>
              <a:t> file</a:t>
            </a:r>
          </a:p>
          <a:p>
            <a:pPr lvl="1"/>
            <a:r>
              <a:rPr lang="nl-NL" sz="2000" dirty="0"/>
              <a:t>Importeer file in </a:t>
            </a:r>
            <a:r>
              <a:rPr lang="nl-NL" sz="2000" dirty="0" err="1"/>
              <a:t>Spyder</a:t>
            </a:r>
            <a:endParaRPr lang="nl-NL" sz="2000" dirty="0"/>
          </a:p>
          <a:p>
            <a:pPr lvl="1"/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1F437B-AB84-BF17-027F-9E18704B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173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E8A368-DC1D-3FE5-FEB6-FD4876C1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Debuggen (</a:t>
            </a:r>
            <a:r>
              <a:rPr lang="nl-NL" dirty="0" err="1"/>
              <a:t>Spyder</a:t>
            </a:r>
            <a:r>
              <a:rPr lang="nl-NL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534437-38DE-9261-0FCF-5431418B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13" y="738000"/>
            <a:ext cx="3455727" cy="49248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781F79-877D-F357-69F3-20288CB9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632" y="3860568"/>
            <a:ext cx="2247900" cy="419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9ECD18-E80B-B3FD-D5E9-2318C24A8469}"/>
              </a:ext>
            </a:extLst>
          </p:cNvPr>
          <p:cNvSpPr txBox="1"/>
          <p:nvPr/>
        </p:nvSpPr>
        <p:spPr>
          <a:xfrm>
            <a:off x="900000" y="4525915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/>
              <a:t>Runt de hele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91172-D4EC-5C5B-0789-0EDDB172B9B7}"/>
              </a:ext>
            </a:extLst>
          </p:cNvPr>
          <p:cNvSpPr txBox="1"/>
          <p:nvPr/>
        </p:nvSpPr>
        <p:spPr>
          <a:xfrm>
            <a:off x="2042160" y="4923692"/>
            <a:ext cx="325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dirty="0"/>
              <a:t>Runt enkel de geselecteerde </a:t>
            </a:r>
            <a:r>
              <a:rPr lang="nl-NL" sz="1200" dirty="0" err="1"/>
              <a:t>cell</a:t>
            </a:r>
            <a:r>
              <a:rPr lang="nl-NL" sz="1200" dirty="0"/>
              <a:t> (indien geëxporteerd uit JN zal deze automatisch ingedeeld zijn, anders kan je #%% typen om nieuwe cellen aan te maken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07DBB6-EA82-1275-4D6C-F37BE68566B1}"/>
              </a:ext>
            </a:extLst>
          </p:cNvPr>
          <p:cNvCxnSpPr>
            <a:cxnSpLocks/>
          </p:cNvCxnSpPr>
          <p:nvPr/>
        </p:nvCxnSpPr>
        <p:spPr>
          <a:xfrm flipH="1">
            <a:off x="1856232" y="4228951"/>
            <a:ext cx="381400" cy="34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3D1D39-BE26-BB2A-530F-74FDE39414F1}"/>
              </a:ext>
            </a:extLst>
          </p:cNvPr>
          <p:cNvCxnSpPr>
            <a:cxnSpLocks/>
          </p:cNvCxnSpPr>
          <p:nvPr/>
        </p:nvCxnSpPr>
        <p:spPr>
          <a:xfrm flipH="1">
            <a:off x="2759690" y="4228951"/>
            <a:ext cx="93238" cy="69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29527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70D222-7B8C-3052-10F9-1BA2099EA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</a:t>
            </a:r>
            <a:r>
              <a:rPr lang="nl-NL" dirty="0" err="1"/>
              <a:t>Spyder</a:t>
            </a:r>
            <a:r>
              <a:rPr lang="nl-NL" dirty="0"/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C09BA-5478-4617-24A4-C920E78B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174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9662F7-9005-87F8-290E-FEBF1CD7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Debuggen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88CF9A-AD35-26D0-1C3E-4FFED666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726" y="2487952"/>
            <a:ext cx="4216400" cy="203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419FEF-F7C9-1470-9B01-10E3D8962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26" y="4691326"/>
            <a:ext cx="2794000" cy="4191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46FD839-2690-9B00-12EE-A50361A1524C}"/>
              </a:ext>
            </a:extLst>
          </p:cNvPr>
          <p:cNvSpPr/>
          <p:nvPr/>
        </p:nvSpPr>
        <p:spPr>
          <a:xfrm>
            <a:off x="1753278" y="3541712"/>
            <a:ext cx="548640" cy="4814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30A74-5E54-A896-4AED-7D285906D82D}"/>
              </a:ext>
            </a:extLst>
          </p:cNvPr>
          <p:cNvSpPr txBox="1"/>
          <p:nvPr/>
        </p:nvSpPr>
        <p:spPr>
          <a:xfrm>
            <a:off x="609006" y="5394922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Begint de </a:t>
            </a:r>
            <a:r>
              <a:rPr lang="nl-NL" sz="1400" dirty="0" err="1"/>
              <a:t>cell</a:t>
            </a:r>
            <a:r>
              <a:rPr lang="nl-NL" sz="1400" dirty="0"/>
              <a:t> te runnen tot het breakpoint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2AB8A7-E924-0422-A6E8-4F514D756926}"/>
              </a:ext>
            </a:extLst>
          </p:cNvPr>
          <p:cNvCxnSpPr>
            <a:cxnSpLocks/>
          </p:cNvCxnSpPr>
          <p:nvPr/>
        </p:nvCxnSpPr>
        <p:spPr>
          <a:xfrm flipH="1">
            <a:off x="2086446" y="5076929"/>
            <a:ext cx="381400" cy="347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834E78-1F62-8DBC-718F-8C11E9B51CDE}"/>
              </a:ext>
            </a:extLst>
          </p:cNvPr>
          <p:cNvCxnSpPr>
            <a:cxnSpLocks/>
          </p:cNvCxnSpPr>
          <p:nvPr/>
        </p:nvCxnSpPr>
        <p:spPr>
          <a:xfrm flipH="1">
            <a:off x="3006006" y="5085070"/>
            <a:ext cx="49680" cy="619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BF2CFE-4D6F-F88B-2819-CF3AB37AEC70}"/>
              </a:ext>
            </a:extLst>
          </p:cNvPr>
          <p:cNvSpPr txBox="1"/>
          <p:nvPr/>
        </p:nvSpPr>
        <p:spPr>
          <a:xfrm>
            <a:off x="2205294" y="5749773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Gaat 1 lijn in de code verder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D346EF-2F7C-C9E0-A264-2B5B5D6EFFCE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522908" y="5085070"/>
            <a:ext cx="610174" cy="354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590C3F-7A0E-6B9B-3C05-5976390B8D3F}"/>
              </a:ext>
            </a:extLst>
          </p:cNvPr>
          <p:cNvSpPr txBox="1"/>
          <p:nvPr/>
        </p:nvSpPr>
        <p:spPr>
          <a:xfrm>
            <a:off x="5133082" y="5178262"/>
            <a:ext cx="211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Gaat verder tot het volgende breakpoint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FCB01E-B317-0C6F-DDEE-B29CA9E9C69F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109108" y="4960674"/>
            <a:ext cx="695539" cy="4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2D3DA64-F19D-8C0C-DB9E-C3F0F1130249}"/>
              </a:ext>
            </a:extLst>
          </p:cNvPr>
          <p:cNvSpPr txBox="1"/>
          <p:nvPr/>
        </p:nvSpPr>
        <p:spPr>
          <a:xfrm>
            <a:off x="5804647" y="4852417"/>
            <a:ext cx="2117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Stop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42E734-E5B2-59A7-F1A9-7F5AE98DBF4F}"/>
              </a:ext>
            </a:extLst>
          </p:cNvPr>
          <p:cNvCxnSpPr>
            <a:cxnSpLocks/>
          </p:cNvCxnSpPr>
          <p:nvPr/>
        </p:nvCxnSpPr>
        <p:spPr>
          <a:xfrm>
            <a:off x="3481785" y="5138976"/>
            <a:ext cx="1149350" cy="861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9A0D23-FEB9-4A4E-D210-1B803DB06155}"/>
              </a:ext>
            </a:extLst>
          </p:cNvPr>
          <p:cNvCxnSpPr>
            <a:cxnSpLocks/>
          </p:cNvCxnSpPr>
          <p:nvPr/>
        </p:nvCxnSpPr>
        <p:spPr>
          <a:xfrm>
            <a:off x="3808989" y="5138976"/>
            <a:ext cx="822146" cy="85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60F62D7-660D-D3AD-9259-44DFBDAA8F42}"/>
              </a:ext>
            </a:extLst>
          </p:cNvPr>
          <p:cNvSpPr txBox="1"/>
          <p:nvPr/>
        </p:nvSpPr>
        <p:spPr>
          <a:xfrm>
            <a:off x="4605544" y="5719550"/>
            <a:ext cx="3518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Zijn bedoeld om ‘in’ een functie te springen als je die tegenkomt in de code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DF6925C-F101-D685-EACE-8B56EEB5C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590" y="1503007"/>
            <a:ext cx="4459224" cy="72711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10C4C5D-2264-48D2-FC40-C24ED5E7BA13}"/>
              </a:ext>
            </a:extLst>
          </p:cNvPr>
          <p:cNvSpPr txBox="1"/>
          <p:nvPr/>
        </p:nvSpPr>
        <p:spPr>
          <a:xfrm>
            <a:off x="7148720" y="2223964"/>
            <a:ext cx="4459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explorer</a:t>
            </a:r>
            <a:r>
              <a:rPr lang="nl-NL" dirty="0"/>
              <a:t> bevat de variabelen (lijst kan </a:t>
            </a:r>
            <a:r>
              <a:rPr lang="nl-NL" dirty="0" err="1"/>
              <a:t>opengeklikt</a:t>
            </a:r>
            <a:r>
              <a:rPr lang="nl-NL" dirty="0"/>
              <a:t> worden)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7A25E35-F86C-0FF3-D144-89B409168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0127" y="3419026"/>
            <a:ext cx="2418203" cy="143339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9D0BE9-22C4-B507-1401-FF8864121CB2}"/>
              </a:ext>
            </a:extLst>
          </p:cNvPr>
          <p:cNvCxnSpPr>
            <a:cxnSpLocks/>
          </p:cNvCxnSpPr>
          <p:nvPr/>
        </p:nvCxnSpPr>
        <p:spPr>
          <a:xfrm>
            <a:off x="8480127" y="2870295"/>
            <a:ext cx="705867" cy="470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88913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AADB35-3F22-A292-1929-9BA45AC8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l = [1, 2, 3]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totaal = 0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for i in range(len(l) + 1):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    totaal += l[i]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print(totaal)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nl-NL" sz="1200" dirty="0"/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leeftijd = '20'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latin typeface="Consolas"/>
                <a:cs typeface="Consolas"/>
              </a:rPr>
              <a:t>print(leeftijd + 1)</a:t>
            </a:r>
          </a:p>
          <a:p>
            <a:pPr marL="0" indent="0"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spcBef>
                <a:spcPts val="600"/>
              </a:spcBef>
              <a:buNone/>
            </a:pPr>
            <a:r>
              <a:rPr lang="nl-NL" sz="1800" b="1" dirty="0">
                <a:solidFill>
                  <a:srgbClr val="1D8DB0"/>
                </a:solidFill>
              </a:rPr>
              <a:t>Welk fouttype — en bij welke i / welke regel?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68AD05-0CD6-CC2A-66AE-41E514B8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0EDC2-4F5E-5547-954F-5222C286AC2A}" type="slidenum">
              <a:rPr lang="en-BE" smtClean="0"/>
              <a:t>175</a:t>
            </a:fld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D0FE8B-2F42-B922-EB7B-7815BFA2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Oefening 1.12: voorspel de fout</a:t>
            </a:r>
          </a:p>
        </p:txBody>
      </p:sp>
    </p:spTree>
    <p:extLst>
      <p:ext uri="{BB962C8B-B14F-4D97-AF65-F5344CB8AC3E}">
        <p14:creationId xmlns:p14="http://schemas.microsoft.com/office/powerpoint/2010/main" val="2767965576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48AA97-197E-FB41-B0CF-BACAF5379810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6e3fde06-2605-4c98-abdc-0cd51efb6b4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8243_PPTX_CORP_16x9_UK</Template>
  <TotalTime>0</TotalTime>
  <Words>17597</Words>
  <Application>Microsoft Office PowerPoint</Application>
  <PresentationFormat>Widescreen</PresentationFormat>
  <Paragraphs>2305</Paragraphs>
  <Slides>175</Slides>
  <Notes>61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175</vt:i4>
      </vt:variant>
    </vt:vector>
  </HeadingPairs>
  <TitlesOfParts>
    <vt:vector size="185" baseType="lpstr">
      <vt:lpstr>Arial</vt:lpstr>
      <vt:lpstr>Calibri</vt:lpstr>
      <vt:lpstr>Cambria Math</vt:lpstr>
      <vt:lpstr>Consolas</vt:lpstr>
      <vt:lpstr>Courier New</vt:lpstr>
      <vt:lpstr>JetBrains Mono</vt:lpstr>
      <vt:lpstr>Menlo</vt:lpstr>
      <vt:lpstr>Wingdings</vt:lpstr>
      <vt:lpstr>KU Leuven</vt:lpstr>
      <vt:lpstr>KU Leuven Sedes</vt:lpstr>
      <vt:lpstr>Deel 1A: Basis syntax</vt:lpstr>
      <vt:lpstr>1. Basis data types</vt:lpstr>
      <vt:lpstr>Basis data types in Python</vt:lpstr>
      <vt:lpstr>Integers</vt:lpstr>
      <vt:lpstr>Floating-point nummers (floats)</vt:lpstr>
      <vt:lpstr>Handige ingebouwde functies voor cijfers</vt:lpstr>
      <vt:lpstr>Opgelet: precisie van floats</vt:lpstr>
      <vt:lpstr>Booleans</vt:lpstr>
      <vt:lpstr>Strings</vt:lpstr>
      <vt:lpstr>Strings</vt:lpstr>
      <vt:lpstr>Concatenatie van strings</vt:lpstr>
      <vt:lpstr>Nuttige tekens in strings</vt:lpstr>
      <vt:lpstr>Conversies tussen types</vt:lpstr>
      <vt:lpstr>Oefeningen 1.1: voorspel de output</vt:lpstr>
      <vt:lpstr>2. Variabelen</vt:lpstr>
      <vt:lpstr>Variabele aanmaken</vt:lpstr>
      <vt:lpstr>Variabele aanmaken</vt:lpstr>
      <vt:lpstr>Variabele wijzigen</vt:lpstr>
      <vt:lpstr>Variabele wijzigen (cont.)</vt:lpstr>
      <vt:lpstr>Opgelet</vt:lpstr>
      <vt:lpstr>In Java</vt:lpstr>
      <vt:lpstr>Oefening 1.2: voorspel de output</vt:lpstr>
      <vt:lpstr>3. Composiete types</vt:lpstr>
      <vt:lpstr>Composiete data types</vt:lpstr>
      <vt:lpstr>Verzamelingen</vt:lpstr>
      <vt:lpstr>Introductie</vt:lpstr>
      <vt:lpstr>Elementen</vt:lpstr>
      <vt:lpstr>Methodes vs. operatoren</vt:lpstr>
      <vt:lpstr>Verwijderen en toevoegen</vt:lpstr>
      <vt:lpstr>Voorbeeld</vt:lpstr>
      <vt:lpstr>Lijsten</vt:lpstr>
      <vt:lpstr>Introductie</vt:lpstr>
      <vt:lpstr>Indexering</vt:lpstr>
      <vt:lpstr>Verwijderen en toevoegen</vt:lpstr>
      <vt:lpstr>Handige methodes</vt:lpstr>
      <vt:lpstr>Nesten van lijsten</vt:lpstr>
      <vt:lpstr>Shallow copy vs. deep copy</vt:lpstr>
      <vt:lpstr>Extra voorbeeld</vt:lpstr>
      <vt:lpstr>Extra voorbeeld grafisch (2)</vt:lpstr>
      <vt:lpstr>Tuples</vt:lpstr>
      <vt:lpstr>Dictionaries</vt:lpstr>
      <vt:lpstr>Introductie</vt:lpstr>
      <vt:lpstr>Opvragen van data: methodes</vt:lpstr>
      <vt:lpstr>Opvragen van data</vt:lpstr>
      <vt:lpstr>Verwijderen en samenvoegen</vt:lpstr>
      <vt:lpstr>Veilig opvragen: get()</vt:lpstr>
      <vt:lpstr>Sorteren van itereerbare objecten</vt:lpstr>
      <vt:lpstr>Voorbeeld sorteren</vt:lpstr>
      <vt:lpstr>Oefening 1.3: voorspel de output</vt:lpstr>
      <vt:lpstr>Interlude</vt:lpstr>
      <vt:lpstr>4. Operatoren en bewerkingen</vt:lpstr>
      <vt:lpstr>Introductie</vt:lpstr>
      <vt:lpstr>Rekenkundige operators</vt:lpstr>
      <vt:lpstr>Vergelijkende operatoren</vt:lpstr>
      <vt:lpstr>Logische operatoren</vt:lpstr>
      <vt:lpstr>Logische operatoren</vt:lpstr>
      <vt:lpstr>Gelijkheid</vt:lpstr>
      <vt:lpstr>Volgorde</vt:lpstr>
      <vt:lpstr>Oefening 1.4: voorspel de output</vt:lpstr>
      <vt:lpstr>5. Statements en control flow</vt:lpstr>
      <vt:lpstr>Soorten statements</vt:lpstr>
      <vt:lpstr>If-then-else</vt:lpstr>
      <vt:lpstr>If-then-else</vt:lpstr>
      <vt:lpstr>Indents</vt:lpstr>
      <vt:lpstr>Geneste if</vt:lpstr>
      <vt:lpstr>If-elif-else</vt:lpstr>
      <vt:lpstr>Geneste if/elif</vt:lpstr>
      <vt:lpstr>Logische operatoren</vt:lpstr>
      <vt:lpstr>Iteraties</vt:lpstr>
      <vt:lpstr>While-loops</vt:lpstr>
      <vt:lpstr>While loops</vt:lpstr>
      <vt:lpstr>For-loops</vt:lpstr>
      <vt:lpstr>For-loops voor dictionaries</vt:lpstr>
      <vt:lpstr>Range functie</vt:lpstr>
      <vt:lpstr>enumerate</vt:lpstr>
      <vt:lpstr>break en continue</vt:lpstr>
      <vt:lpstr>break en continue (2)</vt:lpstr>
      <vt:lpstr>Oefening 1.5: voorspel de output</vt:lpstr>
      <vt:lpstr>6. Comprehensions</vt:lpstr>
      <vt:lpstr>Introductie</vt:lpstr>
      <vt:lpstr>Lijstsamentrekkingen</vt:lpstr>
      <vt:lpstr>Lijstsamentrekkingen</vt:lpstr>
      <vt:lpstr>Sets en dictionaries</vt:lpstr>
      <vt:lpstr>Oefening 1.6: voorspel de output</vt:lpstr>
      <vt:lpstr>7. Strings</vt:lpstr>
      <vt:lpstr>Introductie</vt:lpstr>
      <vt:lpstr>Ingebouwde methodes</vt:lpstr>
      <vt:lpstr>Strings zijn onveranderbaar</vt:lpstr>
      <vt:lpstr>Voorbeelden ingebouwde methodes</vt:lpstr>
      <vt:lpstr>Andere ingebouwde methodes</vt:lpstr>
      <vt:lpstr>Voorbeelden ingebouwde methodes</vt:lpstr>
      <vt:lpstr>Samenvoegen en controleren</vt:lpstr>
      <vt:lpstr>Strings printen</vt:lpstr>
      <vt:lpstr>Voorbeelden strings printen</vt:lpstr>
      <vt:lpstr>De format()-methode</vt:lpstr>
      <vt:lpstr>Aantal spaties</vt:lpstr>
      <vt:lpstr>f-strings met formattering</vt:lpstr>
      <vt:lpstr>Input via de console</vt:lpstr>
      <vt:lpstr>Groter voorbeeld</vt:lpstr>
      <vt:lpstr>Oefening 1.7: voorspel de output</vt:lpstr>
      <vt:lpstr>8. Functies</vt:lpstr>
      <vt:lpstr>Introductie</vt:lpstr>
      <vt:lpstr>Voorbeeldfunctie</vt:lpstr>
      <vt:lpstr>Variabelen binnen functies</vt:lpstr>
      <vt:lpstr>Variabelen binnen functies</vt:lpstr>
      <vt:lpstr>Voorbeeld van slecht gebruik global</vt:lpstr>
      <vt:lpstr>Argumenten</vt:lpstr>
      <vt:lpstr>Voorbeeld argumenten</vt:lpstr>
      <vt:lpstr>Opgelet</vt:lpstr>
      <vt:lpstr>Opgelet (2)</vt:lpstr>
      <vt:lpstr>return</vt:lpstr>
      <vt:lpstr>Meerdere waarden teruggeven in functie</vt:lpstr>
      <vt:lpstr>Ongespecifieerd aantal parameters</vt:lpstr>
      <vt:lpstr>Documenteren</vt:lpstr>
      <vt:lpstr>Voorbeeld documentatie</vt:lpstr>
      <vt:lpstr>Oefening 1.8: voorspel de output</vt:lpstr>
      <vt:lpstr>9. Filteren en aanpassen met functies</vt:lpstr>
      <vt:lpstr>Introductie</vt:lpstr>
      <vt:lpstr>Voorbeeld: filter positieve nummers weg</vt:lpstr>
      <vt:lpstr>Filter functies</vt:lpstr>
      <vt:lpstr>Map functies</vt:lpstr>
      <vt:lpstr>Voorbeeld: vierkantswortel</vt:lpstr>
      <vt:lpstr>Voorbeeld: meerdere resultaten</vt:lpstr>
      <vt:lpstr>Oefening 1.9: voorspel de output</vt:lpstr>
      <vt:lpstr>10. Objecten en klasses</vt:lpstr>
      <vt:lpstr>Opzet</vt:lpstr>
      <vt:lpstr>Voorbeeldklasse</vt:lpstr>
      <vt:lpstr>Klasses gebruiken</vt:lpstr>
      <vt:lpstr>Analogie met eerdere variabelen</vt:lpstr>
      <vt:lpstr>Methodes gebruiken</vt:lpstr>
      <vt:lpstr>Waarom nuttig?</vt:lpstr>
      <vt:lpstr>Oefening 1.10: voorspel de output</vt:lpstr>
      <vt:lpstr>11. Modules</vt:lpstr>
      <vt:lpstr>Modules importeren</vt:lpstr>
      <vt:lpstr>Importeren</vt:lpstr>
      <vt:lpstr>Selectief importeren</vt:lpstr>
      <vt:lpstr>De time module</vt:lpstr>
      <vt:lpstr>Alias</vt:lpstr>
      <vt:lpstr>Module alias</vt:lpstr>
      <vt:lpstr>Oefening 1.11: voorspel de output</vt:lpstr>
      <vt:lpstr>12. Fouten en debuggen</vt:lpstr>
      <vt:lpstr>Introductie</vt:lpstr>
      <vt:lpstr>Errors en exceptions</vt:lpstr>
      <vt:lpstr>Vergelijking met Excel</vt:lpstr>
      <vt:lpstr>Veelvoorkomende syntaxfouten (1)</vt:lpstr>
      <vt:lpstr>Veelvoorkomende syntaxfouten (2)</vt:lpstr>
      <vt:lpstr>Veelvoorkomende fouten</vt:lpstr>
      <vt:lpstr>Vergelijking met Excel</vt:lpstr>
      <vt:lpstr>Veelvoorkomende fouten</vt:lpstr>
      <vt:lpstr>Veelvoorkomende exceptions</vt:lpstr>
      <vt:lpstr>Vergelijking met Excel</vt:lpstr>
      <vt:lpstr>Veelvoorkomende exceptions</vt:lpstr>
      <vt:lpstr>Vergelijking met Excel</vt:lpstr>
      <vt:lpstr>Veelvoorkomende exceptions</vt:lpstr>
      <vt:lpstr>Veelvoorkomende exceptions</vt:lpstr>
      <vt:lpstr>Veelvoorkomende exceptions</vt:lpstr>
      <vt:lpstr>Vergelijking met Excel</vt:lpstr>
      <vt:lpstr>Veelvoorkomende exceptions</vt:lpstr>
      <vt:lpstr>Vergelijking met Excel</vt:lpstr>
      <vt:lpstr>Veelvoorkomende exceptions</vt:lpstr>
      <vt:lpstr>Vergelijking met Excel</vt:lpstr>
      <vt:lpstr>Veelvoorkomende exceptions</vt:lpstr>
      <vt:lpstr>Veelvoorkomende exceptions</vt:lpstr>
      <vt:lpstr>Veelvoorkomende exceptions</vt:lpstr>
      <vt:lpstr>Veelvoorkomende exceptions</vt:lpstr>
      <vt:lpstr>Vergelijking met Excel</vt:lpstr>
      <vt:lpstr>Veelvoorkomende exceptions</vt:lpstr>
      <vt:lpstr>Vergelijking met Excel</vt:lpstr>
      <vt:lpstr>Veelvoorkomende exceptions</vt:lpstr>
      <vt:lpstr>Opvangen van een exception</vt:lpstr>
      <vt:lpstr>Debuggen</vt:lpstr>
      <vt:lpstr>Debuggen (VSC)</vt:lpstr>
      <vt:lpstr>Debuggen (Spyder)</vt:lpstr>
      <vt:lpstr>Debuggen</vt:lpstr>
      <vt:lpstr>Oefening 1.12: voorspel de fout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Variabelen</dc:title>
  <dc:creator>Johannes De Smedt</dc:creator>
  <cp:lastModifiedBy>Johannes De Smedt</cp:lastModifiedBy>
  <cp:revision>206</cp:revision>
  <dcterms:created xsi:type="dcterms:W3CDTF">2021-07-15T09:23:32Z</dcterms:created>
  <dcterms:modified xsi:type="dcterms:W3CDTF">2026-10-13T07:45:34Z</dcterms:modified>
</cp:coreProperties>
</file>